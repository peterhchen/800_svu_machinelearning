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256" r:id="rId2"/>
    <p:sldId id="258" r:id="rId3"/>
    <p:sldId id="273" r:id="rId4"/>
    <p:sldId id="275" r:id="rId5"/>
    <p:sldId id="274" r:id="rId6"/>
    <p:sldId id="276" r:id="rId7"/>
    <p:sldId id="277" r:id="rId8"/>
    <p:sldId id="279" r:id="rId9"/>
    <p:sldId id="278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6" r:id="rId26"/>
    <p:sldId id="295" r:id="rId27"/>
    <p:sldId id="297" r:id="rId28"/>
    <p:sldId id="298" r:id="rId29"/>
    <p:sldId id="300" r:id="rId30"/>
    <p:sldId id="299" r:id="rId31"/>
    <p:sldId id="301" r:id="rId32"/>
    <p:sldId id="307" r:id="rId33"/>
    <p:sldId id="302" r:id="rId34"/>
    <p:sldId id="303" r:id="rId35"/>
    <p:sldId id="304" r:id="rId36"/>
    <p:sldId id="305" r:id="rId37"/>
    <p:sldId id="306" r:id="rId38"/>
    <p:sldId id="308" r:id="rId39"/>
    <p:sldId id="309" r:id="rId40"/>
    <p:sldId id="310" r:id="rId41"/>
    <p:sldId id="311" r:id="rId42"/>
    <p:sldId id="313" r:id="rId43"/>
    <p:sldId id="314" r:id="rId44"/>
    <p:sldId id="315" r:id="rId45"/>
    <p:sldId id="312" r:id="rId46"/>
    <p:sldId id="316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325" r:id="rId55"/>
    <p:sldId id="324" r:id="rId56"/>
    <p:sldId id="326" r:id="rId57"/>
    <p:sldId id="327" r:id="rId58"/>
    <p:sldId id="328" r:id="rId59"/>
    <p:sldId id="329" r:id="rId60"/>
    <p:sldId id="330" r:id="rId61"/>
    <p:sldId id="331" r:id="rId62"/>
    <p:sldId id="332" r:id="rId63"/>
    <p:sldId id="333" r:id="rId64"/>
    <p:sldId id="334" r:id="rId65"/>
    <p:sldId id="339" r:id="rId66"/>
    <p:sldId id="335" r:id="rId67"/>
    <p:sldId id="336" r:id="rId68"/>
    <p:sldId id="337" r:id="rId69"/>
    <p:sldId id="338" r:id="rId70"/>
    <p:sldId id="259" r:id="rId7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4088587657" initials="1" lastIdx="2" clrIdx="0">
    <p:extLst>
      <p:ext uri="{19B8F6BF-5375-455C-9EA6-DF929625EA0E}">
        <p15:presenceInfo xmlns:p15="http://schemas.microsoft.com/office/powerpoint/2012/main" userId="46f8387d243ddec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5" autoAdjust="0"/>
    <p:restoredTop sz="93167" autoAdjust="0"/>
  </p:normalViewPr>
  <p:slideViewPr>
    <p:cSldViewPr>
      <p:cViewPr varScale="1">
        <p:scale>
          <a:sx n="79" d="100"/>
          <a:sy n="79" d="100"/>
        </p:scale>
        <p:origin x="28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50 Gradient Boost: Main Idea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59632" y="4581128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 </a:t>
            </a:r>
            <a:r>
              <a:rPr lang="en-US" altLang="zh-TW" sz="4400" b="1">
                <a:solidFill>
                  <a:srgbClr val="FFFF00"/>
                </a:solidFill>
              </a:rPr>
              <a:t>Gradient Boost</a:t>
            </a:r>
            <a:r>
              <a:rPr lang="en-US" altLang="zh-TW" sz="4400" b="1" dirty="0">
                <a:solidFill>
                  <a:srgbClr val="FFFF00"/>
                </a:solidFill>
              </a:rPr>
              <a:t>: Main Idea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9"/>
            <a:ext cx="8352928" cy="180020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discuss the Gradient Boost: Regression Main Idea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Gradient Boost requires knowledge for the following: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1) Decision Tree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2) AdaBoost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3) Bias and Variance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endParaRPr lang="en-US" sz="1800" b="1" dirty="0">
              <a:solidFill>
                <a:schemeClr val="tx1"/>
              </a:solidFill>
            </a:endParaRPr>
          </a:p>
          <a:p>
            <a:pPr algn="l">
              <a:buClr>
                <a:srgbClr val="0070C0"/>
              </a:buClr>
              <a:buSzPct val="80000"/>
            </a:pP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51.1 Dataset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165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51.1 Dataset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352928" cy="122413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Given the following dataset: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have Height, Favorite Color, and Gender vs. Weight measurements from 6 people.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will use this Training Dataset to go through with Gradient Boost to fit a model.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  <p:graphicFrame>
        <p:nvGraphicFramePr>
          <p:cNvPr id="35" name="Table 8">
            <a:extLst>
              <a:ext uri="{FF2B5EF4-FFF2-40B4-BE49-F238E27FC236}">
                <a16:creationId xmlns:a16="http://schemas.microsoft.com/office/drawing/2014/main" id="{70CE44B5-64BF-4D42-8B75-0C40E77B5CCA}"/>
              </a:ext>
            </a:extLst>
          </p:cNvPr>
          <p:cNvGraphicFramePr>
            <a:graphicFrameLocks noGrp="1"/>
          </p:cNvGraphicFramePr>
          <p:nvPr/>
        </p:nvGraphicFramePr>
        <p:xfrm>
          <a:off x="494450" y="3097664"/>
          <a:ext cx="2963624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711D1BF-A3F0-4D51-96E6-865413F12C49}"/>
              </a:ext>
            </a:extLst>
          </p:cNvPr>
          <p:cNvSpPr/>
          <p:nvPr/>
        </p:nvSpPr>
        <p:spPr>
          <a:xfrm>
            <a:off x="5991945" y="293263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7A9E30-9B43-4027-8EFB-CBFFC7D4279D}"/>
              </a:ext>
            </a:extLst>
          </p:cNvPr>
          <p:cNvSpPr/>
          <p:nvPr/>
        </p:nvSpPr>
        <p:spPr>
          <a:xfrm>
            <a:off x="6425830" y="327040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2A956D-81B4-4081-BF5B-096BC6EF8BC0}"/>
              </a:ext>
            </a:extLst>
          </p:cNvPr>
          <p:cNvSpPr/>
          <p:nvPr/>
        </p:nvSpPr>
        <p:spPr>
          <a:xfrm>
            <a:off x="5510161" y="3258510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8CE765-FA6C-4BDF-8CB7-EF85D66B65A4}"/>
              </a:ext>
            </a:extLst>
          </p:cNvPr>
          <p:cNvSpPr/>
          <p:nvPr/>
        </p:nvSpPr>
        <p:spPr>
          <a:xfrm>
            <a:off x="6293691" y="361235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A961814-6BD1-435F-97EA-B7CB11B732ED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flipH="1">
            <a:off x="5739329" y="3148659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713656B-E17D-40D8-A518-7A32A37D7C1B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6221113" y="3148659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5717DF5-17D0-4CFA-B161-6C24E270E7D6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flipH="1">
            <a:off x="6522859" y="3486428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7CCCC6-28C8-49E5-AC04-0F621D0261BF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>
            <a:off x="6654998" y="3486428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E4CDB2E1-D5DE-447B-A2D3-C90601BF5497}"/>
              </a:ext>
            </a:extLst>
          </p:cNvPr>
          <p:cNvSpPr/>
          <p:nvPr/>
        </p:nvSpPr>
        <p:spPr>
          <a:xfrm>
            <a:off x="6796216" y="359813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3B19CB-F2CF-44F7-8292-54157142BC50}"/>
              </a:ext>
            </a:extLst>
          </p:cNvPr>
          <p:cNvSpPr/>
          <p:nvPr/>
        </p:nvSpPr>
        <p:spPr>
          <a:xfrm>
            <a:off x="5238947" y="360408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C63FD6-E201-47F7-8593-0C81A479A77A}"/>
              </a:ext>
            </a:extLst>
          </p:cNvPr>
          <p:cNvSpPr/>
          <p:nvPr/>
        </p:nvSpPr>
        <p:spPr>
          <a:xfrm>
            <a:off x="5762777" y="359813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335A6C5-6431-4480-82E2-7BFB2B709A3A}"/>
              </a:ext>
            </a:extLst>
          </p:cNvPr>
          <p:cNvCxnSpPr>
            <a:cxnSpLocks/>
            <a:stCxn id="10" idx="2"/>
            <a:endCxn id="17" idx="0"/>
          </p:cNvCxnSpPr>
          <p:nvPr/>
        </p:nvCxnSpPr>
        <p:spPr>
          <a:xfrm flipH="1">
            <a:off x="5468115" y="3474534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DE32452-DEDE-4A1E-B308-79E5B355A1F5}"/>
              </a:ext>
            </a:extLst>
          </p:cNvPr>
          <p:cNvCxnSpPr>
            <a:cxnSpLocks/>
            <a:stCxn id="10" idx="2"/>
            <a:endCxn id="18" idx="0"/>
          </p:cNvCxnSpPr>
          <p:nvPr/>
        </p:nvCxnSpPr>
        <p:spPr>
          <a:xfrm>
            <a:off x="5739329" y="3474534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F11553F-62B0-4443-8055-1CEE26AB42EF}"/>
              </a:ext>
            </a:extLst>
          </p:cNvPr>
          <p:cNvSpPr/>
          <p:nvPr/>
        </p:nvSpPr>
        <p:spPr>
          <a:xfrm>
            <a:off x="3969078" y="328416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CBCD0-A3E8-49B3-A881-ABC8E9B59969}"/>
              </a:ext>
            </a:extLst>
          </p:cNvPr>
          <p:cNvSpPr txBox="1"/>
          <p:nvPr/>
        </p:nvSpPr>
        <p:spPr>
          <a:xfrm>
            <a:off x="4499992" y="3207515"/>
            <a:ext cx="908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+ 0.1 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8C7899-8F8F-49C5-BFE6-632979EEBA41}"/>
              </a:ext>
            </a:extLst>
          </p:cNvPr>
          <p:cNvSpPr/>
          <p:nvPr/>
        </p:nvSpPr>
        <p:spPr>
          <a:xfrm>
            <a:off x="6960068" y="3926760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E0444C-A003-4237-AE22-E51E97372CA9}"/>
              </a:ext>
            </a:extLst>
          </p:cNvPr>
          <p:cNvSpPr/>
          <p:nvPr/>
        </p:nvSpPr>
        <p:spPr>
          <a:xfrm>
            <a:off x="7393953" y="426452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776730B-4F55-45B4-8304-B9535C38C2D5}"/>
              </a:ext>
            </a:extLst>
          </p:cNvPr>
          <p:cNvSpPr/>
          <p:nvPr/>
        </p:nvSpPr>
        <p:spPr>
          <a:xfrm>
            <a:off x="6478284" y="425263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E43915-A184-45D1-861C-F89E9E4161AC}"/>
              </a:ext>
            </a:extLst>
          </p:cNvPr>
          <p:cNvSpPr/>
          <p:nvPr/>
        </p:nvSpPr>
        <p:spPr>
          <a:xfrm>
            <a:off x="7261814" y="460648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F574757-0FAF-464E-B64E-35F2881B3F39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 flipH="1">
            <a:off x="6707452" y="4142784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C38ED9D-026E-4E5F-8754-B43358A30431}"/>
              </a:ext>
            </a:extLst>
          </p:cNvPr>
          <p:cNvCxnSpPr>
            <a:stCxn id="23" idx="2"/>
            <a:endCxn id="24" idx="0"/>
          </p:cNvCxnSpPr>
          <p:nvPr/>
        </p:nvCxnSpPr>
        <p:spPr>
          <a:xfrm>
            <a:off x="7189236" y="4142784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211C49-2C30-44BB-8E17-B6B5912BD856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 flipH="1">
            <a:off x="7490982" y="4480553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C36AFBB-E0D3-4EF4-B96E-16CD0D08A1F9}"/>
              </a:ext>
            </a:extLst>
          </p:cNvPr>
          <p:cNvCxnSpPr>
            <a:cxnSpLocks/>
            <a:stCxn id="24" idx="2"/>
            <a:endCxn id="31" idx="0"/>
          </p:cNvCxnSpPr>
          <p:nvPr/>
        </p:nvCxnSpPr>
        <p:spPr>
          <a:xfrm>
            <a:off x="7623121" y="4480553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0E9BB7E-2C44-4FEF-839D-84A53C6F9B8B}"/>
              </a:ext>
            </a:extLst>
          </p:cNvPr>
          <p:cNvSpPr/>
          <p:nvPr/>
        </p:nvSpPr>
        <p:spPr>
          <a:xfrm>
            <a:off x="7764339" y="459225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0D4AD8-5EF6-4A98-A5D5-9ADAB0EE8086}"/>
              </a:ext>
            </a:extLst>
          </p:cNvPr>
          <p:cNvSpPr/>
          <p:nvPr/>
        </p:nvSpPr>
        <p:spPr>
          <a:xfrm>
            <a:off x="6207070" y="459821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3D51F6-8A9A-4905-AD98-57078D13A86C}"/>
              </a:ext>
            </a:extLst>
          </p:cNvPr>
          <p:cNvSpPr/>
          <p:nvPr/>
        </p:nvSpPr>
        <p:spPr>
          <a:xfrm>
            <a:off x="6730900" y="4592258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775E750-F40F-4C59-AC20-68E8E234CF5E}"/>
              </a:ext>
            </a:extLst>
          </p:cNvPr>
          <p:cNvCxnSpPr>
            <a:cxnSpLocks/>
            <a:stCxn id="25" idx="2"/>
            <a:endCxn id="32" idx="0"/>
          </p:cNvCxnSpPr>
          <p:nvPr/>
        </p:nvCxnSpPr>
        <p:spPr>
          <a:xfrm flipH="1">
            <a:off x="6436238" y="4468659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4A919B-93DB-4347-A4C9-CA2A0791E588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>
            <a:off x="6707452" y="4468659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BC87F14-F172-4D51-9C28-7C1FBBAA321F}"/>
              </a:ext>
            </a:extLst>
          </p:cNvPr>
          <p:cNvSpPr txBox="1"/>
          <p:nvPr/>
        </p:nvSpPr>
        <p:spPr>
          <a:xfrm>
            <a:off x="5468115" y="4201640"/>
            <a:ext cx="908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+ 0.1 x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1C04B6F-2ACA-4F73-86FA-FEF81006AEB5}"/>
              </a:ext>
            </a:extLst>
          </p:cNvPr>
          <p:cNvSpPr/>
          <p:nvPr/>
        </p:nvSpPr>
        <p:spPr>
          <a:xfrm>
            <a:off x="7623121" y="5030143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A868505-3AFC-4D8F-AA69-91EB7D82CC54}"/>
              </a:ext>
            </a:extLst>
          </p:cNvPr>
          <p:cNvSpPr/>
          <p:nvPr/>
        </p:nvSpPr>
        <p:spPr>
          <a:xfrm>
            <a:off x="8057006" y="5367912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0A60E3D-2BE8-4C5B-B0FC-864A4C76885E}"/>
              </a:ext>
            </a:extLst>
          </p:cNvPr>
          <p:cNvSpPr/>
          <p:nvPr/>
        </p:nvSpPr>
        <p:spPr>
          <a:xfrm>
            <a:off x="7141337" y="535601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6E4E53C-C039-434A-BB4C-8531CBC676F2}"/>
              </a:ext>
            </a:extLst>
          </p:cNvPr>
          <p:cNvSpPr/>
          <p:nvPr/>
        </p:nvSpPr>
        <p:spPr>
          <a:xfrm>
            <a:off x="7924867" y="570986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051DC23-20A4-43C8-948A-134944359565}"/>
              </a:ext>
            </a:extLst>
          </p:cNvPr>
          <p:cNvCxnSpPr>
            <a:cxnSpLocks/>
            <a:stCxn id="38" idx="2"/>
            <a:endCxn id="40" idx="0"/>
          </p:cNvCxnSpPr>
          <p:nvPr/>
        </p:nvCxnSpPr>
        <p:spPr>
          <a:xfrm flipH="1">
            <a:off x="7370505" y="5246167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B23818A-E706-4F5C-9332-86458D16F782}"/>
              </a:ext>
            </a:extLst>
          </p:cNvPr>
          <p:cNvCxnSpPr>
            <a:stCxn id="38" idx="2"/>
            <a:endCxn id="39" idx="0"/>
          </p:cNvCxnSpPr>
          <p:nvPr/>
        </p:nvCxnSpPr>
        <p:spPr>
          <a:xfrm>
            <a:off x="7852289" y="5246167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CE8EF22-CEDB-4031-92CF-8EDC8E3E3C65}"/>
              </a:ext>
            </a:extLst>
          </p:cNvPr>
          <p:cNvCxnSpPr>
            <a:stCxn id="39" idx="2"/>
            <a:endCxn id="41" idx="0"/>
          </p:cNvCxnSpPr>
          <p:nvPr/>
        </p:nvCxnSpPr>
        <p:spPr>
          <a:xfrm flipH="1">
            <a:off x="8154035" y="5583936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E8869539-40BE-4CD5-850A-3FF87024E3CE}"/>
              </a:ext>
            </a:extLst>
          </p:cNvPr>
          <p:cNvCxnSpPr>
            <a:cxnSpLocks/>
            <a:stCxn id="39" idx="2"/>
            <a:endCxn id="46" idx="0"/>
          </p:cNvCxnSpPr>
          <p:nvPr/>
        </p:nvCxnSpPr>
        <p:spPr>
          <a:xfrm>
            <a:off x="8286174" y="5583936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CCC2904-813F-4E45-830F-ACDE29ACDCB6}"/>
              </a:ext>
            </a:extLst>
          </p:cNvPr>
          <p:cNvSpPr/>
          <p:nvPr/>
        </p:nvSpPr>
        <p:spPr>
          <a:xfrm>
            <a:off x="8427392" y="569564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7F0A922-0B77-4C06-A863-94E07977AE71}"/>
              </a:ext>
            </a:extLst>
          </p:cNvPr>
          <p:cNvSpPr/>
          <p:nvPr/>
        </p:nvSpPr>
        <p:spPr>
          <a:xfrm>
            <a:off x="6870123" y="570159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F2C4F03-0D68-4F31-A27F-7DF87B039E72}"/>
              </a:ext>
            </a:extLst>
          </p:cNvPr>
          <p:cNvSpPr/>
          <p:nvPr/>
        </p:nvSpPr>
        <p:spPr>
          <a:xfrm>
            <a:off x="7393953" y="569564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BF5AACC-9C64-4592-9DB8-1629F12420C8}"/>
              </a:ext>
            </a:extLst>
          </p:cNvPr>
          <p:cNvCxnSpPr>
            <a:cxnSpLocks/>
            <a:stCxn id="40" idx="2"/>
            <a:endCxn id="47" idx="0"/>
          </p:cNvCxnSpPr>
          <p:nvPr/>
        </p:nvCxnSpPr>
        <p:spPr>
          <a:xfrm flipH="1">
            <a:off x="7099291" y="5572042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4EAA69B-384A-48C9-A6C4-077DA799CE3F}"/>
              </a:ext>
            </a:extLst>
          </p:cNvPr>
          <p:cNvCxnSpPr>
            <a:cxnSpLocks/>
            <a:stCxn id="40" idx="2"/>
            <a:endCxn id="48" idx="0"/>
          </p:cNvCxnSpPr>
          <p:nvPr/>
        </p:nvCxnSpPr>
        <p:spPr>
          <a:xfrm>
            <a:off x="7370505" y="5572042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DE7D0AE-3069-4B3F-9B38-B20A61FF734F}"/>
              </a:ext>
            </a:extLst>
          </p:cNvPr>
          <p:cNvSpPr txBox="1"/>
          <p:nvPr/>
        </p:nvSpPr>
        <p:spPr>
          <a:xfrm>
            <a:off x="6131168" y="5305023"/>
            <a:ext cx="908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+ 0.1 x</a:t>
            </a:r>
          </a:p>
        </p:txBody>
      </p:sp>
    </p:spTree>
    <p:extLst>
      <p:ext uri="{BB962C8B-B14F-4D97-AF65-F5344CB8AC3E}">
        <p14:creationId xmlns:p14="http://schemas.microsoft.com/office/powerpoint/2010/main" val="3989736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51.1 Dataset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54360" y="1216857"/>
            <a:ext cx="8435280" cy="120909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will dive deep into the math behind the </a:t>
            </a:r>
            <a:r>
              <a:rPr lang="en-US" sz="1800" b="1" dirty="0">
                <a:solidFill>
                  <a:srgbClr val="C00000"/>
                </a:solidFill>
              </a:rPr>
              <a:t>Gradient Boost </a:t>
            </a:r>
            <a:r>
              <a:rPr lang="en-US" sz="1800" b="1" dirty="0">
                <a:solidFill>
                  <a:schemeClr val="tx1"/>
                </a:solidFill>
              </a:rPr>
              <a:t>algorithm for </a:t>
            </a:r>
            <a:r>
              <a:rPr lang="en-US" sz="1800" b="1" dirty="0">
                <a:solidFill>
                  <a:srgbClr val="C00000"/>
                </a:solidFill>
              </a:rPr>
              <a:t>Regression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Note: The </a:t>
            </a:r>
            <a:r>
              <a:rPr lang="en-US" sz="1800" b="1" dirty="0">
                <a:solidFill>
                  <a:srgbClr val="C00000"/>
                </a:solidFill>
              </a:rPr>
              <a:t>Gradient Boost </a:t>
            </a:r>
            <a:r>
              <a:rPr lang="en-US" sz="1800" b="1" dirty="0">
                <a:solidFill>
                  <a:schemeClr val="tx1"/>
                </a:solidFill>
              </a:rPr>
              <a:t>algorithm looks complicated because it was designed to configured in a wide variety of way.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https://en.wikipedia.org/wiki/Gradient_boosting#:~:text=Gradient%20boosting%20is%20a%20machine,prediction%20models%2C%20typically%20decision%20trees.&amp;text=Explicit%20regression%20gradient%20boosting%20algorithms%20were%20subsequently%20developed%20by%20Jerome%20H.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副標題 2">
                <a:extLst>
                  <a:ext uri="{FF2B5EF4-FFF2-40B4-BE49-F238E27FC236}">
                    <a16:creationId xmlns:a16="http://schemas.microsoft.com/office/drawing/2014/main" id="{583B1B68-1D5C-4F17-BF1F-397D20C4A1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4464" y="2500602"/>
                <a:ext cx="8212336" cy="4073326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32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8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4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spcBef>
                    <a:spcPct val="20000"/>
                  </a:spcBef>
                  <a:buFont typeface="Arial" pitchFamily="34" charset="0"/>
                  <a:buNone/>
                  <a:defRPr sz="2000" kern="1200">
                    <a:solidFill>
                      <a:schemeClr val="tx1">
                        <a:tint val="7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Input</a:t>
                </a:r>
                <a:r>
                  <a:rPr lang="en-US" sz="1800" dirty="0">
                    <a:solidFill>
                      <a:schemeClr val="tx1"/>
                    </a:solidFill>
                  </a:rPr>
                  <a:t>: Data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800" b="0" i="1" baseline="-250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1800" b="0" i="1" baseline="-250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8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18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𝑦𝑖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, and a differential 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Loss Function </a:t>
                </a:r>
                <a:r>
                  <a:rPr lang="en-US" sz="1800" i="1" dirty="0">
                    <a:solidFill>
                      <a:schemeClr val="tx1"/>
                    </a:solidFill>
                  </a:rPr>
                  <a:t>L (y</a:t>
                </a:r>
                <a:r>
                  <a:rPr lang="en-US" sz="1800" i="1" baseline="-25000" dirty="0">
                    <a:solidFill>
                      <a:schemeClr val="tx1"/>
                    </a:solidFill>
                  </a:rPr>
                  <a:t>i</a:t>
                </a:r>
                <a:r>
                  <a:rPr lang="en-US" sz="1800" i="1" dirty="0">
                    <a:solidFill>
                      <a:schemeClr val="tx1"/>
                    </a:solidFill>
                  </a:rPr>
                  <a:t> , F(x))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</a:rPr>
                  <a:t>Step 1: Initialize model with a constant value F</a:t>
                </a:r>
                <a:r>
                  <a:rPr lang="en-US" sz="1800" baseline="-25000" dirty="0">
                    <a:solidFill>
                      <a:schemeClr val="tx1"/>
                    </a:solidFill>
                  </a:rPr>
                  <a:t>0</a:t>
                </a:r>
                <a:r>
                  <a:rPr lang="en-US" sz="1800" dirty="0">
                    <a:solidFill>
                      <a:schemeClr val="tx1"/>
                    </a:solidFill>
                  </a:rPr>
                  <a:t>(x) =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𝑟𝑔𝑚𝑖𝑛</m:t>
                          </m:r>
                        </m:e>
                      </m:mr>
                      <m:mr>
                        <m:e>
                          <m:r>
                            <a:rPr lang="el-GR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mr>
                    </m:m>
                    <m:nary>
                      <m:naryPr>
                        <m:chr m:val="∑"/>
                        <m:ctrlPr>
                          <a:rPr lang="pt-BR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 (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yi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, </m:t>
                        </m:r>
                        <m:r>
                          <a:rPr lang="el-GR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m:rPr>
                            <m:nor/>
                          </m:rPr>
                          <a:rPr lang="en-US" sz="1800" dirty="0" smtClean="0">
                            <a:solidFill>
                              <a:schemeClr val="tx1"/>
                            </a:solidFill>
                          </a:rPr>
                          <m:t>) </m:t>
                        </m:r>
                      </m:e>
                    </m:nary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</a:rPr>
                  <a:t>Step 2: from m = 1 to M: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</a:rPr>
                  <a:t>(A) Compute r</a:t>
                </a:r>
                <a:r>
                  <a:rPr lang="en-US" sz="1800" baseline="-25000" dirty="0">
                    <a:solidFill>
                      <a:schemeClr val="tx1"/>
                    </a:solidFill>
                  </a:rPr>
                  <a:t>im</a:t>
                </a:r>
                <a:r>
                  <a:rPr lang="en-US" sz="1800" dirty="0">
                    <a:solidFill>
                      <a:schemeClr val="tx1"/>
                    </a:solidFill>
                  </a:rPr>
                  <a:t> =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1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nor/>
                                  </m:rPr>
                                  <a:rPr lang="az-Cyrl-AZ" sz="1800" dirty="0">
                                    <a:solidFill>
                                      <a:schemeClr val="tx1"/>
                                    </a:solidFill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ә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solidFill>
                                      <a:schemeClr val="tx1"/>
                                    </a:solidFill>
                                  </a:rPr>
                                  <m:t>L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solidFill>
                                      <a:schemeClr val="tx1"/>
                                    </a:solidFill>
                                  </a:rPr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solidFill>
                                      <a:schemeClr val="tx1"/>
                                    </a:solidFill>
                                  </a:rPr>
                                  <m:t>yi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solidFill>
                                      <a:schemeClr val="tx1"/>
                                    </a:solidFill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solidFill>
                                      <a:schemeClr val="tx1"/>
                                    </a:solidFill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solidFill>
                                      <a:schemeClr val="tx1"/>
                                    </a:solidFill>
                                  </a:rPr>
                                  <m:t>xi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solidFill>
                                      <a:schemeClr val="tx1"/>
                                    </a:solidFill>
                                  </a:rPr>
                                  <m:t>)) </m:t>
                                </m:r>
                              </m:num>
                              <m:den>
                                <m:r>
                                  <m:rPr>
                                    <m:nor/>
                                  </m:rPr>
                                  <a:rPr lang="az-Cyrl-AZ" sz="1800" dirty="0">
                                    <a:solidFill>
                                      <a:schemeClr val="tx1"/>
                                    </a:solidFill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ә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solidFill>
                                      <a:schemeClr val="tx1"/>
                                    </a:solidFill>
                                    <a:latin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solidFill>
                                      <a:schemeClr val="tx1"/>
                                    </a:solidFill>
                                  </a:rPr>
                                  <m:t>F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solidFill>
                                      <a:schemeClr val="tx1"/>
                                    </a:solidFill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solidFill>
                                      <a:schemeClr val="tx1"/>
                                    </a:solidFill>
                                  </a:rPr>
                                  <m:t>xi</m:t>
                                </m:r>
                                <m:r>
                                  <m:rPr>
                                    <m:nor/>
                                  </m:rPr>
                                  <a:rPr lang="en-US" sz="1800" dirty="0">
                                    <a:solidFill>
                                      <a:schemeClr val="tx1"/>
                                    </a:solidFill>
                                  </a:rPr>
                                  <m:t>)  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) = 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Fm</m:t>
                        </m:r>
                        <m:r>
                          <m:rPr>
                            <m:nor/>
                          </m:rPr>
                          <a:rPr lang="en-US" sz="1800" baseline="-25000" dirty="0">
                            <a:solidFill>
                              <a:schemeClr val="tx1"/>
                            </a:solidFill>
                          </a:rPr>
                          <m:t>−1(</m:t>
                        </m:r>
                        <m:r>
                          <m:rPr>
                            <m:nor/>
                          </m:rPr>
                          <a:rPr lang="en-US" sz="1800" b="0" i="0" dirty="0" smtClean="0">
                            <a:solidFill>
                              <a:schemeClr val="tx1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)  </m:t>
                        </m:r>
                      </m:sub>
                    </m:sSub>
                    <m:r>
                      <a:rPr lang="en-US" sz="1800" b="0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for I = 1, …, n. 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</a:rPr>
                  <a:t>(B) Fit a Regression tree to the r</a:t>
                </a:r>
                <a:r>
                  <a:rPr lang="en-US" sz="1800" baseline="-25000" dirty="0">
                    <a:solidFill>
                      <a:schemeClr val="tx1"/>
                    </a:solidFill>
                  </a:rPr>
                  <a:t>im</a:t>
                </a:r>
                <a:r>
                  <a:rPr lang="en-US" sz="1800" dirty="0">
                    <a:solidFill>
                      <a:schemeClr val="tx1"/>
                    </a:solidFill>
                  </a:rPr>
                  <a:t> Values and create terminal region R</a:t>
                </a:r>
                <a:r>
                  <a:rPr lang="en-US" sz="1800" baseline="-25000" dirty="0">
                    <a:solidFill>
                      <a:schemeClr val="tx1"/>
                    </a:solidFill>
                  </a:rPr>
                  <a:t>jm</a:t>
                </a:r>
                <a:r>
                  <a:rPr lang="en-US" sz="1800" dirty="0">
                    <a:solidFill>
                      <a:schemeClr val="tx1"/>
                    </a:solidFill>
                  </a:rPr>
                  <a:t>, for j = 1…J</a:t>
                </a:r>
                <a:r>
                  <a:rPr lang="en-US" sz="1800" baseline="-25000" dirty="0">
                    <a:solidFill>
                      <a:schemeClr val="tx1"/>
                    </a:solidFill>
                  </a:rPr>
                  <a:t>m</a:t>
                </a: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</a:rPr>
                  <a:t>(C) For j = 1…J</a:t>
                </a:r>
                <a:r>
                  <a:rPr lang="en-US" sz="1800" baseline="-25000" dirty="0">
                    <a:solidFill>
                      <a:schemeClr val="tx1"/>
                    </a:solidFill>
                  </a:rPr>
                  <a:t>m</a:t>
                </a:r>
                <a:r>
                  <a:rPr lang="en-US" sz="1800" dirty="0">
                    <a:solidFill>
                      <a:schemeClr val="tx1"/>
                    </a:solidFill>
                  </a:rPr>
                  <a:t>, compute</a:t>
                </a:r>
                <a14:m>
                  <m:oMath xmlns:m="http://schemas.openxmlformats.org/officeDocument/2006/math">
                    <m:r>
                      <a:rPr lang="en-US" sz="18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sz="1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m:rPr>
                        <m:nor/>
                      </m:rPr>
                      <a:rPr lang="en-US" sz="1800" baseline="-25000" dirty="0">
                        <a:solidFill>
                          <a:schemeClr val="tx1"/>
                        </a:solidFill>
                      </a:rPr>
                      <m:t>jm</m:t>
                    </m:r>
                    <m:r>
                      <a:rPr lang="en-US" sz="1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1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𝑟𝑔𝑚𝑖𝑛</m:t>
                          </m:r>
                        </m:e>
                      </m:mr>
                      <m:mr>
                        <m:e>
                          <m:r>
                            <a:rPr lang="el-GR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mr>
                    </m:m>
                    <m:nary>
                      <m:naryPr>
                        <m:chr m:val="∑"/>
                        <m:supHide m:val="on"/>
                        <m:ctrlPr>
                          <a:rPr lang="pt-BR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brk m:alnAt="23"/>
                          </m:rPr>
                          <a:rPr lang="en-US" sz="1800" b="0" i="1" baseline="-250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𝑅𝑖</m:t>
                        </m:r>
                        <m:r>
                          <a:rPr lang="en-US" sz="1800" b="0" i="1" baseline="-250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L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 (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yi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Fm</m:t>
                        </m:r>
                        <m:r>
                          <m:rPr>
                            <m:nor/>
                          </m:rPr>
                          <a:rPr lang="en-US" sz="1800" baseline="-25000" dirty="0">
                            <a:solidFill>
                              <a:schemeClr val="tx1"/>
                            </a:solidFill>
                          </a:rPr>
                          <m:t>−1(</m:t>
                        </m:r>
                        <m:r>
                          <m:rPr>
                            <m:nor/>
                          </m:rPr>
                          <a:rPr lang="en-US" sz="1800" b="0" i="0" dirty="0" smtClean="0">
                            <a:solidFill>
                              <a:schemeClr val="tx1"/>
                            </a:solidFill>
                          </a:rPr>
                          <m:t>xi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)</m:t>
                        </m:r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b="0" i="1" baseline="-250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l-GR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m:rPr>
                            <m:nor/>
                          </m:rPr>
                          <a:rPr lang="en-US" sz="1800" dirty="0" smtClean="0">
                            <a:solidFill>
                              <a:schemeClr val="tx1"/>
                            </a:solidFill>
                          </a:rPr>
                          <m:t>) </m:t>
                        </m:r>
                      </m:e>
                    </m:nary>
                  </m:oMath>
                </a14:m>
                <a:endParaRPr lang="en-US" sz="18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</a:rPr>
                  <a:t>(D) Update F</a:t>
                </a:r>
                <a:r>
                  <a:rPr lang="en-US" sz="1800" baseline="-25000" dirty="0">
                    <a:solidFill>
                      <a:schemeClr val="tx1"/>
                    </a:solidFill>
                  </a:rPr>
                  <a:t>m</a:t>
                </a:r>
                <a:r>
                  <a:rPr lang="en-US" sz="1800" dirty="0">
                    <a:solidFill>
                      <a:schemeClr val="tx1"/>
                    </a:solidFill>
                  </a:rPr>
                  <a:t>(x) 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dirty="0" smtClean="0">
                        <a:solidFill>
                          <a:schemeClr val="tx1"/>
                        </a:solidFill>
                      </a:rPr>
                      <m:t>F</m:t>
                    </m:r>
                    <m:r>
                      <m:rPr>
                        <m:nor/>
                      </m:rPr>
                      <a:rPr lang="en-US" sz="1800" baseline="-25000" dirty="0" smtClean="0">
                        <a:solidFill>
                          <a:schemeClr val="tx1"/>
                        </a:solidFill>
                      </a:rPr>
                      <m:t>m</m:t>
                    </m:r>
                    <m:r>
                      <m:rPr>
                        <m:nor/>
                      </m:rPr>
                      <a:rPr lang="en-US" sz="1800" baseline="-25000" dirty="0" smtClean="0">
                        <a:solidFill>
                          <a:schemeClr val="tx1"/>
                        </a:solidFill>
                      </a:rPr>
                      <m:t>−1(</m:t>
                    </m:r>
                    <m:r>
                      <m:rPr>
                        <m:nor/>
                      </m:rPr>
                      <a:rPr lang="en-US" sz="1800" b="0" i="0" dirty="0" smtClean="0">
                        <a:solidFill>
                          <a:schemeClr val="tx1"/>
                        </a:solidFill>
                      </a:rPr>
                      <m:t>x</m:t>
                    </m:r>
                    <m:r>
                      <m:rPr>
                        <m:nor/>
                      </m:rPr>
                      <a:rPr lang="en-US" sz="1800" dirty="0" smtClean="0">
                        <a:solidFill>
                          <a:schemeClr val="tx1"/>
                        </a:solidFill>
                      </a:rPr>
                      <m:t>) 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+ </a:t>
                </a:r>
                <a:r>
                  <a:rPr lang="en-US" sz="18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ν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sz="1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1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sz="1800" baseline="-25000" dirty="0">
                            <a:solidFill>
                              <a:schemeClr val="tx1"/>
                            </a:solidFill>
                          </a:rPr>
                          <m:t>m</m:t>
                        </m:r>
                      </m:sup>
                      <m:e>
                        <m:r>
                          <a:rPr lang="el-GR" sz="1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r>
                          <m:rPr>
                            <m:sty m:val="p"/>
                          </m:rPr>
                          <a:rPr lang="en-US" sz="1800" b="0" i="0" baseline="-250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jm</m:t>
                        </m:r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sz="18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800" i="0" dirty="0" smtClean="0">
                            <a:solidFill>
                              <a:schemeClr val="tx1"/>
                            </a:solidFill>
                          </a:rPr>
                          <m:t>x</m:t>
                        </m:r>
                        <m:r>
                          <m:rPr>
                            <m:nor/>
                          </m:rPr>
                          <a:rPr lang="en-US" sz="180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a:rPr lang="en-US" sz="1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nor/>
                          </m:rPr>
                          <a:rPr lang="en-US" sz="180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1800" i="0" baseline="-2500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jm</m:t>
                        </m:r>
                        <m:r>
                          <m:rPr>
                            <m:nor/>
                          </m:rPr>
                          <a:rPr lang="en-US" sz="1800" i="0" dirty="0" smtClean="0">
                            <a:solidFill>
                              <a:schemeClr val="tx1"/>
                            </a:solidFill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1800" dirty="0">
                            <a:solidFill>
                              <a:schemeClr val="tx1"/>
                            </a:solidFill>
                          </a:rPr>
                          <m:t>) </m:t>
                        </m:r>
                      </m:e>
                    </m:nary>
                  </m:oMath>
                </a14:m>
                <a:endParaRPr lang="en-US" sz="1800" baseline="-25000" dirty="0">
                  <a:solidFill>
                    <a:schemeClr val="tx1"/>
                  </a:solidFill>
                </a:endParaRPr>
              </a:p>
              <a:p>
                <a:pPr marL="342900" indent="-342900" algn="l">
                  <a:buClr>
                    <a:srgbClr val="0070C0"/>
                  </a:buClr>
                  <a:buSzPct val="80000"/>
                  <a:buFont typeface="Wingdings" pitchFamily="2" charset="2"/>
                  <a:buChar char="u"/>
                </a:pPr>
                <a:r>
                  <a:rPr lang="en-US" sz="1800" dirty="0">
                    <a:solidFill>
                      <a:schemeClr val="tx1"/>
                    </a:solidFill>
                  </a:rPr>
                  <a:t>Step 3: Output F</a:t>
                </a:r>
                <a:r>
                  <a:rPr lang="en-US" sz="1800" baseline="-25000" dirty="0">
                    <a:solidFill>
                      <a:schemeClr val="tx1"/>
                    </a:solidFill>
                  </a:rPr>
                  <a:t>M</a:t>
                </a:r>
                <a:r>
                  <a:rPr lang="en-US" sz="1800" dirty="0">
                    <a:solidFill>
                      <a:schemeClr val="tx1"/>
                    </a:solidFill>
                  </a:rPr>
                  <a:t>(x)</a:t>
                </a:r>
              </a:p>
            </p:txBody>
          </p:sp>
        </mc:Choice>
        <mc:Fallback>
          <p:sp>
            <p:nvSpPr>
              <p:cNvPr id="8" name="副標題 2">
                <a:extLst>
                  <a:ext uri="{FF2B5EF4-FFF2-40B4-BE49-F238E27FC236}">
                    <a16:creationId xmlns:a16="http://schemas.microsoft.com/office/drawing/2014/main" id="{583B1B68-1D5C-4F17-BF1F-397D20C4A1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64" y="2500602"/>
                <a:ext cx="8212336" cy="4073326"/>
              </a:xfrm>
              <a:prstGeom prst="rect">
                <a:avLst/>
              </a:prstGeom>
              <a:blipFill>
                <a:blip r:embed="rId2"/>
                <a:stretch>
                  <a:fillRect l="-74" t="-597" b="-4478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362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51.1 Dataset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3960440" cy="130095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…But the reality is that 99% of the time only one configuration is used to predict continuous values like </a:t>
            </a:r>
            <a:r>
              <a:rPr lang="en-US" sz="1800" b="1" dirty="0">
                <a:solidFill>
                  <a:srgbClr val="C00000"/>
                </a:solidFill>
              </a:rPr>
              <a:t>weight</a:t>
            </a:r>
            <a:r>
              <a:rPr lang="en-US" sz="1800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  <p:graphicFrame>
        <p:nvGraphicFramePr>
          <p:cNvPr id="35" name="Table 8">
            <a:extLst>
              <a:ext uri="{FF2B5EF4-FFF2-40B4-BE49-F238E27FC236}">
                <a16:creationId xmlns:a16="http://schemas.microsoft.com/office/drawing/2014/main" id="{70CE44B5-64BF-4D42-8B75-0C40E77B5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811510"/>
              </p:ext>
            </p:extLst>
          </p:nvPr>
        </p:nvGraphicFramePr>
        <p:xfrm>
          <a:off x="683568" y="3242348"/>
          <a:ext cx="2963624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B74C5C63-179A-4A50-BC28-332B8427D78E}"/>
              </a:ext>
            </a:extLst>
          </p:cNvPr>
          <p:cNvSpPr/>
          <p:nvPr/>
        </p:nvSpPr>
        <p:spPr>
          <a:xfrm>
            <a:off x="2987824" y="3237157"/>
            <a:ext cx="648072" cy="27577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8D9E252-4767-40D8-BCB2-1864CB99A2A2}"/>
              </a:ext>
            </a:extLst>
          </p:cNvPr>
          <p:cNvSpPr/>
          <p:nvPr/>
        </p:nvSpPr>
        <p:spPr>
          <a:xfrm>
            <a:off x="3131840" y="2557193"/>
            <a:ext cx="180020" cy="679963"/>
          </a:xfrm>
          <a:custGeom>
            <a:avLst/>
            <a:gdLst>
              <a:gd name="connsiteX0" fmla="*/ 152400 w 152400"/>
              <a:gd name="connsiteY0" fmla="*/ 0 h 520700"/>
              <a:gd name="connsiteX1" fmla="*/ 25400 w 152400"/>
              <a:gd name="connsiteY1" fmla="*/ 342900 h 520700"/>
              <a:gd name="connsiteX2" fmla="*/ 0 w 152400"/>
              <a:gd name="connsiteY2" fmla="*/ 520700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" h="520700">
                <a:moveTo>
                  <a:pt x="152400" y="0"/>
                </a:moveTo>
                <a:cubicBezTo>
                  <a:pt x="101600" y="128058"/>
                  <a:pt x="50800" y="256117"/>
                  <a:pt x="25400" y="342900"/>
                </a:cubicBezTo>
                <a:cubicBezTo>
                  <a:pt x="0" y="429683"/>
                  <a:pt x="0" y="475191"/>
                  <a:pt x="0" y="52070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副標題 2">
            <a:extLst>
              <a:ext uri="{FF2B5EF4-FFF2-40B4-BE49-F238E27FC236}">
                <a16:creationId xmlns:a16="http://schemas.microsoft.com/office/drawing/2014/main" id="{C8B2833F-1C8F-4C7E-828D-60833A2A2A18}"/>
              </a:ext>
            </a:extLst>
          </p:cNvPr>
          <p:cNvSpPr txBox="1">
            <a:spLocks/>
          </p:cNvSpPr>
          <p:nvPr/>
        </p:nvSpPr>
        <p:spPr>
          <a:xfrm>
            <a:off x="4716018" y="1268758"/>
            <a:ext cx="4104454" cy="109344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>
                <a:solidFill>
                  <a:schemeClr val="tx1"/>
                </a:solidFill>
              </a:rPr>
              <a:t>… and one configuration is used to </a:t>
            </a:r>
            <a:r>
              <a:rPr lang="en-US" sz="1800" b="1">
                <a:solidFill>
                  <a:srgbClr val="C00000"/>
                </a:solidFill>
              </a:rPr>
              <a:t>Classify </a:t>
            </a:r>
            <a:r>
              <a:rPr lang="en-US" sz="1800" b="1">
                <a:solidFill>
                  <a:schemeClr val="tx1"/>
                </a:solidFill>
              </a:rPr>
              <a:t>samples into different categories.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E8CACE6-FCE2-4205-92A3-7461975A8BCB}"/>
              </a:ext>
            </a:extLst>
          </p:cNvPr>
          <p:cNvSpPr/>
          <p:nvPr/>
        </p:nvSpPr>
        <p:spPr>
          <a:xfrm>
            <a:off x="6300192" y="2940075"/>
            <a:ext cx="1872208" cy="93610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People That Love Troll 2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53164C3-CD93-479E-BBD1-07C112523211}"/>
              </a:ext>
            </a:extLst>
          </p:cNvPr>
          <p:cNvSpPr/>
          <p:nvPr/>
        </p:nvSpPr>
        <p:spPr>
          <a:xfrm>
            <a:off x="6283548" y="4259733"/>
            <a:ext cx="1872208" cy="93610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People That Do Not Love Troll 2</a:t>
            </a:r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BC4C5475-1EC0-4AC0-903E-5E6E5267A24F}"/>
              </a:ext>
            </a:extLst>
          </p:cNvPr>
          <p:cNvSpPr/>
          <p:nvPr/>
        </p:nvSpPr>
        <p:spPr>
          <a:xfrm>
            <a:off x="5334424" y="2386211"/>
            <a:ext cx="962072" cy="1016000"/>
          </a:xfrm>
          <a:custGeom>
            <a:avLst/>
            <a:gdLst>
              <a:gd name="connsiteX0" fmla="*/ 9572 w 962072"/>
              <a:gd name="connsiteY0" fmla="*/ 0 h 1016000"/>
              <a:gd name="connsiteX1" fmla="*/ 136572 w 962072"/>
              <a:gd name="connsiteY1" fmla="*/ 800100 h 1016000"/>
              <a:gd name="connsiteX2" fmla="*/ 962072 w 962072"/>
              <a:gd name="connsiteY2" fmla="*/ 101600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2072" h="1016000">
                <a:moveTo>
                  <a:pt x="9572" y="0"/>
                </a:moveTo>
                <a:cubicBezTo>
                  <a:pt x="-6303" y="315383"/>
                  <a:pt x="-22178" y="630767"/>
                  <a:pt x="136572" y="800100"/>
                </a:cubicBezTo>
                <a:cubicBezTo>
                  <a:pt x="295322" y="969433"/>
                  <a:pt x="628697" y="992716"/>
                  <a:pt x="962072" y="101600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8C247DA4-B2AC-4392-86BF-B02291AD8AF6}"/>
              </a:ext>
            </a:extLst>
          </p:cNvPr>
          <p:cNvSpPr/>
          <p:nvPr/>
        </p:nvSpPr>
        <p:spPr>
          <a:xfrm>
            <a:off x="5334424" y="2357438"/>
            <a:ext cx="962072" cy="2398661"/>
          </a:xfrm>
          <a:custGeom>
            <a:avLst/>
            <a:gdLst>
              <a:gd name="connsiteX0" fmla="*/ 9572 w 962072"/>
              <a:gd name="connsiteY0" fmla="*/ 0 h 1016000"/>
              <a:gd name="connsiteX1" fmla="*/ 136572 w 962072"/>
              <a:gd name="connsiteY1" fmla="*/ 800100 h 1016000"/>
              <a:gd name="connsiteX2" fmla="*/ 962072 w 962072"/>
              <a:gd name="connsiteY2" fmla="*/ 1016000 h 10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2072" h="1016000">
                <a:moveTo>
                  <a:pt x="9572" y="0"/>
                </a:moveTo>
                <a:cubicBezTo>
                  <a:pt x="-6303" y="315383"/>
                  <a:pt x="-22178" y="630767"/>
                  <a:pt x="136572" y="800100"/>
                </a:cubicBezTo>
                <a:cubicBezTo>
                  <a:pt x="295322" y="969433"/>
                  <a:pt x="628697" y="992716"/>
                  <a:pt x="962072" y="101600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67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51.1 Dataset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6336704" cy="679963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this discussion, we use </a:t>
            </a:r>
            <a:r>
              <a:rPr lang="en-US" sz="1800" b="1" dirty="0">
                <a:solidFill>
                  <a:srgbClr val="C00000"/>
                </a:solidFill>
              </a:rPr>
              <a:t>Gradient Boost </a:t>
            </a:r>
            <a:r>
              <a:rPr lang="en-US" sz="1800" b="1" dirty="0">
                <a:solidFill>
                  <a:schemeClr val="tx1"/>
                </a:solidFill>
              </a:rPr>
              <a:t>to  </a:t>
            </a:r>
            <a:r>
              <a:rPr lang="en-US" sz="1800" b="1" dirty="0">
                <a:solidFill>
                  <a:srgbClr val="C00000"/>
                </a:solidFill>
              </a:rPr>
              <a:t>predict</a:t>
            </a:r>
            <a:r>
              <a:rPr lang="en-US" sz="1800" b="1" dirty="0">
                <a:solidFill>
                  <a:schemeClr val="tx1"/>
                </a:solidFill>
              </a:rPr>
              <a:t> one  continue value like </a:t>
            </a:r>
            <a:r>
              <a:rPr lang="en-US" sz="1800" b="1" dirty="0">
                <a:solidFill>
                  <a:srgbClr val="C00000"/>
                </a:solidFill>
              </a:rPr>
              <a:t>Weight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  <p:graphicFrame>
        <p:nvGraphicFramePr>
          <p:cNvPr id="35" name="Table 8">
            <a:extLst>
              <a:ext uri="{FF2B5EF4-FFF2-40B4-BE49-F238E27FC236}">
                <a16:creationId xmlns:a16="http://schemas.microsoft.com/office/drawing/2014/main" id="{70CE44B5-64BF-4D42-8B75-0C40E77B5CCA}"/>
              </a:ext>
            </a:extLst>
          </p:cNvPr>
          <p:cNvGraphicFramePr>
            <a:graphicFrameLocks noGrp="1"/>
          </p:cNvGraphicFramePr>
          <p:nvPr/>
        </p:nvGraphicFramePr>
        <p:xfrm>
          <a:off x="683568" y="3242348"/>
          <a:ext cx="2963624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B74C5C63-179A-4A50-BC28-332B8427D78E}"/>
              </a:ext>
            </a:extLst>
          </p:cNvPr>
          <p:cNvSpPr/>
          <p:nvPr/>
        </p:nvSpPr>
        <p:spPr>
          <a:xfrm>
            <a:off x="2987824" y="3237157"/>
            <a:ext cx="648072" cy="275776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8D9E252-4767-40D8-BCB2-1864CB99A2A2}"/>
              </a:ext>
            </a:extLst>
          </p:cNvPr>
          <p:cNvSpPr/>
          <p:nvPr/>
        </p:nvSpPr>
        <p:spPr>
          <a:xfrm>
            <a:off x="3131840" y="1948721"/>
            <a:ext cx="288032" cy="1288435"/>
          </a:xfrm>
          <a:custGeom>
            <a:avLst/>
            <a:gdLst>
              <a:gd name="connsiteX0" fmla="*/ 152400 w 152400"/>
              <a:gd name="connsiteY0" fmla="*/ 0 h 520700"/>
              <a:gd name="connsiteX1" fmla="*/ 25400 w 152400"/>
              <a:gd name="connsiteY1" fmla="*/ 342900 h 520700"/>
              <a:gd name="connsiteX2" fmla="*/ 0 w 152400"/>
              <a:gd name="connsiteY2" fmla="*/ 520700 h 52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0" h="520700">
                <a:moveTo>
                  <a:pt x="152400" y="0"/>
                </a:moveTo>
                <a:cubicBezTo>
                  <a:pt x="101600" y="128058"/>
                  <a:pt x="50800" y="256117"/>
                  <a:pt x="25400" y="342900"/>
                </a:cubicBezTo>
                <a:cubicBezTo>
                  <a:pt x="0" y="429683"/>
                  <a:pt x="0" y="475191"/>
                  <a:pt x="0" y="52070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12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50.1 AdaBoost vs. Gradient Boost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8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435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50.1 AdaBoost vs.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9"/>
            <a:ext cx="8219256" cy="1080122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Gradient Boost </a:t>
            </a:r>
            <a:r>
              <a:rPr lang="en-US" sz="1800" b="1" dirty="0">
                <a:solidFill>
                  <a:schemeClr val="tx1"/>
                </a:solidFill>
              </a:rPr>
              <a:t>and </a:t>
            </a:r>
            <a:r>
              <a:rPr lang="en-US" sz="1800" b="1" dirty="0">
                <a:solidFill>
                  <a:srgbClr val="C00000"/>
                </a:solidFill>
              </a:rPr>
              <a:t>AdaBoost </a:t>
            </a:r>
            <a:r>
              <a:rPr lang="en-US" sz="1800" b="1" dirty="0">
                <a:solidFill>
                  <a:schemeClr val="tx1"/>
                </a:solidFill>
              </a:rPr>
              <a:t>are very similar.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compare and contrast </a:t>
            </a:r>
            <a:r>
              <a:rPr lang="en-US" sz="1800" b="1" dirty="0">
                <a:solidFill>
                  <a:srgbClr val="C00000"/>
                </a:solidFill>
              </a:rPr>
              <a:t>AdaBoost</a:t>
            </a:r>
            <a:r>
              <a:rPr lang="en-US" sz="1800" b="1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rgbClr val="C00000"/>
                </a:solidFill>
              </a:rPr>
              <a:t>Gradient Boost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use the below measurement to </a:t>
            </a:r>
            <a:r>
              <a:rPr lang="en-US" sz="1800" b="1" dirty="0">
                <a:solidFill>
                  <a:srgbClr val="C00000"/>
                </a:solidFill>
              </a:rPr>
              <a:t>Predict Weight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9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888761"/>
              </p:ext>
            </p:extLst>
          </p:nvPr>
        </p:nvGraphicFramePr>
        <p:xfrm>
          <a:off x="2483768" y="2708920"/>
          <a:ext cx="2963624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4101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50.1 AdaBoost vs.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219256" cy="100811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</a:t>
            </a:r>
            <a:r>
              <a:rPr lang="en-US" sz="1800" b="1" dirty="0">
                <a:solidFill>
                  <a:srgbClr val="C00000"/>
                </a:solidFill>
              </a:rPr>
              <a:t>AdaBoost, </a:t>
            </a:r>
            <a:r>
              <a:rPr lang="en-US" sz="1800" b="1" dirty="0">
                <a:solidFill>
                  <a:schemeClr val="tx1"/>
                </a:solidFill>
              </a:rPr>
              <a:t>we start by building a very short tree, called a </a:t>
            </a:r>
            <a:r>
              <a:rPr lang="en-US" sz="1800" b="1" dirty="0">
                <a:solidFill>
                  <a:srgbClr val="C00000"/>
                </a:solidFill>
              </a:rPr>
              <a:t>Stump</a:t>
            </a:r>
            <a:r>
              <a:rPr lang="en-US" sz="1800" b="1" dirty="0">
                <a:solidFill>
                  <a:schemeClr val="tx1"/>
                </a:solidFill>
              </a:rPr>
              <a:t>, from the </a:t>
            </a:r>
            <a:r>
              <a:rPr lang="en-US" sz="1800" b="1" dirty="0">
                <a:solidFill>
                  <a:srgbClr val="C00000"/>
                </a:solidFill>
              </a:rPr>
              <a:t>Training Data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 and we compute </a:t>
            </a:r>
            <a:r>
              <a:rPr lang="en-US" sz="1800" b="1" dirty="0">
                <a:solidFill>
                  <a:srgbClr val="C00000"/>
                </a:solidFill>
              </a:rPr>
              <a:t>Amount of Say (Or Vote) </a:t>
            </a:r>
            <a:r>
              <a:rPr lang="en-US" sz="1800" b="1" dirty="0">
                <a:solidFill>
                  <a:schemeClr val="tx1"/>
                </a:solidFill>
              </a:rPr>
              <a:t>for the stump.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10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444408"/>
              </p:ext>
            </p:extLst>
          </p:nvPr>
        </p:nvGraphicFramePr>
        <p:xfrm>
          <a:off x="566774" y="3314210"/>
          <a:ext cx="2963624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32341B2-3623-4237-8F28-5669C4E65D57}"/>
              </a:ext>
            </a:extLst>
          </p:cNvPr>
          <p:cNvSpPr/>
          <p:nvPr/>
        </p:nvSpPr>
        <p:spPr>
          <a:xfrm>
            <a:off x="4886632" y="3690154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4551660" y="4213625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0007CC-5280-4F60-B9ED-852D5405881A}"/>
              </a:ext>
            </a:extLst>
          </p:cNvPr>
          <p:cNvSpPr/>
          <p:nvPr/>
        </p:nvSpPr>
        <p:spPr>
          <a:xfrm>
            <a:off x="5405585" y="4205499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E67244-3C4D-4E15-9B39-ECBAACE8CA29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4891950" y="3938800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271176-1AD9-4CE6-B2B5-7909DE565049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5241625" y="3938800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791422A6-8441-4FF9-A24A-4A39F826FA78}"/>
              </a:ext>
            </a:extLst>
          </p:cNvPr>
          <p:cNvSpPr/>
          <p:nvPr/>
        </p:nvSpPr>
        <p:spPr>
          <a:xfrm>
            <a:off x="3761965" y="3766354"/>
            <a:ext cx="680580" cy="4554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79C76A-6110-4036-8BB1-7EB829C4C496}"/>
              </a:ext>
            </a:extLst>
          </p:cNvPr>
          <p:cNvCxnSpPr>
            <a:cxnSpLocks/>
            <a:stCxn id="3" idx="2"/>
            <a:endCxn id="12" idx="0"/>
          </p:cNvCxnSpPr>
          <p:nvPr/>
        </p:nvCxnSpPr>
        <p:spPr>
          <a:xfrm>
            <a:off x="4577172" y="2276872"/>
            <a:ext cx="664453" cy="141328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823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50.1 AdaBoost vs.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219256" cy="64537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this example, new stump did a poor job compensating for the previous stump errors and its size reflects it reduced </a:t>
            </a:r>
            <a:r>
              <a:rPr lang="en-US" sz="1800" b="1" dirty="0">
                <a:solidFill>
                  <a:srgbClr val="C00000"/>
                </a:solidFill>
              </a:rPr>
              <a:t>Amount of Say (Vote)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11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/>
        </p:nvGraphicFramePr>
        <p:xfrm>
          <a:off x="566774" y="3314210"/>
          <a:ext cx="2963624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32341B2-3623-4237-8F28-5669C4E65D57}"/>
              </a:ext>
            </a:extLst>
          </p:cNvPr>
          <p:cNvSpPr/>
          <p:nvPr/>
        </p:nvSpPr>
        <p:spPr>
          <a:xfrm>
            <a:off x="4886632" y="3690154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4551660" y="4213625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0007CC-5280-4F60-B9ED-852D5405881A}"/>
              </a:ext>
            </a:extLst>
          </p:cNvPr>
          <p:cNvSpPr/>
          <p:nvPr/>
        </p:nvSpPr>
        <p:spPr>
          <a:xfrm>
            <a:off x="5405585" y="4205499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E67244-3C4D-4E15-9B39-ECBAACE8CA29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4891950" y="3938800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271176-1AD9-4CE6-B2B5-7909DE565049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5241625" y="3938800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791422A6-8441-4FF9-A24A-4A39F826FA78}"/>
              </a:ext>
            </a:extLst>
          </p:cNvPr>
          <p:cNvSpPr/>
          <p:nvPr/>
        </p:nvSpPr>
        <p:spPr>
          <a:xfrm>
            <a:off x="3761965" y="3766354"/>
            <a:ext cx="680580" cy="4554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80F82AC-54D4-40CC-AF3F-D6F04076CDCC}"/>
              </a:ext>
            </a:extLst>
          </p:cNvPr>
          <p:cNvSpPr/>
          <p:nvPr/>
        </p:nvSpPr>
        <p:spPr>
          <a:xfrm>
            <a:off x="6212910" y="3690154"/>
            <a:ext cx="680580" cy="4554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D1AF56-45FB-4FB2-9AB9-B672BFB7E1B5}"/>
              </a:ext>
            </a:extLst>
          </p:cNvPr>
          <p:cNvSpPr/>
          <p:nvPr/>
        </p:nvSpPr>
        <p:spPr>
          <a:xfrm>
            <a:off x="7407053" y="3690154"/>
            <a:ext cx="345608" cy="14264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DC8DAB-775F-4F60-B919-527BBA7D06C2}"/>
              </a:ext>
            </a:extLst>
          </p:cNvPr>
          <p:cNvSpPr/>
          <p:nvPr/>
        </p:nvSpPr>
        <p:spPr>
          <a:xfrm>
            <a:off x="7072081" y="4213626"/>
            <a:ext cx="507776" cy="14264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1E9200-81CB-4EF4-A28A-09F5276506FA}"/>
              </a:ext>
            </a:extLst>
          </p:cNvPr>
          <p:cNvSpPr/>
          <p:nvPr/>
        </p:nvSpPr>
        <p:spPr>
          <a:xfrm>
            <a:off x="7926007" y="4205499"/>
            <a:ext cx="507776" cy="15077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352B6E-65D5-4864-8406-8C45576D62A6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7325969" y="3832801"/>
            <a:ext cx="253888" cy="380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3829B2-5427-40DA-8697-33283E4EB77B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7579857" y="3832801"/>
            <a:ext cx="600038" cy="3726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C2FFD6-5CA9-4011-AD49-3F45B6E2CD8B}"/>
              </a:ext>
            </a:extLst>
          </p:cNvPr>
          <p:cNvCxnSpPr>
            <a:stCxn id="3" idx="2"/>
          </p:cNvCxnSpPr>
          <p:nvPr/>
        </p:nvCxnSpPr>
        <p:spPr>
          <a:xfrm>
            <a:off x="4577172" y="1914136"/>
            <a:ext cx="2829881" cy="173415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010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50.1 AdaBoost vs.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7"/>
            <a:ext cx="8219256" cy="116499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Then, AdaBoost builds another stump based on the errors made by the previous stamp…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 and this stump did a little better than the last stump, so it is a little larger.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12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9352364"/>
              </p:ext>
            </p:extLst>
          </p:nvPr>
        </p:nvGraphicFramePr>
        <p:xfrm>
          <a:off x="459532" y="2793516"/>
          <a:ext cx="2963624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332341B2-3623-4237-8F28-5669C4E65D57}"/>
              </a:ext>
            </a:extLst>
          </p:cNvPr>
          <p:cNvSpPr/>
          <p:nvPr/>
        </p:nvSpPr>
        <p:spPr>
          <a:xfrm>
            <a:off x="4779390" y="3169460"/>
            <a:ext cx="709986" cy="24864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4444418" y="3692931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0007CC-5280-4F60-B9ED-852D5405881A}"/>
              </a:ext>
            </a:extLst>
          </p:cNvPr>
          <p:cNvSpPr/>
          <p:nvPr/>
        </p:nvSpPr>
        <p:spPr>
          <a:xfrm>
            <a:off x="5298343" y="3684805"/>
            <a:ext cx="587523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6E67244-3C4D-4E15-9B39-ECBAACE8CA29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4784708" y="3418106"/>
            <a:ext cx="349675" cy="274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271176-1AD9-4CE6-B2B5-7909DE565049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5134383" y="3418106"/>
            <a:ext cx="457722" cy="266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791422A6-8441-4FF9-A24A-4A39F826FA78}"/>
              </a:ext>
            </a:extLst>
          </p:cNvPr>
          <p:cNvSpPr/>
          <p:nvPr/>
        </p:nvSpPr>
        <p:spPr>
          <a:xfrm>
            <a:off x="3654723" y="3245660"/>
            <a:ext cx="680580" cy="4554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80F82AC-54D4-40CC-AF3F-D6F04076CDCC}"/>
              </a:ext>
            </a:extLst>
          </p:cNvPr>
          <p:cNvSpPr/>
          <p:nvPr/>
        </p:nvSpPr>
        <p:spPr>
          <a:xfrm>
            <a:off x="6105668" y="3169460"/>
            <a:ext cx="680580" cy="4554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D1AF56-45FB-4FB2-9AB9-B672BFB7E1B5}"/>
              </a:ext>
            </a:extLst>
          </p:cNvPr>
          <p:cNvSpPr/>
          <p:nvPr/>
        </p:nvSpPr>
        <p:spPr>
          <a:xfrm>
            <a:off x="7299811" y="3169460"/>
            <a:ext cx="345608" cy="142647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DC8DAB-775F-4F60-B919-527BBA7D06C2}"/>
              </a:ext>
            </a:extLst>
          </p:cNvPr>
          <p:cNvSpPr/>
          <p:nvPr/>
        </p:nvSpPr>
        <p:spPr>
          <a:xfrm>
            <a:off x="6964839" y="3692932"/>
            <a:ext cx="507776" cy="14264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F1E9200-81CB-4EF4-A28A-09F5276506FA}"/>
              </a:ext>
            </a:extLst>
          </p:cNvPr>
          <p:cNvSpPr/>
          <p:nvPr/>
        </p:nvSpPr>
        <p:spPr>
          <a:xfrm>
            <a:off x="7818765" y="3684805"/>
            <a:ext cx="507776" cy="15077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F352B6E-65D5-4864-8406-8C45576D62A6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7218727" y="3312107"/>
            <a:ext cx="253888" cy="38082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3829B2-5427-40DA-8697-33283E4EB77B}"/>
              </a:ext>
            </a:extLst>
          </p:cNvPr>
          <p:cNvCxnSpPr>
            <a:cxnSpLocks/>
            <a:stCxn id="18" idx="2"/>
            <a:endCxn id="20" idx="0"/>
          </p:cNvCxnSpPr>
          <p:nvPr/>
        </p:nvCxnSpPr>
        <p:spPr>
          <a:xfrm>
            <a:off x="7472615" y="3312107"/>
            <a:ext cx="600038" cy="3726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C2FFD6-5CA9-4011-AD49-3F45B6E2CD8B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577172" y="2433756"/>
            <a:ext cx="108263" cy="212968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CD19185-BE50-40AB-ACC8-F893112D80DD}"/>
              </a:ext>
            </a:extLst>
          </p:cNvPr>
          <p:cNvSpPr/>
          <p:nvPr/>
        </p:nvSpPr>
        <p:spPr>
          <a:xfrm>
            <a:off x="4909769" y="4563445"/>
            <a:ext cx="540809" cy="224838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305238C-107F-40D3-8EA7-1FFD77A3C7E5}"/>
              </a:ext>
            </a:extLst>
          </p:cNvPr>
          <p:cNvSpPr/>
          <p:nvPr/>
        </p:nvSpPr>
        <p:spPr>
          <a:xfrm>
            <a:off x="4435033" y="5086916"/>
            <a:ext cx="675252" cy="22483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04B8FC-04B1-4806-85E7-7FA6EEC7965E}"/>
              </a:ext>
            </a:extLst>
          </p:cNvPr>
          <p:cNvSpPr/>
          <p:nvPr/>
        </p:nvSpPr>
        <p:spPr>
          <a:xfrm>
            <a:off x="5335672" y="5086915"/>
            <a:ext cx="540809" cy="2248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352577D-8327-48FA-9AFC-17B64DAA94A0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4772659" y="4788283"/>
            <a:ext cx="407515" cy="2986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523055-4682-4066-BD56-99D5A979DD16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>
            <a:off x="5180174" y="4788283"/>
            <a:ext cx="425903" cy="298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6BEA82BA-E779-420C-8590-BA513E6B311E}"/>
              </a:ext>
            </a:extLst>
          </p:cNvPr>
          <p:cNvSpPr/>
          <p:nvPr/>
        </p:nvSpPr>
        <p:spPr>
          <a:xfrm rot="8198672">
            <a:off x="5728812" y="4192942"/>
            <a:ext cx="1214547" cy="4554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副標題 2">
            <a:extLst>
              <a:ext uri="{FF2B5EF4-FFF2-40B4-BE49-F238E27FC236}">
                <a16:creationId xmlns:a16="http://schemas.microsoft.com/office/drawing/2014/main" id="{20BBFCE8-6EB0-4E7D-A8D7-111F26CA3CE8}"/>
              </a:ext>
            </a:extLst>
          </p:cNvPr>
          <p:cNvSpPr txBox="1">
            <a:spLocks/>
          </p:cNvSpPr>
          <p:nvPr/>
        </p:nvSpPr>
        <p:spPr>
          <a:xfrm>
            <a:off x="3654723" y="5576958"/>
            <a:ext cx="4834560" cy="92724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Then, AdaBoost continue to make stumps until it has made the number of stumps you asked for, or it has a prefect fit.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1610C0BB-CBF4-4680-AA17-09369842A4D7}"/>
              </a:ext>
            </a:extLst>
          </p:cNvPr>
          <p:cNvSpPr/>
          <p:nvPr/>
        </p:nvSpPr>
        <p:spPr>
          <a:xfrm>
            <a:off x="6377651" y="4867015"/>
            <a:ext cx="680580" cy="4554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副標題 2">
            <a:extLst>
              <a:ext uri="{FF2B5EF4-FFF2-40B4-BE49-F238E27FC236}">
                <a16:creationId xmlns:a16="http://schemas.microsoft.com/office/drawing/2014/main" id="{79EC313F-56C6-416F-B4E2-9226950E84FA}"/>
              </a:ext>
            </a:extLst>
          </p:cNvPr>
          <p:cNvSpPr txBox="1">
            <a:spLocks/>
          </p:cNvSpPr>
          <p:nvPr/>
        </p:nvSpPr>
        <p:spPr>
          <a:xfrm>
            <a:off x="7175364" y="4809311"/>
            <a:ext cx="1855435" cy="57088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etc., etc., and etc..</a:t>
            </a:r>
          </a:p>
        </p:txBody>
      </p:sp>
    </p:spTree>
    <p:extLst>
      <p:ext uri="{BB962C8B-B14F-4D97-AF65-F5344CB8AC3E}">
        <p14:creationId xmlns:p14="http://schemas.microsoft.com/office/powerpoint/2010/main" val="726453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50.1 AdaBoost vs.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7"/>
            <a:ext cx="8219256" cy="116471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contrast, </a:t>
            </a:r>
            <a:r>
              <a:rPr lang="en-US" sz="1800" b="1" dirty="0">
                <a:solidFill>
                  <a:srgbClr val="C00000"/>
                </a:solidFill>
              </a:rPr>
              <a:t>Gradient Boost </a:t>
            </a:r>
            <a:r>
              <a:rPr lang="en-US" sz="1800" b="1" dirty="0">
                <a:solidFill>
                  <a:schemeClr val="tx1"/>
                </a:solidFill>
              </a:rPr>
              <a:t>starts by making a </a:t>
            </a:r>
            <a:r>
              <a:rPr lang="en-US" sz="1800" b="1" dirty="0">
                <a:solidFill>
                  <a:srgbClr val="C00000"/>
                </a:solidFill>
              </a:rPr>
              <a:t>single leaf</a:t>
            </a:r>
            <a:r>
              <a:rPr lang="en-US" sz="1800" b="1" dirty="0">
                <a:solidFill>
                  <a:schemeClr val="tx1"/>
                </a:solidFill>
              </a:rPr>
              <a:t> (instead of a tree or stump, like AdaBoost does).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This leaf represents an initial guess for the </a:t>
            </a:r>
            <a:r>
              <a:rPr lang="en-US" sz="1800" b="1" dirty="0">
                <a:solidFill>
                  <a:srgbClr val="C00000"/>
                </a:solidFill>
              </a:rPr>
              <a:t>Weights</a:t>
            </a:r>
            <a:r>
              <a:rPr lang="en-US" sz="1800" b="1" dirty="0">
                <a:solidFill>
                  <a:schemeClr val="tx1"/>
                </a:solidFill>
              </a:rPr>
              <a:t> of all of the samples.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13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/>
        </p:nvGraphicFramePr>
        <p:xfrm>
          <a:off x="459532" y="2793516"/>
          <a:ext cx="2963624" cy="268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4444418" y="3692931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91422A6-8441-4FF9-A24A-4A39F826FA78}"/>
              </a:ext>
            </a:extLst>
          </p:cNvPr>
          <p:cNvSpPr/>
          <p:nvPr/>
        </p:nvSpPr>
        <p:spPr>
          <a:xfrm>
            <a:off x="3654723" y="3245660"/>
            <a:ext cx="680580" cy="4554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C2FFD6-5CA9-4011-AD49-3F45B6E2CD8B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577172" y="2433476"/>
            <a:ext cx="0" cy="99552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486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50.1 AdaBoost vs.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7"/>
            <a:ext cx="8219256" cy="64807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When Gradient Boost trying to</a:t>
            </a:r>
            <a:r>
              <a:rPr lang="en-US" sz="1800" b="1" dirty="0">
                <a:solidFill>
                  <a:srgbClr val="C00000"/>
                </a:solidFill>
              </a:rPr>
              <a:t> predict </a:t>
            </a:r>
            <a:r>
              <a:rPr lang="en-US" sz="1800" b="1" dirty="0">
                <a:solidFill>
                  <a:schemeClr val="tx1"/>
                </a:solidFill>
              </a:rPr>
              <a:t>a continuous value like </a:t>
            </a:r>
            <a:r>
              <a:rPr lang="en-US" sz="1800" b="1" dirty="0">
                <a:solidFill>
                  <a:srgbClr val="C00000"/>
                </a:solidFill>
              </a:rPr>
              <a:t>Weight</a:t>
            </a:r>
            <a:r>
              <a:rPr lang="en-US" sz="1800" b="1" dirty="0">
                <a:solidFill>
                  <a:schemeClr val="tx1"/>
                </a:solidFill>
              </a:rPr>
              <a:t>, the first guess is the </a:t>
            </a:r>
            <a:r>
              <a:rPr lang="en-US" sz="1800" b="1" dirty="0">
                <a:solidFill>
                  <a:srgbClr val="C00000"/>
                </a:solidFill>
              </a:rPr>
              <a:t>average value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14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965861"/>
              </p:ext>
            </p:extLst>
          </p:nvPr>
        </p:nvGraphicFramePr>
        <p:xfrm>
          <a:off x="459532" y="2793516"/>
          <a:ext cx="2963624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4231710" y="2900884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73.3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C2FFD6-5CA9-4011-AD49-3F45B6E2CD8B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 flipH="1">
            <a:off x="4572000" y="1916832"/>
            <a:ext cx="5172" cy="9840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564CBC1-7DBA-4D0B-B88B-01E29597948A}"/>
              </a:ext>
            </a:extLst>
          </p:cNvPr>
          <p:cNvSpPr/>
          <p:nvPr/>
        </p:nvSpPr>
        <p:spPr>
          <a:xfrm>
            <a:off x="2775084" y="2753640"/>
            <a:ext cx="648072" cy="30929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7D57184-02DB-4AB5-85B3-2F9B48E96CA3}"/>
              </a:ext>
            </a:extLst>
          </p:cNvPr>
          <p:cNvSpPr/>
          <p:nvPr/>
        </p:nvSpPr>
        <p:spPr>
          <a:xfrm>
            <a:off x="3454401" y="3046138"/>
            <a:ext cx="700298" cy="1309963"/>
          </a:xfrm>
          <a:custGeom>
            <a:avLst/>
            <a:gdLst>
              <a:gd name="connsiteX0" fmla="*/ 0 w 838200"/>
              <a:gd name="connsiteY0" fmla="*/ 903547 h 903547"/>
              <a:gd name="connsiteX1" fmla="*/ 457200 w 838200"/>
              <a:gd name="connsiteY1" fmla="*/ 509847 h 903547"/>
              <a:gd name="connsiteX2" fmla="*/ 495300 w 838200"/>
              <a:gd name="connsiteY2" fmla="*/ 78047 h 903547"/>
              <a:gd name="connsiteX3" fmla="*/ 838200 w 838200"/>
              <a:gd name="connsiteY3" fmla="*/ 1847 h 90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200" h="903547">
                <a:moveTo>
                  <a:pt x="0" y="903547"/>
                </a:moveTo>
                <a:cubicBezTo>
                  <a:pt x="187325" y="775488"/>
                  <a:pt x="374650" y="647430"/>
                  <a:pt x="457200" y="509847"/>
                </a:cubicBezTo>
                <a:cubicBezTo>
                  <a:pt x="539750" y="372264"/>
                  <a:pt x="431800" y="162714"/>
                  <a:pt x="495300" y="78047"/>
                </a:cubicBezTo>
                <a:cubicBezTo>
                  <a:pt x="558800" y="-6620"/>
                  <a:pt x="698500" y="-2387"/>
                  <a:pt x="838200" y="1847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AB6F56-6CB1-4148-967F-80B1FE7872E7}"/>
              </a:ext>
            </a:extLst>
          </p:cNvPr>
          <p:cNvSpPr/>
          <p:nvPr/>
        </p:nvSpPr>
        <p:spPr>
          <a:xfrm>
            <a:off x="4359415" y="4104673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5BADCA-6E33-44AE-A0BC-48D75696376F}"/>
              </a:ext>
            </a:extLst>
          </p:cNvPr>
          <p:cNvSpPr/>
          <p:nvPr/>
        </p:nvSpPr>
        <p:spPr>
          <a:xfrm>
            <a:off x="4793300" y="4442442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5F8CF0-0AE7-4C38-9984-C7A21231ADFD}"/>
              </a:ext>
            </a:extLst>
          </p:cNvPr>
          <p:cNvSpPr/>
          <p:nvPr/>
        </p:nvSpPr>
        <p:spPr>
          <a:xfrm>
            <a:off x="3877631" y="443054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85F01C-6033-442D-8B66-65F4F5FCD191}"/>
              </a:ext>
            </a:extLst>
          </p:cNvPr>
          <p:cNvSpPr/>
          <p:nvPr/>
        </p:nvSpPr>
        <p:spPr>
          <a:xfrm>
            <a:off x="4661161" y="478439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B355B3-D7AF-441D-8711-A04CA98DD0B6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4106799" y="4320697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3A5CD9-DA1A-4A2C-96DE-3B5E79AA97F0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4588583" y="4320697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0280C8A-2437-4145-B4E0-697F2EDBCA00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4890329" y="4658466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004344-1546-4863-8E08-C8236DAD3B33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>
            <a:off x="5022468" y="4658466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DB8D18D-4D91-4905-BDE5-600B5F238AD3}"/>
              </a:ext>
            </a:extLst>
          </p:cNvPr>
          <p:cNvSpPr/>
          <p:nvPr/>
        </p:nvSpPr>
        <p:spPr>
          <a:xfrm>
            <a:off x="5163686" y="477017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EF74DF-2A05-43C8-ACF8-B7EAE23FF14C}"/>
              </a:ext>
            </a:extLst>
          </p:cNvPr>
          <p:cNvSpPr/>
          <p:nvPr/>
        </p:nvSpPr>
        <p:spPr>
          <a:xfrm>
            <a:off x="3606417" y="477612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19F93D-0907-49D1-B8FC-33B05867AB8B}"/>
              </a:ext>
            </a:extLst>
          </p:cNvPr>
          <p:cNvSpPr/>
          <p:nvPr/>
        </p:nvSpPr>
        <p:spPr>
          <a:xfrm>
            <a:off x="4130247" y="477017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DF2B74-034F-4FFF-90E1-DCA26377BA85}"/>
              </a:ext>
            </a:extLst>
          </p:cNvPr>
          <p:cNvCxnSpPr>
            <a:cxnSpLocks/>
            <a:stCxn id="18" idx="2"/>
            <a:endCxn id="25" idx="0"/>
          </p:cNvCxnSpPr>
          <p:nvPr/>
        </p:nvCxnSpPr>
        <p:spPr>
          <a:xfrm flipH="1">
            <a:off x="3835585" y="4646572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836F02-44C4-499B-A190-1EB08AEE4B6A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4106799" y="4646572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rrow: Down 31">
            <a:extLst>
              <a:ext uri="{FF2B5EF4-FFF2-40B4-BE49-F238E27FC236}">
                <a16:creationId xmlns:a16="http://schemas.microsoft.com/office/drawing/2014/main" id="{2BFCA609-EB1D-4CE0-A72B-97D17D7931B2}"/>
              </a:ext>
            </a:extLst>
          </p:cNvPr>
          <p:cNvSpPr/>
          <p:nvPr/>
        </p:nvSpPr>
        <p:spPr>
          <a:xfrm>
            <a:off x="4359415" y="3393597"/>
            <a:ext cx="425170" cy="5993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副標題 2">
            <a:extLst>
              <a:ext uri="{FF2B5EF4-FFF2-40B4-BE49-F238E27FC236}">
                <a16:creationId xmlns:a16="http://schemas.microsoft.com/office/drawing/2014/main" id="{0F40C2CE-5ED9-497D-94DA-C5905607F3D1}"/>
              </a:ext>
            </a:extLst>
          </p:cNvPr>
          <p:cNvSpPr txBox="1">
            <a:spLocks/>
          </p:cNvSpPr>
          <p:nvPr/>
        </p:nvSpPr>
        <p:spPr>
          <a:xfrm>
            <a:off x="5773320" y="3002459"/>
            <a:ext cx="3178824" cy="257165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Then, </a:t>
            </a:r>
            <a:r>
              <a:rPr lang="en-US" sz="1800" b="1" dirty="0">
                <a:solidFill>
                  <a:srgbClr val="C00000"/>
                </a:solidFill>
              </a:rPr>
              <a:t>Gradient Boost </a:t>
            </a:r>
            <a:r>
              <a:rPr lang="en-US" sz="1800" b="1" dirty="0">
                <a:solidFill>
                  <a:schemeClr val="tx1"/>
                </a:solidFill>
              </a:rPr>
              <a:t>build a tree.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Like AdaBoost, this tree is based on the errors made by the previous tree…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But unlike </a:t>
            </a:r>
            <a:r>
              <a:rPr lang="en-US" sz="1800" b="1" dirty="0">
                <a:solidFill>
                  <a:srgbClr val="C00000"/>
                </a:solidFill>
              </a:rPr>
              <a:t>AdaBoost</a:t>
            </a:r>
            <a:r>
              <a:rPr lang="en-US" sz="1800" b="1" dirty="0">
                <a:solidFill>
                  <a:schemeClr val="tx1"/>
                </a:solidFill>
              </a:rPr>
              <a:t>, this tree is usually larger than a stump…</a:t>
            </a:r>
          </a:p>
        </p:txBody>
      </p:sp>
    </p:spTree>
    <p:extLst>
      <p:ext uri="{BB962C8B-B14F-4D97-AF65-F5344CB8AC3E}">
        <p14:creationId xmlns:p14="http://schemas.microsoft.com/office/powerpoint/2010/main" val="3202959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50.1 AdaBoost vs.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278276" y="2359707"/>
            <a:ext cx="3664332" cy="224290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That said, </a:t>
            </a:r>
            <a:r>
              <a:rPr lang="en-US" sz="1800" b="1" dirty="0">
                <a:solidFill>
                  <a:srgbClr val="C00000"/>
                </a:solidFill>
              </a:rPr>
              <a:t>Gradient Boost </a:t>
            </a:r>
            <a:r>
              <a:rPr lang="en-US" sz="1800" b="1" dirty="0">
                <a:solidFill>
                  <a:schemeClr val="tx1"/>
                </a:solidFill>
              </a:rPr>
              <a:t>still restricts the size of the tree.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will build the tree up to </a:t>
            </a:r>
            <a:r>
              <a:rPr lang="en-US" sz="1800" b="1" dirty="0">
                <a:solidFill>
                  <a:srgbClr val="C00000"/>
                </a:solidFill>
              </a:rPr>
              <a:t>four leaves </a:t>
            </a:r>
            <a:r>
              <a:rPr lang="en-US" sz="1800" b="1" dirty="0">
                <a:solidFill>
                  <a:schemeClr val="tx1"/>
                </a:solidFill>
              </a:rPr>
              <a:t>but no larger.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However, in practice, people often set the maximum number of leaves to between </a:t>
            </a:r>
            <a:r>
              <a:rPr lang="en-US" sz="1800" b="1" dirty="0">
                <a:solidFill>
                  <a:srgbClr val="C00000"/>
                </a:solidFill>
              </a:rPr>
              <a:t>8 and 32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15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/>
        </p:nvGraphicFramePr>
        <p:xfrm>
          <a:off x="459532" y="2793516"/>
          <a:ext cx="2963624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4231710" y="3725606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73.3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7D57184-02DB-4AB5-85B3-2F9B48E96CA3}"/>
              </a:ext>
            </a:extLst>
          </p:cNvPr>
          <p:cNvSpPr/>
          <p:nvPr/>
        </p:nvSpPr>
        <p:spPr>
          <a:xfrm>
            <a:off x="3454401" y="3861048"/>
            <a:ext cx="675846" cy="495053"/>
          </a:xfrm>
          <a:custGeom>
            <a:avLst/>
            <a:gdLst>
              <a:gd name="connsiteX0" fmla="*/ 0 w 838200"/>
              <a:gd name="connsiteY0" fmla="*/ 903547 h 903547"/>
              <a:gd name="connsiteX1" fmla="*/ 457200 w 838200"/>
              <a:gd name="connsiteY1" fmla="*/ 509847 h 903547"/>
              <a:gd name="connsiteX2" fmla="*/ 495300 w 838200"/>
              <a:gd name="connsiteY2" fmla="*/ 78047 h 903547"/>
              <a:gd name="connsiteX3" fmla="*/ 838200 w 838200"/>
              <a:gd name="connsiteY3" fmla="*/ 1847 h 90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200" h="903547">
                <a:moveTo>
                  <a:pt x="0" y="903547"/>
                </a:moveTo>
                <a:cubicBezTo>
                  <a:pt x="187325" y="775488"/>
                  <a:pt x="374650" y="647430"/>
                  <a:pt x="457200" y="509847"/>
                </a:cubicBezTo>
                <a:cubicBezTo>
                  <a:pt x="539750" y="372264"/>
                  <a:pt x="431800" y="162714"/>
                  <a:pt x="495300" y="78047"/>
                </a:cubicBezTo>
                <a:cubicBezTo>
                  <a:pt x="558800" y="-6620"/>
                  <a:pt x="698500" y="-2387"/>
                  <a:pt x="838200" y="1847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AB6F56-6CB1-4148-967F-80B1FE7872E7}"/>
              </a:ext>
            </a:extLst>
          </p:cNvPr>
          <p:cNvSpPr/>
          <p:nvPr/>
        </p:nvSpPr>
        <p:spPr>
          <a:xfrm>
            <a:off x="4359415" y="492939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5BADCA-6E33-44AE-A0BC-48D75696376F}"/>
              </a:ext>
            </a:extLst>
          </p:cNvPr>
          <p:cNvSpPr/>
          <p:nvPr/>
        </p:nvSpPr>
        <p:spPr>
          <a:xfrm>
            <a:off x="4793300" y="526716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5F8CF0-0AE7-4C38-9984-C7A21231ADFD}"/>
              </a:ext>
            </a:extLst>
          </p:cNvPr>
          <p:cNvSpPr/>
          <p:nvPr/>
        </p:nvSpPr>
        <p:spPr>
          <a:xfrm>
            <a:off x="3877631" y="5255270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85F01C-6033-442D-8B66-65F4F5FCD191}"/>
              </a:ext>
            </a:extLst>
          </p:cNvPr>
          <p:cNvSpPr/>
          <p:nvPr/>
        </p:nvSpPr>
        <p:spPr>
          <a:xfrm>
            <a:off x="4661161" y="560911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B355B3-D7AF-441D-8711-A04CA98DD0B6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4106799" y="5145419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3A5CD9-DA1A-4A2C-96DE-3B5E79AA97F0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4588583" y="5145419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0280C8A-2437-4145-B4E0-697F2EDBCA00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4890329" y="5483188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004344-1546-4863-8E08-C8236DAD3B33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>
            <a:off x="5022468" y="5483188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DB8D18D-4D91-4905-BDE5-600B5F238AD3}"/>
              </a:ext>
            </a:extLst>
          </p:cNvPr>
          <p:cNvSpPr/>
          <p:nvPr/>
        </p:nvSpPr>
        <p:spPr>
          <a:xfrm>
            <a:off x="5163686" y="559489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EF74DF-2A05-43C8-ACF8-B7EAE23FF14C}"/>
              </a:ext>
            </a:extLst>
          </p:cNvPr>
          <p:cNvSpPr/>
          <p:nvPr/>
        </p:nvSpPr>
        <p:spPr>
          <a:xfrm>
            <a:off x="3606417" y="560084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19F93D-0907-49D1-B8FC-33B05867AB8B}"/>
              </a:ext>
            </a:extLst>
          </p:cNvPr>
          <p:cNvSpPr/>
          <p:nvPr/>
        </p:nvSpPr>
        <p:spPr>
          <a:xfrm>
            <a:off x="4130247" y="559489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DF2B74-034F-4FFF-90E1-DCA26377BA85}"/>
              </a:ext>
            </a:extLst>
          </p:cNvPr>
          <p:cNvCxnSpPr>
            <a:cxnSpLocks/>
            <a:stCxn id="18" idx="2"/>
            <a:endCxn id="25" idx="0"/>
          </p:cNvCxnSpPr>
          <p:nvPr/>
        </p:nvCxnSpPr>
        <p:spPr>
          <a:xfrm flipH="1">
            <a:off x="3835585" y="5471294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836F02-44C4-499B-A190-1EB08AEE4B6A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4106799" y="5471294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rrow: Down 31">
            <a:extLst>
              <a:ext uri="{FF2B5EF4-FFF2-40B4-BE49-F238E27FC236}">
                <a16:creationId xmlns:a16="http://schemas.microsoft.com/office/drawing/2014/main" id="{2BFCA609-EB1D-4CE0-A72B-97D17D7931B2}"/>
              </a:ext>
            </a:extLst>
          </p:cNvPr>
          <p:cNvSpPr/>
          <p:nvPr/>
        </p:nvSpPr>
        <p:spPr>
          <a:xfrm>
            <a:off x="4359415" y="4218319"/>
            <a:ext cx="425170" cy="5993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6B6A753-E891-462C-9C20-CE35EE40E173}"/>
              </a:ext>
            </a:extLst>
          </p:cNvPr>
          <p:cNvSpPr/>
          <p:nvPr/>
        </p:nvSpPr>
        <p:spPr>
          <a:xfrm>
            <a:off x="5708968" y="4356101"/>
            <a:ext cx="2247407" cy="1343109"/>
          </a:xfrm>
          <a:custGeom>
            <a:avLst/>
            <a:gdLst>
              <a:gd name="connsiteX0" fmla="*/ 1308100 w 1396138"/>
              <a:gd name="connsiteY0" fmla="*/ 0 h 1295400"/>
              <a:gd name="connsiteX1" fmla="*/ 1257300 w 1396138"/>
              <a:gd name="connsiteY1" fmla="*/ 1066800 h 1295400"/>
              <a:gd name="connsiteX2" fmla="*/ 0 w 1396138"/>
              <a:gd name="connsiteY2" fmla="*/ 129540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6138" h="1295400">
                <a:moveTo>
                  <a:pt x="1308100" y="0"/>
                </a:moveTo>
                <a:cubicBezTo>
                  <a:pt x="1391708" y="425450"/>
                  <a:pt x="1475317" y="850900"/>
                  <a:pt x="1257300" y="1066800"/>
                </a:cubicBezTo>
                <a:cubicBezTo>
                  <a:pt x="1039283" y="1282700"/>
                  <a:pt x="519641" y="1289050"/>
                  <a:pt x="0" y="129540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70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50.1 AdaBoost vs.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04324" y="1451986"/>
            <a:ext cx="8182475" cy="66061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Thus, like </a:t>
            </a:r>
            <a:r>
              <a:rPr lang="en-US" sz="1800" b="1" dirty="0">
                <a:solidFill>
                  <a:srgbClr val="C00000"/>
                </a:solidFill>
              </a:rPr>
              <a:t>AdaBoost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>
                <a:solidFill>
                  <a:srgbClr val="C00000"/>
                </a:solidFill>
              </a:rPr>
              <a:t>Gradient Boot </a:t>
            </a:r>
            <a:r>
              <a:rPr lang="en-US" sz="1800" b="1" dirty="0">
                <a:solidFill>
                  <a:schemeClr val="tx1"/>
                </a:solidFill>
              </a:rPr>
              <a:t>builds fixed-sized trees based on the previous tree’s errors, </a:t>
            </a:r>
            <a:r>
              <a:rPr lang="en-US" sz="1800" b="1" dirty="0">
                <a:solidFill>
                  <a:srgbClr val="C00000"/>
                </a:solidFill>
              </a:rPr>
              <a:t>but unlike AdaBoost, each tree can be larger than a stump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16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347458"/>
              </p:ext>
            </p:extLst>
          </p:nvPr>
        </p:nvGraphicFramePr>
        <p:xfrm>
          <a:off x="459532" y="2793516"/>
          <a:ext cx="2963624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4231710" y="3725606"/>
            <a:ext cx="680580" cy="2905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73.3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7D57184-02DB-4AB5-85B3-2F9B48E96CA3}"/>
              </a:ext>
            </a:extLst>
          </p:cNvPr>
          <p:cNvSpPr/>
          <p:nvPr/>
        </p:nvSpPr>
        <p:spPr>
          <a:xfrm>
            <a:off x="3454401" y="3861048"/>
            <a:ext cx="675846" cy="495053"/>
          </a:xfrm>
          <a:custGeom>
            <a:avLst/>
            <a:gdLst>
              <a:gd name="connsiteX0" fmla="*/ 0 w 838200"/>
              <a:gd name="connsiteY0" fmla="*/ 903547 h 903547"/>
              <a:gd name="connsiteX1" fmla="*/ 457200 w 838200"/>
              <a:gd name="connsiteY1" fmla="*/ 509847 h 903547"/>
              <a:gd name="connsiteX2" fmla="*/ 495300 w 838200"/>
              <a:gd name="connsiteY2" fmla="*/ 78047 h 903547"/>
              <a:gd name="connsiteX3" fmla="*/ 838200 w 838200"/>
              <a:gd name="connsiteY3" fmla="*/ 1847 h 90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200" h="903547">
                <a:moveTo>
                  <a:pt x="0" y="903547"/>
                </a:moveTo>
                <a:cubicBezTo>
                  <a:pt x="187325" y="775488"/>
                  <a:pt x="374650" y="647430"/>
                  <a:pt x="457200" y="509847"/>
                </a:cubicBezTo>
                <a:cubicBezTo>
                  <a:pt x="539750" y="372264"/>
                  <a:pt x="431800" y="162714"/>
                  <a:pt x="495300" y="78047"/>
                </a:cubicBezTo>
                <a:cubicBezTo>
                  <a:pt x="558800" y="-6620"/>
                  <a:pt x="698500" y="-2387"/>
                  <a:pt x="838200" y="1847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AB6F56-6CB1-4148-967F-80B1FE7872E7}"/>
              </a:ext>
            </a:extLst>
          </p:cNvPr>
          <p:cNvSpPr/>
          <p:nvPr/>
        </p:nvSpPr>
        <p:spPr>
          <a:xfrm>
            <a:off x="4359415" y="492939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5BADCA-6E33-44AE-A0BC-48D75696376F}"/>
              </a:ext>
            </a:extLst>
          </p:cNvPr>
          <p:cNvSpPr/>
          <p:nvPr/>
        </p:nvSpPr>
        <p:spPr>
          <a:xfrm>
            <a:off x="4793300" y="526716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5F8CF0-0AE7-4C38-9984-C7A21231ADFD}"/>
              </a:ext>
            </a:extLst>
          </p:cNvPr>
          <p:cNvSpPr/>
          <p:nvPr/>
        </p:nvSpPr>
        <p:spPr>
          <a:xfrm>
            <a:off x="3877631" y="5255270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85F01C-6033-442D-8B66-65F4F5FCD191}"/>
              </a:ext>
            </a:extLst>
          </p:cNvPr>
          <p:cNvSpPr/>
          <p:nvPr/>
        </p:nvSpPr>
        <p:spPr>
          <a:xfrm>
            <a:off x="4661161" y="560911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B355B3-D7AF-441D-8711-A04CA98DD0B6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4106799" y="5145419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3A5CD9-DA1A-4A2C-96DE-3B5E79AA97F0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4588583" y="5145419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0280C8A-2437-4145-B4E0-697F2EDBCA00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4890329" y="5483188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004344-1546-4863-8E08-C8236DAD3B33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>
            <a:off x="5022468" y="5483188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DB8D18D-4D91-4905-BDE5-600B5F238AD3}"/>
              </a:ext>
            </a:extLst>
          </p:cNvPr>
          <p:cNvSpPr/>
          <p:nvPr/>
        </p:nvSpPr>
        <p:spPr>
          <a:xfrm>
            <a:off x="5163686" y="559489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EF74DF-2A05-43C8-ACF8-B7EAE23FF14C}"/>
              </a:ext>
            </a:extLst>
          </p:cNvPr>
          <p:cNvSpPr/>
          <p:nvPr/>
        </p:nvSpPr>
        <p:spPr>
          <a:xfrm>
            <a:off x="3606417" y="5600845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19F93D-0907-49D1-B8FC-33B05867AB8B}"/>
              </a:ext>
            </a:extLst>
          </p:cNvPr>
          <p:cNvSpPr/>
          <p:nvPr/>
        </p:nvSpPr>
        <p:spPr>
          <a:xfrm>
            <a:off x="4130247" y="559489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DF2B74-034F-4FFF-90E1-DCA26377BA85}"/>
              </a:ext>
            </a:extLst>
          </p:cNvPr>
          <p:cNvCxnSpPr>
            <a:cxnSpLocks/>
            <a:stCxn id="18" idx="2"/>
            <a:endCxn id="25" idx="0"/>
          </p:cNvCxnSpPr>
          <p:nvPr/>
        </p:nvCxnSpPr>
        <p:spPr>
          <a:xfrm flipH="1">
            <a:off x="3835585" y="5471294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836F02-44C4-499B-A190-1EB08AEE4B6A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4106799" y="5471294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rrow: Down 31">
            <a:extLst>
              <a:ext uri="{FF2B5EF4-FFF2-40B4-BE49-F238E27FC236}">
                <a16:creationId xmlns:a16="http://schemas.microsoft.com/office/drawing/2014/main" id="{2BFCA609-EB1D-4CE0-A72B-97D17D7931B2}"/>
              </a:ext>
            </a:extLst>
          </p:cNvPr>
          <p:cNvSpPr/>
          <p:nvPr/>
        </p:nvSpPr>
        <p:spPr>
          <a:xfrm>
            <a:off x="4359415" y="4218319"/>
            <a:ext cx="425170" cy="599371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副標題 2">
            <a:extLst>
              <a:ext uri="{FF2B5EF4-FFF2-40B4-BE49-F238E27FC236}">
                <a16:creationId xmlns:a16="http://schemas.microsoft.com/office/drawing/2014/main" id="{30817CF5-34B5-47B8-8CD8-E4EB71A82E62}"/>
              </a:ext>
            </a:extLst>
          </p:cNvPr>
          <p:cNvSpPr txBox="1">
            <a:spLocks/>
          </p:cNvSpPr>
          <p:nvPr/>
        </p:nvSpPr>
        <p:spPr>
          <a:xfrm>
            <a:off x="5864790" y="2293599"/>
            <a:ext cx="2897560" cy="156744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Also, like </a:t>
            </a:r>
            <a:r>
              <a:rPr lang="en-US" sz="1800" b="1" dirty="0">
                <a:solidFill>
                  <a:srgbClr val="C00000"/>
                </a:solidFill>
              </a:rPr>
              <a:t>AdaBoost</a:t>
            </a:r>
            <a:r>
              <a:rPr lang="en-US" sz="1800" b="1" dirty="0">
                <a:solidFill>
                  <a:schemeClr val="tx1"/>
                </a:solidFill>
              </a:rPr>
              <a:t>, </a:t>
            </a:r>
            <a:r>
              <a:rPr lang="en-US" sz="1800" b="1" dirty="0">
                <a:solidFill>
                  <a:srgbClr val="C00000"/>
                </a:solidFill>
              </a:rPr>
              <a:t>Gradient Boot </a:t>
            </a:r>
            <a:r>
              <a:rPr lang="en-US" sz="1800" b="1" dirty="0">
                <a:solidFill>
                  <a:schemeClr val="tx1"/>
                </a:solidFill>
              </a:rPr>
              <a:t>scales the trees. However, </a:t>
            </a:r>
            <a:r>
              <a:rPr lang="en-US" sz="1800" b="1" dirty="0">
                <a:solidFill>
                  <a:srgbClr val="C00000"/>
                </a:solidFill>
              </a:rPr>
              <a:t>Gradient Boost </a:t>
            </a:r>
            <a:r>
              <a:rPr lang="en-US" sz="1800" b="1" dirty="0">
                <a:solidFill>
                  <a:schemeClr val="tx1"/>
                </a:solidFill>
              </a:rPr>
              <a:t>scales all trees by the </a:t>
            </a:r>
            <a:r>
              <a:rPr lang="en-US" sz="1800" b="1" dirty="0">
                <a:solidFill>
                  <a:srgbClr val="C00000"/>
                </a:solidFill>
              </a:rPr>
              <a:t>same amount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360AA0-9AF3-4E39-82E9-13D07AAE6EC3}"/>
              </a:ext>
            </a:extLst>
          </p:cNvPr>
          <p:cNvSpPr/>
          <p:nvPr/>
        </p:nvSpPr>
        <p:spPr>
          <a:xfrm>
            <a:off x="4635500" y="2120900"/>
            <a:ext cx="825500" cy="3467100"/>
          </a:xfrm>
          <a:custGeom>
            <a:avLst/>
            <a:gdLst>
              <a:gd name="connsiteX0" fmla="*/ 0 w 825500"/>
              <a:gd name="connsiteY0" fmla="*/ 0 h 3467100"/>
              <a:gd name="connsiteX1" fmla="*/ 228600 w 825500"/>
              <a:gd name="connsiteY1" fmla="*/ 1270000 h 3467100"/>
              <a:gd name="connsiteX2" fmla="*/ 698500 w 825500"/>
              <a:gd name="connsiteY2" fmla="*/ 1498600 h 3467100"/>
              <a:gd name="connsiteX3" fmla="*/ 825500 w 825500"/>
              <a:gd name="connsiteY3" fmla="*/ 3467100 h 346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5500" h="3467100">
                <a:moveTo>
                  <a:pt x="0" y="0"/>
                </a:moveTo>
                <a:cubicBezTo>
                  <a:pt x="56091" y="510116"/>
                  <a:pt x="112183" y="1020233"/>
                  <a:pt x="228600" y="1270000"/>
                </a:cubicBezTo>
                <a:cubicBezTo>
                  <a:pt x="345017" y="1519767"/>
                  <a:pt x="599017" y="1132417"/>
                  <a:pt x="698500" y="1498600"/>
                </a:cubicBezTo>
                <a:cubicBezTo>
                  <a:pt x="797983" y="1864783"/>
                  <a:pt x="811741" y="2665941"/>
                  <a:pt x="825500" y="346710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2DBB0D7-57CC-4B30-B8FA-926EA9D54CC5}"/>
              </a:ext>
            </a:extLst>
          </p:cNvPr>
          <p:cNvCxnSpPr/>
          <p:nvPr/>
        </p:nvCxnSpPr>
        <p:spPr>
          <a:xfrm flipH="1">
            <a:off x="5163686" y="3725606"/>
            <a:ext cx="2072610" cy="15296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2556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50.1 AdaBoost vs.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23176" y="2040446"/>
            <a:ext cx="2963624" cy="175651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Then Gradient </a:t>
            </a:r>
            <a:r>
              <a:rPr lang="en-US" sz="1800" b="1" dirty="0">
                <a:solidFill>
                  <a:srgbClr val="C00000"/>
                </a:solidFill>
              </a:rPr>
              <a:t>Boost builds </a:t>
            </a:r>
            <a:r>
              <a:rPr lang="en-US" sz="1800" b="1" dirty="0">
                <a:solidFill>
                  <a:schemeClr val="tx1"/>
                </a:solidFill>
              </a:rPr>
              <a:t>another tree based on the errors made by the previous tree…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 and then it scales the tree…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17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126903"/>
              </p:ext>
            </p:extLst>
          </p:nvPr>
        </p:nvGraphicFramePr>
        <p:xfrm>
          <a:off x="440046" y="1303021"/>
          <a:ext cx="2963624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4082421" y="1612030"/>
            <a:ext cx="680580" cy="2905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73.3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7D57184-02DB-4AB5-85B3-2F9B48E96CA3}"/>
              </a:ext>
            </a:extLst>
          </p:cNvPr>
          <p:cNvSpPr/>
          <p:nvPr/>
        </p:nvSpPr>
        <p:spPr>
          <a:xfrm>
            <a:off x="3305112" y="1747472"/>
            <a:ext cx="675846" cy="495053"/>
          </a:xfrm>
          <a:custGeom>
            <a:avLst/>
            <a:gdLst>
              <a:gd name="connsiteX0" fmla="*/ 0 w 838200"/>
              <a:gd name="connsiteY0" fmla="*/ 903547 h 903547"/>
              <a:gd name="connsiteX1" fmla="*/ 457200 w 838200"/>
              <a:gd name="connsiteY1" fmla="*/ 509847 h 903547"/>
              <a:gd name="connsiteX2" fmla="*/ 495300 w 838200"/>
              <a:gd name="connsiteY2" fmla="*/ 78047 h 903547"/>
              <a:gd name="connsiteX3" fmla="*/ 838200 w 838200"/>
              <a:gd name="connsiteY3" fmla="*/ 1847 h 90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200" h="903547">
                <a:moveTo>
                  <a:pt x="0" y="903547"/>
                </a:moveTo>
                <a:cubicBezTo>
                  <a:pt x="187325" y="775488"/>
                  <a:pt x="374650" y="647430"/>
                  <a:pt x="457200" y="509847"/>
                </a:cubicBezTo>
                <a:cubicBezTo>
                  <a:pt x="539750" y="372264"/>
                  <a:pt x="431800" y="162714"/>
                  <a:pt x="495300" y="78047"/>
                </a:cubicBezTo>
                <a:cubicBezTo>
                  <a:pt x="558800" y="-6620"/>
                  <a:pt x="698500" y="-2387"/>
                  <a:pt x="838200" y="1847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AB6F56-6CB1-4148-967F-80B1FE7872E7}"/>
              </a:ext>
            </a:extLst>
          </p:cNvPr>
          <p:cNvSpPr/>
          <p:nvPr/>
        </p:nvSpPr>
        <p:spPr>
          <a:xfrm>
            <a:off x="4210126" y="281581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5BADCA-6E33-44AE-A0BC-48D75696376F}"/>
              </a:ext>
            </a:extLst>
          </p:cNvPr>
          <p:cNvSpPr/>
          <p:nvPr/>
        </p:nvSpPr>
        <p:spPr>
          <a:xfrm>
            <a:off x="4644011" y="315358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5F8CF0-0AE7-4C38-9984-C7A21231ADFD}"/>
              </a:ext>
            </a:extLst>
          </p:cNvPr>
          <p:cNvSpPr/>
          <p:nvPr/>
        </p:nvSpPr>
        <p:spPr>
          <a:xfrm>
            <a:off x="3728342" y="314169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85F01C-6033-442D-8B66-65F4F5FCD191}"/>
              </a:ext>
            </a:extLst>
          </p:cNvPr>
          <p:cNvSpPr/>
          <p:nvPr/>
        </p:nvSpPr>
        <p:spPr>
          <a:xfrm>
            <a:off x="4511872" y="349554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B355B3-D7AF-441D-8711-A04CA98DD0B6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3957510" y="3031843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3A5CD9-DA1A-4A2C-96DE-3B5E79AA97F0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4439294" y="3031843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0280C8A-2437-4145-B4E0-697F2EDBCA00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4741040" y="3369612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004344-1546-4863-8E08-C8236DAD3B33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>
            <a:off x="4873179" y="3369612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DB8D18D-4D91-4905-BDE5-600B5F238AD3}"/>
              </a:ext>
            </a:extLst>
          </p:cNvPr>
          <p:cNvSpPr/>
          <p:nvPr/>
        </p:nvSpPr>
        <p:spPr>
          <a:xfrm>
            <a:off x="5014397" y="348131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EF74DF-2A05-43C8-ACF8-B7EAE23FF14C}"/>
              </a:ext>
            </a:extLst>
          </p:cNvPr>
          <p:cNvSpPr/>
          <p:nvPr/>
        </p:nvSpPr>
        <p:spPr>
          <a:xfrm>
            <a:off x="3457128" y="348726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19F93D-0907-49D1-B8FC-33B05867AB8B}"/>
              </a:ext>
            </a:extLst>
          </p:cNvPr>
          <p:cNvSpPr/>
          <p:nvPr/>
        </p:nvSpPr>
        <p:spPr>
          <a:xfrm>
            <a:off x="3980958" y="348131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DF2B74-034F-4FFF-90E1-DCA26377BA85}"/>
              </a:ext>
            </a:extLst>
          </p:cNvPr>
          <p:cNvCxnSpPr>
            <a:cxnSpLocks/>
            <a:stCxn id="18" idx="2"/>
            <a:endCxn id="25" idx="0"/>
          </p:cNvCxnSpPr>
          <p:nvPr/>
        </p:nvCxnSpPr>
        <p:spPr>
          <a:xfrm flipH="1">
            <a:off x="3686296" y="3357718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836F02-44C4-499B-A190-1EB08AEE4B6A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3957510" y="3357718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rrow: Down 31">
            <a:extLst>
              <a:ext uri="{FF2B5EF4-FFF2-40B4-BE49-F238E27FC236}">
                <a16:creationId xmlns:a16="http://schemas.microsoft.com/office/drawing/2014/main" id="{2BFCA609-EB1D-4CE0-A72B-97D17D7931B2}"/>
              </a:ext>
            </a:extLst>
          </p:cNvPr>
          <p:cNvSpPr/>
          <p:nvPr/>
        </p:nvSpPr>
        <p:spPr>
          <a:xfrm>
            <a:off x="4210126" y="2104743"/>
            <a:ext cx="425170" cy="599371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6411B0-35C6-4137-B610-3505F22ED2DF}"/>
              </a:ext>
            </a:extLst>
          </p:cNvPr>
          <p:cNvSpPr/>
          <p:nvPr/>
        </p:nvSpPr>
        <p:spPr>
          <a:xfrm>
            <a:off x="4940782" y="439518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389483-82F0-421E-94F3-FE961226CD6B}"/>
              </a:ext>
            </a:extLst>
          </p:cNvPr>
          <p:cNvSpPr/>
          <p:nvPr/>
        </p:nvSpPr>
        <p:spPr>
          <a:xfrm>
            <a:off x="5374667" y="473295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388806-70A1-4681-9F75-AAFE7AC552B4}"/>
              </a:ext>
            </a:extLst>
          </p:cNvPr>
          <p:cNvSpPr/>
          <p:nvPr/>
        </p:nvSpPr>
        <p:spPr>
          <a:xfrm>
            <a:off x="4458998" y="472106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0829D-CC5D-46BF-96E6-67D2EC873627}"/>
              </a:ext>
            </a:extLst>
          </p:cNvPr>
          <p:cNvSpPr/>
          <p:nvPr/>
        </p:nvSpPr>
        <p:spPr>
          <a:xfrm>
            <a:off x="5242528" y="507491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00F4908-BF18-4D9B-BC07-2C7779771B16}"/>
              </a:ext>
            </a:extLst>
          </p:cNvPr>
          <p:cNvCxnSpPr>
            <a:cxnSpLocks/>
            <a:stCxn id="30" idx="2"/>
            <a:endCxn id="33" idx="0"/>
          </p:cNvCxnSpPr>
          <p:nvPr/>
        </p:nvCxnSpPr>
        <p:spPr>
          <a:xfrm flipH="1">
            <a:off x="4688166" y="4611213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B3FD250-4A6A-4D92-B262-BB46A8B66BF8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5169950" y="4611213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7413299-5163-4FB8-8549-A1C0F34BB12B}"/>
              </a:ext>
            </a:extLst>
          </p:cNvPr>
          <p:cNvCxnSpPr>
            <a:stCxn id="31" idx="2"/>
            <a:endCxn id="34" idx="0"/>
          </p:cNvCxnSpPr>
          <p:nvPr/>
        </p:nvCxnSpPr>
        <p:spPr>
          <a:xfrm flipH="1">
            <a:off x="5471696" y="4948982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BF29CC5-F192-42F9-89F4-8BF0B5B2BE3D}"/>
              </a:ext>
            </a:extLst>
          </p:cNvPr>
          <p:cNvCxnSpPr>
            <a:cxnSpLocks/>
            <a:stCxn id="31" idx="2"/>
            <a:endCxn id="39" idx="0"/>
          </p:cNvCxnSpPr>
          <p:nvPr/>
        </p:nvCxnSpPr>
        <p:spPr>
          <a:xfrm>
            <a:off x="5603835" y="4948982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972B517-FFCB-47F3-8624-15842F2AD55D}"/>
              </a:ext>
            </a:extLst>
          </p:cNvPr>
          <p:cNvSpPr/>
          <p:nvPr/>
        </p:nvSpPr>
        <p:spPr>
          <a:xfrm>
            <a:off x="5745053" y="506068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E481A1-A8DC-41EA-BFCF-B18A7E43B160}"/>
              </a:ext>
            </a:extLst>
          </p:cNvPr>
          <p:cNvSpPr/>
          <p:nvPr/>
        </p:nvSpPr>
        <p:spPr>
          <a:xfrm>
            <a:off x="4187784" y="506663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2700D4-0AC0-44D5-9816-A36E7B555DA0}"/>
              </a:ext>
            </a:extLst>
          </p:cNvPr>
          <p:cNvSpPr/>
          <p:nvPr/>
        </p:nvSpPr>
        <p:spPr>
          <a:xfrm>
            <a:off x="4711614" y="506068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B398BA1-2672-4015-93B5-4408BCF1ECB9}"/>
              </a:ext>
            </a:extLst>
          </p:cNvPr>
          <p:cNvCxnSpPr>
            <a:cxnSpLocks/>
            <a:stCxn id="33" idx="2"/>
            <a:endCxn id="40" idx="0"/>
          </p:cNvCxnSpPr>
          <p:nvPr/>
        </p:nvCxnSpPr>
        <p:spPr>
          <a:xfrm flipH="1">
            <a:off x="4416952" y="4937088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E4D0372-0BDF-477E-9421-6F3AE0B185CC}"/>
              </a:ext>
            </a:extLst>
          </p:cNvPr>
          <p:cNvCxnSpPr>
            <a:cxnSpLocks/>
            <a:stCxn id="33" idx="2"/>
            <a:endCxn id="41" idx="0"/>
          </p:cNvCxnSpPr>
          <p:nvPr/>
        </p:nvCxnSpPr>
        <p:spPr>
          <a:xfrm>
            <a:off x="4688166" y="4937088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22E1097E-82FB-4AD8-9CD3-22E0363E1E38}"/>
              </a:ext>
            </a:extLst>
          </p:cNvPr>
          <p:cNvSpPr/>
          <p:nvPr/>
        </p:nvSpPr>
        <p:spPr>
          <a:xfrm rot="3567539">
            <a:off x="4338860" y="3823313"/>
            <a:ext cx="731693" cy="4494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34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50.1 AdaBoost vs.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23176" y="2040445"/>
            <a:ext cx="3025288" cy="198742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…and </a:t>
            </a:r>
            <a:r>
              <a:rPr lang="en-US" sz="1800" b="1" dirty="0">
                <a:solidFill>
                  <a:srgbClr val="C00000"/>
                </a:solidFill>
              </a:rPr>
              <a:t>Gradient Boost </a:t>
            </a:r>
            <a:r>
              <a:rPr lang="en-US" sz="1800" b="1" dirty="0">
                <a:solidFill>
                  <a:schemeClr val="tx1"/>
                </a:solidFill>
              </a:rPr>
              <a:t>continue to build trees in this fashion until it has made the number of trees you asked for, or additional trees fail to improve the fit.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18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/>
        </p:nvGraphicFramePr>
        <p:xfrm>
          <a:off x="440046" y="1303021"/>
          <a:ext cx="2963624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4082421" y="1612030"/>
            <a:ext cx="680580" cy="2905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73.3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7D57184-02DB-4AB5-85B3-2F9B48E96CA3}"/>
              </a:ext>
            </a:extLst>
          </p:cNvPr>
          <p:cNvSpPr/>
          <p:nvPr/>
        </p:nvSpPr>
        <p:spPr>
          <a:xfrm>
            <a:off x="3305112" y="1747472"/>
            <a:ext cx="675846" cy="495053"/>
          </a:xfrm>
          <a:custGeom>
            <a:avLst/>
            <a:gdLst>
              <a:gd name="connsiteX0" fmla="*/ 0 w 838200"/>
              <a:gd name="connsiteY0" fmla="*/ 903547 h 903547"/>
              <a:gd name="connsiteX1" fmla="*/ 457200 w 838200"/>
              <a:gd name="connsiteY1" fmla="*/ 509847 h 903547"/>
              <a:gd name="connsiteX2" fmla="*/ 495300 w 838200"/>
              <a:gd name="connsiteY2" fmla="*/ 78047 h 903547"/>
              <a:gd name="connsiteX3" fmla="*/ 838200 w 838200"/>
              <a:gd name="connsiteY3" fmla="*/ 1847 h 90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200" h="903547">
                <a:moveTo>
                  <a:pt x="0" y="903547"/>
                </a:moveTo>
                <a:cubicBezTo>
                  <a:pt x="187325" y="775488"/>
                  <a:pt x="374650" y="647430"/>
                  <a:pt x="457200" y="509847"/>
                </a:cubicBezTo>
                <a:cubicBezTo>
                  <a:pt x="539750" y="372264"/>
                  <a:pt x="431800" y="162714"/>
                  <a:pt x="495300" y="78047"/>
                </a:cubicBezTo>
                <a:cubicBezTo>
                  <a:pt x="558800" y="-6620"/>
                  <a:pt x="698500" y="-2387"/>
                  <a:pt x="838200" y="1847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AB6F56-6CB1-4148-967F-80B1FE7872E7}"/>
              </a:ext>
            </a:extLst>
          </p:cNvPr>
          <p:cNvSpPr/>
          <p:nvPr/>
        </p:nvSpPr>
        <p:spPr>
          <a:xfrm>
            <a:off x="4210126" y="2815819"/>
            <a:ext cx="458336" cy="216024"/>
          </a:xfrm>
          <a:prstGeom prst="rect">
            <a:avLst/>
          </a:prstGeom>
          <a:solidFill>
            <a:srgbClr val="00B0F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5BADCA-6E33-44AE-A0BC-48D75696376F}"/>
              </a:ext>
            </a:extLst>
          </p:cNvPr>
          <p:cNvSpPr/>
          <p:nvPr/>
        </p:nvSpPr>
        <p:spPr>
          <a:xfrm>
            <a:off x="4644011" y="3153588"/>
            <a:ext cx="458336" cy="216024"/>
          </a:xfrm>
          <a:prstGeom prst="rect">
            <a:avLst/>
          </a:prstGeom>
          <a:solidFill>
            <a:srgbClr val="00B0F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5F8CF0-0AE7-4C38-9984-C7A21231ADFD}"/>
              </a:ext>
            </a:extLst>
          </p:cNvPr>
          <p:cNvSpPr/>
          <p:nvPr/>
        </p:nvSpPr>
        <p:spPr>
          <a:xfrm>
            <a:off x="3728342" y="3141694"/>
            <a:ext cx="458336" cy="216024"/>
          </a:xfrm>
          <a:prstGeom prst="rect">
            <a:avLst/>
          </a:prstGeom>
          <a:solidFill>
            <a:srgbClr val="00B0F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85F01C-6033-442D-8B66-65F4F5FCD191}"/>
              </a:ext>
            </a:extLst>
          </p:cNvPr>
          <p:cNvSpPr/>
          <p:nvPr/>
        </p:nvSpPr>
        <p:spPr>
          <a:xfrm>
            <a:off x="4511872" y="3495540"/>
            <a:ext cx="458336" cy="216024"/>
          </a:xfrm>
          <a:prstGeom prst="rect">
            <a:avLst/>
          </a:prstGeom>
          <a:solidFill>
            <a:srgbClr val="00B05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B355B3-D7AF-441D-8711-A04CA98DD0B6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3957510" y="3031843"/>
            <a:ext cx="481784" cy="109851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3A5CD9-DA1A-4A2C-96DE-3B5E79AA97F0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4439294" y="3031843"/>
            <a:ext cx="433885" cy="12174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0280C8A-2437-4145-B4E0-697F2EDBCA00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4741040" y="3369612"/>
            <a:ext cx="132139" cy="1259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004344-1546-4863-8E08-C8236DAD3B33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>
            <a:off x="4873179" y="3369612"/>
            <a:ext cx="403429" cy="88853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DB8D18D-4D91-4905-BDE5-600B5F238AD3}"/>
              </a:ext>
            </a:extLst>
          </p:cNvPr>
          <p:cNvSpPr/>
          <p:nvPr/>
        </p:nvSpPr>
        <p:spPr>
          <a:xfrm>
            <a:off x="5047440" y="3458465"/>
            <a:ext cx="458336" cy="216024"/>
          </a:xfrm>
          <a:prstGeom prst="rect">
            <a:avLst/>
          </a:prstGeom>
          <a:solidFill>
            <a:srgbClr val="00B05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EF74DF-2A05-43C8-ACF8-B7EAE23FF14C}"/>
              </a:ext>
            </a:extLst>
          </p:cNvPr>
          <p:cNvSpPr/>
          <p:nvPr/>
        </p:nvSpPr>
        <p:spPr>
          <a:xfrm>
            <a:off x="3457128" y="3487269"/>
            <a:ext cx="458336" cy="216024"/>
          </a:xfrm>
          <a:prstGeom prst="rect">
            <a:avLst/>
          </a:prstGeom>
          <a:solidFill>
            <a:srgbClr val="00B05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19F93D-0907-49D1-B8FC-33B05867AB8B}"/>
              </a:ext>
            </a:extLst>
          </p:cNvPr>
          <p:cNvSpPr/>
          <p:nvPr/>
        </p:nvSpPr>
        <p:spPr>
          <a:xfrm>
            <a:off x="3980958" y="3481317"/>
            <a:ext cx="458336" cy="216024"/>
          </a:xfrm>
          <a:prstGeom prst="rect">
            <a:avLst/>
          </a:prstGeom>
          <a:solidFill>
            <a:srgbClr val="00B05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DF2B74-034F-4FFF-90E1-DCA26377BA85}"/>
              </a:ext>
            </a:extLst>
          </p:cNvPr>
          <p:cNvCxnSpPr>
            <a:cxnSpLocks/>
            <a:stCxn id="18" idx="2"/>
            <a:endCxn id="25" idx="0"/>
          </p:cNvCxnSpPr>
          <p:nvPr/>
        </p:nvCxnSpPr>
        <p:spPr>
          <a:xfrm flipH="1">
            <a:off x="3686296" y="3357718"/>
            <a:ext cx="271214" cy="129551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836F02-44C4-499B-A190-1EB08AEE4B6A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3957510" y="3357718"/>
            <a:ext cx="252616" cy="12359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rrow: Down 31">
            <a:extLst>
              <a:ext uri="{FF2B5EF4-FFF2-40B4-BE49-F238E27FC236}">
                <a16:creationId xmlns:a16="http://schemas.microsoft.com/office/drawing/2014/main" id="{2BFCA609-EB1D-4CE0-A72B-97D17D7931B2}"/>
              </a:ext>
            </a:extLst>
          </p:cNvPr>
          <p:cNvSpPr/>
          <p:nvPr/>
        </p:nvSpPr>
        <p:spPr>
          <a:xfrm>
            <a:off x="4210125" y="2105703"/>
            <a:ext cx="326297" cy="599371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6411B0-35C6-4137-B610-3505F22ED2DF}"/>
              </a:ext>
            </a:extLst>
          </p:cNvPr>
          <p:cNvSpPr/>
          <p:nvPr/>
        </p:nvSpPr>
        <p:spPr>
          <a:xfrm>
            <a:off x="4119840" y="4458303"/>
            <a:ext cx="458336" cy="216024"/>
          </a:xfrm>
          <a:prstGeom prst="rect">
            <a:avLst/>
          </a:prstGeom>
          <a:solidFill>
            <a:srgbClr val="00B0F0">
              <a:alpha val="54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389483-82F0-421E-94F3-FE961226CD6B}"/>
              </a:ext>
            </a:extLst>
          </p:cNvPr>
          <p:cNvSpPr/>
          <p:nvPr/>
        </p:nvSpPr>
        <p:spPr>
          <a:xfrm>
            <a:off x="4553725" y="4796072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388806-70A1-4681-9F75-AAFE7AC552B4}"/>
              </a:ext>
            </a:extLst>
          </p:cNvPr>
          <p:cNvSpPr/>
          <p:nvPr/>
        </p:nvSpPr>
        <p:spPr>
          <a:xfrm>
            <a:off x="3638056" y="478417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0829D-CC5D-46BF-96E6-67D2EC873627}"/>
              </a:ext>
            </a:extLst>
          </p:cNvPr>
          <p:cNvSpPr/>
          <p:nvPr/>
        </p:nvSpPr>
        <p:spPr>
          <a:xfrm>
            <a:off x="4421586" y="513802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00F4908-BF18-4D9B-BC07-2C7779771B16}"/>
              </a:ext>
            </a:extLst>
          </p:cNvPr>
          <p:cNvCxnSpPr>
            <a:cxnSpLocks/>
            <a:stCxn id="30" idx="2"/>
            <a:endCxn id="33" idx="0"/>
          </p:cNvCxnSpPr>
          <p:nvPr/>
        </p:nvCxnSpPr>
        <p:spPr>
          <a:xfrm flipH="1">
            <a:off x="3867224" y="4674327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B3FD250-4A6A-4D92-B262-BB46A8B66BF8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4349008" y="4674327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7413299-5163-4FB8-8549-A1C0F34BB12B}"/>
              </a:ext>
            </a:extLst>
          </p:cNvPr>
          <p:cNvCxnSpPr>
            <a:stCxn id="31" idx="2"/>
            <a:endCxn id="34" idx="0"/>
          </p:cNvCxnSpPr>
          <p:nvPr/>
        </p:nvCxnSpPr>
        <p:spPr>
          <a:xfrm flipH="1">
            <a:off x="4650754" y="5012096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BF29CC5-F192-42F9-89F4-8BF0B5B2BE3D}"/>
              </a:ext>
            </a:extLst>
          </p:cNvPr>
          <p:cNvCxnSpPr>
            <a:cxnSpLocks/>
            <a:stCxn id="31" idx="2"/>
            <a:endCxn id="39" idx="0"/>
          </p:cNvCxnSpPr>
          <p:nvPr/>
        </p:nvCxnSpPr>
        <p:spPr>
          <a:xfrm>
            <a:off x="4782893" y="5012096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972B517-FFCB-47F3-8624-15842F2AD55D}"/>
              </a:ext>
            </a:extLst>
          </p:cNvPr>
          <p:cNvSpPr/>
          <p:nvPr/>
        </p:nvSpPr>
        <p:spPr>
          <a:xfrm>
            <a:off x="4924111" y="512380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E481A1-A8DC-41EA-BFCF-B18A7E43B160}"/>
              </a:ext>
            </a:extLst>
          </p:cNvPr>
          <p:cNvSpPr/>
          <p:nvPr/>
        </p:nvSpPr>
        <p:spPr>
          <a:xfrm>
            <a:off x="3366842" y="512975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2700D4-0AC0-44D5-9816-A36E7B555DA0}"/>
              </a:ext>
            </a:extLst>
          </p:cNvPr>
          <p:cNvSpPr/>
          <p:nvPr/>
        </p:nvSpPr>
        <p:spPr>
          <a:xfrm>
            <a:off x="3890672" y="512380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B398BA1-2672-4015-93B5-4408BCF1ECB9}"/>
              </a:ext>
            </a:extLst>
          </p:cNvPr>
          <p:cNvCxnSpPr>
            <a:cxnSpLocks/>
            <a:stCxn id="33" idx="2"/>
            <a:endCxn id="40" idx="0"/>
          </p:cNvCxnSpPr>
          <p:nvPr/>
        </p:nvCxnSpPr>
        <p:spPr>
          <a:xfrm flipH="1">
            <a:off x="3596010" y="5000202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E4D0372-0BDF-477E-9421-6F3AE0B185CC}"/>
              </a:ext>
            </a:extLst>
          </p:cNvPr>
          <p:cNvCxnSpPr>
            <a:cxnSpLocks/>
            <a:stCxn id="33" idx="2"/>
            <a:endCxn id="41" idx="0"/>
          </p:cNvCxnSpPr>
          <p:nvPr/>
        </p:nvCxnSpPr>
        <p:spPr>
          <a:xfrm>
            <a:off x="3867224" y="5000202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22E1097E-82FB-4AD8-9CD3-22E0363E1E38}"/>
              </a:ext>
            </a:extLst>
          </p:cNvPr>
          <p:cNvSpPr/>
          <p:nvPr/>
        </p:nvSpPr>
        <p:spPr>
          <a:xfrm rot="5400000">
            <a:off x="4056782" y="3886770"/>
            <a:ext cx="599209" cy="360071"/>
          </a:xfrm>
          <a:prstGeom prst="rightArrow">
            <a:avLst/>
          </a:prstGeom>
          <a:solidFill>
            <a:schemeClr val="accent1">
              <a:alpha val="54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9DB0C57-25D3-441C-92FE-780187D7BCEF}"/>
              </a:ext>
            </a:extLst>
          </p:cNvPr>
          <p:cNvSpPr/>
          <p:nvPr/>
        </p:nvSpPr>
        <p:spPr>
          <a:xfrm>
            <a:off x="6225893" y="4436896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0CE135D-3729-4FB4-B87E-0B894D998A8D}"/>
              </a:ext>
            </a:extLst>
          </p:cNvPr>
          <p:cNvSpPr/>
          <p:nvPr/>
        </p:nvSpPr>
        <p:spPr>
          <a:xfrm>
            <a:off x="6659778" y="477466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A760B71-0E7F-4DB4-8C84-8686331C5775}"/>
              </a:ext>
            </a:extLst>
          </p:cNvPr>
          <p:cNvSpPr/>
          <p:nvPr/>
        </p:nvSpPr>
        <p:spPr>
          <a:xfrm>
            <a:off x="5744109" y="4762771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3864B5-6EB3-436C-BEA9-997B61896101}"/>
              </a:ext>
            </a:extLst>
          </p:cNvPr>
          <p:cNvSpPr/>
          <p:nvPr/>
        </p:nvSpPr>
        <p:spPr>
          <a:xfrm>
            <a:off x="6527639" y="511661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AA4A894-29B3-4FB1-AE77-66D398744A60}"/>
              </a:ext>
            </a:extLst>
          </p:cNvPr>
          <p:cNvCxnSpPr>
            <a:cxnSpLocks/>
            <a:stCxn id="45" idx="2"/>
            <a:endCxn id="47" idx="0"/>
          </p:cNvCxnSpPr>
          <p:nvPr/>
        </p:nvCxnSpPr>
        <p:spPr>
          <a:xfrm flipH="1">
            <a:off x="5973277" y="4652920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BAE51EF-18F7-431D-AA23-188F35E674C5}"/>
              </a:ext>
            </a:extLst>
          </p:cNvPr>
          <p:cNvCxnSpPr>
            <a:stCxn id="45" idx="2"/>
            <a:endCxn id="46" idx="0"/>
          </p:cNvCxnSpPr>
          <p:nvPr/>
        </p:nvCxnSpPr>
        <p:spPr>
          <a:xfrm>
            <a:off x="6455061" y="4652920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5143F92-10E3-4F0A-BA33-AAEE947CBE6D}"/>
              </a:ext>
            </a:extLst>
          </p:cNvPr>
          <p:cNvCxnSpPr>
            <a:stCxn id="46" idx="2"/>
            <a:endCxn id="48" idx="0"/>
          </p:cNvCxnSpPr>
          <p:nvPr/>
        </p:nvCxnSpPr>
        <p:spPr>
          <a:xfrm flipH="1">
            <a:off x="6756807" y="4990689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FA20871-490C-4F87-BD40-C5E19B278322}"/>
              </a:ext>
            </a:extLst>
          </p:cNvPr>
          <p:cNvCxnSpPr>
            <a:cxnSpLocks/>
            <a:stCxn id="46" idx="2"/>
            <a:endCxn id="53" idx="0"/>
          </p:cNvCxnSpPr>
          <p:nvPr/>
        </p:nvCxnSpPr>
        <p:spPr>
          <a:xfrm>
            <a:off x="6888946" y="4990689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CC04DD38-42B4-4302-B18B-A9925B865556}"/>
              </a:ext>
            </a:extLst>
          </p:cNvPr>
          <p:cNvSpPr/>
          <p:nvPr/>
        </p:nvSpPr>
        <p:spPr>
          <a:xfrm>
            <a:off x="7030164" y="510239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15A99C5-0CE2-4F6F-B80F-B1E4DDCD1745}"/>
              </a:ext>
            </a:extLst>
          </p:cNvPr>
          <p:cNvSpPr/>
          <p:nvPr/>
        </p:nvSpPr>
        <p:spPr>
          <a:xfrm>
            <a:off x="5472895" y="510834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C96B8B7-9BC0-47C4-815B-0C312367B511}"/>
              </a:ext>
            </a:extLst>
          </p:cNvPr>
          <p:cNvSpPr/>
          <p:nvPr/>
        </p:nvSpPr>
        <p:spPr>
          <a:xfrm>
            <a:off x="5996725" y="510239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5023A36-E626-4C7F-881B-3865F98BCB0A}"/>
              </a:ext>
            </a:extLst>
          </p:cNvPr>
          <p:cNvCxnSpPr>
            <a:cxnSpLocks/>
            <a:stCxn id="47" idx="2"/>
            <a:endCxn id="54" idx="0"/>
          </p:cNvCxnSpPr>
          <p:nvPr/>
        </p:nvCxnSpPr>
        <p:spPr>
          <a:xfrm flipH="1">
            <a:off x="5702063" y="4978795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2DED96E-10DA-4452-B3ED-E2CE3ABF8762}"/>
              </a:ext>
            </a:extLst>
          </p:cNvPr>
          <p:cNvCxnSpPr>
            <a:cxnSpLocks/>
            <a:stCxn id="47" idx="2"/>
            <a:endCxn id="55" idx="0"/>
          </p:cNvCxnSpPr>
          <p:nvPr/>
        </p:nvCxnSpPr>
        <p:spPr>
          <a:xfrm>
            <a:off x="5973277" y="4978795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667A51BB-3979-443E-8EE9-057844B7662D}"/>
              </a:ext>
            </a:extLst>
          </p:cNvPr>
          <p:cNvSpPr/>
          <p:nvPr/>
        </p:nvSpPr>
        <p:spPr>
          <a:xfrm>
            <a:off x="5078717" y="4381285"/>
            <a:ext cx="531576" cy="3259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2BBCE3AC-FA12-435D-ADB7-1D35A06E1728}"/>
              </a:ext>
            </a:extLst>
          </p:cNvPr>
          <p:cNvSpPr/>
          <p:nvPr/>
        </p:nvSpPr>
        <p:spPr>
          <a:xfrm>
            <a:off x="7029863" y="4375699"/>
            <a:ext cx="531576" cy="2821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副標題 2">
            <a:extLst>
              <a:ext uri="{FF2B5EF4-FFF2-40B4-BE49-F238E27FC236}">
                <a16:creationId xmlns:a16="http://schemas.microsoft.com/office/drawing/2014/main" id="{ECB5704D-E2C5-4DC8-BBAC-1232A85D056D}"/>
              </a:ext>
            </a:extLst>
          </p:cNvPr>
          <p:cNvSpPr txBox="1">
            <a:spLocks/>
          </p:cNvSpPr>
          <p:nvPr/>
        </p:nvSpPr>
        <p:spPr>
          <a:xfrm>
            <a:off x="7629717" y="4318768"/>
            <a:ext cx="1351291" cy="81925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…etc., etc., and etc.</a:t>
            </a:r>
          </a:p>
        </p:txBody>
      </p:sp>
    </p:spTree>
    <p:extLst>
      <p:ext uri="{BB962C8B-B14F-4D97-AF65-F5344CB8AC3E}">
        <p14:creationId xmlns:p14="http://schemas.microsoft.com/office/powerpoint/2010/main" val="3904447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50.1 AdaBoost vs.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723176" y="2040445"/>
            <a:ext cx="3025288" cy="198742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know the main similarities and differences between the </a:t>
            </a:r>
            <a:r>
              <a:rPr lang="en-US" sz="1800" b="1" dirty="0">
                <a:solidFill>
                  <a:srgbClr val="C00000"/>
                </a:solidFill>
              </a:rPr>
              <a:t>AdaBoost </a:t>
            </a:r>
            <a:r>
              <a:rPr lang="en-US" sz="1800" b="1" dirty="0">
                <a:solidFill>
                  <a:schemeClr val="tx1"/>
                </a:solidFill>
              </a:rPr>
              <a:t>and </a:t>
            </a:r>
            <a:r>
              <a:rPr lang="en-US" sz="1800" b="1" dirty="0">
                <a:solidFill>
                  <a:srgbClr val="C00000"/>
                </a:solidFill>
              </a:rPr>
              <a:t>Gradient Boost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19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/>
        </p:nvGraphicFramePr>
        <p:xfrm>
          <a:off x="440046" y="1303021"/>
          <a:ext cx="2963624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>
                        <a:alpha val="3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3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4082421" y="1612030"/>
            <a:ext cx="680580" cy="2905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73.3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7D57184-02DB-4AB5-85B3-2F9B48E96CA3}"/>
              </a:ext>
            </a:extLst>
          </p:cNvPr>
          <p:cNvSpPr/>
          <p:nvPr/>
        </p:nvSpPr>
        <p:spPr>
          <a:xfrm>
            <a:off x="3305112" y="1747472"/>
            <a:ext cx="675846" cy="495053"/>
          </a:xfrm>
          <a:custGeom>
            <a:avLst/>
            <a:gdLst>
              <a:gd name="connsiteX0" fmla="*/ 0 w 838200"/>
              <a:gd name="connsiteY0" fmla="*/ 903547 h 903547"/>
              <a:gd name="connsiteX1" fmla="*/ 457200 w 838200"/>
              <a:gd name="connsiteY1" fmla="*/ 509847 h 903547"/>
              <a:gd name="connsiteX2" fmla="*/ 495300 w 838200"/>
              <a:gd name="connsiteY2" fmla="*/ 78047 h 903547"/>
              <a:gd name="connsiteX3" fmla="*/ 838200 w 838200"/>
              <a:gd name="connsiteY3" fmla="*/ 1847 h 90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200" h="903547">
                <a:moveTo>
                  <a:pt x="0" y="903547"/>
                </a:moveTo>
                <a:cubicBezTo>
                  <a:pt x="187325" y="775488"/>
                  <a:pt x="374650" y="647430"/>
                  <a:pt x="457200" y="509847"/>
                </a:cubicBezTo>
                <a:cubicBezTo>
                  <a:pt x="539750" y="372264"/>
                  <a:pt x="431800" y="162714"/>
                  <a:pt x="495300" y="78047"/>
                </a:cubicBezTo>
                <a:cubicBezTo>
                  <a:pt x="558800" y="-6620"/>
                  <a:pt x="698500" y="-2387"/>
                  <a:pt x="838200" y="1847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AB6F56-6CB1-4148-967F-80B1FE7872E7}"/>
              </a:ext>
            </a:extLst>
          </p:cNvPr>
          <p:cNvSpPr/>
          <p:nvPr/>
        </p:nvSpPr>
        <p:spPr>
          <a:xfrm>
            <a:off x="4210126" y="2815819"/>
            <a:ext cx="458336" cy="216024"/>
          </a:xfrm>
          <a:prstGeom prst="rect">
            <a:avLst/>
          </a:prstGeom>
          <a:solidFill>
            <a:srgbClr val="00B0F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5BADCA-6E33-44AE-A0BC-48D75696376F}"/>
              </a:ext>
            </a:extLst>
          </p:cNvPr>
          <p:cNvSpPr/>
          <p:nvPr/>
        </p:nvSpPr>
        <p:spPr>
          <a:xfrm>
            <a:off x="4644011" y="3153588"/>
            <a:ext cx="458336" cy="216024"/>
          </a:xfrm>
          <a:prstGeom prst="rect">
            <a:avLst/>
          </a:prstGeom>
          <a:solidFill>
            <a:srgbClr val="00B0F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5F8CF0-0AE7-4C38-9984-C7A21231ADFD}"/>
              </a:ext>
            </a:extLst>
          </p:cNvPr>
          <p:cNvSpPr/>
          <p:nvPr/>
        </p:nvSpPr>
        <p:spPr>
          <a:xfrm>
            <a:off x="3728342" y="3141694"/>
            <a:ext cx="458336" cy="216024"/>
          </a:xfrm>
          <a:prstGeom prst="rect">
            <a:avLst/>
          </a:prstGeom>
          <a:solidFill>
            <a:srgbClr val="00B0F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F85F01C-6033-442D-8B66-65F4F5FCD191}"/>
              </a:ext>
            </a:extLst>
          </p:cNvPr>
          <p:cNvSpPr/>
          <p:nvPr/>
        </p:nvSpPr>
        <p:spPr>
          <a:xfrm>
            <a:off x="4511872" y="3495540"/>
            <a:ext cx="458336" cy="216024"/>
          </a:xfrm>
          <a:prstGeom prst="rect">
            <a:avLst/>
          </a:prstGeom>
          <a:solidFill>
            <a:srgbClr val="00B05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0B355B3-D7AF-441D-8711-A04CA98DD0B6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3957510" y="3031843"/>
            <a:ext cx="481784" cy="109851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53A5CD9-DA1A-4A2C-96DE-3B5E79AA97F0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4439294" y="3031843"/>
            <a:ext cx="433885" cy="121745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0280C8A-2437-4145-B4E0-697F2EDBCA00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4741040" y="3369612"/>
            <a:ext cx="132139" cy="125928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E004344-1546-4863-8E08-C8236DAD3B33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>
            <a:off x="4873179" y="3369612"/>
            <a:ext cx="403429" cy="88853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5DB8D18D-4D91-4905-BDE5-600B5F238AD3}"/>
              </a:ext>
            </a:extLst>
          </p:cNvPr>
          <p:cNvSpPr/>
          <p:nvPr/>
        </p:nvSpPr>
        <p:spPr>
          <a:xfrm>
            <a:off x="5047440" y="3458465"/>
            <a:ext cx="458336" cy="216024"/>
          </a:xfrm>
          <a:prstGeom prst="rect">
            <a:avLst/>
          </a:prstGeom>
          <a:solidFill>
            <a:srgbClr val="00B05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EF74DF-2A05-43C8-ACF8-B7EAE23FF14C}"/>
              </a:ext>
            </a:extLst>
          </p:cNvPr>
          <p:cNvSpPr/>
          <p:nvPr/>
        </p:nvSpPr>
        <p:spPr>
          <a:xfrm>
            <a:off x="3457128" y="3487269"/>
            <a:ext cx="458336" cy="216024"/>
          </a:xfrm>
          <a:prstGeom prst="rect">
            <a:avLst/>
          </a:prstGeom>
          <a:solidFill>
            <a:srgbClr val="00B05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119F93D-0907-49D1-B8FC-33B05867AB8B}"/>
              </a:ext>
            </a:extLst>
          </p:cNvPr>
          <p:cNvSpPr/>
          <p:nvPr/>
        </p:nvSpPr>
        <p:spPr>
          <a:xfrm>
            <a:off x="3980958" y="3481317"/>
            <a:ext cx="458336" cy="216024"/>
          </a:xfrm>
          <a:prstGeom prst="rect">
            <a:avLst/>
          </a:prstGeom>
          <a:solidFill>
            <a:srgbClr val="00B050">
              <a:alpha val="54000"/>
            </a:srgbClr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DF2B74-034F-4FFF-90E1-DCA26377BA85}"/>
              </a:ext>
            </a:extLst>
          </p:cNvPr>
          <p:cNvCxnSpPr>
            <a:cxnSpLocks/>
            <a:stCxn id="18" idx="2"/>
            <a:endCxn id="25" idx="0"/>
          </p:cNvCxnSpPr>
          <p:nvPr/>
        </p:nvCxnSpPr>
        <p:spPr>
          <a:xfrm flipH="1">
            <a:off x="3686296" y="3357718"/>
            <a:ext cx="271214" cy="129551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6836F02-44C4-499B-A190-1EB08AEE4B6A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3957510" y="3357718"/>
            <a:ext cx="252616" cy="123599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Arrow: Down 31">
            <a:extLst>
              <a:ext uri="{FF2B5EF4-FFF2-40B4-BE49-F238E27FC236}">
                <a16:creationId xmlns:a16="http://schemas.microsoft.com/office/drawing/2014/main" id="{2BFCA609-EB1D-4CE0-A72B-97D17D7931B2}"/>
              </a:ext>
            </a:extLst>
          </p:cNvPr>
          <p:cNvSpPr/>
          <p:nvPr/>
        </p:nvSpPr>
        <p:spPr>
          <a:xfrm>
            <a:off x="4210125" y="2105703"/>
            <a:ext cx="326297" cy="599371"/>
          </a:xfrm>
          <a:prstGeom prst="downArrow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96411B0-35C6-4137-B610-3505F22ED2DF}"/>
              </a:ext>
            </a:extLst>
          </p:cNvPr>
          <p:cNvSpPr/>
          <p:nvPr/>
        </p:nvSpPr>
        <p:spPr>
          <a:xfrm>
            <a:off x="4119840" y="4458303"/>
            <a:ext cx="458336" cy="216024"/>
          </a:xfrm>
          <a:prstGeom prst="rect">
            <a:avLst/>
          </a:prstGeom>
          <a:solidFill>
            <a:srgbClr val="00B0F0">
              <a:alpha val="54000"/>
            </a:srgb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389483-82F0-421E-94F3-FE961226CD6B}"/>
              </a:ext>
            </a:extLst>
          </p:cNvPr>
          <p:cNvSpPr/>
          <p:nvPr/>
        </p:nvSpPr>
        <p:spPr>
          <a:xfrm>
            <a:off x="4553725" y="4796072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388806-70A1-4681-9F75-AAFE7AC552B4}"/>
              </a:ext>
            </a:extLst>
          </p:cNvPr>
          <p:cNvSpPr/>
          <p:nvPr/>
        </p:nvSpPr>
        <p:spPr>
          <a:xfrm>
            <a:off x="3638056" y="478417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EF0829D-CC5D-46BF-96E6-67D2EC873627}"/>
              </a:ext>
            </a:extLst>
          </p:cNvPr>
          <p:cNvSpPr/>
          <p:nvPr/>
        </p:nvSpPr>
        <p:spPr>
          <a:xfrm>
            <a:off x="4421586" y="513802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00F4908-BF18-4D9B-BC07-2C7779771B16}"/>
              </a:ext>
            </a:extLst>
          </p:cNvPr>
          <p:cNvCxnSpPr>
            <a:cxnSpLocks/>
            <a:stCxn id="30" idx="2"/>
            <a:endCxn id="33" idx="0"/>
          </p:cNvCxnSpPr>
          <p:nvPr/>
        </p:nvCxnSpPr>
        <p:spPr>
          <a:xfrm flipH="1">
            <a:off x="3867224" y="4674327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B3FD250-4A6A-4D92-B262-BB46A8B66BF8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4349008" y="4674327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7413299-5163-4FB8-8549-A1C0F34BB12B}"/>
              </a:ext>
            </a:extLst>
          </p:cNvPr>
          <p:cNvCxnSpPr>
            <a:stCxn id="31" idx="2"/>
            <a:endCxn id="34" idx="0"/>
          </p:cNvCxnSpPr>
          <p:nvPr/>
        </p:nvCxnSpPr>
        <p:spPr>
          <a:xfrm flipH="1">
            <a:off x="4650754" y="5012096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BF29CC5-F192-42F9-89F4-8BF0B5B2BE3D}"/>
              </a:ext>
            </a:extLst>
          </p:cNvPr>
          <p:cNvCxnSpPr>
            <a:cxnSpLocks/>
            <a:stCxn id="31" idx="2"/>
            <a:endCxn id="39" idx="0"/>
          </p:cNvCxnSpPr>
          <p:nvPr/>
        </p:nvCxnSpPr>
        <p:spPr>
          <a:xfrm>
            <a:off x="4782893" y="5012096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6972B517-FFCB-47F3-8624-15842F2AD55D}"/>
              </a:ext>
            </a:extLst>
          </p:cNvPr>
          <p:cNvSpPr/>
          <p:nvPr/>
        </p:nvSpPr>
        <p:spPr>
          <a:xfrm>
            <a:off x="4924111" y="512380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9E481A1-A8DC-41EA-BFCF-B18A7E43B160}"/>
              </a:ext>
            </a:extLst>
          </p:cNvPr>
          <p:cNvSpPr/>
          <p:nvPr/>
        </p:nvSpPr>
        <p:spPr>
          <a:xfrm>
            <a:off x="3366842" y="5129753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2700D4-0AC0-44D5-9816-A36E7B555DA0}"/>
              </a:ext>
            </a:extLst>
          </p:cNvPr>
          <p:cNvSpPr/>
          <p:nvPr/>
        </p:nvSpPr>
        <p:spPr>
          <a:xfrm>
            <a:off x="3890672" y="5123801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B398BA1-2672-4015-93B5-4408BCF1ECB9}"/>
              </a:ext>
            </a:extLst>
          </p:cNvPr>
          <p:cNvCxnSpPr>
            <a:cxnSpLocks/>
            <a:stCxn id="33" idx="2"/>
            <a:endCxn id="40" idx="0"/>
          </p:cNvCxnSpPr>
          <p:nvPr/>
        </p:nvCxnSpPr>
        <p:spPr>
          <a:xfrm flipH="1">
            <a:off x="3596010" y="5000202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E4D0372-0BDF-477E-9421-6F3AE0B185CC}"/>
              </a:ext>
            </a:extLst>
          </p:cNvPr>
          <p:cNvCxnSpPr>
            <a:cxnSpLocks/>
            <a:stCxn id="33" idx="2"/>
            <a:endCxn id="41" idx="0"/>
          </p:cNvCxnSpPr>
          <p:nvPr/>
        </p:nvCxnSpPr>
        <p:spPr>
          <a:xfrm>
            <a:off x="3867224" y="5000202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22E1097E-82FB-4AD8-9CD3-22E0363E1E38}"/>
              </a:ext>
            </a:extLst>
          </p:cNvPr>
          <p:cNvSpPr/>
          <p:nvPr/>
        </p:nvSpPr>
        <p:spPr>
          <a:xfrm rot="5400000">
            <a:off x="4056782" y="3886770"/>
            <a:ext cx="599209" cy="360071"/>
          </a:xfrm>
          <a:prstGeom prst="rightArrow">
            <a:avLst/>
          </a:prstGeom>
          <a:solidFill>
            <a:schemeClr val="accent1">
              <a:alpha val="54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9DB0C57-25D3-441C-92FE-780187D7BCEF}"/>
              </a:ext>
            </a:extLst>
          </p:cNvPr>
          <p:cNvSpPr/>
          <p:nvPr/>
        </p:nvSpPr>
        <p:spPr>
          <a:xfrm>
            <a:off x="6225893" y="4436896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0CE135D-3729-4FB4-B87E-0B894D998A8D}"/>
              </a:ext>
            </a:extLst>
          </p:cNvPr>
          <p:cNvSpPr/>
          <p:nvPr/>
        </p:nvSpPr>
        <p:spPr>
          <a:xfrm>
            <a:off x="6659778" y="4774665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A760B71-0E7F-4DB4-8C84-8686331C5775}"/>
              </a:ext>
            </a:extLst>
          </p:cNvPr>
          <p:cNvSpPr/>
          <p:nvPr/>
        </p:nvSpPr>
        <p:spPr>
          <a:xfrm>
            <a:off x="5744109" y="4762771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F3864B5-6EB3-436C-BEA9-997B61896101}"/>
              </a:ext>
            </a:extLst>
          </p:cNvPr>
          <p:cNvSpPr/>
          <p:nvPr/>
        </p:nvSpPr>
        <p:spPr>
          <a:xfrm>
            <a:off x="6527639" y="511661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AA4A894-29B3-4FB1-AE77-66D398744A60}"/>
              </a:ext>
            </a:extLst>
          </p:cNvPr>
          <p:cNvCxnSpPr>
            <a:cxnSpLocks/>
            <a:stCxn id="45" idx="2"/>
            <a:endCxn id="47" idx="0"/>
          </p:cNvCxnSpPr>
          <p:nvPr/>
        </p:nvCxnSpPr>
        <p:spPr>
          <a:xfrm flipH="1">
            <a:off x="5973277" y="4652920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BAE51EF-18F7-431D-AA23-188F35E674C5}"/>
              </a:ext>
            </a:extLst>
          </p:cNvPr>
          <p:cNvCxnSpPr>
            <a:stCxn id="45" idx="2"/>
            <a:endCxn id="46" idx="0"/>
          </p:cNvCxnSpPr>
          <p:nvPr/>
        </p:nvCxnSpPr>
        <p:spPr>
          <a:xfrm>
            <a:off x="6455061" y="4652920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05143F92-10E3-4F0A-BA33-AAEE947CBE6D}"/>
              </a:ext>
            </a:extLst>
          </p:cNvPr>
          <p:cNvCxnSpPr>
            <a:stCxn id="46" idx="2"/>
            <a:endCxn id="48" idx="0"/>
          </p:cNvCxnSpPr>
          <p:nvPr/>
        </p:nvCxnSpPr>
        <p:spPr>
          <a:xfrm flipH="1">
            <a:off x="6756807" y="4990689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FA20871-490C-4F87-BD40-C5E19B278322}"/>
              </a:ext>
            </a:extLst>
          </p:cNvPr>
          <p:cNvCxnSpPr>
            <a:cxnSpLocks/>
            <a:stCxn id="46" idx="2"/>
            <a:endCxn id="53" idx="0"/>
          </p:cNvCxnSpPr>
          <p:nvPr/>
        </p:nvCxnSpPr>
        <p:spPr>
          <a:xfrm>
            <a:off x="6888946" y="4990689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CC04DD38-42B4-4302-B18B-A9925B865556}"/>
              </a:ext>
            </a:extLst>
          </p:cNvPr>
          <p:cNvSpPr/>
          <p:nvPr/>
        </p:nvSpPr>
        <p:spPr>
          <a:xfrm>
            <a:off x="7030164" y="510239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15A99C5-0CE2-4F6F-B80F-B1E4DDCD1745}"/>
              </a:ext>
            </a:extLst>
          </p:cNvPr>
          <p:cNvSpPr/>
          <p:nvPr/>
        </p:nvSpPr>
        <p:spPr>
          <a:xfrm>
            <a:off x="5472895" y="5108346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C96B8B7-9BC0-47C4-815B-0C312367B511}"/>
              </a:ext>
            </a:extLst>
          </p:cNvPr>
          <p:cNvSpPr/>
          <p:nvPr/>
        </p:nvSpPr>
        <p:spPr>
          <a:xfrm>
            <a:off x="5996725" y="5102394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5023A36-E626-4C7F-881B-3865F98BCB0A}"/>
              </a:ext>
            </a:extLst>
          </p:cNvPr>
          <p:cNvCxnSpPr>
            <a:cxnSpLocks/>
            <a:stCxn id="47" idx="2"/>
            <a:endCxn id="54" idx="0"/>
          </p:cNvCxnSpPr>
          <p:nvPr/>
        </p:nvCxnSpPr>
        <p:spPr>
          <a:xfrm flipH="1">
            <a:off x="5702063" y="4978795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2DED96E-10DA-4452-B3ED-E2CE3ABF8762}"/>
              </a:ext>
            </a:extLst>
          </p:cNvPr>
          <p:cNvCxnSpPr>
            <a:cxnSpLocks/>
            <a:stCxn id="47" idx="2"/>
            <a:endCxn id="55" idx="0"/>
          </p:cNvCxnSpPr>
          <p:nvPr/>
        </p:nvCxnSpPr>
        <p:spPr>
          <a:xfrm>
            <a:off x="5973277" y="4978795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667A51BB-3979-443E-8EE9-057844B7662D}"/>
              </a:ext>
            </a:extLst>
          </p:cNvPr>
          <p:cNvSpPr/>
          <p:nvPr/>
        </p:nvSpPr>
        <p:spPr>
          <a:xfrm>
            <a:off x="5078717" y="4381285"/>
            <a:ext cx="531576" cy="3259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2BBCE3AC-FA12-435D-ADB7-1D35A06E1728}"/>
              </a:ext>
            </a:extLst>
          </p:cNvPr>
          <p:cNvSpPr/>
          <p:nvPr/>
        </p:nvSpPr>
        <p:spPr>
          <a:xfrm>
            <a:off x="7029863" y="4375699"/>
            <a:ext cx="531576" cy="2821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副標題 2">
            <a:extLst>
              <a:ext uri="{FF2B5EF4-FFF2-40B4-BE49-F238E27FC236}">
                <a16:creationId xmlns:a16="http://schemas.microsoft.com/office/drawing/2014/main" id="{ECB5704D-E2C5-4DC8-BBAC-1232A85D056D}"/>
              </a:ext>
            </a:extLst>
          </p:cNvPr>
          <p:cNvSpPr txBox="1">
            <a:spLocks/>
          </p:cNvSpPr>
          <p:nvPr/>
        </p:nvSpPr>
        <p:spPr>
          <a:xfrm>
            <a:off x="7629717" y="4318768"/>
            <a:ext cx="1351291" cy="81925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…etc., etc., and etc.</a:t>
            </a:r>
          </a:p>
        </p:txBody>
      </p:sp>
    </p:spTree>
    <p:extLst>
      <p:ext uri="{BB962C8B-B14F-4D97-AF65-F5344CB8AC3E}">
        <p14:creationId xmlns:p14="http://schemas.microsoft.com/office/powerpoint/2010/main" val="2007352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50.2 Build Tree by Gradient Boost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20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88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50.2 Build Tree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7"/>
            <a:ext cx="8219256" cy="64807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To build the tree by Gradient Boost,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First, we take average of Weight.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21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354766"/>
              </p:ext>
            </p:extLst>
          </p:nvPr>
        </p:nvGraphicFramePr>
        <p:xfrm>
          <a:off x="459532" y="2793516"/>
          <a:ext cx="2963624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4231710" y="2900884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71.2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C2FFD6-5CA9-4011-AD49-3F45B6E2CD8B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 flipH="1">
            <a:off x="4572000" y="1916832"/>
            <a:ext cx="5172" cy="9840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564CBC1-7DBA-4D0B-B88B-01E29597948A}"/>
              </a:ext>
            </a:extLst>
          </p:cNvPr>
          <p:cNvSpPr/>
          <p:nvPr/>
        </p:nvSpPr>
        <p:spPr>
          <a:xfrm>
            <a:off x="2775084" y="2753640"/>
            <a:ext cx="648072" cy="30929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7D57184-02DB-4AB5-85B3-2F9B48E96CA3}"/>
              </a:ext>
            </a:extLst>
          </p:cNvPr>
          <p:cNvSpPr/>
          <p:nvPr/>
        </p:nvSpPr>
        <p:spPr>
          <a:xfrm>
            <a:off x="3454401" y="3046138"/>
            <a:ext cx="700298" cy="1309963"/>
          </a:xfrm>
          <a:custGeom>
            <a:avLst/>
            <a:gdLst>
              <a:gd name="connsiteX0" fmla="*/ 0 w 838200"/>
              <a:gd name="connsiteY0" fmla="*/ 903547 h 903547"/>
              <a:gd name="connsiteX1" fmla="*/ 457200 w 838200"/>
              <a:gd name="connsiteY1" fmla="*/ 509847 h 903547"/>
              <a:gd name="connsiteX2" fmla="*/ 495300 w 838200"/>
              <a:gd name="connsiteY2" fmla="*/ 78047 h 903547"/>
              <a:gd name="connsiteX3" fmla="*/ 838200 w 838200"/>
              <a:gd name="connsiteY3" fmla="*/ 1847 h 903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8200" h="903547">
                <a:moveTo>
                  <a:pt x="0" y="903547"/>
                </a:moveTo>
                <a:cubicBezTo>
                  <a:pt x="187325" y="775488"/>
                  <a:pt x="374650" y="647430"/>
                  <a:pt x="457200" y="509847"/>
                </a:cubicBezTo>
                <a:cubicBezTo>
                  <a:pt x="539750" y="372264"/>
                  <a:pt x="431800" y="162714"/>
                  <a:pt x="495300" y="78047"/>
                </a:cubicBezTo>
                <a:cubicBezTo>
                  <a:pt x="558800" y="-6620"/>
                  <a:pt x="698500" y="-2387"/>
                  <a:pt x="838200" y="1847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871FB-558B-4BAA-9C88-0D5DB1BF26BD}"/>
              </a:ext>
            </a:extLst>
          </p:cNvPr>
          <p:cNvSpPr txBox="1"/>
          <p:nvPr/>
        </p:nvSpPr>
        <p:spPr>
          <a:xfrm>
            <a:off x="3442310" y="2145462"/>
            <a:ext cx="104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30" name="副標題 2">
            <a:extLst>
              <a:ext uri="{FF2B5EF4-FFF2-40B4-BE49-F238E27FC236}">
                <a16:creationId xmlns:a16="http://schemas.microsoft.com/office/drawing/2014/main" id="{82D366E1-9A70-49D5-8BB0-F02A57FF31CB}"/>
              </a:ext>
            </a:extLst>
          </p:cNvPr>
          <p:cNvSpPr txBox="1">
            <a:spLocks/>
          </p:cNvSpPr>
          <p:nvPr/>
        </p:nvSpPr>
        <p:spPr>
          <a:xfrm>
            <a:off x="5119497" y="2695425"/>
            <a:ext cx="3457708" cy="181369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anther words, if we stopped right now, we would predict that everyone Weighted 71.2 Kg.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However, Gradient Boost does not stop here. </a:t>
            </a:r>
          </a:p>
        </p:txBody>
      </p:sp>
    </p:spTree>
    <p:extLst>
      <p:ext uri="{BB962C8B-B14F-4D97-AF65-F5344CB8AC3E}">
        <p14:creationId xmlns:p14="http://schemas.microsoft.com/office/powerpoint/2010/main" val="24950788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50.2 Build Tree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219256" cy="39373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Next, Gradient Boost build a tree based on errors from the first tree.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22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/>
        </p:nvGraphicFramePr>
        <p:xfrm>
          <a:off x="459532" y="2793516"/>
          <a:ext cx="2963624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440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901636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750189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708359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4231710" y="2900884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71.2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1C2FFD6-5CA9-4011-AD49-3F45B6E2CD8B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577172" y="1662488"/>
            <a:ext cx="1586826" cy="84634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564CBC1-7DBA-4D0B-B88B-01E29597948A}"/>
              </a:ext>
            </a:extLst>
          </p:cNvPr>
          <p:cNvSpPr/>
          <p:nvPr/>
        </p:nvSpPr>
        <p:spPr>
          <a:xfrm>
            <a:off x="2775084" y="2753640"/>
            <a:ext cx="648072" cy="30929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871FB-558B-4BAA-9C88-0D5DB1BF26BD}"/>
              </a:ext>
            </a:extLst>
          </p:cNvPr>
          <p:cNvSpPr txBox="1"/>
          <p:nvPr/>
        </p:nvSpPr>
        <p:spPr>
          <a:xfrm>
            <a:off x="3442310" y="2145462"/>
            <a:ext cx="104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99F859-432D-428B-9746-7D713B435F51}"/>
              </a:ext>
            </a:extLst>
          </p:cNvPr>
          <p:cNvSpPr/>
          <p:nvPr/>
        </p:nvSpPr>
        <p:spPr>
          <a:xfrm>
            <a:off x="6252905" y="250882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B38C72-66B9-4AA7-8ACB-A3E136653F6F}"/>
              </a:ext>
            </a:extLst>
          </p:cNvPr>
          <p:cNvSpPr/>
          <p:nvPr/>
        </p:nvSpPr>
        <p:spPr>
          <a:xfrm>
            <a:off x="6686790" y="284659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D9DA44-A734-4F7E-8ECF-1CC1B22CAEA7}"/>
              </a:ext>
            </a:extLst>
          </p:cNvPr>
          <p:cNvSpPr/>
          <p:nvPr/>
        </p:nvSpPr>
        <p:spPr>
          <a:xfrm>
            <a:off x="5771121" y="283470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807912-17BD-4D5C-8EB1-D1EEE2B72F3C}"/>
              </a:ext>
            </a:extLst>
          </p:cNvPr>
          <p:cNvSpPr/>
          <p:nvPr/>
        </p:nvSpPr>
        <p:spPr>
          <a:xfrm>
            <a:off x="6554651" y="318855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F4ECA2-189C-492C-A056-2D2E82C97A7C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6000289" y="2724853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63606D6-28E7-4ECD-B5D1-830BC8AC43D3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6482073" y="2724853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01CEC6-04BB-4188-B7B0-D054B66ABBCF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6783819" y="3062622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190B73C-59E7-483A-9DDE-CD59E0DC883B}"/>
              </a:ext>
            </a:extLst>
          </p:cNvPr>
          <p:cNvCxnSpPr>
            <a:cxnSpLocks/>
            <a:stCxn id="17" idx="2"/>
            <a:endCxn id="24" idx="0"/>
          </p:cNvCxnSpPr>
          <p:nvPr/>
        </p:nvCxnSpPr>
        <p:spPr>
          <a:xfrm>
            <a:off x="6915958" y="3062622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92BA5F6-47A1-4274-B3BE-C0300DE4EB23}"/>
              </a:ext>
            </a:extLst>
          </p:cNvPr>
          <p:cNvSpPr/>
          <p:nvPr/>
        </p:nvSpPr>
        <p:spPr>
          <a:xfrm>
            <a:off x="7057176" y="317432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8D07BE-F523-4BEB-A137-43E82F2A7EFB}"/>
              </a:ext>
            </a:extLst>
          </p:cNvPr>
          <p:cNvSpPr/>
          <p:nvPr/>
        </p:nvSpPr>
        <p:spPr>
          <a:xfrm>
            <a:off x="5499907" y="318027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A140B77-4427-482B-BB5B-F713536290F6}"/>
              </a:ext>
            </a:extLst>
          </p:cNvPr>
          <p:cNvSpPr/>
          <p:nvPr/>
        </p:nvSpPr>
        <p:spPr>
          <a:xfrm>
            <a:off x="6023737" y="317432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F18F6CF-0403-4A4D-83ED-94CBEF22F86A}"/>
              </a:ext>
            </a:extLst>
          </p:cNvPr>
          <p:cNvCxnSpPr>
            <a:cxnSpLocks/>
            <a:stCxn id="18" idx="2"/>
            <a:endCxn id="25" idx="0"/>
          </p:cNvCxnSpPr>
          <p:nvPr/>
        </p:nvCxnSpPr>
        <p:spPr>
          <a:xfrm flipH="1">
            <a:off x="5729075" y="3050728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ECB0EC2-7FD1-4AE1-8E76-0BCF2DB2F574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6000289" y="3050728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215A6D4F-977B-4E5A-9024-EBEFC2B16143}"/>
              </a:ext>
            </a:extLst>
          </p:cNvPr>
          <p:cNvSpPr/>
          <p:nvPr/>
        </p:nvSpPr>
        <p:spPr>
          <a:xfrm>
            <a:off x="4996025" y="2932635"/>
            <a:ext cx="440071" cy="2587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副標題 2">
            <a:extLst>
              <a:ext uri="{FF2B5EF4-FFF2-40B4-BE49-F238E27FC236}">
                <a16:creationId xmlns:a16="http://schemas.microsoft.com/office/drawing/2014/main" id="{D593B87B-E7F9-40A9-8246-1644302910FA}"/>
              </a:ext>
            </a:extLst>
          </p:cNvPr>
          <p:cNvSpPr txBox="1">
            <a:spLocks/>
          </p:cNvSpPr>
          <p:nvPr/>
        </p:nvSpPr>
        <p:spPr>
          <a:xfrm>
            <a:off x="5436095" y="3662456"/>
            <a:ext cx="3505791" cy="137283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errors that the previous tree made are the different between the </a:t>
            </a:r>
            <a:r>
              <a:rPr lang="en-US" sz="1800" b="1" dirty="0">
                <a:solidFill>
                  <a:srgbClr val="C00000"/>
                </a:solidFill>
              </a:rPr>
              <a:t>Observed Weights</a:t>
            </a:r>
            <a:r>
              <a:rPr lang="en-US" sz="1800" b="1" dirty="0">
                <a:solidFill>
                  <a:schemeClr val="tx1"/>
                </a:solidFill>
              </a:rPr>
              <a:t> and the </a:t>
            </a:r>
            <a:r>
              <a:rPr lang="en-US" sz="1800" b="1" dirty="0">
                <a:solidFill>
                  <a:srgbClr val="C00000"/>
                </a:solidFill>
              </a:rPr>
              <a:t>predicted Weight , 71.2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2" name="副標題 2">
            <a:extLst>
              <a:ext uri="{FF2B5EF4-FFF2-40B4-BE49-F238E27FC236}">
                <a16:creationId xmlns:a16="http://schemas.microsoft.com/office/drawing/2014/main" id="{56D618D7-2A2C-4272-B32B-11BAFC98D11F}"/>
              </a:ext>
            </a:extLst>
          </p:cNvPr>
          <p:cNvSpPr txBox="1">
            <a:spLocks/>
          </p:cNvSpPr>
          <p:nvPr/>
        </p:nvSpPr>
        <p:spPr>
          <a:xfrm>
            <a:off x="3615551" y="5247467"/>
            <a:ext cx="4498262" cy="40700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(Observed Weights</a:t>
            </a:r>
            <a:r>
              <a:rPr lang="en-US" sz="1800" b="1" dirty="0">
                <a:solidFill>
                  <a:schemeClr val="tx1"/>
                </a:solidFill>
              </a:rPr>
              <a:t> - </a:t>
            </a:r>
            <a:r>
              <a:rPr lang="en-US" sz="1800" b="1" dirty="0">
                <a:solidFill>
                  <a:srgbClr val="C00000"/>
                </a:solidFill>
              </a:rPr>
              <a:t>predicted Weight)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B3D103F-9A9A-454F-92C1-6EB9E9B6FE8E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423156" y="4300118"/>
            <a:ext cx="1122412" cy="101240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7367561-BF30-4F27-B290-6FF1D88780BF}"/>
              </a:ext>
            </a:extLst>
          </p:cNvPr>
          <p:cNvCxnSpPr>
            <a:cxnSpLocks/>
          </p:cNvCxnSpPr>
          <p:nvPr/>
        </p:nvCxnSpPr>
        <p:spPr>
          <a:xfrm>
            <a:off x="4598433" y="3176810"/>
            <a:ext cx="1883640" cy="21357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326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50.2 Build Tree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219256" cy="393730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…and Save the difference which is called a </a:t>
            </a:r>
            <a:r>
              <a:rPr lang="en-US" sz="1800" b="1" dirty="0">
                <a:solidFill>
                  <a:srgbClr val="C00000"/>
                </a:solidFill>
              </a:rPr>
              <a:t>Pseudo Residual</a:t>
            </a:r>
            <a:r>
              <a:rPr lang="en-US" sz="1800" b="1" dirty="0">
                <a:solidFill>
                  <a:schemeClr val="tx1"/>
                </a:solidFill>
              </a:rPr>
              <a:t>, in a new column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23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204452"/>
              </p:ext>
            </p:extLst>
          </p:nvPr>
        </p:nvGraphicFramePr>
        <p:xfrm>
          <a:off x="459532" y="2793516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5062489" y="2080560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71.2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64CBC1-7DBA-4D0B-B88B-01E29597948A}"/>
              </a:ext>
            </a:extLst>
          </p:cNvPr>
          <p:cNvSpPr/>
          <p:nvPr/>
        </p:nvSpPr>
        <p:spPr>
          <a:xfrm>
            <a:off x="2724719" y="3331260"/>
            <a:ext cx="462685" cy="21892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871FB-558B-4BAA-9C88-0D5DB1BF26BD}"/>
              </a:ext>
            </a:extLst>
          </p:cNvPr>
          <p:cNvSpPr txBox="1"/>
          <p:nvPr/>
        </p:nvSpPr>
        <p:spPr>
          <a:xfrm>
            <a:off x="4043138" y="1933172"/>
            <a:ext cx="104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32" name="副標題 2">
            <a:extLst>
              <a:ext uri="{FF2B5EF4-FFF2-40B4-BE49-F238E27FC236}">
                <a16:creationId xmlns:a16="http://schemas.microsoft.com/office/drawing/2014/main" id="{56D618D7-2A2C-4272-B32B-11BAFC98D11F}"/>
              </a:ext>
            </a:extLst>
          </p:cNvPr>
          <p:cNvSpPr txBox="1">
            <a:spLocks/>
          </p:cNvSpPr>
          <p:nvPr/>
        </p:nvSpPr>
        <p:spPr>
          <a:xfrm>
            <a:off x="4432054" y="3918399"/>
            <a:ext cx="4351030" cy="106310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(Observed Weights</a:t>
            </a:r>
            <a:r>
              <a:rPr lang="en-US" sz="1800" b="1" dirty="0">
                <a:solidFill>
                  <a:schemeClr val="tx1"/>
                </a:solidFill>
              </a:rPr>
              <a:t> - </a:t>
            </a:r>
            <a:r>
              <a:rPr lang="en-US" sz="1800" b="1" dirty="0">
                <a:solidFill>
                  <a:srgbClr val="C00000"/>
                </a:solidFill>
              </a:rPr>
              <a:t>predicted Weight)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= (88 – 71.2) = 16.8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B3D103F-9A9A-454F-92C1-6EB9E9B6FE8E}"/>
              </a:ext>
            </a:extLst>
          </p:cNvPr>
          <p:cNvCxnSpPr>
            <a:cxnSpLocks/>
          </p:cNvCxnSpPr>
          <p:nvPr/>
        </p:nvCxnSpPr>
        <p:spPr>
          <a:xfrm>
            <a:off x="2944151" y="3550180"/>
            <a:ext cx="2118338" cy="8053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7367561-BF30-4F27-B290-6FF1D88780BF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5402779" y="2371067"/>
            <a:ext cx="334386" cy="194898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CD765ABB-2ECB-4B43-AEC3-E986B5B5AA33}"/>
              </a:ext>
            </a:extLst>
          </p:cNvPr>
          <p:cNvSpPr/>
          <p:nvPr/>
        </p:nvSpPr>
        <p:spPr>
          <a:xfrm>
            <a:off x="6199850" y="4233925"/>
            <a:ext cx="648072" cy="43204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4D1DE4C-E7AD-4F97-AFE7-D255FE47A743}"/>
              </a:ext>
            </a:extLst>
          </p:cNvPr>
          <p:cNvSpPr/>
          <p:nvPr/>
        </p:nvSpPr>
        <p:spPr>
          <a:xfrm>
            <a:off x="3922295" y="3438524"/>
            <a:ext cx="2837393" cy="796592"/>
          </a:xfrm>
          <a:custGeom>
            <a:avLst/>
            <a:gdLst>
              <a:gd name="connsiteX0" fmla="*/ 2562726 w 2837393"/>
              <a:gd name="connsiteY0" fmla="*/ 796592 h 796592"/>
              <a:gd name="connsiteX1" fmla="*/ 2598821 w 2837393"/>
              <a:gd name="connsiteY1" fmla="*/ 122823 h 796592"/>
              <a:gd name="connsiteX2" fmla="*/ 0 w 2837393"/>
              <a:gd name="connsiteY2" fmla="*/ 2508 h 796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37393" h="796592">
                <a:moveTo>
                  <a:pt x="2562726" y="796592"/>
                </a:moveTo>
                <a:cubicBezTo>
                  <a:pt x="2794334" y="525881"/>
                  <a:pt x="3025942" y="255170"/>
                  <a:pt x="2598821" y="122823"/>
                </a:cubicBezTo>
                <a:cubicBezTo>
                  <a:pt x="2171700" y="-9524"/>
                  <a:pt x="1085850" y="-3508"/>
                  <a:pt x="0" y="2508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C0A6330-D844-4D7B-B907-33A4CE6CB116}"/>
              </a:ext>
            </a:extLst>
          </p:cNvPr>
          <p:cNvSpPr/>
          <p:nvPr/>
        </p:nvSpPr>
        <p:spPr>
          <a:xfrm>
            <a:off x="3410903" y="3302371"/>
            <a:ext cx="423158" cy="24780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216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50.2 Build Tree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8"/>
            <a:ext cx="8219256" cy="83962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Note: The term </a:t>
            </a:r>
            <a:r>
              <a:rPr lang="en-US" sz="1800" b="1" dirty="0">
                <a:solidFill>
                  <a:srgbClr val="C00000"/>
                </a:solidFill>
              </a:rPr>
              <a:t>Pseudo Residual </a:t>
            </a:r>
            <a:r>
              <a:rPr lang="en-US" sz="1800" b="1" dirty="0">
                <a:solidFill>
                  <a:schemeClr val="tx1"/>
                </a:solidFill>
              </a:rPr>
              <a:t>is based on </a:t>
            </a:r>
            <a:r>
              <a:rPr lang="en-US" sz="1800" b="1" dirty="0">
                <a:solidFill>
                  <a:srgbClr val="C00000"/>
                </a:solidFill>
              </a:rPr>
              <a:t>Linear Regression</a:t>
            </a:r>
            <a:r>
              <a:rPr lang="en-US" sz="1800" b="1" dirty="0">
                <a:solidFill>
                  <a:schemeClr val="tx1"/>
                </a:solidFill>
              </a:rPr>
              <a:t>, where the difference between the </a:t>
            </a:r>
            <a:r>
              <a:rPr lang="en-US" sz="1800" b="1" dirty="0">
                <a:solidFill>
                  <a:srgbClr val="C00000"/>
                </a:solidFill>
              </a:rPr>
              <a:t>Observed</a:t>
            </a:r>
            <a:r>
              <a:rPr lang="en-US" sz="1800" b="1" dirty="0">
                <a:solidFill>
                  <a:schemeClr val="tx1"/>
                </a:solidFill>
              </a:rPr>
              <a:t> values and the </a:t>
            </a:r>
            <a:r>
              <a:rPr lang="en-US" sz="1800" b="1" dirty="0">
                <a:solidFill>
                  <a:srgbClr val="C00000"/>
                </a:solidFill>
              </a:rPr>
              <a:t>Predicted</a:t>
            </a:r>
            <a:r>
              <a:rPr lang="en-US" sz="1800" b="1" dirty="0">
                <a:solidFill>
                  <a:schemeClr val="tx1"/>
                </a:solidFill>
              </a:rPr>
              <a:t> values results in </a:t>
            </a:r>
            <a:r>
              <a:rPr lang="en-US" sz="1800" b="1" dirty="0">
                <a:solidFill>
                  <a:srgbClr val="C00000"/>
                </a:solidFill>
              </a:rPr>
              <a:t>Residuals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24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/>
        </p:nvGraphicFramePr>
        <p:xfrm>
          <a:off x="459532" y="2793516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2483768" y="2255772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71.2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871FB-558B-4BAA-9C88-0D5DB1BF26BD}"/>
              </a:ext>
            </a:extLst>
          </p:cNvPr>
          <p:cNvSpPr txBox="1"/>
          <p:nvPr/>
        </p:nvSpPr>
        <p:spPr>
          <a:xfrm>
            <a:off x="1464417" y="2108384"/>
            <a:ext cx="104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88A71A5-BA78-42C0-B03D-C8CB40F1AF8E}"/>
              </a:ext>
            </a:extLst>
          </p:cNvPr>
          <p:cNvCxnSpPr>
            <a:cxnSpLocks/>
          </p:cNvCxnSpPr>
          <p:nvPr/>
        </p:nvCxnSpPr>
        <p:spPr>
          <a:xfrm>
            <a:off x="5631910" y="5229986"/>
            <a:ext cx="187220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ABFCE4-8CDC-4DEE-891B-CA9E1BC92626}"/>
              </a:ext>
            </a:extLst>
          </p:cNvPr>
          <p:cNvCxnSpPr>
            <a:cxnSpLocks/>
          </p:cNvCxnSpPr>
          <p:nvPr/>
        </p:nvCxnSpPr>
        <p:spPr>
          <a:xfrm flipV="1">
            <a:off x="5631910" y="3364242"/>
            <a:ext cx="0" cy="18657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EBE267-497E-421A-83AB-5E93474F4416}"/>
              </a:ext>
            </a:extLst>
          </p:cNvPr>
          <p:cNvCxnSpPr/>
          <p:nvPr/>
        </p:nvCxnSpPr>
        <p:spPr>
          <a:xfrm>
            <a:off x="6568014" y="508597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94D64EB-A68E-49EA-81C6-ED855E8EF821}"/>
              </a:ext>
            </a:extLst>
          </p:cNvPr>
          <p:cNvCxnSpPr/>
          <p:nvPr/>
        </p:nvCxnSpPr>
        <p:spPr>
          <a:xfrm>
            <a:off x="7504118" y="510194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9DC5C1-75BA-4D72-B666-BE1878791911}"/>
              </a:ext>
            </a:extLst>
          </p:cNvPr>
          <p:cNvCxnSpPr>
            <a:cxnSpLocks/>
          </p:cNvCxnSpPr>
          <p:nvPr/>
        </p:nvCxnSpPr>
        <p:spPr>
          <a:xfrm>
            <a:off x="5479510" y="4293882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9214B52-A1D2-48A5-BEB2-33E5F819C436}"/>
              </a:ext>
            </a:extLst>
          </p:cNvPr>
          <p:cNvCxnSpPr>
            <a:cxnSpLocks/>
          </p:cNvCxnSpPr>
          <p:nvPr/>
        </p:nvCxnSpPr>
        <p:spPr>
          <a:xfrm>
            <a:off x="5501214" y="3364242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A8D63C4-75BD-4041-8C80-750B8E8354A2}"/>
              </a:ext>
            </a:extLst>
          </p:cNvPr>
          <p:cNvSpPr/>
          <p:nvPr/>
        </p:nvSpPr>
        <p:spPr>
          <a:xfrm>
            <a:off x="6381931" y="3416933"/>
            <a:ext cx="253007" cy="28803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92E8E43-BC26-41AE-8E14-C30A6D9C0179}"/>
              </a:ext>
            </a:extLst>
          </p:cNvPr>
          <p:cNvSpPr/>
          <p:nvPr/>
        </p:nvSpPr>
        <p:spPr>
          <a:xfrm>
            <a:off x="7007411" y="3970776"/>
            <a:ext cx="253006" cy="27119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6996C4A-421F-4280-B047-FC0FA20CEA1C}"/>
              </a:ext>
            </a:extLst>
          </p:cNvPr>
          <p:cNvSpPr/>
          <p:nvPr/>
        </p:nvSpPr>
        <p:spPr>
          <a:xfrm>
            <a:off x="6193158" y="4340529"/>
            <a:ext cx="253006" cy="28803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227652-6821-423C-ACE5-28A31B8065B6}"/>
              </a:ext>
            </a:extLst>
          </p:cNvPr>
          <p:cNvSpPr txBox="1"/>
          <p:nvPr/>
        </p:nvSpPr>
        <p:spPr>
          <a:xfrm>
            <a:off x="6331682" y="2236768"/>
            <a:ext cx="1352808" cy="6463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Observed Values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78EDA6-55F3-4F4E-BCC2-FBFA39A1E309}"/>
              </a:ext>
            </a:extLst>
          </p:cNvPr>
          <p:cNvCxnSpPr>
            <a:cxnSpLocks/>
          </p:cNvCxnSpPr>
          <p:nvPr/>
        </p:nvCxnSpPr>
        <p:spPr>
          <a:xfrm flipV="1">
            <a:off x="5631909" y="3364242"/>
            <a:ext cx="1628508" cy="126431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EB340738-F15C-41A9-A8CE-D0BC357629D6}"/>
              </a:ext>
            </a:extLst>
          </p:cNvPr>
          <p:cNvSpPr/>
          <p:nvPr/>
        </p:nvSpPr>
        <p:spPr>
          <a:xfrm>
            <a:off x="6193157" y="4017362"/>
            <a:ext cx="253006" cy="228984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Multiplication Sign 46">
            <a:extLst>
              <a:ext uri="{FF2B5EF4-FFF2-40B4-BE49-F238E27FC236}">
                <a16:creationId xmlns:a16="http://schemas.microsoft.com/office/drawing/2014/main" id="{CB8A809E-190C-4D5F-A30A-8A1C76AD9F7E}"/>
              </a:ext>
            </a:extLst>
          </p:cNvPr>
          <p:cNvSpPr/>
          <p:nvPr/>
        </p:nvSpPr>
        <p:spPr>
          <a:xfrm>
            <a:off x="6389673" y="3869694"/>
            <a:ext cx="253006" cy="228984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Multiplication Sign 50">
            <a:extLst>
              <a:ext uri="{FF2B5EF4-FFF2-40B4-BE49-F238E27FC236}">
                <a16:creationId xmlns:a16="http://schemas.microsoft.com/office/drawing/2014/main" id="{F8FCDA28-7C55-427E-B521-79F48AFD108F}"/>
              </a:ext>
            </a:extLst>
          </p:cNvPr>
          <p:cNvSpPr/>
          <p:nvPr/>
        </p:nvSpPr>
        <p:spPr>
          <a:xfrm>
            <a:off x="7007410" y="3411554"/>
            <a:ext cx="253006" cy="228984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F80B1C1-3286-4494-AA59-B5BB137EE90E}"/>
              </a:ext>
            </a:extLst>
          </p:cNvPr>
          <p:cNvCxnSpPr>
            <a:cxnSpLocks/>
          </p:cNvCxnSpPr>
          <p:nvPr/>
        </p:nvCxnSpPr>
        <p:spPr>
          <a:xfrm>
            <a:off x="7115571" y="3542347"/>
            <a:ext cx="18342" cy="536873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7603D9A-C38B-434E-99D0-3D4EA1B00B35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6508435" y="3704964"/>
            <a:ext cx="7038" cy="27317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A5591FB-A35F-4DC2-A259-78B61D386A77}"/>
              </a:ext>
            </a:extLst>
          </p:cNvPr>
          <p:cNvCxnSpPr>
            <a:cxnSpLocks/>
          </p:cNvCxnSpPr>
          <p:nvPr/>
        </p:nvCxnSpPr>
        <p:spPr>
          <a:xfrm>
            <a:off x="6312389" y="4124557"/>
            <a:ext cx="9907" cy="262569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347B153-F2B0-41E2-8D16-7C0717C7CFBB}"/>
              </a:ext>
            </a:extLst>
          </p:cNvPr>
          <p:cNvCxnSpPr>
            <a:cxnSpLocks/>
            <a:stCxn id="42" idx="2"/>
            <a:endCxn id="9" idx="7"/>
          </p:cNvCxnSpPr>
          <p:nvPr/>
        </p:nvCxnSpPr>
        <p:spPr>
          <a:xfrm flipH="1">
            <a:off x="6597886" y="2883099"/>
            <a:ext cx="410200" cy="576015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3C106EF-256D-4D1D-8A04-8ABFEECBFD8B}"/>
              </a:ext>
            </a:extLst>
          </p:cNvPr>
          <p:cNvCxnSpPr>
            <a:cxnSpLocks/>
            <a:stCxn id="42" idx="2"/>
          </p:cNvCxnSpPr>
          <p:nvPr/>
        </p:nvCxnSpPr>
        <p:spPr>
          <a:xfrm flipH="1">
            <a:off x="7007410" y="2883099"/>
            <a:ext cx="676" cy="1162087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17C239C-CB27-43D6-AD4A-23EC3318DB72}"/>
              </a:ext>
            </a:extLst>
          </p:cNvPr>
          <p:cNvCxnSpPr>
            <a:cxnSpLocks/>
            <a:stCxn id="42" idx="2"/>
            <a:endCxn id="41" idx="7"/>
          </p:cNvCxnSpPr>
          <p:nvPr/>
        </p:nvCxnSpPr>
        <p:spPr>
          <a:xfrm flipH="1">
            <a:off x="6409112" y="2883099"/>
            <a:ext cx="598974" cy="1499611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D8938B7-DFD0-4AD5-842A-E9D392578921}"/>
              </a:ext>
            </a:extLst>
          </p:cNvPr>
          <p:cNvSpPr txBox="1"/>
          <p:nvPr/>
        </p:nvSpPr>
        <p:spPr>
          <a:xfrm>
            <a:off x="6708599" y="4882417"/>
            <a:ext cx="1352808" cy="64633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Predicted Values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3B322D2-026F-4F77-A103-18FD1763D4DD}"/>
              </a:ext>
            </a:extLst>
          </p:cNvPr>
          <p:cNvCxnSpPr>
            <a:cxnSpLocks/>
            <a:stCxn id="71" idx="0"/>
            <a:endCxn id="51" idx="2"/>
          </p:cNvCxnSpPr>
          <p:nvPr/>
        </p:nvCxnSpPr>
        <p:spPr>
          <a:xfrm flipH="1" flipV="1">
            <a:off x="7199650" y="3585542"/>
            <a:ext cx="185353" cy="129687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BA982FA-1C61-47CF-9040-F713B1E17B7B}"/>
              </a:ext>
            </a:extLst>
          </p:cNvPr>
          <p:cNvCxnSpPr>
            <a:cxnSpLocks/>
            <a:stCxn id="71" idx="0"/>
            <a:endCxn id="47" idx="2"/>
          </p:cNvCxnSpPr>
          <p:nvPr/>
        </p:nvCxnSpPr>
        <p:spPr>
          <a:xfrm flipH="1" flipV="1">
            <a:off x="6581913" y="4043682"/>
            <a:ext cx="803090" cy="8387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00C2AA9-3702-4958-8490-1F1E153F10C8}"/>
              </a:ext>
            </a:extLst>
          </p:cNvPr>
          <p:cNvCxnSpPr>
            <a:cxnSpLocks/>
            <a:stCxn id="71" idx="0"/>
            <a:endCxn id="16" idx="0"/>
          </p:cNvCxnSpPr>
          <p:nvPr/>
        </p:nvCxnSpPr>
        <p:spPr>
          <a:xfrm flipH="1" flipV="1">
            <a:off x="6253923" y="4072358"/>
            <a:ext cx="1131080" cy="81005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9212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50.2 Build Tree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7"/>
            <a:ext cx="8219256" cy="92332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“</a:t>
            </a:r>
            <a:r>
              <a:rPr lang="en-US" sz="1800" b="1" dirty="0">
                <a:solidFill>
                  <a:srgbClr val="C00000"/>
                </a:solidFill>
              </a:rPr>
              <a:t>Pseudo</a:t>
            </a:r>
            <a:r>
              <a:rPr lang="en-US" sz="1800" b="1" dirty="0">
                <a:solidFill>
                  <a:schemeClr val="tx1"/>
                </a:solidFill>
              </a:rPr>
              <a:t>” Part of </a:t>
            </a:r>
            <a:r>
              <a:rPr lang="en-US" sz="1800" b="1" dirty="0">
                <a:solidFill>
                  <a:srgbClr val="C00000"/>
                </a:solidFill>
              </a:rPr>
              <a:t>Pseudo Residuals </a:t>
            </a:r>
            <a:r>
              <a:rPr lang="en-US" sz="1800" b="1" dirty="0">
                <a:solidFill>
                  <a:schemeClr val="tx1"/>
                </a:solidFill>
              </a:rPr>
              <a:t>is a reminder that we are doing </a:t>
            </a:r>
            <a:r>
              <a:rPr lang="en-US" sz="1800" b="1" dirty="0">
                <a:solidFill>
                  <a:srgbClr val="C00000"/>
                </a:solidFill>
              </a:rPr>
              <a:t>Gradient Boost</a:t>
            </a:r>
            <a:r>
              <a:rPr lang="en-US" sz="1800" b="1" dirty="0">
                <a:solidFill>
                  <a:schemeClr val="tx1"/>
                </a:solidFill>
              </a:rPr>
              <a:t>, not Linear Regression, and a something we will discuss later.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do the same thing for remaining </a:t>
            </a:r>
            <a:r>
              <a:rPr lang="en-US" sz="1800" b="1" dirty="0">
                <a:solidFill>
                  <a:srgbClr val="C00000"/>
                </a:solidFill>
              </a:rPr>
              <a:t>Weights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25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/>
        </p:nvGraphicFramePr>
        <p:xfrm>
          <a:off x="459532" y="2793516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-15.2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-14.2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9C86A4B8-94F2-423F-978D-1D02FFB86E8E}"/>
              </a:ext>
            </a:extLst>
          </p:cNvPr>
          <p:cNvSpPr/>
          <p:nvPr/>
        </p:nvSpPr>
        <p:spPr>
          <a:xfrm>
            <a:off x="2483768" y="2255772"/>
            <a:ext cx="680580" cy="290507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71.2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D871FB-558B-4BAA-9C88-0D5DB1BF26BD}"/>
              </a:ext>
            </a:extLst>
          </p:cNvPr>
          <p:cNvSpPr txBox="1"/>
          <p:nvPr/>
        </p:nvSpPr>
        <p:spPr>
          <a:xfrm>
            <a:off x="1464417" y="2108384"/>
            <a:ext cx="10459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88A71A5-BA78-42C0-B03D-C8CB40F1AF8E}"/>
              </a:ext>
            </a:extLst>
          </p:cNvPr>
          <p:cNvCxnSpPr>
            <a:cxnSpLocks/>
          </p:cNvCxnSpPr>
          <p:nvPr/>
        </p:nvCxnSpPr>
        <p:spPr>
          <a:xfrm>
            <a:off x="5631910" y="5229986"/>
            <a:ext cx="187220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ABFCE4-8CDC-4DEE-891B-CA9E1BC92626}"/>
              </a:ext>
            </a:extLst>
          </p:cNvPr>
          <p:cNvCxnSpPr>
            <a:cxnSpLocks/>
          </p:cNvCxnSpPr>
          <p:nvPr/>
        </p:nvCxnSpPr>
        <p:spPr>
          <a:xfrm flipV="1">
            <a:off x="5631910" y="3364242"/>
            <a:ext cx="0" cy="186574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BEBE267-497E-421A-83AB-5E93474F4416}"/>
              </a:ext>
            </a:extLst>
          </p:cNvPr>
          <p:cNvCxnSpPr/>
          <p:nvPr/>
        </p:nvCxnSpPr>
        <p:spPr>
          <a:xfrm>
            <a:off x="6568014" y="5085970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94D64EB-A68E-49EA-81C6-ED855E8EF821}"/>
              </a:ext>
            </a:extLst>
          </p:cNvPr>
          <p:cNvCxnSpPr/>
          <p:nvPr/>
        </p:nvCxnSpPr>
        <p:spPr>
          <a:xfrm>
            <a:off x="7504118" y="5101946"/>
            <a:ext cx="0" cy="28803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9DC5C1-75BA-4D72-B666-BE1878791911}"/>
              </a:ext>
            </a:extLst>
          </p:cNvPr>
          <p:cNvCxnSpPr>
            <a:cxnSpLocks/>
          </p:cNvCxnSpPr>
          <p:nvPr/>
        </p:nvCxnSpPr>
        <p:spPr>
          <a:xfrm>
            <a:off x="5479510" y="4293882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9214B52-A1D2-48A5-BEB2-33E5F819C436}"/>
              </a:ext>
            </a:extLst>
          </p:cNvPr>
          <p:cNvCxnSpPr>
            <a:cxnSpLocks/>
          </p:cNvCxnSpPr>
          <p:nvPr/>
        </p:nvCxnSpPr>
        <p:spPr>
          <a:xfrm>
            <a:off x="5501214" y="3364242"/>
            <a:ext cx="26139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A8D63C4-75BD-4041-8C80-750B8E8354A2}"/>
              </a:ext>
            </a:extLst>
          </p:cNvPr>
          <p:cNvSpPr/>
          <p:nvPr/>
        </p:nvSpPr>
        <p:spPr>
          <a:xfrm>
            <a:off x="6381931" y="3416933"/>
            <a:ext cx="253007" cy="28803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E92E8E43-BC26-41AE-8E14-C30A6D9C0179}"/>
              </a:ext>
            </a:extLst>
          </p:cNvPr>
          <p:cNvSpPr/>
          <p:nvPr/>
        </p:nvSpPr>
        <p:spPr>
          <a:xfrm>
            <a:off x="7007411" y="3970776"/>
            <a:ext cx="253006" cy="27119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6996C4A-421F-4280-B047-FC0FA20CEA1C}"/>
              </a:ext>
            </a:extLst>
          </p:cNvPr>
          <p:cNvSpPr/>
          <p:nvPr/>
        </p:nvSpPr>
        <p:spPr>
          <a:xfrm>
            <a:off x="6193158" y="4340529"/>
            <a:ext cx="253006" cy="288030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378EDA6-55F3-4F4E-BCC2-FBFA39A1E309}"/>
              </a:ext>
            </a:extLst>
          </p:cNvPr>
          <p:cNvCxnSpPr>
            <a:cxnSpLocks/>
          </p:cNvCxnSpPr>
          <p:nvPr/>
        </p:nvCxnSpPr>
        <p:spPr>
          <a:xfrm flipV="1">
            <a:off x="5631909" y="3364242"/>
            <a:ext cx="1628508" cy="126431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ultiplication Sign 15">
            <a:extLst>
              <a:ext uri="{FF2B5EF4-FFF2-40B4-BE49-F238E27FC236}">
                <a16:creationId xmlns:a16="http://schemas.microsoft.com/office/drawing/2014/main" id="{EB340738-F15C-41A9-A8CE-D0BC357629D6}"/>
              </a:ext>
            </a:extLst>
          </p:cNvPr>
          <p:cNvSpPr/>
          <p:nvPr/>
        </p:nvSpPr>
        <p:spPr>
          <a:xfrm>
            <a:off x="6193157" y="4017362"/>
            <a:ext cx="253006" cy="228984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Multiplication Sign 46">
            <a:extLst>
              <a:ext uri="{FF2B5EF4-FFF2-40B4-BE49-F238E27FC236}">
                <a16:creationId xmlns:a16="http://schemas.microsoft.com/office/drawing/2014/main" id="{CB8A809E-190C-4D5F-A30A-8A1C76AD9F7E}"/>
              </a:ext>
            </a:extLst>
          </p:cNvPr>
          <p:cNvSpPr/>
          <p:nvPr/>
        </p:nvSpPr>
        <p:spPr>
          <a:xfrm>
            <a:off x="6389673" y="3869694"/>
            <a:ext cx="253006" cy="228984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Multiplication Sign 50">
            <a:extLst>
              <a:ext uri="{FF2B5EF4-FFF2-40B4-BE49-F238E27FC236}">
                <a16:creationId xmlns:a16="http://schemas.microsoft.com/office/drawing/2014/main" id="{F8FCDA28-7C55-427E-B521-79F48AFD108F}"/>
              </a:ext>
            </a:extLst>
          </p:cNvPr>
          <p:cNvSpPr/>
          <p:nvPr/>
        </p:nvSpPr>
        <p:spPr>
          <a:xfrm>
            <a:off x="7007410" y="3411554"/>
            <a:ext cx="253006" cy="228984"/>
          </a:xfrm>
          <a:prstGeom prst="mathMultiply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DF80B1C1-3286-4494-AA59-B5BB137EE90E}"/>
              </a:ext>
            </a:extLst>
          </p:cNvPr>
          <p:cNvCxnSpPr>
            <a:cxnSpLocks/>
          </p:cNvCxnSpPr>
          <p:nvPr/>
        </p:nvCxnSpPr>
        <p:spPr>
          <a:xfrm>
            <a:off x="7115571" y="3542347"/>
            <a:ext cx="18342" cy="536873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7603D9A-C38B-434E-99D0-3D4EA1B00B35}"/>
              </a:ext>
            </a:extLst>
          </p:cNvPr>
          <p:cNvCxnSpPr>
            <a:cxnSpLocks/>
            <a:stCxn id="9" idx="4"/>
          </p:cNvCxnSpPr>
          <p:nvPr/>
        </p:nvCxnSpPr>
        <p:spPr>
          <a:xfrm>
            <a:off x="6508435" y="3704964"/>
            <a:ext cx="7038" cy="27317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AA5591FB-A35F-4DC2-A259-78B61D386A77}"/>
              </a:ext>
            </a:extLst>
          </p:cNvPr>
          <p:cNvCxnSpPr>
            <a:cxnSpLocks/>
          </p:cNvCxnSpPr>
          <p:nvPr/>
        </p:nvCxnSpPr>
        <p:spPr>
          <a:xfrm>
            <a:off x="6312389" y="4124557"/>
            <a:ext cx="9907" cy="262569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D8938B7-DFD0-4AD5-842A-E9D392578921}"/>
              </a:ext>
            </a:extLst>
          </p:cNvPr>
          <p:cNvSpPr txBox="1"/>
          <p:nvPr/>
        </p:nvSpPr>
        <p:spPr>
          <a:xfrm>
            <a:off x="7456933" y="3411554"/>
            <a:ext cx="1352808" cy="3693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Residuals</a:t>
            </a:r>
          </a:p>
        </p:txBody>
      </p:sp>
    </p:spTree>
    <p:extLst>
      <p:ext uri="{BB962C8B-B14F-4D97-AF65-F5344CB8AC3E}">
        <p14:creationId xmlns:p14="http://schemas.microsoft.com/office/powerpoint/2010/main" val="3280372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50.2 Build Tree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7"/>
            <a:ext cx="8219256" cy="92332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build a </a:t>
            </a:r>
            <a:r>
              <a:rPr lang="en-US" sz="1800" b="1" dirty="0">
                <a:solidFill>
                  <a:srgbClr val="C00000"/>
                </a:solidFill>
              </a:rPr>
              <a:t>Tree</a:t>
            </a:r>
            <a:r>
              <a:rPr lang="en-US" sz="1800" b="1" dirty="0">
                <a:solidFill>
                  <a:schemeClr val="tx1"/>
                </a:solidFill>
              </a:rPr>
              <a:t>, using </a:t>
            </a:r>
            <a:r>
              <a:rPr lang="en-US" sz="1800" b="1" dirty="0">
                <a:solidFill>
                  <a:srgbClr val="C00000"/>
                </a:solidFill>
              </a:rPr>
              <a:t>Height, Favorite Color, and Gender </a:t>
            </a:r>
            <a:r>
              <a:rPr lang="en-US" sz="1800" b="1" dirty="0">
                <a:solidFill>
                  <a:schemeClr val="tx1"/>
                </a:solidFill>
              </a:rPr>
              <a:t>to </a:t>
            </a:r>
            <a:r>
              <a:rPr lang="en-US" sz="1800" b="1" dirty="0">
                <a:solidFill>
                  <a:srgbClr val="C00000"/>
                </a:solidFill>
              </a:rPr>
              <a:t>predict</a:t>
            </a:r>
            <a:r>
              <a:rPr lang="en-US" sz="1800" b="1" dirty="0">
                <a:solidFill>
                  <a:schemeClr val="tx1"/>
                </a:solidFill>
              </a:rPr>
              <a:t> the </a:t>
            </a:r>
            <a:r>
              <a:rPr lang="en-US" sz="1800" b="1" dirty="0">
                <a:solidFill>
                  <a:srgbClr val="C00000"/>
                </a:solidFill>
              </a:rPr>
              <a:t>Residuals</a:t>
            </a:r>
            <a:r>
              <a:rPr lang="en-US" sz="1800" b="1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26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183851"/>
              </p:ext>
            </p:extLst>
          </p:nvPr>
        </p:nvGraphicFramePr>
        <p:xfrm>
          <a:off x="459532" y="2793516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-15.2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-14.2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6252905" y="2508829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686790" y="2846598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5771121" y="2834704"/>
            <a:ext cx="458336" cy="21602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554651" y="3188550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6000289" y="2724853"/>
            <a:ext cx="481784" cy="1098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stCxn id="34" idx="2"/>
            <a:endCxn id="35" idx="0"/>
          </p:cNvCxnSpPr>
          <p:nvPr/>
        </p:nvCxnSpPr>
        <p:spPr>
          <a:xfrm>
            <a:off x="6482073" y="2724853"/>
            <a:ext cx="433885" cy="1217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stCxn id="35" idx="2"/>
            <a:endCxn id="37" idx="0"/>
          </p:cNvCxnSpPr>
          <p:nvPr/>
        </p:nvCxnSpPr>
        <p:spPr>
          <a:xfrm flipH="1">
            <a:off x="6783819" y="3062622"/>
            <a:ext cx="132139" cy="1259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6915958" y="3062622"/>
            <a:ext cx="370386" cy="1117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057176" y="317432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5499907" y="3180279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6023737" y="3174327"/>
            <a:ext cx="458336" cy="21602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5729075" y="3050728"/>
            <a:ext cx="271214" cy="1295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6000289" y="3050728"/>
            <a:ext cx="252616" cy="1235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2A8A8C98-8929-44AA-B5DC-3EC48880E934}"/>
              </a:ext>
            </a:extLst>
          </p:cNvPr>
          <p:cNvSpPr/>
          <p:nvPr/>
        </p:nvSpPr>
        <p:spPr>
          <a:xfrm>
            <a:off x="507676" y="2779778"/>
            <a:ext cx="2083123" cy="30929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0F889B6-E345-427D-A584-482172F584B0}"/>
              </a:ext>
            </a:extLst>
          </p:cNvPr>
          <p:cNvSpPr/>
          <p:nvPr/>
        </p:nvSpPr>
        <p:spPr>
          <a:xfrm>
            <a:off x="3263589" y="2773578"/>
            <a:ext cx="739816" cy="30929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14B911B-ACE8-4DDA-BFB8-CA3886E47252}"/>
              </a:ext>
            </a:extLst>
          </p:cNvPr>
          <p:cNvCxnSpPr>
            <a:cxnSpLocks/>
            <a:endCxn id="56" idx="0"/>
          </p:cNvCxnSpPr>
          <p:nvPr/>
        </p:nvCxnSpPr>
        <p:spPr>
          <a:xfrm flipH="1">
            <a:off x="1549238" y="1628800"/>
            <a:ext cx="2302682" cy="115097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27EED52-DDC9-4B25-ADE2-08C71AEEE71B}"/>
              </a:ext>
            </a:extLst>
          </p:cNvPr>
          <p:cNvCxnSpPr>
            <a:cxnSpLocks/>
          </p:cNvCxnSpPr>
          <p:nvPr/>
        </p:nvCxnSpPr>
        <p:spPr>
          <a:xfrm>
            <a:off x="1524000" y="1896718"/>
            <a:ext cx="2146624" cy="87760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副標題 2">
            <a:extLst>
              <a:ext uri="{FF2B5EF4-FFF2-40B4-BE49-F238E27FC236}">
                <a16:creationId xmlns:a16="http://schemas.microsoft.com/office/drawing/2014/main" id="{9FE69E9F-365E-4C4A-9053-B17D12F275D9}"/>
              </a:ext>
            </a:extLst>
          </p:cNvPr>
          <p:cNvSpPr txBox="1">
            <a:spLocks/>
          </p:cNvSpPr>
          <p:nvPr/>
        </p:nvSpPr>
        <p:spPr>
          <a:xfrm>
            <a:off x="4142079" y="3748220"/>
            <a:ext cx="4822241" cy="92332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If it seems strange to </a:t>
            </a:r>
            <a:r>
              <a:rPr lang="en-US" sz="1800" b="1" dirty="0">
                <a:solidFill>
                  <a:srgbClr val="C00000"/>
                </a:solidFill>
              </a:rPr>
              <a:t>Predict</a:t>
            </a:r>
            <a:r>
              <a:rPr lang="en-US" sz="1800" b="1" dirty="0">
                <a:solidFill>
                  <a:schemeClr val="tx1"/>
                </a:solidFill>
              </a:rPr>
              <a:t> the </a:t>
            </a:r>
            <a:r>
              <a:rPr lang="en-US" sz="1800" b="1" dirty="0">
                <a:solidFill>
                  <a:srgbClr val="C00000"/>
                </a:solidFill>
              </a:rPr>
              <a:t>Residuals</a:t>
            </a:r>
            <a:r>
              <a:rPr lang="en-US" sz="1800" b="1" dirty="0">
                <a:solidFill>
                  <a:schemeClr val="tx1"/>
                </a:solidFill>
              </a:rPr>
              <a:t> instead of the original </a:t>
            </a:r>
            <a:r>
              <a:rPr lang="en-US" sz="1800" b="1" dirty="0">
                <a:solidFill>
                  <a:srgbClr val="C00000"/>
                </a:solidFill>
              </a:rPr>
              <a:t>weights</a:t>
            </a:r>
            <a:r>
              <a:rPr lang="en-US" sz="1800" b="1" dirty="0">
                <a:solidFill>
                  <a:schemeClr val="tx1"/>
                </a:solidFill>
              </a:rPr>
              <a:t>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will discuss that later.</a:t>
            </a:r>
          </a:p>
        </p:txBody>
      </p:sp>
    </p:spTree>
    <p:extLst>
      <p:ext uri="{BB962C8B-B14F-4D97-AF65-F5344CB8AC3E}">
        <p14:creationId xmlns:p14="http://schemas.microsoft.com/office/powerpoint/2010/main" val="40828739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50.2 Build Tree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129614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Here, we build a tree to </a:t>
            </a:r>
            <a:r>
              <a:rPr lang="en-US" sz="1800" b="1" dirty="0">
                <a:solidFill>
                  <a:srgbClr val="C00000"/>
                </a:solidFill>
              </a:rPr>
              <a:t>Predict</a:t>
            </a:r>
            <a:r>
              <a:rPr lang="en-US" sz="1800" b="1" dirty="0">
                <a:solidFill>
                  <a:schemeClr val="tx1"/>
                </a:solidFill>
              </a:rPr>
              <a:t> the </a:t>
            </a:r>
            <a:r>
              <a:rPr lang="en-US" sz="1800" b="1" dirty="0">
                <a:solidFill>
                  <a:srgbClr val="C00000"/>
                </a:solidFill>
              </a:rPr>
              <a:t>Residuals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this example, we only allow </a:t>
            </a:r>
            <a:r>
              <a:rPr lang="en-US" sz="1800" b="1" dirty="0">
                <a:solidFill>
                  <a:srgbClr val="C00000"/>
                </a:solidFill>
              </a:rPr>
              <a:t>four leaves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…but when suing a larger dataset, it is common to allow the leaves from </a:t>
            </a:r>
            <a:r>
              <a:rPr lang="en-US" sz="1800" b="1" dirty="0">
                <a:solidFill>
                  <a:srgbClr val="C00000"/>
                </a:solidFill>
              </a:rPr>
              <a:t>8</a:t>
            </a:r>
            <a:r>
              <a:rPr lang="en-US" sz="1800" b="1" dirty="0">
                <a:solidFill>
                  <a:schemeClr val="tx1"/>
                </a:solidFill>
              </a:rPr>
              <a:t> to </a:t>
            </a:r>
            <a:r>
              <a:rPr lang="en-US" sz="1800" b="1" dirty="0">
                <a:solidFill>
                  <a:srgbClr val="C00000"/>
                </a:solidFill>
              </a:rPr>
              <a:t>32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By restricting the total of leaves, we get fewer leaves than </a:t>
            </a:r>
            <a:r>
              <a:rPr lang="en-US" sz="1800" b="1" dirty="0">
                <a:solidFill>
                  <a:srgbClr val="C00000"/>
                </a:solidFill>
              </a:rPr>
              <a:t>Residuals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27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237934"/>
              </p:ext>
            </p:extLst>
          </p:nvPr>
        </p:nvGraphicFramePr>
        <p:xfrm>
          <a:off x="459532" y="2793516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-15.2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-14.2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5917910" y="2793516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696150" y="3567401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5058219" y="3551112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803733" y="4443898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1.8, 5.8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5802034" y="3182270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535914" y="3182270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7245099" y="3924922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7520622" y="3924922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901194" y="4451502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4389428" y="4452721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-14.2, -15.2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6014934" y="4468488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5095731" y="3924923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5802034" y="3924923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2A8A8C98-8929-44AA-B5DC-3EC48880E934}"/>
              </a:ext>
            </a:extLst>
          </p:cNvPr>
          <p:cNvSpPr/>
          <p:nvPr/>
        </p:nvSpPr>
        <p:spPr>
          <a:xfrm>
            <a:off x="507676" y="2779778"/>
            <a:ext cx="2083123" cy="30929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0F889B6-E345-427D-A584-482172F584B0}"/>
              </a:ext>
            </a:extLst>
          </p:cNvPr>
          <p:cNvSpPr/>
          <p:nvPr/>
        </p:nvSpPr>
        <p:spPr>
          <a:xfrm>
            <a:off x="3263589" y="2773578"/>
            <a:ext cx="739816" cy="30929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DEC8974-7112-4B7B-B7AC-DE00E95DEDFB}"/>
              </a:ext>
            </a:extLst>
          </p:cNvPr>
          <p:cNvSpPr/>
          <p:nvPr/>
        </p:nvSpPr>
        <p:spPr>
          <a:xfrm>
            <a:off x="4015409" y="2597426"/>
            <a:ext cx="576952" cy="821635"/>
          </a:xfrm>
          <a:custGeom>
            <a:avLst/>
            <a:gdLst>
              <a:gd name="connsiteX0" fmla="*/ 516834 w 576952"/>
              <a:gd name="connsiteY0" fmla="*/ 0 h 821635"/>
              <a:gd name="connsiteX1" fmla="*/ 530087 w 576952"/>
              <a:gd name="connsiteY1" fmla="*/ 649357 h 821635"/>
              <a:gd name="connsiteX2" fmla="*/ 0 w 576952"/>
              <a:gd name="connsiteY2" fmla="*/ 821635 h 821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6952" h="821635">
                <a:moveTo>
                  <a:pt x="516834" y="0"/>
                </a:moveTo>
                <a:cubicBezTo>
                  <a:pt x="566530" y="256209"/>
                  <a:pt x="616226" y="512418"/>
                  <a:pt x="530087" y="649357"/>
                </a:cubicBezTo>
                <a:cubicBezTo>
                  <a:pt x="443948" y="786296"/>
                  <a:pt x="221974" y="803965"/>
                  <a:pt x="0" y="821635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086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50.2 Build Tree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32839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1) As a result, these two rows of data go to the same leaf.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28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352461"/>
              </p:ext>
            </p:extLst>
          </p:nvPr>
        </p:nvGraphicFramePr>
        <p:xfrm>
          <a:off x="524622" y="2736507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-15.2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-14.2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5917910" y="2793516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696150" y="3567401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5058219" y="3551112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803733" y="4443898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1.8, 5.8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5802034" y="3182270"/>
            <a:ext cx="733880" cy="36884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535914" y="3182270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7245099" y="3924922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7520622" y="3924922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901194" y="4451502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4389428" y="4452721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-14.2, -15.2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6014934" y="4468488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5095731" y="3924923"/>
            <a:ext cx="706303" cy="52779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5802034" y="3924923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2A8A8C98-8929-44AA-B5DC-3EC48880E934}"/>
              </a:ext>
            </a:extLst>
          </p:cNvPr>
          <p:cNvSpPr/>
          <p:nvPr/>
        </p:nvSpPr>
        <p:spPr>
          <a:xfrm>
            <a:off x="524622" y="3900984"/>
            <a:ext cx="2083123" cy="4376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0F889B6-E345-427D-A584-482172F584B0}"/>
              </a:ext>
            </a:extLst>
          </p:cNvPr>
          <p:cNvSpPr/>
          <p:nvPr/>
        </p:nvSpPr>
        <p:spPr>
          <a:xfrm>
            <a:off x="3263589" y="3924922"/>
            <a:ext cx="819856" cy="4137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3CF413-2DD6-4879-806B-0D2DD83AD528}"/>
              </a:ext>
            </a:extLst>
          </p:cNvPr>
          <p:cNvSpPr/>
          <p:nvPr/>
        </p:nvSpPr>
        <p:spPr>
          <a:xfrm>
            <a:off x="547036" y="5065461"/>
            <a:ext cx="2083123" cy="4376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4CDB68-99B9-4C75-8545-9AF974B3BF0A}"/>
              </a:ext>
            </a:extLst>
          </p:cNvPr>
          <p:cNvSpPr/>
          <p:nvPr/>
        </p:nvSpPr>
        <p:spPr>
          <a:xfrm>
            <a:off x="3271052" y="5065461"/>
            <a:ext cx="819856" cy="4137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EC9F88E-843C-4AC0-B184-2F9F88266B40}"/>
              </a:ext>
            </a:extLst>
          </p:cNvPr>
          <p:cNvSpPr/>
          <p:nvPr/>
        </p:nvSpPr>
        <p:spPr>
          <a:xfrm>
            <a:off x="4081670" y="2776596"/>
            <a:ext cx="1815547" cy="1265317"/>
          </a:xfrm>
          <a:custGeom>
            <a:avLst/>
            <a:gdLst>
              <a:gd name="connsiteX0" fmla="*/ 0 w 1815547"/>
              <a:gd name="connsiteY0" fmla="*/ 1241044 h 1241044"/>
              <a:gd name="connsiteX1" fmla="*/ 609600 w 1815547"/>
              <a:gd name="connsiteY1" fmla="*/ 101357 h 1241044"/>
              <a:gd name="connsiteX2" fmla="*/ 1815547 w 1815547"/>
              <a:gd name="connsiteY2" fmla="*/ 127861 h 1241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15547" h="1241044">
                <a:moveTo>
                  <a:pt x="0" y="1241044"/>
                </a:moveTo>
                <a:cubicBezTo>
                  <a:pt x="153504" y="763965"/>
                  <a:pt x="307009" y="286887"/>
                  <a:pt x="609600" y="101357"/>
                </a:cubicBezTo>
                <a:cubicBezTo>
                  <a:pt x="912191" y="-84174"/>
                  <a:pt x="1363869" y="21843"/>
                  <a:pt x="1815547" y="127861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00D93976-DD27-43D9-8750-B4C831A30D76}"/>
              </a:ext>
            </a:extLst>
          </p:cNvPr>
          <p:cNvSpPr/>
          <p:nvPr/>
        </p:nvSpPr>
        <p:spPr>
          <a:xfrm>
            <a:off x="4134678" y="2800869"/>
            <a:ext cx="1326748" cy="2420488"/>
          </a:xfrm>
          <a:custGeom>
            <a:avLst/>
            <a:gdLst>
              <a:gd name="connsiteX0" fmla="*/ 0 w 927652"/>
              <a:gd name="connsiteY0" fmla="*/ 2431988 h 2431988"/>
              <a:gd name="connsiteX1" fmla="*/ 543339 w 927652"/>
              <a:gd name="connsiteY1" fmla="*/ 351396 h 2431988"/>
              <a:gd name="connsiteX2" fmla="*/ 927652 w 927652"/>
              <a:gd name="connsiteY2" fmla="*/ 20092 h 243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7652" h="2431988">
                <a:moveTo>
                  <a:pt x="0" y="2431988"/>
                </a:moveTo>
                <a:cubicBezTo>
                  <a:pt x="194365" y="1592683"/>
                  <a:pt x="388730" y="753379"/>
                  <a:pt x="543339" y="351396"/>
                </a:cubicBezTo>
                <a:cubicBezTo>
                  <a:pt x="697948" y="-50587"/>
                  <a:pt x="812800" y="-15248"/>
                  <a:pt x="927652" y="20092"/>
                </a:cubicBez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副標題 2">
            <a:extLst>
              <a:ext uri="{FF2B5EF4-FFF2-40B4-BE49-F238E27FC236}">
                <a16:creationId xmlns:a16="http://schemas.microsoft.com/office/drawing/2014/main" id="{AF913E48-0962-47E8-9F0F-BE2A6E1029CF}"/>
              </a:ext>
            </a:extLst>
          </p:cNvPr>
          <p:cNvSpPr txBox="1">
            <a:spLocks/>
          </p:cNvSpPr>
          <p:nvPr/>
        </p:nvSpPr>
        <p:spPr>
          <a:xfrm>
            <a:off x="4467745" y="5344985"/>
            <a:ext cx="3842392" cy="99186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2) So, we replace these residuals with their average: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(-14.2_ -15.2)/2 = -14.7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93E9FA-F14D-4588-99E0-21DBBA131C5B}"/>
              </a:ext>
            </a:extLst>
          </p:cNvPr>
          <p:cNvCxnSpPr>
            <a:stCxn id="49" idx="2"/>
            <a:endCxn id="28" idx="0"/>
          </p:cNvCxnSpPr>
          <p:nvPr/>
        </p:nvCxnSpPr>
        <p:spPr>
          <a:xfrm>
            <a:off x="5095731" y="4826532"/>
            <a:ext cx="1293210" cy="518453"/>
          </a:xfrm>
          <a:prstGeom prst="straightConnector1">
            <a:avLst/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0BFE5FD-7C2D-48FA-98A4-7CD1EFC7005A}"/>
              </a:ext>
            </a:extLst>
          </p:cNvPr>
          <p:cNvSpPr/>
          <p:nvPr/>
        </p:nvSpPr>
        <p:spPr>
          <a:xfrm>
            <a:off x="4389428" y="2479861"/>
            <a:ext cx="398596" cy="3283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02CAD057-D8BA-4A96-B4F0-872BA077D589}"/>
              </a:ext>
            </a:extLst>
          </p:cNvPr>
          <p:cNvSpPr/>
          <p:nvPr/>
        </p:nvSpPr>
        <p:spPr>
          <a:xfrm>
            <a:off x="5216435" y="4951456"/>
            <a:ext cx="398596" cy="3283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44893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50.2 Build Tree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32839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leaf keeps the average data of these two rows.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29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/>
        </p:nvGraphicFramePr>
        <p:xfrm>
          <a:off x="524622" y="2736507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-15.2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-14.2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5917910" y="2793516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696150" y="3567401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5058219" y="3551112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803733" y="4443898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1.8, 5.8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5802034" y="3182270"/>
            <a:ext cx="733880" cy="36884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535914" y="3182270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7245099" y="3924922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7520622" y="3924922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901194" y="4451502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4389428" y="4452721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6014934" y="4468488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5095731" y="3924923"/>
            <a:ext cx="706303" cy="52779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5802034" y="3924923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2A8A8C98-8929-44AA-B5DC-3EC48880E934}"/>
              </a:ext>
            </a:extLst>
          </p:cNvPr>
          <p:cNvSpPr/>
          <p:nvPr/>
        </p:nvSpPr>
        <p:spPr>
          <a:xfrm>
            <a:off x="524622" y="3900984"/>
            <a:ext cx="2083123" cy="4376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0F889B6-E345-427D-A584-482172F584B0}"/>
              </a:ext>
            </a:extLst>
          </p:cNvPr>
          <p:cNvSpPr/>
          <p:nvPr/>
        </p:nvSpPr>
        <p:spPr>
          <a:xfrm>
            <a:off x="3263589" y="3924922"/>
            <a:ext cx="819856" cy="4137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A3CF413-2DD6-4879-806B-0D2DD83AD528}"/>
              </a:ext>
            </a:extLst>
          </p:cNvPr>
          <p:cNvSpPr/>
          <p:nvPr/>
        </p:nvSpPr>
        <p:spPr>
          <a:xfrm>
            <a:off x="547036" y="5065461"/>
            <a:ext cx="2083123" cy="43766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4CDB68-99B9-4C75-8545-9AF974B3BF0A}"/>
              </a:ext>
            </a:extLst>
          </p:cNvPr>
          <p:cNvSpPr/>
          <p:nvPr/>
        </p:nvSpPr>
        <p:spPr>
          <a:xfrm>
            <a:off x="3271052" y="5065461"/>
            <a:ext cx="819856" cy="41372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副標題 2">
            <a:extLst>
              <a:ext uri="{FF2B5EF4-FFF2-40B4-BE49-F238E27FC236}">
                <a16:creationId xmlns:a16="http://schemas.microsoft.com/office/drawing/2014/main" id="{AF913E48-0962-47E8-9F0F-BE2A6E1029CF}"/>
              </a:ext>
            </a:extLst>
          </p:cNvPr>
          <p:cNvSpPr txBox="1">
            <a:spLocks/>
          </p:cNvSpPr>
          <p:nvPr/>
        </p:nvSpPr>
        <p:spPr>
          <a:xfrm>
            <a:off x="4467745" y="5344985"/>
            <a:ext cx="3842392" cy="99186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2) So, we replace these residuals with their average: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(-14.2 + -15.2)/2 = -14.7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793E9FA-F14D-4588-99E0-21DBBA131C5B}"/>
              </a:ext>
            </a:extLst>
          </p:cNvPr>
          <p:cNvCxnSpPr>
            <a:cxnSpLocks/>
            <a:stCxn id="49" idx="2"/>
            <a:endCxn id="28" idx="0"/>
          </p:cNvCxnSpPr>
          <p:nvPr/>
        </p:nvCxnSpPr>
        <p:spPr>
          <a:xfrm>
            <a:off x="5095731" y="4826532"/>
            <a:ext cx="1293210" cy="518453"/>
          </a:xfrm>
          <a:prstGeom prst="straightConnector1">
            <a:avLst/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1152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50.2 Build Tree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59125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1) These two rows of data go to the same leaf.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30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/>
        </p:nvGraphicFramePr>
        <p:xfrm>
          <a:off x="524622" y="2736507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-15.2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-14.2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5917910" y="2793516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696150" y="3567401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5058219" y="3551112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803733" y="4443898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1.8, 5.8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5802034" y="3182270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535914" y="3182270"/>
            <a:ext cx="984708" cy="3851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7245099" y="3924922"/>
            <a:ext cx="275523" cy="51897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7520622" y="3924922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901194" y="4451502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4389428" y="4452721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6014934" y="4468488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5095731" y="3924923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5802034" y="3924923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2A8A8C98-8929-44AA-B5DC-3EC48880E934}"/>
              </a:ext>
            </a:extLst>
          </p:cNvPr>
          <p:cNvSpPr/>
          <p:nvPr/>
        </p:nvSpPr>
        <p:spPr>
          <a:xfrm>
            <a:off x="509002" y="4279865"/>
            <a:ext cx="2083123" cy="7855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副標題 2">
            <a:extLst>
              <a:ext uri="{FF2B5EF4-FFF2-40B4-BE49-F238E27FC236}">
                <a16:creationId xmlns:a16="http://schemas.microsoft.com/office/drawing/2014/main" id="{AF913E48-0962-47E8-9F0F-BE2A6E1029CF}"/>
              </a:ext>
            </a:extLst>
          </p:cNvPr>
          <p:cNvSpPr txBox="1">
            <a:spLocks/>
          </p:cNvSpPr>
          <p:nvPr/>
        </p:nvSpPr>
        <p:spPr>
          <a:xfrm>
            <a:off x="4467745" y="5344985"/>
            <a:ext cx="3842392" cy="99186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2) So, we replace these residuals with their average: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(1.8 +  5.8)/2 = 3.8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1CAE6A-8E8D-4072-B2F4-D1165EEC2C81}"/>
              </a:ext>
            </a:extLst>
          </p:cNvPr>
          <p:cNvSpPr/>
          <p:nvPr/>
        </p:nvSpPr>
        <p:spPr>
          <a:xfrm>
            <a:off x="3298427" y="4269086"/>
            <a:ext cx="749843" cy="7855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555F2BF-4676-4CA6-9313-83F548A06322}"/>
              </a:ext>
            </a:extLst>
          </p:cNvPr>
          <p:cNvSpPr/>
          <p:nvPr/>
        </p:nvSpPr>
        <p:spPr>
          <a:xfrm>
            <a:off x="4041913" y="2821173"/>
            <a:ext cx="1881809" cy="1817088"/>
          </a:xfrm>
          <a:custGeom>
            <a:avLst/>
            <a:gdLst>
              <a:gd name="connsiteX0" fmla="*/ 0 w 1881809"/>
              <a:gd name="connsiteY0" fmla="*/ 1817088 h 1817088"/>
              <a:gd name="connsiteX1" fmla="*/ 675861 w 1881809"/>
              <a:gd name="connsiteY1" fmla="*/ 200323 h 1817088"/>
              <a:gd name="connsiteX2" fmla="*/ 1881809 w 1881809"/>
              <a:gd name="connsiteY2" fmla="*/ 81053 h 181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81809" h="1817088">
                <a:moveTo>
                  <a:pt x="0" y="1817088"/>
                </a:moveTo>
                <a:cubicBezTo>
                  <a:pt x="181113" y="1153375"/>
                  <a:pt x="362226" y="489662"/>
                  <a:pt x="675861" y="200323"/>
                </a:cubicBezTo>
                <a:cubicBezTo>
                  <a:pt x="989496" y="-89016"/>
                  <a:pt x="1435652" y="-3982"/>
                  <a:pt x="1881809" y="81053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1C073A6-906D-4729-81F3-2AF6A76AC1A8}"/>
              </a:ext>
            </a:extLst>
          </p:cNvPr>
          <p:cNvSpPr/>
          <p:nvPr/>
        </p:nvSpPr>
        <p:spPr>
          <a:xfrm>
            <a:off x="4467745" y="2564904"/>
            <a:ext cx="344235" cy="3738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79698D-8BAC-45AE-81D2-D5B6A7F7EA05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6388941" y="4809023"/>
            <a:ext cx="856158" cy="535962"/>
          </a:xfrm>
          <a:prstGeom prst="straightConnector1">
            <a:avLst/>
          </a:prstGeom>
          <a:ln w="38100"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5CA605FC-F3E7-4C1C-B722-436C4BDAC267}"/>
              </a:ext>
            </a:extLst>
          </p:cNvPr>
          <p:cNvSpPr/>
          <p:nvPr/>
        </p:nvSpPr>
        <p:spPr>
          <a:xfrm>
            <a:off x="6317226" y="4842299"/>
            <a:ext cx="344235" cy="3738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641765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50.2 Build Tree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42275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replace the leaf to the average.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31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/>
        </p:nvGraphicFramePr>
        <p:xfrm>
          <a:off x="524622" y="2736507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-15.2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-14.2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5917910" y="2793516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696150" y="3567401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5058219" y="3551112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803733" y="4443898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5802034" y="3182270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535914" y="3182270"/>
            <a:ext cx="984708" cy="3851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7245099" y="3924922"/>
            <a:ext cx="275523" cy="51897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7520622" y="3924922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901194" y="4451502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4389428" y="4452721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6014934" y="4468488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5095731" y="3924923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5802034" y="3924923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2A8A8C98-8929-44AA-B5DC-3EC48880E934}"/>
              </a:ext>
            </a:extLst>
          </p:cNvPr>
          <p:cNvSpPr/>
          <p:nvPr/>
        </p:nvSpPr>
        <p:spPr>
          <a:xfrm>
            <a:off x="509002" y="4279865"/>
            <a:ext cx="2083123" cy="7855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1CAE6A-8E8D-4072-B2F4-D1165EEC2C81}"/>
              </a:ext>
            </a:extLst>
          </p:cNvPr>
          <p:cNvSpPr/>
          <p:nvPr/>
        </p:nvSpPr>
        <p:spPr>
          <a:xfrm>
            <a:off x="3298427" y="4269086"/>
            <a:ext cx="749843" cy="78559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134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50.3 Predict by Gradient Boost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59632" y="4581128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32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367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50.3 Predict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42275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New, we combine the original leaf with the new tree.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33</a:t>
            </a:fld>
            <a:endParaRPr lang="zh-TW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5917910" y="2793516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696150" y="3567401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5058219" y="3551112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803733" y="4443898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5802034" y="3182270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535914" y="3182270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7245099" y="3924922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7520622" y="3924922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901194" y="4451502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4389428" y="4452721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6014934" y="4468488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5095731" y="3924923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5802034" y="3924923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2C780-35C6-478B-8834-67AE0CF1A9DF}"/>
              </a:ext>
            </a:extLst>
          </p:cNvPr>
          <p:cNvSpPr/>
          <p:nvPr/>
        </p:nvSpPr>
        <p:spPr>
          <a:xfrm>
            <a:off x="1178195" y="2606610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7DF68-D1AD-4F8C-B669-6DDC9FCFA968}"/>
              </a:ext>
            </a:extLst>
          </p:cNvPr>
          <p:cNvSpPr txBox="1"/>
          <p:nvPr/>
        </p:nvSpPr>
        <p:spPr>
          <a:xfrm>
            <a:off x="817697" y="213540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D5305100-CC44-43B4-9278-BF66D9A40E32}"/>
              </a:ext>
            </a:extLst>
          </p:cNvPr>
          <p:cNvSpPr/>
          <p:nvPr/>
        </p:nvSpPr>
        <p:spPr>
          <a:xfrm>
            <a:off x="3456056" y="2503938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副標題 2">
            <a:extLst>
              <a:ext uri="{FF2B5EF4-FFF2-40B4-BE49-F238E27FC236}">
                <a16:creationId xmlns:a16="http://schemas.microsoft.com/office/drawing/2014/main" id="{0267D11E-43F0-48EE-839B-4BC6B8FB5FBF}"/>
              </a:ext>
            </a:extLst>
          </p:cNvPr>
          <p:cNvSpPr txBox="1">
            <a:spLocks/>
          </p:cNvSpPr>
          <p:nvPr/>
        </p:nvSpPr>
        <p:spPr>
          <a:xfrm>
            <a:off x="924069" y="3718578"/>
            <a:ext cx="3279127" cy="42275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Combine the original leaf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D0884A-8F5D-43BD-9843-92638611CA5F}"/>
              </a:ext>
            </a:extLst>
          </p:cNvPr>
          <p:cNvCxnSpPr>
            <a:cxnSpLocks/>
            <a:stCxn id="26" idx="0"/>
            <a:endCxn id="8" idx="1"/>
          </p:cNvCxnSpPr>
          <p:nvPr/>
        </p:nvCxnSpPr>
        <p:spPr>
          <a:xfrm flipV="1">
            <a:off x="2563633" y="3055189"/>
            <a:ext cx="1216735" cy="6633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F161412-9C66-49F7-B85D-4538DD20A95C}"/>
              </a:ext>
            </a:extLst>
          </p:cNvPr>
          <p:cNvCxnSpPr>
            <a:cxnSpLocks/>
            <a:stCxn id="26" idx="0"/>
            <a:endCxn id="23" idx="2"/>
          </p:cNvCxnSpPr>
          <p:nvPr/>
        </p:nvCxnSpPr>
        <p:spPr>
          <a:xfrm flipH="1" flipV="1">
            <a:off x="1884498" y="2980421"/>
            <a:ext cx="679135" cy="7381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4418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50.3 Predict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42275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 to make a new </a:t>
            </a:r>
            <a:r>
              <a:rPr lang="en-US" sz="1800" b="1" dirty="0">
                <a:solidFill>
                  <a:srgbClr val="C00000"/>
                </a:solidFill>
              </a:rPr>
              <a:t>Prediction</a:t>
            </a:r>
            <a:r>
              <a:rPr lang="en-US" sz="1800" b="1" dirty="0">
                <a:solidFill>
                  <a:schemeClr val="tx1"/>
                </a:solidFill>
              </a:rPr>
              <a:t> of an individual’s </a:t>
            </a:r>
            <a:r>
              <a:rPr lang="en-US" sz="1800" b="1" dirty="0">
                <a:solidFill>
                  <a:srgbClr val="C00000"/>
                </a:solidFill>
              </a:rPr>
              <a:t>Weight</a:t>
            </a:r>
            <a:r>
              <a:rPr lang="en-US" sz="1800" b="1" dirty="0">
                <a:solidFill>
                  <a:schemeClr val="tx1"/>
                </a:solidFill>
              </a:rPr>
              <a:t> from the </a:t>
            </a:r>
            <a:r>
              <a:rPr lang="en-US" sz="1800" b="1" dirty="0">
                <a:solidFill>
                  <a:srgbClr val="C00000"/>
                </a:solidFill>
              </a:rPr>
              <a:t>Training Data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34</a:t>
            </a:fld>
            <a:endParaRPr lang="zh-TW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5917910" y="2793516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696150" y="3567401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5058219" y="3551112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803733" y="4443898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5802034" y="3182270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535914" y="3182270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7245099" y="3924922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7520622" y="3924922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901194" y="4451502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4389428" y="4452721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6014934" y="4468488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5095731" y="3924923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5802034" y="3924923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2C780-35C6-478B-8834-67AE0CF1A9DF}"/>
              </a:ext>
            </a:extLst>
          </p:cNvPr>
          <p:cNvSpPr/>
          <p:nvPr/>
        </p:nvSpPr>
        <p:spPr>
          <a:xfrm>
            <a:off x="1178195" y="2606610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7DF68-D1AD-4F8C-B669-6DDC9FCFA968}"/>
              </a:ext>
            </a:extLst>
          </p:cNvPr>
          <p:cNvSpPr txBox="1"/>
          <p:nvPr/>
        </p:nvSpPr>
        <p:spPr>
          <a:xfrm>
            <a:off x="817697" y="213540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D5305100-CC44-43B4-9278-BF66D9A40E32}"/>
              </a:ext>
            </a:extLst>
          </p:cNvPr>
          <p:cNvSpPr/>
          <p:nvPr/>
        </p:nvSpPr>
        <p:spPr>
          <a:xfrm>
            <a:off x="3456056" y="2503938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副標題 2">
            <a:extLst>
              <a:ext uri="{FF2B5EF4-FFF2-40B4-BE49-F238E27FC236}">
                <a16:creationId xmlns:a16="http://schemas.microsoft.com/office/drawing/2014/main" id="{0267D11E-43F0-48EE-839B-4BC6B8FB5FBF}"/>
              </a:ext>
            </a:extLst>
          </p:cNvPr>
          <p:cNvSpPr txBox="1">
            <a:spLocks/>
          </p:cNvSpPr>
          <p:nvPr/>
        </p:nvSpPr>
        <p:spPr>
          <a:xfrm>
            <a:off x="924069" y="3718578"/>
            <a:ext cx="3279127" cy="42275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Combine the original leaf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D0884A-8F5D-43BD-9843-92638611CA5F}"/>
              </a:ext>
            </a:extLst>
          </p:cNvPr>
          <p:cNvCxnSpPr>
            <a:cxnSpLocks/>
            <a:stCxn id="26" idx="0"/>
            <a:endCxn id="8" idx="1"/>
          </p:cNvCxnSpPr>
          <p:nvPr/>
        </p:nvCxnSpPr>
        <p:spPr>
          <a:xfrm flipV="1">
            <a:off x="2563633" y="3055189"/>
            <a:ext cx="1216735" cy="66338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F161412-9C66-49F7-B85D-4538DD20A95C}"/>
              </a:ext>
            </a:extLst>
          </p:cNvPr>
          <p:cNvCxnSpPr>
            <a:cxnSpLocks/>
            <a:stCxn id="26" idx="0"/>
            <a:endCxn id="23" idx="2"/>
          </p:cNvCxnSpPr>
          <p:nvPr/>
        </p:nvCxnSpPr>
        <p:spPr>
          <a:xfrm flipH="1" flipV="1">
            <a:off x="1884498" y="2980421"/>
            <a:ext cx="679135" cy="73815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8">
            <a:extLst>
              <a:ext uri="{FF2B5EF4-FFF2-40B4-BE49-F238E27FC236}">
                <a16:creationId xmlns:a16="http://schemas.microsoft.com/office/drawing/2014/main" id="{6C3BFB7C-9FA8-4C45-8E6C-0C5C42EB2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8206"/>
              </p:ext>
            </p:extLst>
          </p:nvPr>
        </p:nvGraphicFramePr>
        <p:xfrm>
          <a:off x="791696" y="5015528"/>
          <a:ext cx="2790127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</a:tbl>
          </a:graphicData>
        </a:graphic>
      </p:graphicFrame>
      <p:sp>
        <p:nvSpPr>
          <p:cNvPr id="28" name="副標題 2">
            <a:extLst>
              <a:ext uri="{FF2B5EF4-FFF2-40B4-BE49-F238E27FC236}">
                <a16:creationId xmlns:a16="http://schemas.microsoft.com/office/drawing/2014/main" id="{68F216E9-D8CF-462C-AC55-9AF48EE4C6AA}"/>
              </a:ext>
            </a:extLst>
          </p:cNvPr>
          <p:cNvSpPr txBox="1">
            <a:spLocks/>
          </p:cNvSpPr>
          <p:nvPr/>
        </p:nvSpPr>
        <p:spPr>
          <a:xfrm>
            <a:off x="4389428" y="5068295"/>
            <a:ext cx="3823290" cy="1013143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>
                <a:solidFill>
                  <a:schemeClr val="tx1"/>
                </a:solidFill>
              </a:rPr>
              <a:t>… to make a new </a:t>
            </a:r>
            <a:r>
              <a:rPr lang="en-US" sz="1800" b="1">
                <a:solidFill>
                  <a:srgbClr val="C00000"/>
                </a:solidFill>
              </a:rPr>
              <a:t>Prediction</a:t>
            </a:r>
            <a:r>
              <a:rPr lang="en-US" sz="1800" b="1">
                <a:solidFill>
                  <a:schemeClr val="tx1"/>
                </a:solidFill>
              </a:rPr>
              <a:t> of an individual’s </a:t>
            </a:r>
            <a:r>
              <a:rPr lang="en-US" sz="1800" b="1">
                <a:solidFill>
                  <a:srgbClr val="C00000"/>
                </a:solidFill>
              </a:rPr>
              <a:t>Weight</a:t>
            </a:r>
            <a:r>
              <a:rPr lang="en-US" sz="1800" b="1">
                <a:solidFill>
                  <a:schemeClr val="tx1"/>
                </a:solidFill>
              </a:rPr>
              <a:t> from the </a:t>
            </a:r>
            <a:r>
              <a:rPr lang="en-US" sz="1800" b="1">
                <a:solidFill>
                  <a:srgbClr val="C00000"/>
                </a:solidFill>
              </a:rPr>
              <a:t>Training Data</a:t>
            </a:r>
            <a:r>
              <a:rPr lang="en-US" sz="1800" b="1">
                <a:solidFill>
                  <a:schemeClr val="tx1"/>
                </a:solidFill>
              </a:rPr>
              <a:t>.</a:t>
            </a:r>
            <a:endParaRPr lang="en-US" sz="1800" b="1" dirty="0">
              <a:solidFill>
                <a:schemeClr val="tx1"/>
              </a:solidFill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DB93D02-9A05-4381-97CE-430FACB45169}"/>
              </a:ext>
            </a:extLst>
          </p:cNvPr>
          <p:cNvCxnSpPr>
            <a:cxnSpLocks/>
            <a:stCxn id="28" idx="1"/>
            <a:endCxn id="27" idx="3"/>
          </p:cNvCxnSpPr>
          <p:nvPr/>
        </p:nvCxnSpPr>
        <p:spPr>
          <a:xfrm flipH="1" flipV="1">
            <a:off x="3581823" y="5429548"/>
            <a:ext cx="807605" cy="14531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4182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50.3 Predict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42275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 to make a new </a:t>
            </a:r>
            <a:r>
              <a:rPr lang="en-US" sz="1800" b="1" dirty="0">
                <a:solidFill>
                  <a:srgbClr val="C00000"/>
                </a:solidFill>
              </a:rPr>
              <a:t>Prediction</a:t>
            </a:r>
            <a:r>
              <a:rPr lang="en-US" sz="1800" b="1" dirty="0">
                <a:solidFill>
                  <a:schemeClr val="tx1"/>
                </a:solidFill>
              </a:rPr>
              <a:t> of an individual’s </a:t>
            </a:r>
            <a:r>
              <a:rPr lang="en-US" sz="1800" b="1" dirty="0">
                <a:solidFill>
                  <a:srgbClr val="C00000"/>
                </a:solidFill>
              </a:rPr>
              <a:t>Weight</a:t>
            </a:r>
            <a:r>
              <a:rPr lang="en-US" sz="1800" b="1" dirty="0">
                <a:solidFill>
                  <a:schemeClr val="tx1"/>
                </a:solidFill>
              </a:rPr>
              <a:t> from the </a:t>
            </a:r>
            <a:r>
              <a:rPr lang="en-US" sz="1800" b="1" dirty="0">
                <a:solidFill>
                  <a:srgbClr val="C00000"/>
                </a:solidFill>
              </a:rPr>
              <a:t>Training Data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35</a:t>
            </a:fld>
            <a:endParaRPr lang="zh-TW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5917910" y="2793516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696150" y="3567401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5058219" y="3551112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803733" y="4443898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5802034" y="3182270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535914" y="3182270"/>
            <a:ext cx="984708" cy="3851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7245099" y="3924922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7520622" y="3924922"/>
            <a:ext cx="763018" cy="5265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901194" y="4451502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4389428" y="4452721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6014934" y="4468488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5095731" y="3924923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5802034" y="3924923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2C780-35C6-478B-8834-67AE0CF1A9DF}"/>
              </a:ext>
            </a:extLst>
          </p:cNvPr>
          <p:cNvSpPr/>
          <p:nvPr/>
        </p:nvSpPr>
        <p:spPr>
          <a:xfrm>
            <a:off x="1178195" y="2606610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7DF68-D1AD-4F8C-B669-6DDC9FCFA968}"/>
              </a:ext>
            </a:extLst>
          </p:cNvPr>
          <p:cNvSpPr txBox="1"/>
          <p:nvPr/>
        </p:nvSpPr>
        <p:spPr>
          <a:xfrm>
            <a:off x="817697" y="213540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D5305100-CC44-43B4-9278-BF66D9A40E32}"/>
              </a:ext>
            </a:extLst>
          </p:cNvPr>
          <p:cNvSpPr/>
          <p:nvPr/>
        </p:nvSpPr>
        <p:spPr>
          <a:xfrm>
            <a:off x="3456056" y="2503938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Table 8">
            <a:extLst>
              <a:ext uri="{FF2B5EF4-FFF2-40B4-BE49-F238E27FC236}">
                <a16:creationId xmlns:a16="http://schemas.microsoft.com/office/drawing/2014/main" id="{6C3BFB7C-9FA8-4C45-8E6C-0C5C42EB2AD3}"/>
              </a:ext>
            </a:extLst>
          </p:cNvPr>
          <p:cNvGraphicFramePr>
            <a:graphicFrameLocks noGrp="1"/>
          </p:cNvGraphicFramePr>
          <p:nvPr/>
        </p:nvGraphicFramePr>
        <p:xfrm>
          <a:off x="791696" y="5015528"/>
          <a:ext cx="2790127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</a:tbl>
          </a:graphicData>
        </a:graphic>
      </p:graphicFrame>
      <p:sp>
        <p:nvSpPr>
          <p:cNvPr id="28" name="副標題 2">
            <a:extLst>
              <a:ext uri="{FF2B5EF4-FFF2-40B4-BE49-F238E27FC236}">
                <a16:creationId xmlns:a16="http://schemas.microsoft.com/office/drawing/2014/main" id="{68F216E9-D8CF-462C-AC55-9AF48EE4C6AA}"/>
              </a:ext>
            </a:extLst>
          </p:cNvPr>
          <p:cNvSpPr txBox="1">
            <a:spLocks/>
          </p:cNvSpPr>
          <p:nvPr/>
        </p:nvSpPr>
        <p:spPr>
          <a:xfrm>
            <a:off x="946509" y="3360694"/>
            <a:ext cx="2931509" cy="59116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We start with the </a:t>
            </a:r>
            <a:r>
              <a:rPr lang="en-US" sz="1800" b="1" dirty="0">
                <a:solidFill>
                  <a:srgbClr val="C00000"/>
                </a:solidFill>
              </a:rPr>
              <a:t>initial Prediction</a:t>
            </a:r>
            <a:r>
              <a:rPr lang="en-US" sz="1800" b="1" dirty="0">
                <a:solidFill>
                  <a:schemeClr val="tx1"/>
                </a:solidFill>
              </a:rPr>
              <a:t>, 71.2…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F23EE7-809B-4243-81E4-52CB93674DA8}"/>
              </a:ext>
            </a:extLst>
          </p:cNvPr>
          <p:cNvSpPr/>
          <p:nvPr/>
        </p:nvSpPr>
        <p:spPr>
          <a:xfrm>
            <a:off x="323528" y="3275492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3" name="副標題 2">
            <a:extLst>
              <a:ext uri="{FF2B5EF4-FFF2-40B4-BE49-F238E27FC236}">
                <a16:creationId xmlns:a16="http://schemas.microsoft.com/office/drawing/2014/main" id="{BC1C5612-18DE-4E80-8F1F-553A05E8E059}"/>
              </a:ext>
            </a:extLst>
          </p:cNvPr>
          <p:cNvSpPr txBox="1">
            <a:spLocks/>
          </p:cNvSpPr>
          <p:nvPr/>
        </p:nvSpPr>
        <p:spPr>
          <a:xfrm>
            <a:off x="3832913" y="5050793"/>
            <a:ext cx="2182021" cy="59116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…Then we run the data down the tree…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90552C3-480B-40E1-8971-A09B3388177B}"/>
              </a:ext>
            </a:extLst>
          </p:cNvPr>
          <p:cNvSpPr/>
          <p:nvPr/>
        </p:nvSpPr>
        <p:spPr>
          <a:xfrm>
            <a:off x="3570086" y="4502746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EC4173-A136-45DA-A7CE-9D3E02E45180}"/>
              </a:ext>
            </a:extLst>
          </p:cNvPr>
          <p:cNvSpPr/>
          <p:nvPr/>
        </p:nvSpPr>
        <p:spPr>
          <a:xfrm>
            <a:off x="791696" y="5450771"/>
            <a:ext cx="2083123" cy="37799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EA7D52A-5B94-4DA6-9B4C-94A841E3AE2C}"/>
              </a:ext>
            </a:extLst>
          </p:cNvPr>
          <p:cNvSpPr/>
          <p:nvPr/>
        </p:nvSpPr>
        <p:spPr>
          <a:xfrm>
            <a:off x="2541494" y="2879118"/>
            <a:ext cx="3402106" cy="2566941"/>
          </a:xfrm>
          <a:custGeom>
            <a:avLst/>
            <a:gdLst>
              <a:gd name="connsiteX0" fmla="*/ 0 w 3402106"/>
              <a:gd name="connsiteY0" fmla="*/ 2566941 h 2566941"/>
              <a:gd name="connsiteX1" fmla="*/ 1156447 w 3402106"/>
              <a:gd name="connsiteY1" fmla="*/ 1410494 h 2566941"/>
              <a:gd name="connsiteX2" fmla="*/ 2474259 w 3402106"/>
              <a:gd name="connsiteY2" fmla="*/ 173364 h 2566941"/>
              <a:gd name="connsiteX3" fmla="*/ 3402106 w 3402106"/>
              <a:gd name="connsiteY3" fmla="*/ 38894 h 2566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02106" h="2566941">
                <a:moveTo>
                  <a:pt x="0" y="2566941"/>
                </a:moveTo>
                <a:cubicBezTo>
                  <a:pt x="372035" y="2188182"/>
                  <a:pt x="744071" y="1809423"/>
                  <a:pt x="1156447" y="1410494"/>
                </a:cubicBezTo>
                <a:cubicBezTo>
                  <a:pt x="1568823" y="1011565"/>
                  <a:pt x="2099982" y="401964"/>
                  <a:pt x="2474259" y="173364"/>
                </a:cubicBezTo>
                <a:cubicBezTo>
                  <a:pt x="2848536" y="-55236"/>
                  <a:pt x="3125321" y="-8171"/>
                  <a:pt x="3402106" y="38894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副標題 2">
            <a:extLst>
              <a:ext uri="{FF2B5EF4-FFF2-40B4-BE49-F238E27FC236}">
                <a16:creationId xmlns:a16="http://schemas.microsoft.com/office/drawing/2014/main" id="{77434851-063F-4124-BD72-A4653D40D18D}"/>
              </a:ext>
            </a:extLst>
          </p:cNvPr>
          <p:cNvSpPr txBox="1">
            <a:spLocks/>
          </p:cNvSpPr>
          <p:nvPr/>
        </p:nvSpPr>
        <p:spPr>
          <a:xfrm>
            <a:off x="6710515" y="5147715"/>
            <a:ext cx="2182021" cy="42275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…and we get 16.8…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E776F51-EC88-41CD-B0A9-16C9380B032C}"/>
              </a:ext>
            </a:extLst>
          </p:cNvPr>
          <p:cNvSpPr/>
          <p:nvPr/>
        </p:nvSpPr>
        <p:spPr>
          <a:xfrm>
            <a:off x="6286825" y="4950233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787968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50.3 Predict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42275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Predicted Weight = Average weight + Result of running through the Tree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36</a:t>
            </a:fld>
            <a:endParaRPr lang="zh-TW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5917910" y="2793516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696150" y="3567401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5058219" y="3551112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803733" y="4443898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5802034" y="3182270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535914" y="3182270"/>
            <a:ext cx="984708" cy="3851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7245099" y="3924922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7520622" y="3924922"/>
            <a:ext cx="763018" cy="5265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901194" y="4451502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4389428" y="4452721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6014934" y="4468488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5095731" y="3924923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5802034" y="3924923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2C780-35C6-478B-8834-67AE0CF1A9DF}"/>
              </a:ext>
            </a:extLst>
          </p:cNvPr>
          <p:cNvSpPr/>
          <p:nvPr/>
        </p:nvSpPr>
        <p:spPr>
          <a:xfrm>
            <a:off x="1178195" y="2606610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7DF68-D1AD-4F8C-B669-6DDC9FCFA968}"/>
              </a:ext>
            </a:extLst>
          </p:cNvPr>
          <p:cNvSpPr txBox="1"/>
          <p:nvPr/>
        </p:nvSpPr>
        <p:spPr>
          <a:xfrm>
            <a:off x="817697" y="213540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D5305100-CC44-43B4-9278-BF66D9A40E32}"/>
              </a:ext>
            </a:extLst>
          </p:cNvPr>
          <p:cNvSpPr/>
          <p:nvPr/>
        </p:nvSpPr>
        <p:spPr>
          <a:xfrm>
            <a:off x="3456056" y="2503938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Table 8">
            <a:extLst>
              <a:ext uri="{FF2B5EF4-FFF2-40B4-BE49-F238E27FC236}">
                <a16:creationId xmlns:a16="http://schemas.microsoft.com/office/drawing/2014/main" id="{6C3BFB7C-9FA8-4C45-8E6C-0C5C42EB2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274018"/>
              </p:ext>
            </p:extLst>
          </p:nvPr>
        </p:nvGraphicFramePr>
        <p:xfrm>
          <a:off x="721589" y="5015528"/>
          <a:ext cx="2790127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</a:tbl>
          </a:graphicData>
        </a:graphic>
      </p:graphicFrame>
      <p:sp>
        <p:nvSpPr>
          <p:cNvPr id="28" name="副標題 2">
            <a:extLst>
              <a:ext uri="{FF2B5EF4-FFF2-40B4-BE49-F238E27FC236}">
                <a16:creationId xmlns:a16="http://schemas.microsoft.com/office/drawing/2014/main" id="{68F216E9-D8CF-462C-AC55-9AF48EE4C6AA}"/>
              </a:ext>
            </a:extLst>
          </p:cNvPr>
          <p:cNvSpPr txBox="1">
            <a:spLocks/>
          </p:cNvSpPr>
          <p:nvPr/>
        </p:nvSpPr>
        <p:spPr>
          <a:xfrm>
            <a:off x="946509" y="3360693"/>
            <a:ext cx="2931509" cy="105163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…so the Predicted Weight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= 71.2 + 16.8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= 88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8F23EE7-809B-4243-81E4-52CB93674DA8}"/>
              </a:ext>
            </a:extLst>
          </p:cNvPr>
          <p:cNvSpPr/>
          <p:nvPr/>
        </p:nvSpPr>
        <p:spPr>
          <a:xfrm>
            <a:off x="323528" y="3275492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EC4173-A136-45DA-A7CE-9D3E02E45180}"/>
              </a:ext>
            </a:extLst>
          </p:cNvPr>
          <p:cNvSpPr/>
          <p:nvPr/>
        </p:nvSpPr>
        <p:spPr>
          <a:xfrm>
            <a:off x="2836457" y="5465576"/>
            <a:ext cx="619600" cy="37799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BF6E35C-7FC1-4824-9323-DB6696DD816C}"/>
              </a:ext>
            </a:extLst>
          </p:cNvPr>
          <p:cNvSpPr/>
          <p:nvPr/>
        </p:nvSpPr>
        <p:spPr>
          <a:xfrm>
            <a:off x="2116654" y="3965161"/>
            <a:ext cx="6166985" cy="1346494"/>
          </a:xfrm>
          <a:custGeom>
            <a:avLst/>
            <a:gdLst>
              <a:gd name="connsiteX0" fmla="*/ 5957047 w 5957047"/>
              <a:gd name="connsiteY0" fmla="*/ 900953 h 1346494"/>
              <a:gd name="connsiteX1" fmla="*/ 4800600 w 5957047"/>
              <a:gd name="connsiteY1" fmla="*/ 1344705 h 1346494"/>
              <a:gd name="connsiteX2" fmla="*/ 1600200 w 5957047"/>
              <a:gd name="connsiteY2" fmla="*/ 753035 h 1346494"/>
              <a:gd name="connsiteX3" fmla="*/ 0 w 5957047"/>
              <a:gd name="connsiteY3" fmla="*/ 0 h 1346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7047" h="1346494">
                <a:moveTo>
                  <a:pt x="5957047" y="900953"/>
                </a:moveTo>
                <a:cubicBezTo>
                  <a:pt x="5741894" y="1135155"/>
                  <a:pt x="5526741" y="1369358"/>
                  <a:pt x="4800600" y="1344705"/>
                </a:cubicBezTo>
                <a:cubicBezTo>
                  <a:pt x="4074459" y="1320052"/>
                  <a:pt x="2400300" y="977153"/>
                  <a:pt x="1600200" y="753035"/>
                </a:cubicBezTo>
                <a:cubicBezTo>
                  <a:pt x="800100" y="528917"/>
                  <a:pt x="400050" y="264458"/>
                  <a:pt x="0" y="0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E58024-E258-43CA-950D-BEB2A14CAC33}"/>
              </a:ext>
            </a:extLst>
          </p:cNvPr>
          <p:cNvCxnSpPr>
            <a:stCxn id="23" idx="2"/>
          </p:cNvCxnSpPr>
          <p:nvPr/>
        </p:nvCxnSpPr>
        <p:spPr>
          <a:xfrm flipH="1">
            <a:off x="1403382" y="2980421"/>
            <a:ext cx="481116" cy="79196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7CD6DC5B-5959-4EE2-B7E3-AF84101538AE}"/>
              </a:ext>
            </a:extLst>
          </p:cNvPr>
          <p:cNvSpPr/>
          <p:nvPr/>
        </p:nvSpPr>
        <p:spPr>
          <a:xfrm>
            <a:off x="2824344" y="4533274"/>
            <a:ext cx="360040" cy="3600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DA7C87B-9A60-4C05-AB56-A3C8683686DE}"/>
              </a:ext>
            </a:extLst>
          </p:cNvPr>
          <p:cNvCxnSpPr>
            <a:cxnSpLocks/>
            <a:stCxn id="51" idx="2"/>
            <a:endCxn id="41" idx="0"/>
          </p:cNvCxnSpPr>
          <p:nvPr/>
        </p:nvCxnSpPr>
        <p:spPr>
          <a:xfrm>
            <a:off x="1300293" y="4353260"/>
            <a:ext cx="1845964" cy="11123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9B7979B5-ED1D-43FA-BEDD-81B4F30AFDB8}"/>
              </a:ext>
            </a:extLst>
          </p:cNvPr>
          <p:cNvSpPr/>
          <p:nvPr/>
        </p:nvSpPr>
        <p:spPr>
          <a:xfrm>
            <a:off x="990493" y="3975268"/>
            <a:ext cx="619600" cy="37799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18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50.3 Predict by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69161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Run of the training data Predicted result same as the measured data.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other words, we have </a:t>
            </a:r>
            <a:r>
              <a:rPr lang="en-US" sz="1800" b="1" dirty="0">
                <a:solidFill>
                  <a:srgbClr val="C00000"/>
                </a:solidFill>
              </a:rPr>
              <a:t>low Bias</a:t>
            </a:r>
            <a:r>
              <a:rPr lang="en-US" sz="1800" b="1" dirty="0">
                <a:solidFill>
                  <a:schemeClr val="tx1"/>
                </a:solidFill>
              </a:rPr>
              <a:t>, but probably very </a:t>
            </a:r>
            <a:r>
              <a:rPr lang="en-US" sz="1800" b="1" dirty="0">
                <a:solidFill>
                  <a:srgbClr val="C00000"/>
                </a:solidFill>
              </a:rPr>
              <a:t>high Variance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37</a:t>
            </a:fld>
            <a:endParaRPr lang="zh-TW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5917910" y="2793516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696150" y="3567401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5058219" y="3551112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803733" y="4443898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5802034" y="3182270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535914" y="3182270"/>
            <a:ext cx="984708" cy="3851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7245099" y="3924922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7520622" y="3924922"/>
            <a:ext cx="763018" cy="5265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901194" y="4451502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4389428" y="4452721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6014934" y="4468488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5095731" y="3924923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5802034" y="3924923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2C780-35C6-478B-8834-67AE0CF1A9DF}"/>
              </a:ext>
            </a:extLst>
          </p:cNvPr>
          <p:cNvSpPr/>
          <p:nvPr/>
        </p:nvSpPr>
        <p:spPr>
          <a:xfrm>
            <a:off x="1178195" y="2606610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7DF68-D1AD-4F8C-B669-6DDC9FCFA968}"/>
              </a:ext>
            </a:extLst>
          </p:cNvPr>
          <p:cNvSpPr txBox="1"/>
          <p:nvPr/>
        </p:nvSpPr>
        <p:spPr>
          <a:xfrm>
            <a:off x="817697" y="2135409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D5305100-CC44-43B4-9278-BF66D9A40E32}"/>
              </a:ext>
            </a:extLst>
          </p:cNvPr>
          <p:cNvSpPr/>
          <p:nvPr/>
        </p:nvSpPr>
        <p:spPr>
          <a:xfrm>
            <a:off x="3456056" y="2503938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Table 8">
            <a:extLst>
              <a:ext uri="{FF2B5EF4-FFF2-40B4-BE49-F238E27FC236}">
                <a16:creationId xmlns:a16="http://schemas.microsoft.com/office/drawing/2014/main" id="{6C3BFB7C-9FA8-4C45-8E6C-0C5C42EB2AD3}"/>
              </a:ext>
            </a:extLst>
          </p:cNvPr>
          <p:cNvGraphicFramePr>
            <a:graphicFrameLocks noGrp="1"/>
          </p:cNvGraphicFramePr>
          <p:nvPr/>
        </p:nvGraphicFramePr>
        <p:xfrm>
          <a:off x="721589" y="5015528"/>
          <a:ext cx="2790127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4453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50.4 Learning Rate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38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534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50.4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100300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rgbClr val="C00000"/>
                </a:solidFill>
              </a:rPr>
              <a:t>Gradient Boost </a:t>
            </a:r>
            <a:r>
              <a:rPr lang="en-US" sz="1800" b="1" dirty="0">
                <a:solidFill>
                  <a:schemeClr val="tx1"/>
                </a:solidFill>
              </a:rPr>
              <a:t>deals with the overfit problem by using a </a:t>
            </a:r>
            <a:r>
              <a:rPr lang="en-US" sz="1800" b="1" dirty="0">
                <a:solidFill>
                  <a:srgbClr val="C00000"/>
                </a:solidFill>
              </a:rPr>
              <a:t>Learning Rate </a:t>
            </a:r>
            <a:r>
              <a:rPr lang="en-US" sz="1800" b="1" dirty="0">
                <a:solidFill>
                  <a:schemeClr val="tx1"/>
                </a:solidFill>
              </a:rPr>
              <a:t>to scale the contribution from the new tree.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</a:t>
            </a:r>
            <a:r>
              <a:rPr lang="en-US" sz="1800" b="1" dirty="0">
                <a:solidFill>
                  <a:srgbClr val="C00000"/>
                </a:solidFill>
              </a:rPr>
              <a:t>Learning Rate </a:t>
            </a:r>
            <a:r>
              <a:rPr lang="en-US" sz="1800" b="1" dirty="0">
                <a:solidFill>
                  <a:schemeClr val="tx1"/>
                </a:solidFill>
              </a:rPr>
              <a:t>is a value between </a:t>
            </a:r>
            <a:r>
              <a:rPr lang="en-US" sz="1800" b="1" dirty="0">
                <a:solidFill>
                  <a:srgbClr val="C00000"/>
                </a:solidFill>
              </a:rPr>
              <a:t>0</a:t>
            </a:r>
            <a:r>
              <a:rPr lang="en-US" sz="1800" b="1" dirty="0">
                <a:solidFill>
                  <a:schemeClr val="tx1"/>
                </a:solidFill>
              </a:rPr>
              <a:t> and </a:t>
            </a:r>
            <a:r>
              <a:rPr lang="en-US" sz="1800" b="1" dirty="0">
                <a:solidFill>
                  <a:srgbClr val="C00000"/>
                </a:solidFill>
              </a:rPr>
              <a:t>1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39</a:t>
            </a:fld>
            <a:endParaRPr lang="zh-TW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5905252" y="3578515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683492" y="4352400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5045561" y="4336111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791075" y="5228897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5789376" y="3967269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523256" y="3967269"/>
            <a:ext cx="984708" cy="3851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7232441" y="4709921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7507964" y="4709921"/>
            <a:ext cx="763018" cy="5265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888536" y="5236501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4376770" y="5237720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6002276" y="5253487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5083073" y="4709922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5789376" y="4709922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2C780-35C6-478B-8834-67AE0CF1A9DF}"/>
              </a:ext>
            </a:extLst>
          </p:cNvPr>
          <p:cNvSpPr/>
          <p:nvPr/>
        </p:nvSpPr>
        <p:spPr>
          <a:xfrm>
            <a:off x="1165537" y="3391609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7DF68-D1AD-4F8C-B669-6DDC9FCFA968}"/>
              </a:ext>
            </a:extLst>
          </p:cNvPr>
          <p:cNvSpPr txBox="1"/>
          <p:nvPr/>
        </p:nvSpPr>
        <p:spPr>
          <a:xfrm>
            <a:off x="805039" y="2920408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D5305100-CC44-43B4-9278-BF66D9A40E32}"/>
              </a:ext>
            </a:extLst>
          </p:cNvPr>
          <p:cNvSpPr/>
          <p:nvPr/>
        </p:nvSpPr>
        <p:spPr>
          <a:xfrm>
            <a:off x="2962048" y="3309365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Table 8">
            <a:extLst>
              <a:ext uri="{FF2B5EF4-FFF2-40B4-BE49-F238E27FC236}">
                <a16:creationId xmlns:a16="http://schemas.microsoft.com/office/drawing/2014/main" id="{6C3BFB7C-9FA8-4C45-8E6C-0C5C42EB2AD3}"/>
              </a:ext>
            </a:extLst>
          </p:cNvPr>
          <p:cNvGraphicFramePr>
            <a:graphicFrameLocks noGrp="1"/>
          </p:cNvGraphicFramePr>
          <p:nvPr/>
        </p:nvGraphicFramePr>
        <p:xfrm>
          <a:off x="721589" y="5015528"/>
          <a:ext cx="2790127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C0567AF-1397-4D0E-8CA3-75F5DE3CDD36}"/>
              </a:ext>
            </a:extLst>
          </p:cNvPr>
          <p:cNvSpPr txBox="1"/>
          <p:nvPr/>
        </p:nvSpPr>
        <p:spPr>
          <a:xfrm>
            <a:off x="3651295" y="3518214"/>
            <a:ext cx="1700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Learning Rate x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2960A9-860A-46B7-8B7D-74DADC8E0DA6}"/>
              </a:ext>
            </a:extLst>
          </p:cNvPr>
          <p:cNvCxnSpPr>
            <a:cxnSpLocks/>
            <a:stCxn id="3" idx="2"/>
            <a:endCxn id="24" idx="0"/>
          </p:cNvCxnSpPr>
          <p:nvPr/>
        </p:nvCxnSpPr>
        <p:spPr>
          <a:xfrm flipH="1">
            <a:off x="4501363" y="2271760"/>
            <a:ext cx="75809" cy="12464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6950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50.4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5"/>
            <a:ext cx="8219256" cy="156511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other words, scaling the tree by the </a:t>
            </a:r>
            <a:r>
              <a:rPr lang="en-US" sz="1800" b="1" dirty="0">
                <a:solidFill>
                  <a:srgbClr val="C00000"/>
                </a:solidFill>
              </a:rPr>
              <a:t>Learning Rate </a:t>
            </a:r>
            <a:r>
              <a:rPr lang="en-US" sz="1800" b="1" dirty="0">
                <a:solidFill>
                  <a:schemeClr val="tx1"/>
                </a:solidFill>
              </a:rPr>
              <a:t>results in a small step in the right direction.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According to the dude that invented </a:t>
            </a:r>
            <a:r>
              <a:rPr lang="en-US" sz="1800" b="1" dirty="0">
                <a:solidFill>
                  <a:srgbClr val="C00000"/>
                </a:solidFill>
              </a:rPr>
              <a:t>Gradient Boost</a:t>
            </a:r>
            <a:r>
              <a:rPr lang="en-US" sz="1800" b="1" dirty="0">
                <a:solidFill>
                  <a:schemeClr val="tx1"/>
                </a:solidFill>
              </a:rPr>
              <a:t>, Jerome Friedman, empirical evidence shows that taking lots of small steps in the right directions results in better </a:t>
            </a:r>
            <a:r>
              <a:rPr lang="en-US" sz="1800" b="1" dirty="0">
                <a:solidFill>
                  <a:srgbClr val="C00000"/>
                </a:solidFill>
              </a:rPr>
              <a:t>Predictions</a:t>
            </a:r>
            <a:r>
              <a:rPr lang="en-US" sz="1800" b="1" dirty="0">
                <a:solidFill>
                  <a:schemeClr val="tx1"/>
                </a:solidFill>
              </a:rPr>
              <a:t> with a </a:t>
            </a:r>
            <a:r>
              <a:rPr lang="en-US" sz="1800" b="1" dirty="0">
                <a:solidFill>
                  <a:srgbClr val="C00000"/>
                </a:solidFill>
              </a:rPr>
              <a:t>Testing Dataset</a:t>
            </a:r>
            <a:r>
              <a:rPr lang="en-US" sz="1800" b="1" dirty="0">
                <a:solidFill>
                  <a:schemeClr val="tx1"/>
                </a:solidFill>
              </a:rPr>
              <a:t>, i.e., lower </a:t>
            </a:r>
            <a:r>
              <a:rPr lang="en-US" sz="1800" b="1" dirty="0">
                <a:solidFill>
                  <a:srgbClr val="C00000"/>
                </a:solidFill>
              </a:rPr>
              <a:t>Variance</a:t>
            </a:r>
            <a:r>
              <a:rPr lang="en-US" sz="1800" b="1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40</a:t>
            </a:fld>
            <a:endParaRPr lang="zh-TW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5560103" y="3844126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338343" y="4618011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4700412" y="4601722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445926" y="5494508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5444227" y="4232880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178107" y="4232880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6887292" y="4975532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7162815" y="4975532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543387" y="5502112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4031621" y="5503331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5657127" y="5519098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4737924" y="4975533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5444227" y="4975533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2C780-35C6-478B-8834-67AE0CF1A9DF}"/>
              </a:ext>
            </a:extLst>
          </p:cNvPr>
          <p:cNvSpPr/>
          <p:nvPr/>
        </p:nvSpPr>
        <p:spPr>
          <a:xfrm>
            <a:off x="1979712" y="3778916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7DF68-D1AD-4F8C-B669-6DDC9FCFA968}"/>
              </a:ext>
            </a:extLst>
          </p:cNvPr>
          <p:cNvSpPr txBox="1"/>
          <p:nvPr/>
        </p:nvSpPr>
        <p:spPr>
          <a:xfrm>
            <a:off x="1844803" y="3319671"/>
            <a:ext cx="177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D5305100-CC44-43B4-9278-BF66D9A40E32}"/>
              </a:ext>
            </a:extLst>
          </p:cNvPr>
          <p:cNvSpPr/>
          <p:nvPr/>
        </p:nvSpPr>
        <p:spPr>
          <a:xfrm>
            <a:off x="3776223" y="3696672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Table 8">
            <a:extLst>
              <a:ext uri="{FF2B5EF4-FFF2-40B4-BE49-F238E27FC236}">
                <a16:creationId xmlns:a16="http://schemas.microsoft.com/office/drawing/2014/main" id="{6C3BFB7C-9FA8-4C45-8E6C-0C5C42EB2AD3}"/>
              </a:ext>
            </a:extLst>
          </p:cNvPr>
          <p:cNvGraphicFramePr>
            <a:graphicFrameLocks noGrp="1"/>
          </p:cNvGraphicFramePr>
          <p:nvPr/>
        </p:nvGraphicFramePr>
        <p:xfrm>
          <a:off x="721589" y="5015528"/>
          <a:ext cx="2790127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C0567AF-1397-4D0E-8CA3-75F5DE3CDD36}"/>
              </a:ext>
            </a:extLst>
          </p:cNvPr>
          <p:cNvSpPr txBox="1"/>
          <p:nvPr/>
        </p:nvSpPr>
        <p:spPr>
          <a:xfrm>
            <a:off x="4651432" y="3850513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2960A9-860A-46B7-8B7D-74DADC8E0DA6}"/>
              </a:ext>
            </a:extLst>
          </p:cNvPr>
          <p:cNvCxnSpPr>
            <a:cxnSpLocks/>
            <a:stCxn id="3" idx="2"/>
            <a:endCxn id="24" idx="0"/>
          </p:cNvCxnSpPr>
          <p:nvPr/>
        </p:nvCxnSpPr>
        <p:spPr>
          <a:xfrm>
            <a:off x="4577172" y="2833871"/>
            <a:ext cx="437841" cy="101664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3B88F7D-29B4-4F3C-8377-8CB10017081A}"/>
              </a:ext>
            </a:extLst>
          </p:cNvPr>
          <p:cNvCxnSpPr>
            <a:cxnSpLocks/>
            <a:stCxn id="3" idx="2"/>
            <a:endCxn id="34" idx="0"/>
          </p:cNvCxnSpPr>
          <p:nvPr/>
        </p:nvCxnSpPr>
        <p:spPr>
          <a:xfrm>
            <a:off x="4577172" y="2833871"/>
            <a:ext cx="1600935" cy="101025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4333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50.4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5"/>
            <a:ext cx="8219256" cy="2038192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 this case, we set the </a:t>
            </a:r>
            <a:r>
              <a:rPr lang="en-US" sz="1800" b="1" dirty="0">
                <a:solidFill>
                  <a:srgbClr val="C00000"/>
                </a:solidFill>
              </a:rPr>
              <a:t>Learning Rate </a:t>
            </a:r>
            <a:r>
              <a:rPr lang="en-US" sz="1800" b="1" dirty="0">
                <a:solidFill>
                  <a:schemeClr val="tx1"/>
                </a:solidFill>
              </a:rPr>
              <a:t>to </a:t>
            </a:r>
            <a:r>
              <a:rPr lang="en-US" sz="1800" b="1" dirty="0">
                <a:solidFill>
                  <a:srgbClr val="C00000"/>
                </a:solidFill>
              </a:rPr>
              <a:t>0.1.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 the </a:t>
            </a:r>
            <a:r>
              <a:rPr lang="en-US" sz="1800" b="1" dirty="0">
                <a:solidFill>
                  <a:srgbClr val="C00000"/>
                </a:solidFill>
              </a:rPr>
              <a:t>Predicted Weight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= 71.2 + (0.1 x 16.8)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= 72.9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 new prediction is not as good as before.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… but a little bit better than the </a:t>
            </a:r>
            <a:r>
              <a:rPr lang="en-US" sz="1800" b="1" dirty="0">
                <a:solidFill>
                  <a:srgbClr val="C00000"/>
                </a:solidFill>
              </a:rPr>
              <a:t>Prediction</a:t>
            </a:r>
            <a:r>
              <a:rPr lang="en-US" sz="1800" b="1" dirty="0">
                <a:solidFill>
                  <a:schemeClr val="tx1"/>
                </a:solidFill>
              </a:rPr>
              <a:t> made with just original leaf (= 71.2)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41</a:t>
            </a:fld>
            <a:endParaRPr lang="zh-TW" alt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1BB401C-BA3A-4CD1-8278-A4314838B541}"/>
              </a:ext>
            </a:extLst>
          </p:cNvPr>
          <p:cNvSpPr/>
          <p:nvPr/>
        </p:nvSpPr>
        <p:spPr>
          <a:xfrm>
            <a:off x="5560103" y="3844126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DAEC7A-1BC9-4497-8DF5-E9CF053D3707}"/>
              </a:ext>
            </a:extLst>
          </p:cNvPr>
          <p:cNvSpPr/>
          <p:nvPr/>
        </p:nvSpPr>
        <p:spPr>
          <a:xfrm>
            <a:off x="6338343" y="4618011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15C55BD-81A5-40C8-906B-7FCEBADFA3E2}"/>
              </a:ext>
            </a:extLst>
          </p:cNvPr>
          <p:cNvSpPr/>
          <p:nvPr/>
        </p:nvSpPr>
        <p:spPr>
          <a:xfrm>
            <a:off x="4700412" y="4601722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EF91F80-849F-4622-AC62-5B27298EDEB0}"/>
              </a:ext>
            </a:extLst>
          </p:cNvPr>
          <p:cNvSpPr/>
          <p:nvPr/>
        </p:nvSpPr>
        <p:spPr>
          <a:xfrm>
            <a:off x="6445926" y="5494508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40368A3-7B2D-47E8-A3A3-13C00F2FD182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 flipH="1">
            <a:off x="5444227" y="4232880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838A18F-DF82-49B0-91A6-9AE2D5B3A5EB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6178107" y="4232880"/>
            <a:ext cx="984708" cy="3851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659AFB9-3C21-4AD9-A3B1-F2290AA8E2B4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flipH="1">
            <a:off x="6887292" y="4975532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5911CEC-EDB8-460B-87CE-890B0E057DFC}"/>
              </a:ext>
            </a:extLst>
          </p:cNvPr>
          <p:cNvCxnSpPr>
            <a:cxnSpLocks/>
            <a:stCxn id="35" idx="2"/>
            <a:endCxn id="48" idx="0"/>
          </p:cNvCxnSpPr>
          <p:nvPr/>
        </p:nvCxnSpPr>
        <p:spPr>
          <a:xfrm>
            <a:off x="7162815" y="4975532"/>
            <a:ext cx="763018" cy="5265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30BBB6C7-6971-4E3C-860B-A713FE975272}"/>
              </a:ext>
            </a:extLst>
          </p:cNvPr>
          <p:cNvSpPr/>
          <p:nvPr/>
        </p:nvSpPr>
        <p:spPr>
          <a:xfrm>
            <a:off x="7543387" y="5502112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3C6822B-1134-4DD7-AB87-227DC87B28CF}"/>
              </a:ext>
            </a:extLst>
          </p:cNvPr>
          <p:cNvSpPr/>
          <p:nvPr/>
        </p:nvSpPr>
        <p:spPr>
          <a:xfrm>
            <a:off x="4031621" y="5503331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7E313DE-71CF-43E0-A4A5-6A3F02A3A2E6}"/>
              </a:ext>
            </a:extLst>
          </p:cNvPr>
          <p:cNvSpPr/>
          <p:nvPr/>
        </p:nvSpPr>
        <p:spPr>
          <a:xfrm>
            <a:off x="5657127" y="5519098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9723C0F-57BF-4AF6-B343-B21F02249038}"/>
              </a:ext>
            </a:extLst>
          </p:cNvPr>
          <p:cNvCxnSpPr>
            <a:cxnSpLocks/>
            <a:stCxn id="36" idx="2"/>
            <a:endCxn id="49" idx="0"/>
          </p:cNvCxnSpPr>
          <p:nvPr/>
        </p:nvCxnSpPr>
        <p:spPr>
          <a:xfrm flipH="1">
            <a:off x="4737924" y="4975533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2952050-A467-406D-9701-0218D55E5578}"/>
              </a:ext>
            </a:extLst>
          </p:cNvPr>
          <p:cNvCxnSpPr>
            <a:cxnSpLocks/>
            <a:stCxn id="36" idx="2"/>
            <a:endCxn id="50" idx="0"/>
          </p:cNvCxnSpPr>
          <p:nvPr/>
        </p:nvCxnSpPr>
        <p:spPr>
          <a:xfrm>
            <a:off x="5444227" y="4975533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2C780-35C6-478B-8834-67AE0CF1A9DF}"/>
              </a:ext>
            </a:extLst>
          </p:cNvPr>
          <p:cNvSpPr/>
          <p:nvPr/>
        </p:nvSpPr>
        <p:spPr>
          <a:xfrm>
            <a:off x="1979712" y="3778916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7DF68-D1AD-4F8C-B669-6DDC9FCFA968}"/>
              </a:ext>
            </a:extLst>
          </p:cNvPr>
          <p:cNvSpPr txBox="1"/>
          <p:nvPr/>
        </p:nvSpPr>
        <p:spPr>
          <a:xfrm>
            <a:off x="1619214" y="3307715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D5305100-CC44-43B4-9278-BF66D9A40E32}"/>
              </a:ext>
            </a:extLst>
          </p:cNvPr>
          <p:cNvSpPr/>
          <p:nvPr/>
        </p:nvSpPr>
        <p:spPr>
          <a:xfrm>
            <a:off x="3776223" y="3696672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7" name="Table 8">
            <a:extLst>
              <a:ext uri="{FF2B5EF4-FFF2-40B4-BE49-F238E27FC236}">
                <a16:creationId xmlns:a16="http://schemas.microsoft.com/office/drawing/2014/main" id="{6C3BFB7C-9FA8-4C45-8E6C-0C5C42EB2AD3}"/>
              </a:ext>
            </a:extLst>
          </p:cNvPr>
          <p:cNvGraphicFramePr>
            <a:graphicFrameLocks noGrp="1"/>
          </p:cNvGraphicFramePr>
          <p:nvPr/>
        </p:nvGraphicFramePr>
        <p:xfrm>
          <a:off x="721589" y="5015528"/>
          <a:ext cx="2790127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DC0567AF-1397-4D0E-8CA3-75F5DE3CDD36}"/>
              </a:ext>
            </a:extLst>
          </p:cNvPr>
          <p:cNvSpPr txBox="1"/>
          <p:nvPr/>
        </p:nvSpPr>
        <p:spPr>
          <a:xfrm>
            <a:off x="4651432" y="3850513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2960A9-860A-46B7-8B7D-74DADC8E0DA6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4604634" y="3420872"/>
            <a:ext cx="410379" cy="42964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3085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50.4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59125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Just like, before, we calculate the </a:t>
            </a:r>
            <a:r>
              <a:rPr lang="en-US" sz="1800" b="1" dirty="0">
                <a:solidFill>
                  <a:srgbClr val="C00000"/>
                </a:solidFill>
              </a:rPr>
              <a:t>Pseudo Residuals</a:t>
            </a:r>
            <a:r>
              <a:rPr lang="en-US" sz="1800" b="1" dirty="0">
                <a:solidFill>
                  <a:schemeClr val="tx1"/>
                </a:solidFill>
              </a:rPr>
              <a:t>, the difference between the </a:t>
            </a:r>
            <a:r>
              <a:rPr lang="en-US" sz="1800" b="1" dirty="0">
                <a:solidFill>
                  <a:srgbClr val="C00000"/>
                </a:solidFill>
              </a:rPr>
              <a:t>Observed Weights </a:t>
            </a:r>
            <a:r>
              <a:rPr lang="en-US" sz="1800" b="1" dirty="0">
                <a:solidFill>
                  <a:schemeClr val="tx1"/>
                </a:solidFill>
              </a:rPr>
              <a:t>and our latest </a:t>
            </a:r>
            <a:r>
              <a:rPr lang="en-US" sz="1800" b="1" dirty="0">
                <a:solidFill>
                  <a:srgbClr val="C00000"/>
                </a:solidFill>
              </a:rPr>
              <a:t>Predictions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42</a:t>
            </a:fld>
            <a:endParaRPr lang="zh-TW" altLang="en-US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854616"/>
              </p:ext>
            </p:extLst>
          </p:nvPr>
        </p:nvGraphicFramePr>
        <p:xfrm>
          <a:off x="524622" y="2736507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32" name="副標題 2">
            <a:extLst>
              <a:ext uri="{FF2B5EF4-FFF2-40B4-BE49-F238E27FC236}">
                <a16:creationId xmlns:a16="http://schemas.microsoft.com/office/drawing/2014/main" id="{22D80A4F-7106-4A9E-9FA9-230D9067613A}"/>
              </a:ext>
            </a:extLst>
          </p:cNvPr>
          <p:cNvSpPr txBox="1">
            <a:spLocks/>
          </p:cNvSpPr>
          <p:nvPr/>
        </p:nvSpPr>
        <p:spPr>
          <a:xfrm>
            <a:off x="4680992" y="3190351"/>
            <a:ext cx="3744416" cy="3651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rgbClr val="C00000"/>
                </a:solidFill>
              </a:rPr>
              <a:t>Residuals = (Observed  – Predictions)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624D12F-AE6E-4120-8E7C-011B7AD50346}"/>
              </a:ext>
            </a:extLst>
          </p:cNvPr>
          <p:cNvSpPr/>
          <p:nvPr/>
        </p:nvSpPr>
        <p:spPr>
          <a:xfrm>
            <a:off x="4087906" y="3348318"/>
            <a:ext cx="551329" cy="215153"/>
          </a:xfrm>
          <a:custGeom>
            <a:avLst/>
            <a:gdLst>
              <a:gd name="connsiteX0" fmla="*/ 551329 w 551329"/>
              <a:gd name="connsiteY0" fmla="*/ 0 h 215153"/>
              <a:gd name="connsiteX1" fmla="*/ 134470 w 551329"/>
              <a:gd name="connsiteY1" fmla="*/ 40341 h 215153"/>
              <a:gd name="connsiteX2" fmla="*/ 0 w 551329"/>
              <a:gd name="connsiteY2" fmla="*/ 215153 h 215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1329" h="215153">
                <a:moveTo>
                  <a:pt x="551329" y="0"/>
                </a:moveTo>
                <a:cubicBezTo>
                  <a:pt x="388843" y="2241"/>
                  <a:pt x="226358" y="4482"/>
                  <a:pt x="134470" y="40341"/>
                </a:cubicBezTo>
                <a:cubicBezTo>
                  <a:pt x="42582" y="76200"/>
                  <a:pt x="21291" y="145676"/>
                  <a:pt x="0" y="215153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FC9B9E7-9672-42C5-8CBD-6B58D7437909}"/>
              </a:ext>
            </a:extLst>
          </p:cNvPr>
          <p:cNvSpPr/>
          <p:nvPr/>
        </p:nvSpPr>
        <p:spPr>
          <a:xfrm>
            <a:off x="3322008" y="2697331"/>
            <a:ext cx="724141" cy="309225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072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50.4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59125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plug in the observed weight and new predicted Weight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43</a:t>
            </a:fld>
            <a:endParaRPr lang="zh-TW" altLang="en-US" dirty="0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448598"/>
              </p:ext>
            </p:extLst>
          </p:nvPr>
        </p:nvGraphicFramePr>
        <p:xfrm>
          <a:off x="508198" y="3121092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33" name="Rectangle 32">
            <a:extLst>
              <a:ext uri="{FF2B5EF4-FFF2-40B4-BE49-F238E27FC236}">
                <a16:creationId xmlns:a16="http://schemas.microsoft.com/office/drawing/2014/main" id="{EFC9B9E7-9672-42C5-8CBD-6B58D7437909}"/>
              </a:ext>
            </a:extLst>
          </p:cNvPr>
          <p:cNvSpPr/>
          <p:nvPr/>
        </p:nvSpPr>
        <p:spPr>
          <a:xfrm>
            <a:off x="553222" y="3571099"/>
            <a:ext cx="2037578" cy="3619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77D147-3178-44E9-9913-16A8402ACC6C}"/>
              </a:ext>
            </a:extLst>
          </p:cNvPr>
          <p:cNvSpPr/>
          <p:nvPr/>
        </p:nvSpPr>
        <p:spPr>
          <a:xfrm>
            <a:off x="5842603" y="2439693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DAE17D-E030-4913-B450-F07D19CF47D5}"/>
              </a:ext>
            </a:extLst>
          </p:cNvPr>
          <p:cNvSpPr/>
          <p:nvPr/>
        </p:nvSpPr>
        <p:spPr>
          <a:xfrm>
            <a:off x="6620843" y="3213578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A94AAC-FFD3-4EB3-8AC2-BA1C133B76F7}"/>
              </a:ext>
            </a:extLst>
          </p:cNvPr>
          <p:cNvSpPr/>
          <p:nvPr/>
        </p:nvSpPr>
        <p:spPr>
          <a:xfrm>
            <a:off x="4982912" y="3197289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39D34B-92DC-453B-8BB6-8FC6CC9BCFF0}"/>
              </a:ext>
            </a:extLst>
          </p:cNvPr>
          <p:cNvSpPr/>
          <p:nvPr/>
        </p:nvSpPr>
        <p:spPr>
          <a:xfrm>
            <a:off x="6728426" y="4090075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8F716B-E347-4C92-9368-A30ED3762538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5726727" y="2828447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F5DA45C-8A51-4D86-9A01-CDC7E1E42ACE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6460607" y="2828447"/>
            <a:ext cx="984708" cy="3851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F8B977-18DC-477B-94A3-00858117F40A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7169792" y="3571099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CE88AE-FEA7-42D5-A09C-55BBCC774B22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>
            <a:off x="7445315" y="3571099"/>
            <a:ext cx="763018" cy="5265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7E5F73F-F7C1-43F8-8FEB-FC6856042AA4}"/>
              </a:ext>
            </a:extLst>
          </p:cNvPr>
          <p:cNvSpPr/>
          <p:nvPr/>
        </p:nvSpPr>
        <p:spPr>
          <a:xfrm>
            <a:off x="7825887" y="4097679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0E9107-3823-465C-ADF2-BEDB72246C30}"/>
              </a:ext>
            </a:extLst>
          </p:cNvPr>
          <p:cNvSpPr/>
          <p:nvPr/>
        </p:nvSpPr>
        <p:spPr>
          <a:xfrm>
            <a:off x="4314121" y="4098898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3AF312-8505-4579-B622-6C247D3FA4AE}"/>
              </a:ext>
            </a:extLst>
          </p:cNvPr>
          <p:cNvSpPr/>
          <p:nvPr/>
        </p:nvSpPr>
        <p:spPr>
          <a:xfrm>
            <a:off x="5939627" y="4114665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2059F87-DF83-4D76-8F98-809DE4F33DD2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 flipH="1">
            <a:off x="5020424" y="3571100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53C8F3-55FC-475A-88F5-CFADB37616AA}"/>
              </a:ext>
            </a:extLst>
          </p:cNvPr>
          <p:cNvCxnSpPr>
            <a:cxnSpLocks/>
            <a:stCxn id="13" idx="2"/>
            <a:endCxn id="21" idx="0"/>
          </p:cNvCxnSpPr>
          <p:nvPr/>
        </p:nvCxnSpPr>
        <p:spPr>
          <a:xfrm>
            <a:off x="5726727" y="3571100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EA14991-24C6-4F62-85FE-486438BDF294}"/>
              </a:ext>
            </a:extLst>
          </p:cNvPr>
          <p:cNvSpPr/>
          <p:nvPr/>
        </p:nvSpPr>
        <p:spPr>
          <a:xfrm>
            <a:off x="2262212" y="2374483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ED043B-4D09-4DB9-B2A4-F441D91D59D8}"/>
              </a:ext>
            </a:extLst>
          </p:cNvPr>
          <p:cNvSpPr txBox="1"/>
          <p:nvPr/>
        </p:nvSpPr>
        <p:spPr>
          <a:xfrm>
            <a:off x="2127303" y="1915238"/>
            <a:ext cx="177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26" name="Plus Sign 25">
            <a:extLst>
              <a:ext uri="{FF2B5EF4-FFF2-40B4-BE49-F238E27FC236}">
                <a16:creationId xmlns:a16="http://schemas.microsoft.com/office/drawing/2014/main" id="{72E74872-CFF1-421A-8731-A52F7F9F3CD8}"/>
              </a:ext>
            </a:extLst>
          </p:cNvPr>
          <p:cNvSpPr/>
          <p:nvPr/>
        </p:nvSpPr>
        <p:spPr>
          <a:xfrm>
            <a:off x="4058723" y="2292239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119D66-9DE1-4FF0-BFE9-0FBB73F57C0E}"/>
              </a:ext>
            </a:extLst>
          </p:cNvPr>
          <p:cNvSpPr txBox="1"/>
          <p:nvPr/>
        </p:nvSpPr>
        <p:spPr>
          <a:xfrm>
            <a:off x="4933932" y="2446080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28" name="副標題 2">
            <a:extLst>
              <a:ext uri="{FF2B5EF4-FFF2-40B4-BE49-F238E27FC236}">
                <a16:creationId xmlns:a16="http://schemas.microsoft.com/office/drawing/2014/main" id="{1C106A1C-AC80-4FC1-9267-4D28173BF13D}"/>
              </a:ext>
            </a:extLst>
          </p:cNvPr>
          <p:cNvSpPr txBox="1">
            <a:spLocks/>
          </p:cNvSpPr>
          <p:nvPr/>
        </p:nvSpPr>
        <p:spPr>
          <a:xfrm>
            <a:off x="4600691" y="4653275"/>
            <a:ext cx="4392487" cy="172006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rgbClr val="C00000"/>
                </a:solidFill>
              </a:rPr>
              <a:t>Residuals = (Observed  – Predictions)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⇒ </a:t>
            </a:r>
            <a:r>
              <a:rPr lang="en-US" sz="1800" b="1" dirty="0">
                <a:solidFill>
                  <a:srgbClr val="C00000"/>
                </a:solidFill>
              </a:rPr>
              <a:t>Residuals = (88  – (71.2 + 0.1 x 16.8))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⇒ </a:t>
            </a:r>
            <a:r>
              <a:rPr lang="en-US" sz="1800" b="1" dirty="0">
                <a:solidFill>
                  <a:srgbClr val="C00000"/>
                </a:solidFill>
              </a:rPr>
              <a:t>Residuals = 15.1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 and we get 15.1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We update the column of </a:t>
            </a:r>
            <a:r>
              <a:rPr lang="en-US" sz="1800" b="1" dirty="0">
                <a:solidFill>
                  <a:srgbClr val="C00000"/>
                </a:solidFill>
              </a:rPr>
              <a:t>Pseudo Residuals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CF7107-F1B7-43FB-A101-836FEC6885EA}"/>
              </a:ext>
            </a:extLst>
          </p:cNvPr>
          <p:cNvSpPr/>
          <p:nvPr/>
        </p:nvSpPr>
        <p:spPr>
          <a:xfrm>
            <a:off x="1942880" y="2751951"/>
            <a:ext cx="319332" cy="3515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FC44A46-8325-4383-A2EE-B9894B13F791}"/>
              </a:ext>
            </a:extLst>
          </p:cNvPr>
          <p:cNvSpPr/>
          <p:nvPr/>
        </p:nvSpPr>
        <p:spPr>
          <a:xfrm>
            <a:off x="4198159" y="5643883"/>
            <a:ext cx="319332" cy="3515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0701EF6-5938-4A61-8F37-49AD45BA4B7C}"/>
              </a:ext>
            </a:extLst>
          </p:cNvPr>
          <p:cNvCxnSpPr>
            <a:cxnSpLocks/>
            <a:stCxn id="35" idx="1"/>
            <a:endCxn id="34" idx="2"/>
          </p:cNvCxnSpPr>
          <p:nvPr/>
        </p:nvCxnSpPr>
        <p:spPr>
          <a:xfrm flipH="1" flipV="1">
            <a:off x="3677146" y="3950152"/>
            <a:ext cx="1030200" cy="206491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37DE015-1058-410E-A410-F268F45E1E9D}"/>
              </a:ext>
            </a:extLst>
          </p:cNvPr>
          <p:cNvSpPr/>
          <p:nvPr/>
        </p:nvSpPr>
        <p:spPr>
          <a:xfrm>
            <a:off x="3302222" y="3588195"/>
            <a:ext cx="749848" cy="36195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B62BEEA-4EA4-4172-AA4F-9875980A6D12}"/>
              </a:ext>
            </a:extLst>
          </p:cNvPr>
          <p:cNvSpPr/>
          <p:nvPr/>
        </p:nvSpPr>
        <p:spPr>
          <a:xfrm>
            <a:off x="4707346" y="5702391"/>
            <a:ext cx="4113126" cy="62535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A2BEA30-A594-45D1-9A22-56A481366DBC}"/>
              </a:ext>
            </a:extLst>
          </p:cNvPr>
          <p:cNvCxnSpPr>
            <a:cxnSpLocks/>
            <a:stCxn id="33" idx="0"/>
            <a:endCxn id="24" idx="2"/>
          </p:cNvCxnSpPr>
          <p:nvPr/>
        </p:nvCxnSpPr>
        <p:spPr>
          <a:xfrm flipV="1">
            <a:off x="1572011" y="2748294"/>
            <a:ext cx="1396504" cy="82280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4744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50.4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59125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Then, we repeat for all the rows of pseudo residuals for the training dataset.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44</a:t>
            </a:fld>
            <a:endParaRPr lang="zh-TW" altLang="en-US" dirty="0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08601"/>
              </p:ext>
            </p:extLst>
          </p:nvPr>
        </p:nvGraphicFramePr>
        <p:xfrm>
          <a:off x="508198" y="3121092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4.3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-13.7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-12.7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5B77D147-3178-44E9-9913-16A8402ACC6C}"/>
              </a:ext>
            </a:extLst>
          </p:cNvPr>
          <p:cNvSpPr/>
          <p:nvPr/>
        </p:nvSpPr>
        <p:spPr>
          <a:xfrm>
            <a:off x="5842603" y="2439693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DAE17D-E030-4913-B450-F07D19CF47D5}"/>
              </a:ext>
            </a:extLst>
          </p:cNvPr>
          <p:cNvSpPr/>
          <p:nvPr/>
        </p:nvSpPr>
        <p:spPr>
          <a:xfrm>
            <a:off x="6620843" y="3213578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A94AAC-FFD3-4EB3-8AC2-BA1C133B76F7}"/>
              </a:ext>
            </a:extLst>
          </p:cNvPr>
          <p:cNvSpPr/>
          <p:nvPr/>
        </p:nvSpPr>
        <p:spPr>
          <a:xfrm>
            <a:off x="4982912" y="3197289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39D34B-92DC-453B-8BB6-8FC6CC9BCFF0}"/>
              </a:ext>
            </a:extLst>
          </p:cNvPr>
          <p:cNvSpPr/>
          <p:nvPr/>
        </p:nvSpPr>
        <p:spPr>
          <a:xfrm>
            <a:off x="6728426" y="4090075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08F716B-E347-4C92-9368-A30ED3762538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5726727" y="2828447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F5DA45C-8A51-4D86-9A01-CDC7E1E42ACE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6460607" y="2828447"/>
            <a:ext cx="984708" cy="3851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F8B977-18DC-477B-94A3-00858117F40A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7169792" y="3571099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CE88AE-FEA7-42D5-A09C-55BBCC774B22}"/>
              </a:ext>
            </a:extLst>
          </p:cNvPr>
          <p:cNvCxnSpPr>
            <a:cxnSpLocks/>
            <a:stCxn id="12" idx="2"/>
            <a:endCxn id="19" idx="0"/>
          </p:cNvCxnSpPr>
          <p:nvPr/>
        </p:nvCxnSpPr>
        <p:spPr>
          <a:xfrm>
            <a:off x="7445315" y="3571099"/>
            <a:ext cx="763018" cy="5265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47E5F73F-F7C1-43F8-8FEB-FC6856042AA4}"/>
              </a:ext>
            </a:extLst>
          </p:cNvPr>
          <p:cNvSpPr/>
          <p:nvPr/>
        </p:nvSpPr>
        <p:spPr>
          <a:xfrm>
            <a:off x="7825887" y="4097679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0E9107-3823-465C-ADF2-BEDB72246C30}"/>
              </a:ext>
            </a:extLst>
          </p:cNvPr>
          <p:cNvSpPr/>
          <p:nvPr/>
        </p:nvSpPr>
        <p:spPr>
          <a:xfrm>
            <a:off x="4314121" y="4098898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3AF312-8505-4579-B622-6C247D3FA4AE}"/>
              </a:ext>
            </a:extLst>
          </p:cNvPr>
          <p:cNvSpPr/>
          <p:nvPr/>
        </p:nvSpPr>
        <p:spPr>
          <a:xfrm>
            <a:off x="5939627" y="4114665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2059F87-DF83-4D76-8F98-809DE4F33DD2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 flipH="1">
            <a:off x="5020424" y="3571100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53C8F3-55FC-475A-88F5-CFADB37616AA}"/>
              </a:ext>
            </a:extLst>
          </p:cNvPr>
          <p:cNvCxnSpPr>
            <a:cxnSpLocks/>
            <a:stCxn id="13" idx="2"/>
            <a:endCxn id="21" idx="0"/>
          </p:cNvCxnSpPr>
          <p:nvPr/>
        </p:nvCxnSpPr>
        <p:spPr>
          <a:xfrm>
            <a:off x="5726727" y="3571100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DEA14991-24C6-4F62-85FE-486438BDF294}"/>
              </a:ext>
            </a:extLst>
          </p:cNvPr>
          <p:cNvSpPr/>
          <p:nvPr/>
        </p:nvSpPr>
        <p:spPr>
          <a:xfrm>
            <a:off x="2262212" y="2374483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ED043B-4D09-4DB9-B2A4-F441D91D59D8}"/>
              </a:ext>
            </a:extLst>
          </p:cNvPr>
          <p:cNvSpPr txBox="1"/>
          <p:nvPr/>
        </p:nvSpPr>
        <p:spPr>
          <a:xfrm>
            <a:off x="2127303" y="1915238"/>
            <a:ext cx="177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26" name="Plus Sign 25">
            <a:extLst>
              <a:ext uri="{FF2B5EF4-FFF2-40B4-BE49-F238E27FC236}">
                <a16:creationId xmlns:a16="http://schemas.microsoft.com/office/drawing/2014/main" id="{72E74872-CFF1-421A-8731-A52F7F9F3CD8}"/>
              </a:ext>
            </a:extLst>
          </p:cNvPr>
          <p:cNvSpPr/>
          <p:nvPr/>
        </p:nvSpPr>
        <p:spPr>
          <a:xfrm>
            <a:off x="4058723" y="2292239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119D66-9DE1-4FF0-BFE9-0FBB73F57C0E}"/>
              </a:ext>
            </a:extLst>
          </p:cNvPr>
          <p:cNvSpPr txBox="1"/>
          <p:nvPr/>
        </p:nvSpPr>
        <p:spPr>
          <a:xfrm>
            <a:off x="4933932" y="2446080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D5E63D-382C-4A94-A0B1-3BE61C9BE465}"/>
              </a:ext>
            </a:extLst>
          </p:cNvPr>
          <p:cNvSpPr/>
          <p:nvPr/>
        </p:nvSpPr>
        <p:spPr>
          <a:xfrm>
            <a:off x="3302222" y="3588195"/>
            <a:ext cx="749848" cy="2585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363F078-01AE-476F-9ECE-5CE7437D2C3B}"/>
              </a:ext>
            </a:extLst>
          </p:cNvPr>
          <p:cNvSpPr/>
          <p:nvPr/>
        </p:nvSpPr>
        <p:spPr>
          <a:xfrm>
            <a:off x="553222" y="3571099"/>
            <a:ext cx="2037578" cy="262066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E1DEAD3-8F3B-4A44-BD0F-2227F8B9A5D9}"/>
              </a:ext>
            </a:extLst>
          </p:cNvPr>
          <p:cNvSpPr/>
          <p:nvPr/>
        </p:nvSpPr>
        <p:spPr>
          <a:xfrm>
            <a:off x="1942880" y="2751951"/>
            <a:ext cx="319332" cy="3515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8032193-5936-4DBC-A8C1-D092B36AEFDE}"/>
              </a:ext>
            </a:extLst>
          </p:cNvPr>
          <p:cNvCxnSpPr>
            <a:cxnSpLocks/>
            <a:stCxn id="39" idx="0"/>
          </p:cNvCxnSpPr>
          <p:nvPr/>
        </p:nvCxnSpPr>
        <p:spPr>
          <a:xfrm flipV="1">
            <a:off x="1572011" y="2748295"/>
            <a:ext cx="1396504" cy="82280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副標題 2">
            <a:extLst>
              <a:ext uri="{FF2B5EF4-FFF2-40B4-BE49-F238E27FC236}">
                <a16:creationId xmlns:a16="http://schemas.microsoft.com/office/drawing/2014/main" id="{6E3DED33-4919-4D0C-B4E2-1335B34C5B5B}"/>
              </a:ext>
            </a:extLst>
          </p:cNvPr>
          <p:cNvSpPr txBox="1">
            <a:spLocks/>
          </p:cNvSpPr>
          <p:nvPr/>
        </p:nvSpPr>
        <p:spPr>
          <a:xfrm>
            <a:off x="4600691" y="4653275"/>
            <a:ext cx="4392487" cy="9906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rgbClr val="C00000"/>
                </a:solidFill>
              </a:rPr>
              <a:t>Residuals = (Observed  – Predictions)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We update all the rows of columns of </a:t>
            </a:r>
            <a:r>
              <a:rPr lang="en-US" sz="1800" b="1" dirty="0">
                <a:solidFill>
                  <a:srgbClr val="C00000"/>
                </a:solidFill>
              </a:rPr>
              <a:t>Pseudo Residuals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53D25EB-DBE6-4D1E-BD78-EAF12CD07292}"/>
              </a:ext>
            </a:extLst>
          </p:cNvPr>
          <p:cNvSpPr/>
          <p:nvPr/>
        </p:nvSpPr>
        <p:spPr>
          <a:xfrm>
            <a:off x="4088449" y="4990839"/>
            <a:ext cx="319332" cy="35154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561FD5C-280F-4C36-9C53-C06E9A60A465}"/>
              </a:ext>
            </a:extLst>
          </p:cNvPr>
          <p:cNvCxnSpPr>
            <a:cxnSpLocks/>
            <a:stCxn id="42" idx="1"/>
            <a:endCxn id="10" idx="3"/>
          </p:cNvCxnSpPr>
          <p:nvPr/>
        </p:nvCxnSpPr>
        <p:spPr>
          <a:xfrm flipH="1" flipV="1">
            <a:off x="4052070" y="4647632"/>
            <a:ext cx="548621" cy="5009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7720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50.5 Build Tree with Learning Rate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45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1240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50.5 Build Tree with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59125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Initial pseudo residuals for the training dataset.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46</a:t>
            </a:fld>
            <a:endParaRPr lang="zh-TW" altLang="en-US" dirty="0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948033"/>
              </p:ext>
            </p:extLst>
          </p:nvPr>
        </p:nvGraphicFramePr>
        <p:xfrm>
          <a:off x="949556" y="3303270"/>
          <a:ext cx="1425067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-15.2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-14.2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DEA14991-24C6-4F62-85FE-486438BDF294}"/>
              </a:ext>
            </a:extLst>
          </p:cNvPr>
          <p:cNvSpPr/>
          <p:nvPr/>
        </p:nvSpPr>
        <p:spPr>
          <a:xfrm>
            <a:off x="971600" y="2447712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ED043B-4D09-4DB9-B2A4-F441D91D59D8}"/>
              </a:ext>
            </a:extLst>
          </p:cNvPr>
          <p:cNvSpPr txBox="1"/>
          <p:nvPr/>
        </p:nvSpPr>
        <p:spPr>
          <a:xfrm>
            <a:off x="835009" y="2011808"/>
            <a:ext cx="177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D5E63D-382C-4A94-A0B1-3BE61C9BE465}"/>
              </a:ext>
            </a:extLst>
          </p:cNvPr>
          <p:cNvSpPr/>
          <p:nvPr/>
        </p:nvSpPr>
        <p:spPr>
          <a:xfrm>
            <a:off x="1624775" y="3752778"/>
            <a:ext cx="749848" cy="2585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副標題 2">
            <a:extLst>
              <a:ext uri="{FF2B5EF4-FFF2-40B4-BE49-F238E27FC236}">
                <a16:creationId xmlns:a16="http://schemas.microsoft.com/office/drawing/2014/main" id="{BF65DEB1-54F2-411B-A560-14814289ADD3}"/>
              </a:ext>
            </a:extLst>
          </p:cNvPr>
          <p:cNvSpPr txBox="1">
            <a:spLocks/>
          </p:cNvSpPr>
          <p:nvPr/>
        </p:nvSpPr>
        <p:spPr>
          <a:xfrm>
            <a:off x="3049842" y="3429000"/>
            <a:ext cx="4170403" cy="120017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rgbClr val="C00000"/>
                </a:solidFill>
              </a:rPr>
              <a:t>Note</a:t>
            </a:r>
            <a:r>
              <a:rPr lang="en-US" sz="1800" b="1" dirty="0">
                <a:solidFill>
                  <a:schemeClr val="tx1"/>
                </a:solidFill>
              </a:rPr>
              <a:t>: 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These are the original </a:t>
            </a:r>
            <a:r>
              <a:rPr lang="en-US" sz="1800" b="1" dirty="0">
                <a:solidFill>
                  <a:srgbClr val="C00000"/>
                </a:solidFill>
              </a:rPr>
              <a:t>Residuals</a:t>
            </a:r>
            <a:r>
              <a:rPr lang="en-US" sz="1800" b="1" dirty="0">
                <a:solidFill>
                  <a:schemeClr val="tx1"/>
                </a:solidFill>
              </a:rPr>
              <a:t>, from then our </a:t>
            </a:r>
            <a:r>
              <a:rPr lang="en-US" sz="1800" b="1" dirty="0">
                <a:solidFill>
                  <a:srgbClr val="C00000"/>
                </a:solidFill>
              </a:rPr>
              <a:t>Prediction</a:t>
            </a:r>
            <a:r>
              <a:rPr lang="en-US" sz="1800" b="1" dirty="0">
                <a:solidFill>
                  <a:schemeClr val="tx1"/>
                </a:solidFill>
              </a:rPr>
              <a:t> was simply the average overall </a:t>
            </a:r>
            <a:r>
              <a:rPr lang="en-US" sz="1800" b="1" dirty="0">
                <a:solidFill>
                  <a:srgbClr val="C00000"/>
                </a:solidFill>
              </a:rPr>
              <a:t>Weight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9295F9-E579-47B5-8C67-67B23EDBE0D3}"/>
              </a:ext>
            </a:extLst>
          </p:cNvPr>
          <p:cNvCxnSpPr>
            <a:cxnSpLocks/>
            <a:stCxn id="24" idx="2"/>
            <a:endCxn id="10" idx="0"/>
          </p:cNvCxnSpPr>
          <p:nvPr/>
        </p:nvCxnSpPr>
        <p:spPr>
          <a:xfrm flipH="1">
            <a:off x="1662089" y="2821523"/>
            <a:ext cx="15814" cy="4817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60E838D-9A80-463D-B5C8-6664EBA956BB}"/>
              </a:ext>
            </a:extLst>
          </p:cNvPr>
          <p:cNvSpPr/>
          <p:nvPr/>
        </p:nvSpPr>
        <p:spPr>
          <a:xfrm>
            <a:off x="2407024" y="2837329"/>
            <a:ext cx="484109" cy="2433918"/>
          </a:xfrm>
          <a:custGeom>
            <a:avLst/>
            <a:gdLst>
              <a:gd name="connsiteX0" fmla="*/ 0 w 484109"/>
              <a:gd name="connsiteY0" fmla="*/ 0 h 2433918"/>
              <a:gd name="connsiteX1" fmla="*/ 484094 w 484109"/>
              <a:gd name="connsiteY1" fmla="*/ 1250577 h 2433918"/>
              <a:gd name="connsiteX2" fmla="*/ 13447 w 484109"/>
              <a:gd name="connsiteY2" fmla="*/ 2433918 h 243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4109" h="2433918">
                <a:moveTo>
                  <a:pt x="0" y="0"/>
                </a:moveTo>
                <a:cubicBezTo>
                  <a:pt x="240926" y="422462"/>
                  <a:pt x="481853" y="844924"/>
                  <a:pt x="484094" y="1250577"/>
                </a:cubicBezTo>
                <a:cubicBezTo>
                  <a:pt x="486335" y="1656230"/>
                  <a:pt x="249891" y="2045074"/>
                  <a:pt x="13447" y="2433918"/>
                </a:cubicBezTo>
              </a:path>
            </a:pathLst>
          </a:custGeom>
          <a:noFill/>
          <a:ln>
            <a:solidFill>
              <a:srgbClr val="C0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055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50.5 Build Tree with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59125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Compare the initial residuals vs. New Tree with Scaling Learning Rate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47</a:t>
            </a:fld>
            <a:endParaRPr lang="zh-TW" altLang="en-US" dirty="0"/>
          </a:p>
        </p:txBody>
      </p:sp>
      <p:graphicFrame>
        <p:nvGraphicFramePr>
          <p:cNvPr id="10" name="Table 8">
            <a:extLst>
              <a:ext uri="{FF2B5EF4-FFF2-40B4-BE49-F238E27FC236}">
                <a16:creationId xmlns:a16="http://schemas.microsoft.com/office/drawing/2014/main" id="{047E0B19-86C0-4C0B-9172-23DC6C4BD7D4}"/>
              </a:ext>
            </a:extLst>
          </p:cNvPr>
          <p:cNvGraphicFramePr>
            <a:graphicFrameLocks noGrp="1"/>
          </p:cNvGraphicFramePr>
          <p:nvPr/>
        </p:nvGraphicFramePr>
        <p:xfrm>
          <a:off x="949556" y="3303270"/>
          <a:ext cx="1425067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-15.2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-14.2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DEA14991-24C6-4F62-85FE-486438BDF294}"/>
              </a:ext>
            </a:extLst>
          </p:cNvPr>
          <p:cNvSpPr/>
          <p:nvPr/>
        </p:nvSpPr>
        <p:spPr>
          <a:xfrm>
            <a:off x="971600" y="2447712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7ED043B-4D09-4DB9-B2A4-F441D91D59D8}"/>
              </a:ext>
            </a:extLst>
          </p:cNvPr>
          <p:cNvSpPr txBox="1"/>
          <p:nvPr/>
        </p:nvSpPr>
        <p:spPr>
          <a:xfrm>
            <a:off x="835009" y="2011808"/>
            <a:ext cx="177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D5E63D-382C-4A94-A0B1-3BE61C9BE465}"/>
              </a:ext>
            </a:extLst>
          </p:cNvPr>
          <p:cNvSpPr/>
          <p:nvPr/>
        </p:nvSpPr>
        <p:spPr>
          <a:xfrm>
            <a:off x="1624775" y="3752778"/>
            <a:ext cx="749848" cy="2585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D9295F9-E579-47B5-8C67-67B23EDBE0D3}"/>
              </a:ext>
            </a:extLst>
          </p:cNvPr>
          <p:cNvCxnSpPr>
            <a:cxnSpLocks/>
            <a:stCxn id="24" idx="2"/>
            <a:endCxn id="10" idx="0"/>
          </p:cNvCxnSpPr>
          <p:nvPr/>
        </p:nvCxnSpPr>
        <p:spPr>
          <a:xfrm flipH="1">
            <a:off x="1662089" y="2821523"/>
            <a:ext cx="15814" cy="48174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8">
            <a:extLst>
              <a:ext uri="{FF2B5EF4-FFF2-40B4-BE49-F238E27FC236}">
                <a16:creationId xmlns:a16="http://schemas.microsoft.com/office/drawing/2014/main" id="{EFA19E03-EAEB-40AA-B7A6-9A3C5E4BD8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480972"/>
              </p:ext>
            </p:extLst>
          </p:nvPr>
        </p:nvGraphicFramePr>
        <p:xfrm>
          <a:off x="2714959" y="3303270"/>
          <a:ext cx="1425067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4.3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-13.7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-12.7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3A2260DB-FCFF-40AA-95A1-AD6CBA331E85}"/>
              </a:ext>
            </a:extLst>
          </p:cNvPr>
          <p:cNvSpPr/>
          <p:nvPr/>
        </p:nvSpPr>
        <p:spPr>
          <a:xfrm>
            <a:off x="5842603" y="2439693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ADDA6B-C34E-4284-96F2-C74A31AEF024}"/>
              </a:ext>
            </a:extLst>
          </p:cNvPr>
          <p:cNvSpPr/>
          <p:nvPr/>
        </p:nvSpPr>
        <p:spPr>
          <a:xfrm>
            <a:off x="6620843" y="3213578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93BE56-1040-4E08-873E-5CBE3EAEC3F9}"/>
              </a:ext>
            </a:extLst>
          </p:cNvPr>
          <p:cNvSpPr/>
          <p:nvPr/>
        </p:nvSpPr>
        <p:spPr>
          <a:xfrm>
            <a:off x="4982912" y="3197289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1D23DC-C039-4AE0-8D76-B36185861BD0}"/>
              </a:ext>
            </a:extLst>
          </p:cNvPr>
          <p:cNvSpPr/>
          <p:nvPr/>
        </p:nvSpPr>
        <p:spPr>
          <a:xfrm>
            <a:off x="6728426" y="4090075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B01F8C-D57F-4368-87B6-6CFB84D30C50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flipH="1">
            <a:off x="5726727" y="2828447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666C3F-7FCC-4C30-9050-0B1ECC2E895B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6460607" y="2828447"/>
            <a:ext cx="984708" cy="3851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0757C04-2653-4B96-BA54-334A958D24DB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7169792" y="3571099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C55D594-2285-4A44-8804-C4A5A9D344AD}"/>
              </a:ext>
            </a:extLst>
          </p:cNvPr>
          <p:cNvCxnSpPr>
            <a:cxnSpLocks/>
            <a:stCxn id="16" idx="2"/>
            <a:endCxn id="23" idx="0"/>
          </p:cNvCxnSpPr>
          <p:nvPr/>
        </p:nvCxnSpPr>
        <p:spPr>
          <a:xfrm>
            <a:off x="7445315" y="3571099"/>
            <a:ext cx="763018" cy="5265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A6E28BD-6A72-4EDB-8E73-62FBAF12AF68}"/>
              </a:ext>
            </a:extLst>
          </p:cNvPr>
          <p:cNvSpPr/>
          <p:nvPr/>
        </p:nvSpPr>
        <p:spPr>
          <a:xfrm>
            <a:off x="7825887" y="4097679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4D09B7-759F-49AB-AECE-6CC70995341C}"/>
              </a:ext>
            </a:extLst>
          </p:cNvPr>
          <p:cNvSpPr/>
          <p:nvPr/>
        </p:nvSpPr>
        <p:spPr>
          <a:xfrm>
            <a:off x="4314121" y="4098898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B6DF90-19E5-4CC5-A1FA-3D9A4648D2FD}"/>
              </a:ext>
            </a:extLst>
          </p:cNvPr>
          <p:cNvSpPr/>
          <p:nvPr/>
        </p:nvSpPr>
        <p:spPr>
          <a:xfrm>
            <a:off x="5939627" y="4114665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E71821E-F662-4362-9269-4A46E549C4FC}"/>
              </a:ext>
            </a:extLst>
          </p:cNvPr>
          <p:cNvCxnSpPr>
            <a:cxnSpLocks/>
            <a:stCxn id="17" idx="2"/>
            <a:endCxn id="26" idx="0"/>
          </p:cNvCxnSpPr>
          <p:nvPr/>
        </p:nvCxnSpPr>
        <p:spPr>
          <a:xfrm flipH="1">
            <a:off x="5020424" y="3571100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11BF484-8E75-40ED-B15E-C11CFF04C52C}"/>
              </a:ext>
            </a:extLst>
          </p:cNvPr>
          <p:cNvCxnSpPr>
            <a:cxnSpLocks/>
            <a:stCxn id="17" idx="2"/>
            <a:endCxn id="27" idx="0"/>
          </p:cNvCxnSpPr>
          <p:nvPr/>
        </p:nvCxnSpPr>
        <p:spPr>
          <a:xfrm>
            <a:off x="5726727" y="3571100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EB4EBF1B-3F34-422B-BA73-876E4E4FC39F}"/>
              </a:ext>
            </a:extLst>
          </p:cNvPr>
          <p:cNvSpPr/>
          <p:nvPr/>
        </p:nvSpPr>
        <p:spPr>
          <a:xfrm>
            <a:off x="2721189" y="2452158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B57FCB-C27F-4B1C-B23B-9591BD10D83B}"/>
              </a:ext>
            </a:extLst>
          </p:cNvPr>
          <p:cNvSpPr txBox="1"/>
          <p:nvPr/>
        </p:nvSpPr>
        <p:spPr>
          <a:xfrm>
            <a:off x="2714959" y="1955398"/>
            <a:ext cx="177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35" name="Plus Sign 34">
            <a:extLst>
              <a:ext uri="{FF2B5EF4-FFF2-40B4-BE49-F238E27FC236}">
                <a16:creationId xmlns:a16="http://schemas.microsoft.com/office/drawing/2014/main" id="{61132942-0715-4138-BF78-E93877C7FEC0}"/>
              </a:ext>
            </a:extLst>
          </p:cNvPr>
          <p:cNvSpPr/>
          <p:nvPr/>
        </p:nvSpPr>
        <p:spPr>
          <a:xfrm>
            <a:off x="4206572" y="2331858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1804E1-CC0A-4332-90D0-0FDE9297AC34}"/>
              </a:ext>
            </a:extLst>
          </p:cNvPr>
          <p:cNvSpPr txBox="1"/>
          <p:nvPr/>
        </p:nvSpPr>
        <p:spPr>
          <a:xfrm>
            <a:off x="4933932" y="2446080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BA05A4-D87A-41F4-9E85-15813F4D3E1E}"/>
              </a:ext>
            </a:extLst>
          </p:cNvPr>
          <p:cNvSpPr/>
          <p:nvPr/>
        </p:nvSpPr>
        <p:spPr>
          <a:xfrm>
            <a:off x="3411407" y="3737161"/>
            <a:ext cx="749848" cy="2585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副標題 2">
            <a:extLst>
              <a:ext uri="{FF2B5EF4-FFF2-40B4-BE49-F238E27FC236}">
                <a16:creationId xmlns:a16="http://schemas.microsoft.com/office/drawing/2014/main" id="{EA1BE920-123C-446C-ADF9-F55F00E535BB}"/>
              </a:ext>
            </a:extLst>
          </p:cNvPr>
          <p:cNvSpPr txBox="1">
            <a:spLocks/>
          </p:cNvSpPr>
          <p:nvPr/>
        </p:nvSpPr>
        <p:spPr>
          <a:xfrm>
            <a:off x="4814380" y="4602294"/>
            <a:ext cx="4277162" cy="172006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…and these are the </a:t>
            </a:r>
            <a:r>
              <a:rPr lang="en-US" sz="1800" b="1" dirty="0">
                <a:solidFill>
                  <a:srgbClr val="C00000"/>
                </a:solidFill>
              </a:rPr>
              <a:t>Residuals</a:t>
            </a:r>
            <a:r>
              <a:rPr lang="en-US" sz="1800" b="1" dirty="0">
                <a:solidFill>
                  <a:schemeClr val="tx1"/>
                </a:solidFill>
              </a:rPr>
              <a:t>, after adding the new tree scaled by the </a:t>
            </a:r>
            <a:r>
              <a:rPr lang="en-US" sz="1800" b="1" dirty="0">
                <a:solidFill>
                  <a:srgbClr val="C00000"/>
                </a:solidFill>
              </a:rPr>
              <a:t>Learning Rate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The new </a:t>
            </a:r>
            <a:r>
              <a:rPr lang="en-US" sz="1800" b="1" dirty="0">
                <a:solidFill>
                  <a:srgbClr val="C00000"/>
                </a:solidFill>
              </a:rPr>
              <a:t>Residuals</a:t>
            </a:r>
            <a:r>
              <a:rPr lang="en-US" sz="1800" b="1" dirty="0">
                <a:solidFill>
                  <a:schemeClr val="tx1"/>
                </a:solidFill>
              </a:rPr>
              <a:t> are all smaller than before, so we have taken a small stop in the right direction.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1C5A7F5-9978-4AAE-A75D-989B427BA062}"/>
              </a:ext>
            </a:extLst>
          </p:cNvPr>
          <p:cNvCxnSpPr>
            <a:cxnSpLocks/>
            <a:stCxn id="42" idx="1"/>
            <a:endCxn id="14" idx="3"/>
          </p:cNvCxnSpPr>
          <p:nvPr/>
        </p:nvCxnSpPr>
        <p:spPr>
          <a:xfrm flipH="1" flipV="1">
            <a:off x="4140026" y="4829810"/>
            <a:ext cx="674354" cy="6325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2832CD0-3DAE-48E8-B62A-FD0A25D33387}"/>
              </a:ext>
            </a:extLst>
          </p:cNvPr>
          <p:cNvCxnSpPr>
            <a:cxnSpLocks/>
            <a:stCxn id="36" idx="1"/>
          </p:cNvCxnSpPr>
          <p:nvPr/>
        </p:nvCxnSpPr>
        <p:spPr>
          <a:xfrm flipH="1">
            <a:off x="3815380" y="2630746"/>
            <a:ext cx="1118552" cy="67252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8846295-A7AF-421C-878A-CFD9ED719350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3427492" y="2825969"/>
            <a:ext cx="338908" cy="47730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2311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8">
            <a:extLst>
              <a:ext uri="{FF2B5EF4-FFF2-40B4-BE49-F238E27FC236}">
                <a16:creationId xmlns:a16="http://schemas.microsoft.com/office/drawing/2014/main" id="{FC30BFDE-24BA-438A-ADA6-77EFBF599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6671614"/>
              </p:ext>
            </p:extLst>
          </p:nvPr>
        </p:nvGraphicFramePr>
        <p:xfrm>
          <a:off x="506071" y="3131985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4.3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-13.7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-12.7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50.5 Build Tree with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67544" y="1268756"/>
            <a:ext cx="8219256" cy="59125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build a new tree to predict the new residuals.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48</a:t>
            </a:fld>
            <a:endParaRPr lang="zh-TW" alt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2260DB-FCFF-40AA-95A1-AD6CBA331E85}"/>
              </a:ext>
            </a:extLst>
          </p:cNvPr>
          <p:cNvSpPr/>
          <p:nvPr/>
        </p:nvSpPr>
        <p:spPr>
          <a:xfrm>
            <a:off x="5842603" y="2439693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ADDA6B-C34E-4284-96F2-C74A31AEF024}"/>
              </a:ext>
            </a:extLst>
          </p:cNvPr>
          <p:cNvSpPr/>
          <p:nvPr/>
        </p:nvSpPr>
        <p:spPr>
          <a:xfrm>
            <a:off x="6620843" y="3213578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93BE56-1040-4E08-873E-5CBE3EAEC3F9}"/>
              </a:ext>
            </a:extLst>
          </p:cNvPr>
          <p:cNvSpPr/>
          <p:nvPr/>
        </p:nvSpPr>
        <p:spPr>
          <a:xfrm>
            <a:off x="4982912" y="3197289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1D23DC-C039-4AE0-8D76-B36185861BD0}"/>
              </a:ext>
            </a:extLst>
          </p:cNvPr>
          <p:cNvSpPr/>
          <p:nvPr/>
        </p:nvSpPr>
        <p:spPr>
          <a:xfrm>
            <a:off x="6728426" y="4090075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B01F8C-D57F-4368-87B6-6CFB84D30C50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 flipH="1">
            <a:off x="5726727" y="2828447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B666C3F-7FCC-4C30-9050-0B1ECC2E895B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6460607" y="2828447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0757C04-2653-4B96-BA54-334A958D24DB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7169792" y="3571099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C55D594-2285-4A44-8804-C4A5A9D344AD}"/>
              </a:ext>
            </a:extLst>
          </p:cNvPr>
          <p:cNvCxnSpPr>
            <a:cxnSpLocks/>
            <a:stCxn id="16" idx="2"/>
            <a:endCxn id="23" idx="0"/>
          </p:cNvCxnSpPr>
          <p:nvPr/>
        </p:nvCxnSpPr>
        <p:spPr>
          <a:xfrm>
            <a:off x="7445315" y="3571099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A6E28BD-6A72-4EDB-8E73-62FBAF12AF68}"/>
              </a:ext>
            </a:extLst>
          </p:cNvPr>
          <p:cNvSpPr/>
          <p:nvPr/>
        </p:nvSpPr>
        <p:spPr>
          <a:xfrm>
            <a:off x="7825887" y="4097679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4D09B7-759F-49AB-AECE-6CC70995341C}"/>
              </a:ext>
            </a:extLst>
          </p:cNvPr>
          <p:cNvSpPr/>
          <p:nvPr/>
        </p:nvSpPr>
        <p:spPr>
          <a:xfrm>
            <a:off x="4793758" y="4098898"/>
            <a:ext cx="932968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B6DF90-19E5-4CC5-A1FA-3D9A4648D2FD}"/>
              </a:ext>
            </a:extLst>
          </p:cNvPr>
          <p:cNvSpPr/>
          <p:nvPr/>
        </p:nvSpPr>
        <p:spPr>
          <a:xfrm>
            <a:off x="5939627" y="4114665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E71821E-F662-4362-9269-4A46E549C4FC}"/>
              </a:ext>
            </a:extLst>
          </p:cNvPr>
          <p:cNvCxnSpPr>
            <a:cxnSpLocks/>
            <a:stCxn id="17" idx="2"/>
            <a:endCxn id="26" idx="0"/>
          </p:cNvCxnSpPr>
          <p:nvPr/>
        </p:nvCxnSpPr>
        <p:spPr>
          <a:xfrm flipH="1">
            <a:off x="5260242" y="3571100"/>
            <a:ext cx="466485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11BF484-8E75-40ED-B15E-C11CFF04C52C}"/>
              </a:ext>
            </a:extLst>
          </p:cNvPr>
          <p:cNvCxnSpPr>
            <a:cxnSpLocks/>
            <a:stCxn id="17" idx="2"/>
            <a:endCxn id="27" idx="0"/>
          </p:cNvCxnSpPr>
          <p:nvPr/>
        </p:nvCxnSpPr>
        <p:spPr>
          <a:xfrm>
            <a:off x="5726727" y="3571100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26BA05A4-D87A-41F4-9E85-15813F4D3E1E}"/>
              </a:ext>
            </a:extLst>
          </p:cNvPr>
          <p:cNvSpPr/>
          <p:nvPr/>
        </p:nvSpPr>
        <p:spPr>
          <a:xfrm>
            <a:off x="3371422" y="3611414"/>
            <a:ext cx="749848" cy="2585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278784-3815-41F2-A7B7-692674B9111D}"/>
              </a:ext>
            </a:extLst>
          </p:cNvPr>
          <p:cNvSpPr/>
          <p:nvPr/>
        </p:nvSpPr>
        <p:spPr>
          <a:xfrm>
            <a:off x="553124" y="3119659"/>
            <a:ext cx="2057211" cy="27576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557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8">
            <a:extLst>
              <a:ext uri="{FF2B5EF4-FFF2-40B4-BE49-F238E27FC236}">
                <a16:creationId xmlns:a16="http://schemas.microsoft.com/office/drawing/2014/main" id="{FC30BFDE-24BA-438A-ADA6-77EFBF59935F}"/>
              </a:ext>
            </a:extLst>
          </p:cNvPr>
          <p:cNvGraphicFramePr>
            <a:graphicFrameLocks noGrp="1"/>
          </p:cNvGraphicFramePr>
          <p:nvPr/>
        </p:nvGraphicFramePr>
        <p:xfrm>
          <a:off x="506071" y="3131985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4.3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-13.7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-12.7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50.5 Build Tree with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71522" y="1308270"/>
            <a:ext cx="3120358" cy="59125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And Here is the new Tree!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49</a:t>
            </a:fld>
            <a:endParaRPr lang="zh-TW" alt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BA05A4-D87A-41F4-9E85-15813F4D3E1E}"/>
              </a:ext>
            </a:extLst>
          </p:cNvPr>
          <p:cNvSpPr/>
          <p:nvPr/>
        </p:nvSpPr>
        <p:spPr>
          <a:xfrm>
            <a:off x="3289799" y="3599088"/>
            <a:ext cx="749848" cy="2585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278784-3815-41F2-A7B7-692674B9111D}"/>
              </a:ext>
            </a:extLst>
          </p:cNvPr>
          <p:cNvSpPr/>
          <p:nvPr/>
        </p:nvSpPr>
        <p:spPr>
          <a:xfrm>
            <a:off x="553124" y="3119659"/>
            <a:ext cx="2057211" cy="27576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D866BE-7B5B-421C-BF31-5AD328F33921}"/>
              </a:ext>
            </a:extLst>
          </p:cNvPr>
          <p:cNvSpPr/>
          <p:nvPr/>
        </p:nvSpPr>
        <p:spPr>
          <a:xfrm>
            <a:off x="5842603" y="2439693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B493E1-BA88-4AFD-8F69-880834A72FF4}"/>
              </a:ext>
            </a:extLst>
          </p:cNvPr>
          <p:cNvSpPr/>
          <p:nvPr/>
        </p:nvSpPr>
        <p:spPr>
          <a:xfrm>
            <a:off x="6620843" y="3213578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571323-E200-4197-BACC-B20E6E05B755}"/>
              </a:ext>
            </a:extLst>
          </p:cNvPr>
          <p:cNvSpPr/>
          <p:nvPr/>
        </p:nvSpPr>
        <p:spPr>
          <a:xfrm>
            <a:off x="4982912" y="3197289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12A9FA-943E-4C7F-AC32-09373B2399E6}"/>
              </a:ext>
            </a:extLst>
          </p:cNvPr>
          <p:cNvSpPr/>
          <p:nvPr/>
        </p:nvSpPr>
        <p:spPr>
          <a:xfrm>
            <a:off x="6728426" y="4090075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1.4, 5.4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DCA7C6-8071-40C6-B592-0BAC46CE11BF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 flipH="1">
            <a:off x="5726727" y="2828447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703758-26D3-4DF6-8DD9-169C53A0383A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6460607" y="2828447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B4ABE2E-3B81-44AD-81AF-D65439BD7E79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 flipH="1">
            <a:off x="7169792" y="3571099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383FB4-FDFE-4FC8-8F32-9B585352702E}"/>
              </a:ext>
            </a:extLst>
          </p:cNvPr>
          <p:cNvCxnSpPr>
            <a:cxnSpLocks/>
            <a:stCxn id="25" idx="2"/>
            <a:endCxn id="36" idx="0"/>
          </p:cNvCxnSpPr>
          <p:nvPr/>
        </p:nvCxnSpPr>
        <p:spPr>
          <a:xfrm>
            <a:off x="7445315" y="3571099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BB877BB-CF74-496C-A9FE-0C8B9C7CE229}"/>
              </a:ext>
            </a:extLst>
          </p:cNvPr>
          <p:cNvSpPr/>
          <p:nvPr/>
        </p:nvSpPr>
        <p:spPr>
          <a:xfrm>
            <a:off x="7825887" y="4097679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15.1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96B0FC-F8AB-4BAC-B721-E04BEC14CA47}"/>
              </a:ext>
            </a:extLst>
          </p:cNvPr>
          <p:cNvSpPr/>
          <p:nvPr/>
        </p:nvSpPr>
        <p:spPr>
          <a:xfrm>
            <a:off x="4314121" y="4098898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-12.7, -13.7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F486A3-3A35-4F7E-BDEE-D3FC87A61791}"/>
              </a:ext>
            </a:extLst>
          </p:cNvPr>
          <p:cNvSpPr/>
          <p:nvPr/>
        </p:nvSpPr>
        <p:spPr>
          <a:xfrm>
            <a:off x="5939627" y="4114665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EF81F6-5931-42D7-A971-C6884ECB2838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 flipH="1">
            <a:off x="5020424" y="3571100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BB5D417-9612-496B-A337-E1BF6233F4C5}"/>
              </a:ext>
            </a:extLst>
          </p:cNvPr>
          <p:cNvCxnSpPr>
            <a:cxnSpLocks/>
            <a:stCxn id="30" idx="2"/>
            <a:endCxn id="41" idx="0"/>
          </p:cNvCxnSpPr>
          <p:nvPr/>
        </p:nvCxnSpPr>
        <p:spPr>
          <a:xfrm>
            <a:off x="5726727" y="3571100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副標題 2">
            <a:extLst>
              <a:ext uri="{FF2B5EF4-FFF2-40B4-BE49-F238E27FC236}">
                <a16:creationId xmlns:a16="http://schemas.microsoft.com/office/drawing/2014/main" id="{E42827C5-1EB4-40C5-A1D6-C09A4C83BF35}"/>
              </a:ext>
            </a:extLst>
          </p:cNvPr>
          <p:cNvSpPr txBox="1">
            <a:spLocks/>
          </p:cNvSpPr>
          <p:nvPr/>
        </p:nvSpPr>
        <p:spPr>
          <a:xfrm>
            <a:off x="3668625" y="1325483"/>
            <a:ext cx="5240620" cy="94292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Note: In this example, the branches are the same as before. However, in practice, the trees can be different each time.</a:t>
            </a:r>
          </a:p>
          <a:p>
            <a:pPr algn="l">
              <a:buClr>
                <a:srgbClr val="0070C0"/>
              </a:buClr>
              <a:buSzPct val="80000"/>
            </a:pPr>
            <a:endParaRPr 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8552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8">
            <a:extLst>
              <a:ext uri="{FF2B5EF4-FFF2-40B4-BE49-F238E27FC236}">
                <a16:creationId xmlns:a16="http://schemas.microsoft.com/office/drawing/2014/main" id="{FC30BFDE-24BA-438A-ADA6-77EFBF59935F}"/>
              </a:ext>
            </a:extLst>
          </p:cNvPr>
          <p:cNvGraphicFramePr>
            <a:graphicFrameLocks noGrp="1"/>
          </p:cNvGraphicFramePr>
          <p:nvPr/>
        </p:nvGraphicFramePr>
        <p:xfrm>
          <a:off x="506071" y="3131985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4.3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-13.7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-12.7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50.5 Build Tree with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71522" y="1308270"/>
            <a:ext cx="8219256" cy="591254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Just like before, we can use average for multiple values in the leaves.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50</a:t>
            </a:fld>
            <a:endParaRPr lang="zh-TW" alt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BA05A4-D87A-41F4-9E85-15813F4D3E1E}"/>
              </a:ext>
            </a:extLst>
          </p:cNvPr>
          <p:cNvSpPr/>
          <p:nvPr/>
        </p:nvSpPr>
        <p:spPr>
          <a:xfrm>
            <a:off x="3289799" y="3599088"/>
            <a:ext cx="749848" cy="2585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278784-3815-41F2-A7B7-692674B9111D}"/>
              </a:ext>
            </a:extLst>
          </p:cNvPr>
          <p:cNvSpPr/>
          <p:nvPr/>
        </p:nvSpPr>
        <p:spPr>
          <a:xfrm>
            <a:off x="553124" y="3119659"/>
            <a:ext cx="2057211" cy="27576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D866BE-7B5B-421C-BF31-5AD328F33921}"/>
              </a:ext>
            </a:extLst>
          </p:cNvPr>
          <p:cNvSpPr/>
          <p:nvPr/>
        </p:nvSpPr>
        <p:spPr>
          <a:xfrm>
            <a:off x="5842603" y="2439693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B493E1-BA88-4AFD-8F69-880834A72FF4}"/>
              </a:ext>
            </a:extLst>
          </p:cNvPr>
          <p:cNvSpPr/>
          <p:nvPr/>
        </p:nvSpPr>
        <p:spPr>
          <a:xfrm>
            <a:off x="6620843" y="3213578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571323-E200-4197-BACC-B20E6E05B755}"/>
              </a:ext>
            </a:extLst>
          </p:cNvPr>
          <p:cNvSpPr/>
          <p:nvPr/>
        </p:nvSpPr>
        <p:spPr>
          <a:xfrm>
            <a:off x="4982912" y="3197289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12A9FA-943E-4C7F-AC32-09373B2399E6}"/>
              </a:ext>
            </a:extLst>
          </p:cNvPr>
          <p:cNvSpPr/>
          <p:nvPr/>
        </p:nvSpPr>
        <p:spPr>
          <a:xfrm>
            <a:off x="6728426" y="4090075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1.4, 5.4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DCA7C6-8071-40C6-B592-0BAC46CE11BF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 flipH="1">
            <a:off x="5726727" y="2828447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703758-26D3-4DF6-8DD9-169C53A0383A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6460607" y="2828447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B4ABE2E-3B81-44AD-81AF-D65439BD7E79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 flipH="1">
            <a:off x="7169792" y="3571099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383FB4-FDFE-4FC8-8F32-9B585352702E}"/>
              </a:ext>
            </a:extLst>
          </p:cNvPr>
          <p:cNvCxnSpPr>
            <a:cxnSpLocks/>
            <a:stCxn id="25" idx="2"/>
            <a:endCxn id="36" idx="0"/>
          </p:cNvCxnSpPr>
          <p:nvPr/>
        </p:nvCxnSpPr>
        <p:spPr>
          <a:xfrm>
            <a:off x="7445315" y="3571099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BB877BB-CF74-496C-A9FE-0C8B9C7CE229}"/>
              </a:ext>
            </a:extLst>
          </p:cNvPr>
          <p:cNvSpPr/>
          <p:nvPr/>
        </p:nvSpPr>
        <p:spPr>
          <a:xfrm>
            <a:off x="7825887" y="4097679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15.1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96B0FC-F8AB-4BAC-B721-E04BEC14CA47}"/>
              </a:ext>
            </a:extLst>
          </p:cNvPr>
          <p:cNvSpPr/>
          <p:nvPr/>
        </p:nvSpPr>
        <p:spPr>
          <a:xfrm>
            <a:off x="4314121" y="4098898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-12.7, -13.7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F486A3-3A35-4F7E-BDEE-D3FC87A61791}"/>
              </a:ext>
            </a:extLst>
          </p:cNvPr>
          <p:cNvSpPr/>
          <p:nvPr/>
        </p:nvSpPr>
        <p:spPr>
          <a:xfrm>
            <a:off x="5939627" y="4114665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EF81F6-5931-42D7-A971-C6884ECB2838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 flipH="1">
            <a:off x="5020424" y="3571100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BB5D417-9612-496B-A337-E1BF6233F4C5}"/>
              </a:ext>
            </a:extLst>
          </p:cNvPr>
          <p:cNvCxnSpPr>
            <a:cxnSpLocks/>
            <a:stCxn id="30" idx="2"/>
            <a:endCxn id="41" idx="0"/>
          </p:cNvCxnSpPr>
          <p:nvPr/>
        </p:nvCxnSpPr>
        <p:spPr>
          <a:xfrm>
            <a:off x="5726727" y="3571100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2605C79-84A9-41EB-BC9A-1BC70B610C20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481150" y="1899524"/>
            <a:ext cx="234866" cy="221514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351ECA-1438-4B1A-804A-46F2D268501D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481150" y="1899524"/>
            <a:ext cx="2467114" cy="219055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4505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8">
            <a:extLst>
              <a:ext uri="{FF2B5EF4-FFF2-40B4-BE49-F238E27FC236}">
                <a16:creationId xmlns:a16="http://schemas.microsoft.com/office/drawing/2014/main" id="{FC30BFDE-24BA-438A-ADA6-77EFBF59935F}"/>
              </a:ext>
            </a:extLst>
          </p:cNvPr>
          <p:cNvGraphicFramePr>
            <a:graphicFrameLocks noGrp="1"/>
          </p:cNvGraphicFramePr>
          <p:nvPr/>
        </p:nvGraphicFramePr>
        <p:xfrm>
          <a:off x="506071" y="3131985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4.3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-13.7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-12.7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50.5 Build Tree with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71522" y="1308270"/>
            <a:ext cx="8219256" cy="40917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have average in the nodes.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51</a:t>
            </a:fld>
            <a:endParaRPr lang="zh-TW" alt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6BA05A4-D87A-41F4-9E85-15813F4D3E1E}"/>
              </a:ext>
            </a:extLst>
          </p:cNvPr>
          <p:cNvSpPr/>
          <p:nvPr/>
        </p:nvSpPr>
        <p:spPr>
          <a:xfrm>
            <a:off x="3289799" y="3599088"/>
            <a:ext cx="749848" cy="258597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278784-3815-41F2-A7B7-692674B9111D}"/>
              </a:ext>
            </a:extLst>
          </p:cNvPr>
          <p:cNvSpPr/>
          <p:nvPr/>
        </p:nvSpPr>
        <p:spPr>
          <a:xfrm>
            <a:off x="553124" y="3119659"/>
            <a:ext cx="2057211" cy="2757613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D866BE-7B5B-421C-BF31-5AD328F33921}"/>
              </a:ext>
            </a:extLst>
          </p:cNvPr>
          <p:cNvSpPr/>
          <p:nvPr/>
        </p:nvSpPr>
        <p:spPr>
          <a:xfrm>
            <a:off x="5842603" y="2439693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B493E1-BA88-4AFD-8F69-880834A72FF4}"/>
              </a:ext>
            </a:extLst>
          </p:cNvPr>
          <p:cNvSpPr/>
          <p:nvPr/>
        </p:nvSpPr>
        <p:spPr>
          <a:xfrm>
            <a:off x="6620843" y="3213578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571323-E200-4197-BACC-B20E6E05B755}"/>
              </a:ext>
            </a:extLst>
          </p:cNvPr>
          <p:cNvSpPr/>
          <p:nvPr/>
        </p:nvSpPr>
        <p:spPr>
          <a:xfrm>
            <a:off x="4982912" y="3197289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12A9FA-943E-4C7F-AC32-09373B2399E6}"/>
              </a:ext>
            </a:extLst>
          </p:cNvPr>
          <p:cNvSpPr/>
          <p:nvPr/>
        </p:nvSpPr>
        <p:spPr>
          <a:xfrm>
            <a:off x="6728426" y="4090075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DCA7C6-8071-40C6-B592-0BAC46CE11BF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 flipH="1">
            <a:off x="5726727" y="2828447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703758-26D3-4DF6-8DD9-169C53A0383A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6460607" y="2828447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B4ABE2E-3B81-44AD-81AF-D65439BD7E79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 flipH="1">
            <a:off x="7169792" y="3571099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383FB4-FDFE-4FC8-8F32-9B585352702E}"/>
              </a:ext>
            </a:extLst>
          </p:cNvPr>
          <p:cNvCxnSpPr>
            <a:cxnSpLocks/>
            <a:stCxn id="25" idx="2"/>
            <a:endCxn id="36" idx="0"/>
          </p:cNvCxnSpPr>
          <p:nvPr/>
        </p:nvCxnSpPr>
        <p:spPr>
          <a:xfrm>
            <a:off x="7445315" y="3571099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BB877BB-CF74-496C-A9FE-0C8B9C7CE229}"/>
              </a:ext>
            </a:extLst>
          </p:cNvPr>
          <p:cNvSpPr/>
          <p:nvPr/>
        </p:nvSpPr>
        <p:spPr>
          <a:xfrm>
            <a:off x="7825887" y="4097679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15.1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96B0FC-F8AB-4BAC-B721-E04BEC14CA47}"/>
              </a:ext>
            </a:extLst>
          </p:cNvPr>
          <p:cNvSpPr/>
          <p:nvPr/>
        </p:nvSpPr>
        <p:spPr>
          <a:xfrm>
            <a:off x="4314121" y="4098898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F486A3-3A35-4F7E-BDEE-D3FC87A61791}"/>
              </a:ext>
            </a:extLst>
          </p:cNvPr>
          <p:cNvSpPr/>
          <p:nvPr/>
        </p:nvSpPr>
        <p:spPr>
          <a:xfrm>
            <a:off x="5939627" y="4114665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EF81F6-5931-42D7-A971-C6884ECB2838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 flipH="1">
            <a:off x="5020424" y="3571100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BB5D417-9612-496B-A337-E1BF6233F4C5}"/>
              </a:ext>
            </a:extLst>
          </p:cNvPr>
          <p:cNvCxnSpPr>
            <a:cxnSpLocks/>
            <a:stCxn id="30" idx="2"/>
            <a:endCxn id="41" idx="0"/>
          </p:cNvCxnSpPr>
          <p:nvPr/>
        </p:nvCxnSpPr>
        <p:spPr>
          <a:xfrm>
            <a:off x="5726727" y="3571100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2605C79-84A9-41EB-BC9A-1BC70B610C20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481150" y="1717441"/>
            <a:ext cx="234866" cy="239722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351ECA-1438-4B1A-804A-46F2D268501D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4481150" y="1717441"/>
            <a:ext cx="2467114" cy="237263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5362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50.5 Build Tree with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71522" y="1308270"/>
            <a:ext cx="8219256" cy="40917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combine the new tree with the previous tree and initial leaf.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52</a:t>
            </a:fld>
            <a:endParaRPr lang="zh-TW" alt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D866BE-7B5B-421C-BF31-5AD328F33921}"/>
              </a:ext>
            </a:extLst>
          </p:cNvPr>
          <p:cNvSpPr/>
          <p:nvPr/>
        </p:nvSpPr>
        <p:spPr>
          <a:xfrm>
            <a:off x="5317192" y="1974249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B493E1-BA88-4AFD-8F69-880834A72FF4}"/>
              </a:ext>
            </a:extLst>
          </p:cNvPr>
          <p:cNvSpPr/>
          <p:nvPr/>
        </p:nvSpPr>
        <p:spPr>
          <a:xfrm>
            <a:off x="6095432" y="2748134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571323-E200-4197-BACC-B20E6E05B755}"/>
              </a:ext>
            </a:extLst>
          </p:cNvPr>
          <p:cNvSpPr/>
          <p:nvPr/>
        </p:nvSpPr>
        <p:spPr>
          <a:xfrm>
            <a:off x="4457501" y="2731845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12A9FA-943E-4C7F-AC32-09373B2399E6}"/>
              </a:ext>
            </a:extLst>
          </p:cNvPr>
          <p:cNvSpPr/>
          <p:nvPr/>
        </p:nvSpPr>
        <p:spPr>
          <a:xfrm>
            <a:off x="6203015" y="3624631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DCA7C6-8071-40C6-B592-0BAC46CE11BF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 flipH="1">
            <a:off x="5201316" y="2363003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703758-26D3-4DF6-8DD9-169C53A0383A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935196" y="2363003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B4ABE2E-3B81-44AD-81AF-D65439BD7E79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 flipH="1">
            <a:off x="6644381" y="3105655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383FB4-FDFE-4FC8-8F32-9B585352702E}"/>
              </a:ext>
            </a:extLst>
          </p:cNvPr>
          <p:cNvCxnSpPr>
            <a:cxnSpLocks/>
            <a:stCxn id="25" idx="2"/>
            <a:endCxn id="36" idx="0"/>
          </p:cNvCxnSpPr>
          <p:nvPr/>
        </p:nvCxnSpPr>
        <p:spPr>
          <a:xfrm>
            <a:off x="6919904" y="3105655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BB877BB-CF74-496C-A9FE-0C8B9C7CE229}"/>
              </a:ext>
            </a:extLst>
          </p:cNvPr>
          <p:cNvSpPr/>
          <p:nvPr/>
        </p:nvSpPr>
        <p:spPr>
          <a:xfrm>
            <a:off x="7300476" y="3632235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96B0FC-F8AB-4BAC-B721-E04BEC14CA47}"/>
              </a:ext>
            </a:extLst>
          </p:cNvPr>
          <p:cNvSpPr/>
          <p:nvPr/>
        </p:nvSpPr>
        <p:spPr>
          <a:xfrm>
            <a:off x="3788710" y="3633454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F486A3-3A35-4F7E-BDEE-D3FC87A61791}"/>
              </a:ext>
            </a:extLst>
          </p:cNvPr>
          <p:cNvSpPr/>
          <p:nvPr/>
        </p:nvSpPr>
        <p:spPr>
          <a:xfrm>
            <a:off x="5414216" y="3649221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EF81F6-5931-42D7-A971-C6884ECB2838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 flipH="1">
            <a:off x="4495013" y="3105656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BB5D417-9612-496B-A337-E1BF6233F4C5}"/>
              </a:ext>
            </a:extLst>
          </p:cNvPr>
          <p:cNvCxnSpPr>
            <a:cxnSpLocks/>
            <a:stCxn id="30" idx="2"/>
            <a:endCxn id="41" idx="0"/>
          </p:cNvCxnSpPr>
          <p:nvPr/>
        </p:nvCxnSpPr>
        <p:spPr>
          <a:xfrm>
            <a:off x="5201316" y="3105656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1C01383-1BF6-46D3-BE11-62C8D992BB53}"/>
              </a:ext>
            </a:extLst>
          </p:cNvPr>
          <p:cNvSpPr/>
          <p:nvPr/>
        </p:nvSpPr>
        <p:spPr>
          <a:xfrm>
            <a:off x="5283819" y="4143680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31B482-2DB7-438D-B896-CC0F729AFD0B}"/>
              </a:ext>
            </a:extLst>
          </p:cNvPr>
          <p:cNvSpPr/>
          <p:nvPr/>
        </p:nvSpPr>
        <p:spPr>
          <a:xfrm>
            <a:off x="6062059" y="4917565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972A110-5A70-4D04-A35B-35ACCE59870E}"/>
              </a:ext>
            </a:extLst>
          </p:cNvPr>
          <p:cNvSpPr/>
          <p:nvPr/>
        </p:nvSpPr>
        <p:spPr>
          <a:xfrm>
            <a:off x="4424128" y="4901276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E419F6-ADE1-47BF-9240-67444463A140}"/>
              </a:ext>
            </a:extLst>
          </p:cNvPr>
          <p:cNvSpPr/>
          <p:nvPr/>
        </p:nvSpPr>
        <p:spPr>
          <a:xfrm>
            <a:off x="6169642" y="5794062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DF5FAA-7144-417F-9CD7-99A3A442C374}"/>
              </a:ext>
            </a:extLst>
          </p:cNvPr>
          <p:cNvCxnSpPr>
            <a:cxnSpLocks/>
            <a:stCxn id="28" idx="2"/>
            <a:endCxn id="44" idx="0"/>
          </p:cNvCxnSpPr>
          <p:nvPr/>
        </p:nvCxnSpPr>
        <p:spPr>
          <a:xfrm flipH="1">
            <a:off x="5167943" y="4532434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07BA2B7-DF43-4ABE-9340-1DB04D0C119D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5901823" y="4532434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D632866-7615-4BD0-86DA-E35A514E3DFF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 flipH="1">
            <a:off x="6611008" y="5275086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0BE0516-BD09-4CE6-94E1-9DCC14C51E7B}"/>
              </a:ext>
            </a:extLst>
          </p:cNvPr>
          <p:cNvCxnSpPr>
            <a:cxnSpLocks/>
            <a:stCxn id="29" idx="2"/>
            <a:endCxn id="50" idx="0"/>
          </p:cNvCxnSpPr>
          <p:nvPr/>
        </p:nvCxnSpPr>
        <p:spPr>
          <a:xfrm>
            <a:off x="6886531" y="5275086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2D24894-0048-414C-80DB-E673CF742C75}"/>
              </a:ext>
            </a:extLst>
          </p:cNvPr>
          <p:cNvSpPr/>
          <p:nvPr/>
        </p:nvSpPr>
        <p:spPr>
          <a:xfrm>
            <a:off x="7267103" y="5801666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15.1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9D2109E-C338-44F0-A6E4-30965D93EB86}"/>
              </a:ext>
            </a:extLst>
          </p:cNvPr>
          <p:cNvSpPr/>
          <p:nvPr/>
        </p:nvSpPr>
        <p:spPr>
          <a:xfrm>
            <a:off x="3755337" y="5802885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7BC1E13-9D0F-456F-A74A-3DE909D4F5AD}"/>
              </a:ext>
            </a:extLst>
          </p:cNvPr>
          <p:cNvSpPr/>
          <p:nvPr/>
        </p:nvSpPr>
        <p:spPr>
          <a:xfrm>
            <a:off x="5380843" y="5818652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4.3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3C243B6-931B-413F-BED0-F4DADB557461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 flipH="1">
            <a:off x="4461640" y="5275087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309984C-F5C7-44BF-AC80-3A6188C2A547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5167943" y="5275087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副標題 2">
            <a:extLst>
              <a:ext uri="{FF2B5EF4-FFF2-40B4-BE49-F238E27FC236}">
                <a16:creationId xmlns:a16="http://schemas.microsoft.com/office/drawing/2014/main" id="{213CEBD0-B9F2-4C1C-BBA6-0FE5B5A519AF}"/>
              </a:ext>
            </a:extLst>
          </p:cNvPr>
          <p:cNvSpPr txBox="1">
            <a:spLocks/>
          </p:cNvSpPr>
          <p:nvPr/>
        </p:nvSpPr>
        <p:spPr>
          <a:xfrm>
            <a:off x="2559000" y="1908245"/>
            <a:ext cx="1948979" cy="83988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Previous tree (Learning Rate = 1).</a:t>
            </a:r>
          </a:p>
        </p:txBody>
      </p:sp>
      <p:sp>
        <p:nvSpPr>
          <p:cNvPr id="56" name="副標題 2">
            <a:extLst>
              <a:ext uri="{FF2B5EF4-FFF2-40B4-BE49-F238E27FC236}">
                <a16:creationId xmlns:a16="http://schemas.microsoft.com/office/drawing/2014/main" id="{37CF3798-7C9C-4AC6-922D-0B54122F3091}"/>
              </a:ext>
            </a:extLst>
          </p:cNvPr>
          <p:cNvSpPr txBox="1">
            <a:spLocks/>
          </p:cNvSpPr>
          <p:nvPr/>
        </p:nvSpPr>
        <p:spPr>
          <a:xfrm>
            <a:off x="2578124" y="4209381"/>
            <a:ext cx="1836070" cy="93702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New tree (Learning Rate  = 0.1).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971600" y="2447712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919B6A-2D80-4BBA-80B3-4FC8E24EF6EF}"/>
              </a:ext>
            </a:extLst>
          </p:cNvPr>
          <p:cNvSpPr txBox="1"/>
          <p:nvPr/>
        </p:nvSpPr>
        <p:spPr>
          <a:xfrm>
            <a:off x="835009" y="2011808"/>
            <a:ext cx="177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</p:spTree>
    <p:extLst>
      <p:ext uri="{BB962C8B-B14F-4D97-AF65-F5344CB8AC3E}">
        <p14:creationId xmlns:p14="http://schemas.microsoft.com/office/powerpoint/2010/main" val="24775793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50.5 Build Tree with Learning Rate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71522" y="1308270"/>
            <a:ext cx="8219256" cy="40917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Note: We scale all of the trees by Learning Rate = 0.1 and add them together.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53</a:t>
            </a:fld>
            <a:endParaRPr lang="zh-TW" alt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D866BE-7B5B-421C-BF31-5AD328F33921}"/>
              </a:ext>
            </a:extLst>
          </p:cNvPr>
          <p:cNvSpPr/>
          <p:nvPr/>
        </p:nvSpPr>
        <p:spPr>
          <a:xfrm>
            <a:off x="5317192" y="1974249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B493E1-BA88-4AFD-8F69-880834A72FF4}"/>
              </a:ext>
            </a:extLst>
          </p:cNvPr>
          <p:cNvSpPr/>
          <p:nvPr/>
        </p:nvSpPr>
        <p:spPr>
          <a:xfrm>
            <a:off x="6095432" y="2748134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571323-E200-4197-BACC-B20E6E05B755}"/>
              </a:ext>
            </a:extLst>
          </p:cNvPr>
          <p:cNvSpPr/>
          <p:nvPr/>
        </p:nvSpPr>
        <p:spPr>
          <a:xfrm>
            <a:off x="4457501" y="2731845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12A9FA-943E-4C7F-AC32-09373B2399E6}"/>
              </a:ext>
            </a:extLst>
          </p:cNvPr>
          <p:cNvSpPr/>
          <p:nvPr/>
        </p:nvSpPr>
        <p:spPr>
          <a:xfrm>
            <a:off x="6203015" y="3624631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DCA7C6-8071-40C6-B592-0BAC46CE11BF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 flipH="1">
            <a:off x="5201316" y="2363003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703758-26D3-4DF6-8DD9-169C53A0383A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935196" y="2363003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B4ABE2E-3B81-44AD-81AF-D65439BD7E79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 flipH="1">
            <a:off x="6644381" y="3105655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383FB4-FDFE-4FC8-8F32-9B585352702E}"/>
              </a:ext>
            </a:extLst>
          </p:cNvPr>
          <p:cNvCxnSpPr>
            <a:cxnSpLocks/>
            <a:stCxn id="25" idx="2"/>
            <a:endCxn id="36" idx="0"/>
          </p:cNvCxnSpPr>
          <p:nvPr/>
        </p:nvCxnSpPr>
        <p:spPr>
          <a:xfrm>
            <a:off x="6919904" y="3105655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BB877BB-CF74-496C-A9FE-0C8B9C7CE229}"/>
              </a:ext>
            </a:extLst>
          </p:cNvPr>
          <p:cNvSpPr/>
          <p:nvPr/>
        </p:nvSpPr>
        <p:spPr>
          <a:xfrm>
            <a:off x="7300476" y="3632235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96B0FC-F8AB-4BAC-B721-E04BEC14CA47}"/>
              </a:ext>
            </a:extLst>
          </p:cNvPr>
          <p:cNvSpPr/>
          <p:nvPr/>
        </p:nvSpPr>
        <p:spPr>
          <a:xfrm>
            <a:off x="3788710" y="3633454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F486A3-3A35-4F7E-BDEE-D3FC87A61791}"/>
              </a:ext>
            </a:extLst>
          </p:cNvPr>
          <p:cNvSpPr/>
          <p:nvPr/>
        </p:nvSpPr>
        <p:spPr>
          <a:xfrm>
            <a:off x="5414216" y="3649221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EF81F6-5931-42D7-A971-C6884ECB2838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 flipH="1">
            <a:off x="4495013" y="3105656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BB5D417-9612-496B-A337-E1BF6233F4C5}"/>
              </a:ext>
            </a:extLst>
          </p:cNvPr>
          <p:cNvCxnSpPr>
            <a:cxnSpLocks/>
            <a:stCxn id="30" idx="2"/>
            <a:endCxn id="41" idx="0"/>
          </p:cNvCxnSpPr>
          <p:nvPr/>
        </p:nvCxnSpPr>
        <p:spPr>
          <a:xfrm>
            <a:off x="5201316" y="3105656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1C01383-1BF6-46D3-BE11-62C8D992BB53}"/>
              </a:ext>
            </a:extLst>
          </p:cNvPr>
          <p:cNvSpPr/>
          <p:nvPr/>
        </p:nvSpPr>
        <p:spPr>
          <a:xfrm>
            <a:off x="5283819" y="4143680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31B482-2DB7-438D-B896-CC0F729AFD0B}"/>
              </a:ext>
            </a:extLst>
          </p:cNvPr>
          <p:cNvSpPr/>
          <p:nvPr/>
        </p:nvSpPr>
        <p:spPr>
          <a:xfrm>
            <a:off x="6062059" y="4917565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972A110-5A70-4D04-A35B-35ACCE59870E}"/>
              </a:ext>
            </a:extLst>
          </p:cNvPr>
          <p:cNvSpPr/>
          <p:nvPr/>
        </p:nvSpPr>
        <p:spPr>
          <a:xfrm>
            <a:off x="4424128" y="4901276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E419F6-ADE1-47BF-9240-67444463A140}"/>
              </a:ext>
            </a:extLst>
          </p:cNvPr>
          <p:cNvSpPr/>
          <p:nvPr/>
        </p:nvSpPr>
        <p:spPr>
          <a:xfrm>
            <a:off x="6169642" y="5794062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DF5FAA-7144-417F-9CD7-99A3A442C374}"/>
              </a:ext>
            </a:extLst>
          </p:cNvPr>
          <p:cNvCxnSpPr>
            <a:cxnSpLocks/>
            <a:stCxn id="28" idx="2"/>
            <a:endCxn id="44" idx="0"/>
          </p:cNvCxnSpPr>
          <p:nvPr/>
        </p:nvCxnSpPr>
        <p:spPr>
          <a:xfrm flipH="1">
            <a:off x="5167943" y="4532434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07BA2B7-DF43-4ABE-9340-1DB04D0C119D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5901823" y="4532434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D632866-7615-4BD0-86DA-E35A514E3DFF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 flipH="1">
            <a:off x="6611008" y="5275086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0BE0516-BD09-4CE6-94E1-9DCC14C51E7B}"/>
              </a:ext>
            </a:extLst>
          </p:cNvPr>
          <p:cNvCxnSpPr>
            <a:cxnSpLocks/>
            <a:stCxn id="29" idx="2"/>
            <a:endCxn id="50" idx="0"/>
          </p:cNvCxnSpPr>
          <p:nvPr/>
        </p:nvCxnSpPr>
        <p:spPr>
          <a:xfrm>
            <a:off x="6886531" y="5275086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2D24894-0048-414C-80DB-E673CF742C75}"/>
              </a:ext>
            </a:extLst>
          </p:cNvPr>
          <p:cNvSpPr/>
          <p:nvPr/>
        </p:nvSpPr>
        <p:spPr>
          <a:xfrm>
            <a:off x="7267103" y="5801666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15.1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9D2109E-C338-44F0-A6E4-30965D93EB86}"/>
              </a:ext>
            </a:extLst>
          </p:cNvPr>
          <p:cNvSpPr/>
          <p:nvPr/>
        </p:nvSpPr>
        <p:spPr>
          <a:xfrm>
            <a:off x="3755337" y="5802885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7BC1E13-9D0F-456F-A74A-3DE909D4F5AD}"/>
              </a:ext>
            </a:extLst>
          </p:cNvPr>
          <p:cNvSpPr/>
          <p:nvPr/>
        </p:nvSpPr>
        <p:spPr>
          <a:xfrm>
            <a:off x="5380843" y="5818652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4.3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3C243B6-931B-413F-BED0-F4DADB557461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 flipH="1">
            <a:off x="4461640" y="5275087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309984C-F5C7-44BF-AC80-3A6188C2A547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5167943" y="5275087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971600" y="2255689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919B6A-2D80-4BBA-80B3-4FC8E24EF6EF}"/>
              </a:ext>
            </a:extLst>
          </p:cNvPr>
          <p:cNvSpPr txBox="1"/>
          <p:nvPr/>
        </p:nvSpPr>
        <p:spPr>
          <a:xfrm>
            <a:off x="835009" y="1819785"/>
            <a:ext cx="177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36090-E295-49AD-A8E2-492BEE6536EE}"/>
              </a:ext>
            </a:extLst>
          </p:cNvPr>
          <p:cNvSpPr txBox="1"/>
          <p:nvPr/>
        </p:nvSpPr>
        <p:spPr>
          <a:xfrm>
            <a:off x="3599071" y="2118371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C4527-BB04-48C6-8D29-36F7D1615A92}"/>
              </a:ext>
            </a:extLst>
          </p:cNvPr>
          <p:cNvSpPr txBox="1"/>
          <p:nvPr/>
        </p:nvSpPr>
        <p:spPr>
          <a:xfrm>
            <a:off x="3884891" y="4192611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0" name="Plus Sign 39">
            <a:extLst>
              <a:ext uri="{FF2B5EF4-FFF2-40B4-BE49-F238E27FC236}">
                <a16:creationId xmlns:a16="http://schemas.microsoft.com/office/drawing/2014/main" id="{4982CB3A-B1B4-4115-8290-69986DA95EA0}"/>
              </a:ext>
            </a:extLst>
          </p:cNvPr>
          <p:cNvSpPr/>
          <p:nvPr/>
        </p:nvSpPr>
        <p:spPr>
          <a:xfrm>
            <a:off x="3002209" y="2042569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us Sign 58">
            <a:extLst>
              <a:ext uri="{FF2B5EF4-FFF2-40B4-BE49-F238E27FC236}">
                <a16:creationId xmlns:a16="http://schemas.microsoft.com/office/drawing/2014/main" id="{143B6FBC-5389-4921-B3E8-FF4345E21877}"/>
              </a:ext>
            </a:extLst>
          </p:cNvPr>
          <p:cNvSpPr/>
          <p:nvPr/>
        </p:nvSpPr>
        <p:spPr>
          <a:xfrm>
            <a:off x="3211559" y="4007265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236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50.6 Predict with Gradient Boost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54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9447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50.6 Predict with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71522" y="1308270"/>
            <a:ext cx="8219256" cy="40917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are ready to make </a:t>
            </a:r>
            <a:r>
              <a:rPr lang="en-US" sz="1800" b="1" dirty="0">
                <a:solidFill>
                  <a:srgbClr val="C00000"/>
                </a:solidFill>
              </a:rPr>
              <a:t>Prediction</a:t>
            </a:r>
            <a:r>
              <a:rPr lang="en-US" sz="1800" b="1" dirty="0">
                <a:solidFill>
                  <a:schemeClr val="tx1"/>
                </a:solidFill>
              </a:rPr>
              <a:t> for the </a:t>
            </a:r>
            <a:r>
              <a:rPr lang="en-US" sz="1800" b="1" dirty="0">
                <a:solidFill>
                  <a:srgbClr val="C00000"/>
                </a:solidFill>
              </a:rPr>
              <a:t>Training data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55</a:t>
            </a:fld>
            <a:endParaRPr lang="zh-TW" alt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D866BE-7B5B-421C-BF31-5AD328F33921}"/>
              </a:ext>
            </a:extLst>
          </p:cNvPr>
          <p:cNvSpPr/>
          <p:nvPr/>
        </p:nvSpPr>
        <p:spPr>
          <a:xfrm>
            <a:off x="5317192" y="1974249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B493E1-BA88-4AFD-8F69-880834A72FF4}"/>
              </a:ext>
            </a:extLst>
          </p:cNvPr>
          <p:cNvSpPr/>
          <p:nvPr/>
        </p:nvSpPr>
        <p:spPr>
          <a:xfrm>
            <a:off x="6095432" y="2748134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571323-E200-4197-BACC-B20E6E05B755}"/>
              </a:ext>
            </a:extLst>
          </p:cNvPr>
          <p:cNvSpPr/>
          <p:nvPr/>
        </p:nvSpPr>
        <p:spPr>
          <a:xfrm>
            <a:off x="4457501" y="2731845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12A9FA-943E-4C7F-AC32-09373B2399E6}"/>
              </a:ext>
            </a:extLst>
          </p:cNvPr>
          <p:cNvSpPr/>
          <p:nvPr/>
        </p:nvSpPr>
        <p:spPr>
          <a:xfrm>
            <a:off x="6203015" y="3624631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DCA7C6-8071-40C6-B592-0BAC46CE11BF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 flipH="1">
            <a:off x="5201316" y="2363003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703758-26D3-4DF6-8DD9-169C53A0383A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935196" y="2363003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B4ABE2E-3B81-44AD-81AF-D65439BD7E79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 flipH="1">
            <a:off x="6644381" y="3105655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383FB4-FDFE-4FC8-8F32-9B585352702E}"/>
              </a:ext>
            </a:extLst>
          </p:cNvPr>
          <p:cNvCxnSpPr>
            <a:cxnSpLocks/>
            <a:stCxn id="25" idx="2"/>
            <a:endCxn id="36" idx="0"/>
          </p:cNvCxnSpPr>
          <p:nvPr/>
        </p:nvCxnSpPr>
        <p:spPr>
          <a:xfrm>
            <a:off x="6919904" y="3105655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BB877BB-CF74-496C-A9FE-0C8B9C7CE229}"/>
              </a:ext>
            </a:extLst>
          </p:cNvPr>
          <p:cNvSpPr/>
          <p:nvPr/>
        </p:nvSpPr>
        <p:spPr>
          <a:xfrm>
            <a:off x="7300476" y="3632235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96B0FC-F8AB-4BAC-B721-E04BEC14CA47}"/>
              </a:ext>
            </a:extLst>
          </p:cNvPr>
          <p:cNvSpPr/>
          <p:nvPr/>
        </p:nvSpPr>
        <p:spPr>
          <a:xfrm>
            <a:off x="3788710" y="3633454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F486A3-3A35-4F7E-BDEE-D3FC87A61791}"/>
              </a:ext>
            </a:extLst>
          </p:cNvPr>
          <p:cNvSpPr/>
          <p:nvPr/>
        </p:nvSpPr>
        <p:spPr>
          <a:xfrm>
            <a:off x="5414216" y="3649221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EF81F6-5931-42D7-A971-C6884ECB2838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 flipH="1">
            <a:off x="4495013" y="3105656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BB5D417-9612-496B-A337-E1BF6233F4C5}"/>
              </a:ext>
            </a:extLst>
          </p:cNvPr>
          <p:cNvCxnSpPr>
            <a:cxnSpLocks/>
            <a:stCxn id="30" idx="2"/>
            <a:endCxn id="41" idx="0"/>
          </p:cNvCxnSpPr>
          <p:nvPr/>
        </p:nvCxnSpPr>
        <p:spPr>
          <a:xfrm>
            <a:off x="5201316" y="3105656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1C01383-1BF6-46D3-BE11-62C8D992BB53}"/>
              </a:ext>
            </a:extLst>
          </p:cNvPr>
          <p:cNvSpPr/>
          <p:nvPr/>
        </p:nvSpPr>
        <p:spPr>
          <a:xfrm>
            <a:off x="5283819" y="4143680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31B482-2DB7-438D-B896-CC0F729AFD0B}"/>
              </a:ext>
            </a:extLst>
          </p:cNvPr>
          <p:cNvSpPr/>
          <p:nvPr/>
        </p:nvSpPr>
        <p:spPr>
          <a:xfrm>
            <a:off x="6062059" y="4917565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972A110-5A70-4D04-A35B-35ACCE59870E}"/>
              </a:ext>
            </a:extLst>
          </p:cNvPr>
          <p:cNvSpPr/>
          <p:nvPr/>
        </p:nvSpPr>
        <p:spPr>
          <a:xfrm>
            <a:off x="4424128" y="4901276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E419F6-ADE1-47BF-9240-67444463A140}"/>
              </a:ext>
            </a:extLst>
          </p:cNvPr>
          <p:cNvSpPr/>
          <p:nvPr/>
        </p:nvSpPr>
        <p:spPr>
          <a:xfrm>
            <a:off x="6169642" y="5794062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DF5FAA-7144-417F-9CD7-99A3A442C374}"/>
              </a:ext>
            </a:extLst>
          </p:cNvPr>
          <p:cNvCxnSpPr>
            <a:cxnSpLocks/>
            <a:stCxn id="28" idx="2"/>
            <a:endCxn id="44" idx="0"/>
          </p:cNvCxnSpPr>
          <p:nvPr/>
        </p:nvCxnSpPr>
        <p:spPr>
          <a:xfrm flipH="1">
            <a:off x="5167943" y="4532434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07BA2B7-DF43-4ABE-9340-1DB04D0C119D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5901823" y="4532434"/>
            <a:ext cx="984708" cy="3851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D632866-7615-4BD0-86DA-E35A514E3DFF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 flipH="1">
            <a:off x="6611008" y="5275086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0BE0516-BD09-4CE6-94E1-9DCC14C51E7B}"/>
              </a:ext>
            </a:extLst>
          </p:cNvPr>
          <p:cNvCxnSpPr>
            <a:cxnSpLocks/>
            <a:stCxn id="29" idx="2"/>
            <a:endCxn id="50" idx="0"/>
          </p:cNvCxnSpPr>
          <p:nvPr/>
        </p:nvCxnSpPr>
        <p:spPr>
          <a:xfrm>
            <a:off x="6886531" y="5275086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2D24894-0048-414C-80DB-E673CF742C75}"/>
              </a:ext>
            </a:extLst>
          </p:cNvPr>
          <p:cNvSpPr/>
          <p:nvPr/>
        </p:nvSpPr>
        <p:spPr>
          <a:xfrm>
            <a:off x="7267103" y="5801666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15.1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9D2109E-C338-44F0-A6E4-30965D93EB86}"/>
              </a:ext>
            </a:extLst>
          </p:cNvPr>
          <p:cNvSpPr/>
          <p:nvPr/>
        </p:nvSpPr>
        <p:spPr>
          <a:xfrm>
            <a:off x="3755337" y="5802885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7BC1E13-9D0F-456F-A74A-3DE909D4F5AD}"/>
              </a:ext>
            </a:extLst>
          </p:cNvPr>
          <p:cNvSpPr/>
          <p:nvPr/>
        </p:nvSpPr>
        <p:spPr>
          <a:xfrm>
            <a:off x="5380843" y="5818652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4.3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3C243B6-931B-413F-BED0-F4DADB557461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 flipH="1">
            <a:off x="4461640" y="5275087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309984C-F5C7-44BF-AC80-3A6188C2A547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5167943" y="5275087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971600" y="2255689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919B6A-2D80-4BBA-80B3-4FC8E24EF6EF}"/>
              </a:ext>
            </a:extLst>
          </p:cNvPr>
          <p:cNvSpPr txBox="1"/>
          <p:nvPr/>
        </p:nvSpPr>
        <p:spPr>
          <a:xfrm>
            <a:off x="835009" y="1819785"/>
            <a:ext cx="177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36090-E295-49AD-A8E2-492BEE6536EE}"/>
              </a:ext>
            </a:extLst>
          </p:cNvPr>
          <p:cNvSpPr txBox="1"/>
          <p:nvPr/>
        </p:nvSpPr>
        <p:spPr>
          <a:xfrm>
            <a:off x="3599071" y="2118371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C4527-BB04-48C6-8D29-36F7D1615A92}"/>
              </a:ext>
            </a:extLst>
          </p:cNvPr>
          <p:cNvSpPr txBox="1"/>
          <p:nvPr/>
        </p:nvSpPr>
        <p:spPr>
          <a:xfrm>
            <a:off x="3884891" y="4192611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0" name="Plus Sign 39">
            <a:extLst>
              <a:ext uri="{FF2B5EF4-FFF2-40B4-BE49-F238E27FC236}">
                <a16:creationId xmlns:a16="http://schemas.microsoft.com/office/drawing/2014/main" id="{4982CB3A-B1B4-4115-8290-69986DA95EA0}"/>
              </a:ext>
            </a:extLst>
          </p:cNvPr>
          <p:cNvSpPr/>
          <p:nvPr/>
        </p:nvSpPr>
        <p:spPr>
          <a:xfrm>
            <a:off x="3002209" y="2042569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us Sign 58">
            <a:extLst>
              <a:ext uri="{FF2B5EF4-FFF2-40B4-BE49-F238E27FC236}">
                <a16:creationId xmlns:a16="http://schemas.microsoft.com/office/drawing/2014/main" id="{143B6FBC-5389-4921-B3E8-FF4345E21877}"/>
              </a:ext>
            </a:extLst>
          </p:cNvPr>
          <p:cNvSpPr/>
          <p:nvPr/>
        </p:nvSpPr>
        <p:spPr>
          <a:xfrm>
            <a:off x="3211559" y="4007265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0" name="Table 8">
            <a:extLst>
              <a:ext uri="{FF2B5EF4-FFF2-40B4-BE49-F238E27FC236}">
                <a16:creationId xmlns:a16="http://schemas.microsoft.com/office/drawing/2014/main" id="{CEA6BCEA-C2A3-4D7F-9F0C-AA3AB2573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5391860"/>
              </p:ext>
            </p:extLst>
          </p:nvPr>
        </p:nvGraphicFramePr>
        <p:xfrm>
          <a:off x="498516" y="4808797"/>
          <a:ext cx="2790127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</a:tbl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AE09B0EA-B57A-413E-BBBF-B8F1F1E2B95A}"/>
              </a:ext>
            </a:extLst>
          </p:cNvPr>
          <p:cNvSpPr/>
          <p:nvPr/>
        </p:nvSpPr>
        <p:spPr>
          <a:xfrm>
            <a:off x="479612" y="5252358"/>
            <a:ext cx="2133600" cy="3844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31F05D1-5EAE-45DD-889D-E00104788E8E}"/>
              </a:ext>
            </a:extLst>
          </p:cNvPr>
          <p:cNvCxnSpPr/>
          <p:nvPr/>
        </p:nvCxnSpPr>
        <p:spPr>
          <a:xfrm flipH="1">
            <a:off x="1907704" y="1717441"/>
            <a:ext cx="936104" cy="35576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89409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50.6 Predict with Gradient Boost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71522" y="1308270"/>
            <a:ext cx="8219256" cy="40917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Just Like before, we start with Average Weight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56</a:t>
            </a:fld>
            <a:endParaRPr lang="zh-TW" alt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D866BE-7B5B-421C-BF31-5AD328F33921}"/>
              </a:ext>
            </a:extLst>
          </p:cNvPr>
          <p:cNvSpPr/>
          <p:nvPr/>
        </p:nvSpPr>
        <p:spPr>
          <a:xfrm>
            <a:off x="5317192" y="1974249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Gender=F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BB493E1-BA88-4AFD-8F69-880834A72FF4}"/>
              </a:ext>
            </a:extLst>
          </p:cNvPr>
          <p:cNvSpPr/>
          <p:nvPr/>
        </p:nvSpPr>
        <p:spPr>
          <a:xfrm>
            <a:off x="6095432" y="2748134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571323-E200-4197-BACC-B20E6E05B755}"/>
              </a:ext>
            </a:extLst>
          </p:cNvPr>
          <p:cNvSpPr/>
          <p:nvPr/>
        </p:nvSpPr>
        <p:spPr>
          <a:xfrm>
            <a:off x="4457501" y="2731845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D12A9FA-943E-4C7F-AC32-09373B2399E6}"/>
              </a:ext>
            </a:extLst>
          </p:cNvPr>
          <p:cNvSpPr/>
          <p:nvPr/>
        </p:nvSpPr>
        <p:spPr>
          <a:xfrm>
            <a:off x="6203015" y="3624631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6DCA7C6-8071-40C6-B592-0BAC46CE11BF}"/>
              </a:ext>
            </a:extLst>
          </p:cNvPr>
          <p:cNvCxnSpPr>
            <a:cxnSpLocks/>
            <a:stCxn id="24" idx="2"/>
            <a:endCxn id="30" idx="0"/>
          </p:cNvCxnSpPr>
          <p:nvPr/>
        </p:nvCxnSpPr>
        <p:spPr>
          <a:xfrm flipH="1">
            <a:off x="5201316" y="2363003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A703758-26D3-4DF6-8DD9-169C53A0383A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935196" y="2363003"/>
            <a:ext cx="984708" cy="3851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B4ABE2E-3B81-44AD-81AF-D65439BD7E79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 flipH="1">
            <a:off x="6644381" y="3105655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1383FB4-FDFE-4FC8-8F32-9B585352702E}"/>
              </a:ext>
            </a:extLst>
          </p:cNvPr>
          <p:cNvCxnSpPr>
            <a:cxnSpLocks/>
            <a:stCxn id="25" idx="2"/>
            <a:endCxn id="36" idx="0"/>
          </p:cNvCxnSpPr>
          <p:nvPr/>
        </p:nvCxnSpPr>
        <p:spPr>
          <a:xfrm>
            <a:off x="6919904" y="3105655"/>
            <a:ext cx="763018" cy="52658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6BB877BB-CF74-496C-A9FE-0C8B9C7CE229}"/>
              </a:ext>
            </a:extLst>
          </p:cNvPr>
          <p:cNvSpPr/>
          <p:nvPr/>
        </p:nvSpPr>
        <p:spPr>
          <a:xfrm>
            <a:off x="7300476" y="3632235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16.8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96B0FC-F8AB-4BAC-B721-E04BEC14CA47}"/>
              </a:ext>
            </a:extLst>
          </p:cNvPr>
          <p:cNvSpPr/>
          <p:nvPr/>
        </p:nvSpPr>
        <p:spPr>
          <a:xfrm>
            <a:off x="3788710" y="3633454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F486A3-3A35-4F7E-BDEE-D3FC87A61791}"/>
              </a:ext>
            </a:extLst>
          </p:cNvPr>
          <p:cNvSpPr/>
          <p:nvPr/>
        </p:nvSpPr>
        <p:spPr>
          <a:xfrm>
            <a:off x="5414216" y="3649221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4.8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BEF81F6-5931-42D7-A971-C6884ECB2838}"/>
              </a:ext>
            </a:extLst>
          </p:cNvPr>
          <p:cNvCxnSpPr>
            <a:cxnSpLocks/>
            <a:stCxn id="30" idx="2"/>
            <a:endCxn id="38" idx="0"/>
          </p:cNvCxnSpPr>
          <p:nvPr/>
        </p:nvCxnSpPr>
        <p:spPr>
          <a:xfrm flipH="1">
            <a:off x="4495013" y="3105656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BB5D417-9612-496B-A337-E1BF6233F4C5}"/>
              </a:ext>
            </a:extLst>
          </p:cNvPr>
          <p:cNvCxnSpPr>
            <a:cxnSpLocks/>
            <a:stCxn id="30" idx="2"/>
            <a:endCxn id="41" idx="0"/>
          </p:cNvCxnSpPr>
          <p:nvPr/>
        </p:nvCxnSpPr>
        <p:spPr>
          <a:xfrm>
            <a:off x="5201316" y="3105656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D1C01383-1BF6-46D3-BE11-62C8D992BB53}"/>
              </a:ext>
            </a:extLst>
          </p:cNvPr>
          <p:cNvSpPr/>
          <p:nvPr/>
        </p:nvSpPr>
        <p:spPr>
          <a:xfrm>
            <a:off x="5283819" y="4143680"/>
            <a:ext cx="1236008" cy="388754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Gender=F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31B482-2DB7-438D-B896-CC0F729AFD0B}"/>
              </a:ext>
            </a:extLst>
          </p:cNvPr>
          <p:cNvSpPr/>
          <p:nvPr/>
        </p:nvSpPr>
        <p:spPr>
          <a:xfrm>
            <a:off x="6062059" y="4917565"/>
            <a:ext cx="1648943" cy="357521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Color not Blue 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972A110-5A70-4D04-A35B-35ACCE59870E}"/>
              </a:ext>
            </a:extLst>
          </p:cNvPr>
          <p:cNvSpPr/>
          <p:nvPr/>
        </p:nvSpPr>
        <p:spPr>
          <a:xfrm>
            <a:off x="4424128" y="4901276"/>
            <a:ext cx="1487629" cy="373811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Height &lt; 1.6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EE419F6-ADE1-47BF-9240-67444463A140}"/>
              </a:ext>
            </a:extLst>
          </p:cNvPr>
          <p:cNvSpPr/>
          <p:nvPr/>
        </p:nvSpPr>
        <p:spPr>
          <a:xfrm>
            <a:off x="6169642" y="5794062"/>
            <a:ext cx="882731" cy="365125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3.8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B7DF5FAA-7144-417F-9CD7-99A3A442C374}"/>
              </a:ext>
            </a:extLst>
          </p:cNvPr>
          <p:cNvCxnSpPr>
            <a:cxnSpLocks/>
            <a:stCxn id="28" idx="2"/>
            <a:endCxn id="44" idx="0"/>
          </p:cNvCxnSpPr>
          <p:nvPr/>
        </p:nvCxnSpPr>
        <p:spPr>
          <a:xfrm flipH="1">
            <a:off x="5167943" y="4532434"/>
            <a:ext cx="733880" cy="3688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07BA2B7-DF43-4ABE-9340-1DB04D0C119D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5901823" y="4532434"/>
            <a:ext cx="984708" cy="3851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D632866-7615-4BD0-86DA-E35A514E3DFF}"/>
              </a:ext>
            </a:extLst>
          </p:cNvPr>
          <p:cNvCxnSpPr>
            <a:cxnSpLocks/>
            <a:stCxn id="29" idx="2"/>
            <a:endCxn id="45" idx="0"/>
          </p:cNvCxnSpPr>
          <p:nvPr/>
        </p:nvCxnSpPr>
        <p:spPr>
          <a:xfrm flipH="1">
            <a:off x="6611008" y="5275086"/>
            <a:ext cx="275523" cy="51897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0BE0516-BD09-4CE6-94E1-9DCC14C51E7B}"/>
              </a:ext>
            </a:extLst>
          </p:cNvPr>
          <p:cNvCxnSpPr>
            <a:cxnSpLocks/>
            <a:stCxn id="29" idx="2"/>
            <a:endCxn id="50" idx="0"/>
          </p:cNvCxnSpPr>
          <p:nvPr/>
        </p:nvCxnSpPr>
        <p:spPr>
          <a:xfrm>
            <a:off x="6886531" y="5275086"/>
            <a:ext cx="763018" cy="52658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F2D24894-0048-414C-80DB-E673CF742C75}"/>
              </a:ext>
            </a:extLst>
          </p:cNvPr>
          <p:cNvSpPr/>
          <p:nvPr/>
        </p:nvSpPr>
        <p:spPr>
          <a:xfrm>
            <a:off x="7267103" y="5801666"/>
            <a:ext cx="764891" cy="35752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15.1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9D2109E-C338-44F0-A6E4-30965D93EB86}"/>
              </a:ext>
            </a:extLst>
          </p:cNvPr>
          <p:cNvSpPr/>
          <p:nvPr/>
        </p:nvSpPr>
        <p:spPr>
          <a:xfrm>
            <a:off x="3755337" y="5802885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-14.7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7BC1E13-9D0F-456F-A74A-3DE909D4F5AD}"/>
              </a:ext>
            </a:extLst>
          </p:cNvPr>
          <p:cNvSpPr/>
          <p:nvPr/>
        </p:nvSpPr>
        <p:spPr>
          <a:xfrm>
            <a:off x="5380843" y="5818652"/>
            <a:ext cx="681216" cy="360038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4.3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3C243B6-931B-413F-BED0-F4DADB557461}"/>
              </a:ext>
            </a:extLst>
          </p:cNvPr>
          <p:cNvCxnSpPr>
            <a:cxnSpLocks/>
            <a:stCxn id="44" idx="2"/>
            <a:endCxn id="51" idx="0"/>
          </p:cNvCxnSpPr>
          <p:nvPr/>
        </p:nvCxnSpPr>
        <p:spPr>
          <a:xfrm flipH="1">
            <a:off x="4461640" y="5275087"/>
            <a:ext cx="706303" cy="527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309984C-F5C7-44BF-AC80-3A6188C2A547}"/>
              </a:ext>
            </a:extLst>
          </p:cNvPr>
          <p:cNvCxnSpPr>
            <a:cxnSpLocks/>
            <a:stCxn id="44" idx="2"/>
            <a:endCxn id="52" idx="0"/>
          </p:cNvCxnSpPr>
          <p:nvPr/>
        </p:nvCxnSpPr>
        <p:spPr>
          <a:xfrm>
            <a:off x="5167943" y="5275087"/>
            <a:ext cx="553508" cy="5435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971600" y="2255689"/>
            <a:ext cx="1412605" cy="373811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919B6A-2D80-4BBA-80B3-4FC8E24EF6EF}"/>
              </a:ext>
            </a:extLst>
          </p:cNvPr>
          <p:cNvSpPr txBox="1"/>
          <p:nvPr/>
        </p:nvSpPr>
        <p:spPr>
          <a:xfrm>
            <a:off x="835009" y="1819785"/>
            <a:ext cx="177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36090-E295-49AD-A8E2-492BEE6536EE}"/>
              </a:ext>
            </a:extLst>
          </p:cNvPr>
          <p:cNvSpPr txBox="1"/>
          <p:nvPr/>
        </p:nvSpPr>
        <p:spPr>
          <a:xfrm>
            <a:off x="3599071" y="2118371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C4527-BB04-48C6-8D29-36F7D1615A92}"/>
              </a:ext>
            </a:extLst>
          </p:cNvPr>
          <p:cNvSpPr txBox="1"/>
          <p:nvPr/>
        </p:nvSpPr>
        <p:spPr>
          <a:xfrm>
            <a:off x="3884891" y="4192611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0" name="Plus Sign 39">
            <a:extLst>
              <a:ext uri="{FF2B5EF4-FFF2-40B4-BE49-F238E27FC236}">
                <a16:creationId xmlns:a16="http://schemas.microsoft.com/office/drawing/2014/main" id="{4982CB3A-B1B4-4115-8290-69986DA95EA0}"/>
              </a:ext>
            </a:extLst>
          </p:cNvPr>
          <p:cNvSpPr/>
          <p:nvPr/>
        </p:nvSpPr>
        <p:spPr>
          <a:xfrm>
            <a:off x="3002209" y="2042569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us Sign 58">
            <a:extLst>
              <a:ext uri="{FF2B5EF4-FFF2-40B4-BE49-F238E27FC236}">
                <a16:creationId xmlns:a16="http://schemas.microsoft.com/office/drawing/2014/main" id="{143B6FBC-5389-4921-B3E8-FF4345E21877}"/>
              </a:ext>
            </a:extLst>
          </p:cNvPr>
          <p:cNvSpPr/>
          <p:nvPr/>
        </p:nvSpPr>
        <p:spPr>
          <a:xfrm>
            <a:off x="3211559" y="4007265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0" name="Table 8">
            <a:extLst>
              <a:ext uri="{FF2B5EF4-FFF2-40B4-BE49-F238E27FC236}">
                <a16:creationId xmlns:a16="http://schemas.microsoft.com/office/drawing/2014/main" id="{CEA6BCEA-C2A3-4D7F-9F0C-AA3AB2573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876164"/>
              </p:ext>
            </p:extLst>
          </p:nvPr>
        </p:nvGraphicFramePr>
        <p:xfrm>
          <a:off x="499826" y="5345207"/>
          <a:ext cx="2790127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</a:tbl>
          </a:graphicData>
        </a:graphic>
      </p:graphicFrame>
      <p:sp>
        <p:nvSpPr>
          <p:cNvPr id="55" name="Rectangle 54">
            <a:extLst>
              <a:ext uri="{FF2B5EF4-FFF2-40B4-BE49-F238E27FC236}">
                <a16:creationId xmlns:a16="http://schemas.microsoft.com/office/drawing/2014/main" id="{AE09B0EA-B57A-413E-BBBF-B8F1F1E2B95A}"/>
              </a:ext>
            </a:extLst>
          </p:cNvPr>
          <p:cNvSpPr/>
          <p:nvPr/>
        </p:nvSpPr>
        <p:spPr>
          <a:xfrm>
            <a:off x="499824" y="5788768"/>
            <a:ext cx="2030837" cy="3844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31F05D1-5EAE-45DD-889D-E00104788E8E}"/>
              </a:ext>
            </a:extLst>
          </p:cNvPr>
          <p:cNvCxnSpPr>
            <a:cxnSpLocks/>
          </p:cNvCxnSpPr>
          <p:nvPr/>
        </p:nvCxnSpPr>
        <p:spPr>
          <a:xfrm flipH="1">
            <a:off x="2384205" y="1717441"/>
            <a:ext cx="459603" cy="5382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副標題 2">
            <a:extLst>
              <a:ext uri="{FF2B5EF4-FFF2-40B4-BE49-F238E27FC236}">
                <a16:creationId xmlns:a16="http://schemas.microsoft.com/office/drawing/2014/main" id="{ED965993-A981-4FDF-8985-B45EBE3BA306}"/>
              </a:ext>
            </a:extLst>
          </p:cNvPr>
          <p:cNvSpPr txBox="1">
            <a:spLocks/>
          </p:cNvSpPr>
          <p:nvPr/>
        </p:nvSpPr>
        <p:spPr>
          <a:xfrm>
            <a:off x="457199" y="3100731"/>
            <a:ext cx="2386609" cy="2039829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We have 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= 71.2 + (0.1 x 16.8) 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+ (0.1 x 15.1) 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= 74.4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A little bit closer to observed weight (88)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0663213A-ED5D-4D8F-8991-FBBAF077FEB2}"/>
              </a:ext>
            </a:extLst>
          </p:cNvPr>
          <p:cNvCxnSpPr>
            <a:cxnSpLocks/>
            <a:stCxn id="55" idx="0"/>
            <a:endCxn id="57" idx="2"/>
          </p:cNvCxnSpPr>
          <p:nvPr/>
        </p:nvCxnSpPr>
        <p:spPr>
          <a:xfrm flipV="1">
            <a:off x="1515243" y="2629500"/>
            <a:ext cx="162660" cy="31592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5B784388-1B89-4A34-8930-D0A9E73723F3}"/>
              </a:ext>
            </a:extLst>
          </p:cNvPr>
          <p:cNvSpPr/>
          <p:nvPr/>
        </p:nvSpPr>
        <p:spPr>
          <a:xfrm>
            <a:off x="420076" y="2161002"/>
            <a:ext cx="393123" cy="4091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32A47B65-6D86-4023-91F6-9495FF021F2E}"/>
              </a:ext>
            </a:extLst>
          </p:cNvPr>
          <p:cNvSpPr/>
          <p:nvPr/>
        </p:nvSpPr>
        <p:spPr>
          <a:xfrm>
            <a:off x="9008" y="3361464"/>
            <a:ext cx="393123" cy="40917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4114F22-2398-4F48-BE1D-ABCA753B38E1}"/>
              </a:ext>
            </a:extLst>
          </p:cNvPr>
          <p:cNvCxnSpPr>
            <a:cxnSpLocks/>
            <a:endCxn id="65" idx="0"/>
          </p:cNvCxnSpPr>
          <p:nvPr/>
        </p:nvCxnSpPr>
        <p:spPr>
          <a:xfrm>
            <a:off x="2343416" y="4971396"/>
            <a:ext cx="620683" cy="8208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5" name="Rectangle 64">
            <a:extLst>
              <a:ext uri="{FF2B5EF4-FFF2-40B4-BE49-F238E27FC236}">
                <a16:creationId xmlns:a16="http://schemas.microsoft.com/office/drawing/2014/main" id="{1016FDB1-3F52-47D6-B49A-B8C47D7717EF}"/>
              </a:ext>
            </a:extLst>
          </p:cNvPr>
          <p:cNvSpPr/>
          <p:nvPr/>
        </p:nvSpPr>
        <p:spPr>
          <a:xfrm>
            <a:off x="2638245" y="5792216"/>
            <a:ext cx="651708" cy="3844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302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 fontScale="90000"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50.7 Calculate All Residuals With GB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57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5196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50.7 Calculate All Residuals With GB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71522" y="1308270"/>
            <a:ext cx="8219256" cy="40917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Just Like before, we start with Average Weight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58</a:t>
            </a:fld>
            <a:endParaRPr lang="zh-TW" alt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3658341" y="2306366"/>
            <a:ext cx="960612" cy="317743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919B6A-2D80-4BBA-80B3-4FC8E24EF6EF}"/>
              </a:ext>
            </a:extLst>
          </p:cNvPr>
          <p:cNvSpPr txBox="1"/>
          <p:nvPr/>
        </p:nvSpPr>
        <p:spPr>
          <a:xfrm>
            <a:off x="3213937" y="1845483"/>
            <a:ext cx="177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36090-E295-49AD-A8E2-492BEE6536EE}"/>
              </a:ext>
            </a:extLst>
          </p:cNvPr>
          <p:cNvSpPr txBox="1"/>
          <p:nvPr/>
        </p:nvSpPr>
        <p:spPr>
          <a:xfrm>
            <a:off x="5404246" y="2099738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C4527-BB04-48C6-8D29-36F7D1615A92}"/>
              </a:ext>
            </a:extLst>
          </p:cNvPr>
          <p:cNvSpPr txBox="1"/>
          <p:nvPr/>
        </p:nvSpPr>
        <p:spPr>
          <a:xfrm>
            <a:off x="5494769" y="3611938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0" name="Plus Sign 39">
            <a:extLst>
              <a:ext uri="{FF2B5EF4-FFF2-40B4-BE49-F238E27FC236}">
                <a16:creationId xmlns:a16="http://schemas.microsoft.com/office/drawing/2014/main" id="{4982CB3A-B1B4-4115-8290-69986DA95EA0}"/>
              </a:ext>
            </a:extLst>
          </p:cNvPr>
          <p:cNvSpPr/>
          <p:nvPr/>
        </p:nvSpPr>
        <p:spPr>
          <a:xfrm>
            <a:off x="4809170" y="1988624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us Sign 58">
            <a:extLst>
              <a:ext uri="{FF2B5EF4-FFF2-40B4-BE49-F238E27FC236}">
                <a16:creationId xmlns:a16="http://schemas.microsoft.com/office/drawing/2014/main" id="{143B6FBC-5389-4921-B3E8-FF4345E21877}"/>
              </a:ext>
            </a:extLst>
          </p:cNvPr>
          <p:cNvSpPr/>
          <p:nvPr/>
        </p:nvSpPr>
        <p:spPr>
          <a:xfrm>
            <a:off x="4821437" y="3426592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B0B199-8FC3-4684-AE3E-EF0EFFF79121}"/>
              </a:ext>
            </a:extLst>
          </p:cNvPr>
          <p:cNvSpPr/>
          <p:nvPr/>
        </p:nvSpPr>
        <p:spPr>
          <a:xfrm>
            <a:off x="6890790" y="1938948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6EEE8DE-EDE9-4579-8AAF-6E995E569D36}"/>
              </a:ext>
            </a:extLst>
          </p:cNvPr>
          <p:cNvSpPr/>
          <p:nvPr/>
        </p:nvSpPr>
        <p:spPr>
          <a:xfrm>
            <a:off x="7390165" y="2429186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4406222-9059-4FD9-98D3-D129FFB38462}"/>
              </a:ext>
            </a:extLst>
          </p:cNvPr>
          <p:cNvSpPr/>
          <p:nvPr/>
        </p:nvSpPr>
        <p:spPr>
          <a:xfrm>
            <a:off x="6289390" y="2453697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336287-EAD3-4A0F-A65B-98867013D909}"/>
              </a:ext>
            </a:extLst>
          </p:cNvPr>
          <p:cNvSpPr/>
          <p:nvPr/>
        </p:nvSpPr>
        <p:spPr>
          <a:xfrm>
            <a:off x="7297516" y="3093882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983ECAE-FC25-4EC3-8AAB-62B7E08854B3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6613702" y="2242554"/>
            <a:ext cx="591057" cy="2111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3B1CDD1-D9DD-4616-9ED3-78E51706E74A}"/>
              </a:ext>
            </a:extLst>
          </p:cNvPr>
          <p:cNvCxnSpPr>
            <a:cxnSpLocks/>
            <a:stCxn id="63" idx="2"/>
            <a:endCxn id="66" idx="0"/>
          </p:cNvCxnSpPr>
          <p:nvPr/>
        </p:nvCxnSpPr>
        <p:spPr>
          <a:xfrm>
            <a:off x="7204759" y="2242554"/>
            <a:ext cx="565517" cy="186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0C07F03-2E9B-4A12-8DF2-7714909C7420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flipH="1">
            <a:off x="7629572" y="2769901"/>
            <a:ext cx="140704" cy="3239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F67AA2-D1F3-4B11-8A9D-4A9508B8EB6C}"/>
              </a:ext>
            </a:extLst>
          </p:cNvPr>
          <p:cNvCxnSpPr>
            <a:cxnSpLocks/>
            <a:stCxn id="66" idx="2"/>
            <a:endCxn id="73" idx="0"/>
          </p:cNvCxnSpPr>
          <p:nvPr/>
        </p:nvCxnSpPr>
        <p:spPr>
          <a:xfrm>
            <a:off x="7770276" y="2769901"/>
            <a:ext cx="538330" cy="3293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9D26780-669A-4461-ADEE-2BDFF5C22752}"/>
              </a:ext>
            </a:extLst>
          </p:cNvPr>
          <p:cNvSpPr/>
          <p:nvPr/>
        </p:nvSpPr>
        <p:spPr>
          <a:xfrm>
            <a:off x="8026767" y="3099229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8E362C2-5DDE-4D32-9E23-5F26C6B9573F}"/>
              </a:ext>
            </a:extLst>
          </p:cNvPr>
          <p:cNvSpPr/>
          <p:nvPr/>
        </p:nvSpPr>
        <p:spPr>
          <a:xfrm>
            <a:off x="5810893" y="3074794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2A4999-3417-4DC7-8782-A8435F14BADA}"/>
              </a:ext>
            </a:extLst>
          </p:cNvPr>
          <p:cNvSpPr/>
          <p:nvPr/>
        </p:nvSpPr>
        <p:spPr>
          <a:xfrm>
            <a:off x="6568267" y="3074401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6B231A3-A99D-4C2C-8A17-C8135E72E81E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6133416" y="2733686"/>
            <a:ext cx="480286" cy="3411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DAC0B8C-8480-4DB0-B2D9-CD704061896A}"/>
              </a:ext>
            </a:extLst>
          </p:cNvPr>
          <p:cNvCxnSpPr>
            <a:cxnSpLocks/>
            <a:stCxn id="67" idx="2"/>
            <a:endCxn id="75" idx="0"/>
          </p:cNvCxnSpPr>
          <p:nvPr/>
        </p:nvCxnSpPr>
        <p:spPr>
          <a:xfrm>
            <a:off x="6613702" y="2733686"/>
            <a:ext cx="277088" cy="340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5F9D218-627E-45D2-951E-63CB89AA3C4A}"/>
              </a:ext>
            </a:extLst>
          </p:cNvPr>
          <p:cNvSpPr/>
          <p:nvPr/>
        </p:nvSpPr>
        <p:spPr>
          <a:xfrm>
            <a:off x="6899344" y="3663538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9C002B-EE68-4363-BD2C-C4914D2E9480}"/>
              </a:ext>
            </a:extLst>
          </p:cNvPr>
          <p:cNvSpPr/>
          <p:nvPr/>
        </p:nvSpPr>
        <p:spPr>
          <a:xfrm>
            <a:off x="7398719" y="4153776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86CC64D-6FB6-429C-9C0B-4851AD12BA9D}"/>
              </a:ext>
            </a:extLst>
          </p:cNvPr>
          <p:cNvSpPr/>
          <p:nvPr/>
        </p:nvSpPr>
        <p:spPr>
          <a:xfrm>
            <a:off x="6297944" y="4178287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93FA8C0-1B8D-4C39-BAF3-3BA786160196}"/>
              </a:ext>
            </a:extLst>
          </p:cNvPr>
          <p:cNvSpPr/>
          <p:nvPr/>
        </p:nvSpPr>
        <p:spPr>
          <a:xfrm>
            <a:off x="7306070" y="4818472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24AB653-41FD-448D-8117-8BE607215241}"/>
              </a:ext>
            </a:extLst>
          </p:cNvPr>
          <p:cNvCxnSpPr>
            <a:cxnSpLocks/>
            <a:stCxn id="115" idx="2"/>
            <a:endCxn id="117" idx="0"/>
          </p:cNvCxnSpPr>
          <p:nvPr/>
        </p:nvCxnSpPr>
        <p:spPr>
          <a:xfrm flipH="1">
            <a:off x="6622256" y="3967144"/>
            <a:ext cx="591057" cy="2111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60ECE03-5B87-4030-A483-C782EB8A2D09}"/>
              </a:ext>
            </a:extLst>
          </p:cNvPr>
          <p:cNvCxnSpPr>
            <a:cxnSpLocks/>
            <a:stCxn id="115" idx="2"/>
            <a:endCxn id="116" idx="0"/>
          </p:cNvCxnSpPr>
          <p:nvPr/>
        </p:nvCxnSpPr>
        <p:spPr>
          <a:xfrm>
            <a:off x="7213313" y="3967144"/>
            <a:ext cx="565517" cy="186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5019FFE-E7D0-47DF-B4C5-C334B0CB2289}"/>
              </a:ext>
            </a:extLst>
          </p:cNvPr>
          <p:cNvCxnSpPr>
            <a:cxnSpLocks/>
            <a:stCxn id="116" idx="2"/>
            <a:endCxn id="118" idx="0"/>
          </p:cNvCxnSpPr>
          <p:nvPr/>
        </p:nvCxnSpPr>
        <p:spPr>
          <a:xfrm flipH="1">
            <a:off x="7638126" y="4494491"/>
            <a:ext cx="140704" cy="3239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1DC97E33-0FB8-4CD4-A1C2-2C9270E71130}"/>
              </a:ext>
            </a:extLst>
          </p:cNvPr>
          <p:cNvCxnSpPr>
            <a:cxnSpLocks/>
            <a:stCxn id="116" idx="2"/>
            <a:endCxn id="123" idx="0"/>
          </p:cNvCxnSpPr>
          <p:nvPr/>
        </p:nvCxnSpPr>
        <p:spPr>
          <a:xfrm>
            <a:off x="7778830" y="4494491"/>
            <a:ext cx="538330" cy="3293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52E334F-D7CC-4BA3-AE52-7CE91A2B984F}"/>
              </a:ext>
            </a:extLst>
          </p:cNvPr>
          <p:cNvSpPr/>
          <p:nvPr/>
        </p:nvSpPr>
        <p:spPr>
          <a:xfrm>
            <a:off x="8035321" y="4823819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201AD74-FEEF-4533-9D25-A3EAD1259CEC}"/>
              </a:ext>
            </a:extLst>
          </p:cNvPr>
          <p:cNvSpPr/>
          <p:nvPr/>
        </p:nvSpPr>
        <p:spPr>
          <a:xfrm>
            <a:off x="5819447" y="4799384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E10E124-CDF4-48F4-B4CD-7D78E41EC017}"/>
              </a:ext>
            </a:extLst>
          </p:cNvPr>
          <p:cNvSpPr/>
          <p:nvPr/>
        </p:nvSpPr>
        <p:spPr>
          <a:xfrm>
            <a:off x="6576821" y="4798991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6A52B73-666B-4196-B10D-634F2762D192}"/>
              </a:ext>
            </a:extLst>
          </p:cNvPr>
          <p:cNvCxnSpPr>
            <a:cxnSpLocks/>
            <a:stCxn id="117" idx="2"/>
            <a:endCxn id="124" idx="0"/>
          </p:cNvCxnSpPr>
          <p:nvPr/>
        </p:nvCxnSpPr>
        <p:spPr>
          <a:xfrm flipH="1">
            <a:off x="6141970" y="4458276"/>
            <a:ext cx="480286" cy="3411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EB2CC07-13B8-4213-8B2D-26BD0EC2DAF4}"/>
              </a:ext>
            </a:extLst>
          </p:cNvPr>
          <p:cNvCxnSpPr>
            <a:cxnSpLocks/>
            <a:stCxn id="117" idx="2"/>
            <a:endCxn id="125" idx="0"/>
          </p:cNvCxnSpPr>
          <p:nvPr/>
        </p:nvCxnSpPr>
        <p:spPr>
          <a:xfrm>
            <a:off x="6622256" y="4458276"/>
            <a:ext cx="277088" cy="340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8" name="Table 8">
            <a:extLst>
              <a:ext uri="{FF2B5EF4-FFF2-40B4-BE49-F238E27FC236}">
                <a16:creationId xmlns:a16="http://schemas.microsoft.com/office/drawing/2014/main" id="{BC363028-6CD9-44C6-969E-EDDA00029F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059269"/>
              </p:ext>
            </p:extLst>
          </p:nvPr>
        </p:nvGraphicFramePr>
        <p:xfrm>
          <a:off x="568965" y="2967951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4209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13.6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3.9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-12.4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-11.4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129" name="Rectangle 128">
            <a:extLst>
              <a:ext uri="{FF2B5EF4-FFF2-40B4-BE49-F238E27FC236}">
                <a16:creationId xmlns:a16="http://schemas.microsoft.com/office/drawing/2014/main" id="{CE60D82C-13E6-456E-9734-5F8B440E5495}"/>
              </a:ext>
            </a:extLst>
          </p:cNvPr>
          <p:cNvSpPr/>
          <p:nvPr/>
        </p:nvSpPr>
        <p:spPr>
          <a:xfrm>
            <a:off x="499824" y="2924944"/>
            <a:ext cx="2133600" cy="324830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FFECC462-B291-4B92-B649-AF3805BB826C}"/>
              </a:ext>
            </a:extLst>
          </p:cNvPr>
          <p:cNvSpPr/>
          <p:nvPr/>
        </p:nvSpPr>
        <p:spPr>
          <a:xfrm>
            <a:off x="3316456" y="2931891"/>
            <a:ext cx="821090" cy="324830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副標題 2">
            <a:extLst>
              <a:ext uri="{FF2B5EF4-FFF2-40B4-BE49-F238E27FC236}">
                <a16:creationId xmlns:a16="http://schemas.microsoft.com/office/drawing/2014/main" id="{AB099859-9758-43ED-A874-4C3D97EC19E1}"/>
              </a:ext>
            </a:extLst>
          </p:cNvPr>
          <p:cNvSpPr txBox="1">
            <a:spLocks/>
          </p:cNvSpPr>
          <p:nvPr/>
        </p:nvSpPr>
        <p:spPr>
          <a:xfrm>
            <a:off x="5470060" y="5521690"/>
            <a:ext cx="3201589" cy="40917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…to calculate new Residuals.</a:t>
            </a: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D74138D-C358-4643-9C41-76102EEA4346}"/>
              </a:ext>
            </a:extLst>
          </p:cNvPr>
          <p:cNvCxnSpPr>
            <a:cxnSpLocks/>
            <a:stCxn id="131" idx="1"/>
            <a:endCxn id="128" idx="3"/>
          </p:cNvCxnSpPr>
          <p:nvPr/>
        </p:nvCxnSpPr>
        <p:spPr>
          <a:xfrm flipH="1" flipV="1">
            <a:off x="4112837" y="4494491"/>
            <a:ext cx="1357223" cy="123178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8499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50.7 Calculate All Residuals With GB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71522" y="1308270"/>
            <a:ext cx="8219256" cy="584248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Note: The Residual difference. We can see the residuals are reduced for more trees. Each time we add a tree to the prediction, the residuals gets smaller.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59</a:t>
            </a:fld>
            <a:endParaRPr lang="zh-TW" alt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3658341" y="2306366"/>
            <a:ext cx="960612" cy="317743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919B6A-2D80-4BBA-80B3-4FC8E24EF6EF}"/>
              </a:ext>
            </a:extLst>
          </p:cNvPr>
          <p:cNvSpPr txBox="1"/>
          <p:nvPr/>
        </p:nvSpPr>
        <p:spPr>
          <a:xfrm>
            <a:off x="3213937" y="1845483"/>
            <a:ext cx="1773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Average weight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36090-E295-49AD-A8E2-492BEE6536EE}"/>
              </a:ext>
            </a:extLst>
          </p:cNvPr>
          <p:cNvSpPr txBox="1"/>
          <p:nvPr/>
        </p:nvSpPr>
        <p:spPr>
          <a:xfrm>
            <a:off x="5404246" y="2099738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C4527-BB04-48C6-8D29-36F7D1615A92}"/>
              </a:ext>
            </a:extLst>
          </p:cNvPr>
          <p:cNvSpPr txBox="1"/>
          <p:nvPr/>
        </p:nvSpPr>
        <p:spPr>
          <a:xfrm>
            <a:off x="5494769" y="3611938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0" name="Plus Sign 39">
            <a:extLst>
              <a:ext uri="{FF2B5EF4-FFF2-40B4-BE49-F238E27FC236}">
                <a16:creationId xmlns:a16="http://schemas.microsoft.com/office/drawing/2014/main" id="{4982CB3A-B1B4-4115-8290-69986DA95EA0}"/>
              </a:ext>
            </a:extLst>
          </p:cNvPr>
          <p:cNvSpPr/>
          <p:nvPr/>
        </p:nvSpPr>
        <p:spPr>
          <a:xfrm>
            <a:off x="4809170" y="1988624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us Sign 58">
            <a:extLst>
              <a:ext uri="{FF2B5EF4-FFF2-40B4-BE49-F238E27FC236}">
                <a16:creationId xmlns:a16="http://schemas.microsoft.com/office/drawing/2014/main" id="{143B6FBC-5389-4921-B3E8-FF4345E21877}"/>
              </a:ext>
            </a:extLst>
          </p:cNvPr>
          <p:cNvSpPr/>
          <p:nvPr/>
        </p:nvSpPr>
        <p:spPr>
          <a:xfrm>
            <a:off x="4821437" y="3426592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B0B199-8FC3-4684-AE3E-EF0EFFF79121}"/>
              </a:ext>
            </a:extLst>
          </p:cNvPr>
          <p:cNvSpPr/>
          <p:nvPr/>
        </p:nvSpPr>
        <p:spPr>
          <a:xfrm>
            <a:off x="6890790" y="1938948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6EEE8DE-EDE9-4579-8AAF-6E995E569D36}"/>
              </a:ext>
            </a:extLst>
          </p:cNvPr>
          <p:cNvSpPr/>
          <p:nvPr/>
        </p:nvSpPr>
        <p:spPr>
          <a:xfrm>
            <a:off x="7390165" y="2429186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4406222-9059-4FD9-98D3-D129FFB38462}"/>
              </a:ext>
            </a:extLst>
          </p:cNvPr>
          <p:cNvSpPr/>
          <p:nvPr/>
        </p:nvSpPr>
        <p:spPr>
          <a:xfrm>
            <a:off x="6289390" y="2453697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336287-EAD3-4A0F-A65B-98867013D909}"/>
              </a:ext>
            </a:extLst>
          </p:cNvPr>
          <p:cNvSpPr/>
          <p:nvPr/>
        </p:nvSpPr>
        <p:spPr>
          <a:xfrm>
            <a:off x="7297516" y="3093882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983ECAE-FC25-4EC3-8AAB-62B7E08854B3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6613702" y="2242554"/>
            <a:ext cx="591057" cy="2111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3B1CDD1-D9DD-4616-9ED3-78E51706E74A}"/>
              </a:ext>
            </a:extLst>
          </p:cNvPr>
          <p:cNvCxnSpPr>
            <a:cxnSpLocks/>
            <a:stCxn id="63" idx="2"/>
            <a:endCxn id="66" idx="0"/>
          </p:cNvCxnSpPr>
          <p:nvPr/>
        </p:nvCxnSpPr>
        <p:spPr>
          <a:xfrm>
            <a:off x="7204759" y="2242554"/>
            <a:ext cx="565517" cy="186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0C07F03-2E9B-4A12-8DF2-7714909C7420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flipH="1">
            <a:off x="7629572" y="2769901"/>
            <a:ext cx="140704" cy="3239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F67AA2-D1F3-4B11-8A9D-4A9508B8EB6C}"/>
              </a:ext>
            </a:extLst>
          </p:cNvPr>
          <p:cNvCxnSpPr>
            <a:cxnSpLocks/>
            <a:stCxn id="66" idx="2"/>
            <a:endCxn id="73" idx="0"/>
          </p:cNvCxnSpPr>
          <p:nvPr/>
        </p:nvCxnSpPr>
        <p:spPr>
          <a:xfrm>
            <a:off x="7770276" y="2769901"/>
            <a:ext cx="538330" cy="3293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9D26780-669A-4461-ADEE-2BDFF5C22752}"/>
              </a:ext>
            </a:extLst>
          </p:cNvPr>
          <p:cNvSpPr/>
          <p:nvPr/>
        </p:nvSpPr>
        <p:spPr>
          <a:xfrm>
            <a:off x="8026767" y="3099229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8E362C2-5DDE-4D32-9E23-5F26C6B9573F}"/>
              </a:ext>
            </a:extLst>
          </p:cNvPr>
          <p:cNvSpPr/>
          <p:nvPr/>
        </p:nvSpPr>
        <p:spPr>
          <a:xfrm>
            <a:off x="5810893" y="3074794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2A4999-3417-4DC7-8782-A8435F14BADA}"/>
              </a:ext>
            </a:extLst>
          </p:cNvPr>
          <p:cNvSpPr/>
          <p:nvPr/>
        </p:nvSpPr>
        <p:spPr>
          <a:xfrm>
            <a:off x="6568267" y="3074401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6B231A3-A99D-4C2C-8A17-C8135E72E81E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6133416" y="2733686"/>
            <a:ext cx="480286" cy="3411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DAC0B8C-8480-4DB0-B2D9-CD704061896A}"/>
              </a:ext>
            </a:extLst>
          </p:cNvPr>
          <p:cNvCxnSpPr>
            <a:cxnSpLocks/>
            <a:stCxn id="67" idx="2"/>
            <a:endCxn id="75" idx="0"/>
          </p:cNvCxnSpPr>
          <p:nvPr/>
        </p:nvCxnSpPr>
        <p:spPr>
          <a:xfrm>
            <a:off x="6613702" y="2733686"/>
            <a:ext cx="277088" cy="340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5F9D218-627E-45D2-951E-63CB89AA3C4A}"/>
              </a:ext>
            </a:extLst>
          </p:cNvPr>
          <p:cNvSpPr/>
          <p:nvPr/>
        </p:nvSpPr>
        <p:spPr>
          <a:xfrm>
            <a:off x="6899344" y="3663538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9C002B-EE68-4363-BD2C-C4914D2E9480}"/>
              </a:ext>
            </a:extLst>
          </p:cNvPr>
          <p:cNvSpPr/>
          <p:nvPr/>
        </p:nvSpPr>
        <p:spPr>
          <a:xfrm>
            <a:off x="7398719" y="4153776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86CC64D-6FB6-429C-9C0B-4851AD12BA9D}"/>
              </a:ext>
            </a:extLst>
          </p:cNvPr>
          <p:cNvSpPr/>
          <p:nvPr/>
        </p:nvSpPr>
        <p:spPr>
          <a:xfrm>
            <a:off x="6297944" y="4178287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93FA8C0-1B8D-4C39-BAF3-3BA786160196}"/>
              </a:ext>
            </a:extLst>
          </p:cNvPr>
          <p:cNvSpPr/>
          <p:nvPr/>
        </p:nvSpPr>
        <p:spPr>
          <a:xfrm>
            <a:off x="7306070" y="4818472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24AB653-41FD-448D-8117-8BE607215241}"/>
              </a:ext>
            </a:extLst>
          </p:cNvPr>
          <p:cNvCxnSpPr>
            <a:cxnSpLocks/>
            <a:stCxn id="115" idx="2"/>
            <a:endCxn id="117" idx="0"/>
          </p:cNvCxnSpPr>
          <p:nvPr/>
        </p:nvCxnSpPr>
        <p:spPr>
          <a:xfrm flipH="1">
            <a:off x="6622256" y="3967144"/>
            <a:ext cx="591057" cy="2111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60ECE03-5B87-4030-A483-C782EB8A2D09}"/>
              </a:ext>
            </a:extLst>
          </p:cNvPr>
          <p:cNvCxnSpPr>
            <a:cxnSpLocks/>
            <a:stCxn id="115" idx="2"/>
            <a:endCxn id="116" idx="0"/>
          </p:cNvCxnSpPr>
          <p:nvPr/>
        </p:nvCxnSpPr>
        <p:spPr>
          <a:xfrm>
            <a:off x="7213313" y="3967144"/>
            <a:ext cx="565517" cy="1866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5019FFE-E7D0-47DF-B4C5-C334B0CB2289}"/>
              </a:ext>
            </a:extLst>
          </p:cNvPr>
          <p:cNvCxnSpPr>
            <a:cxnSpLocks/>
            <a:stCxn id="116" idx="2"/>
            <a:endCxn id="118" idx="0"/>
          </p:cNvCxnSpPr>
          <p:nvPr/>
        </p:nvCxnSpPr>
        <p:spPr>
          <a:xfrm flipH="1">
            <a:off x="7638126" y="4494491"/>
            <a:ext cx="140704" cy="32398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1DC97E33-0FB8-4CD4-A1C2-2C9270E71130}"/>
              </a:ext>
            </a:extLst>
          </p:cNvPr>
          <p:cNvCxnSpPr>
            <a:cxnSpLocks/>
            <a:stCxn id="116" idx="2"/>
            <a:endCxn id="123" idx="0"/>
          </p:cNvCxnSpPr>
          <p:nvPr/>
        </p:nvCxnSpPr>
        <p:spPr>
          <a:xfrm>
            <a:off x="7778830" y="4494491"/>
            <a:ext cx="538330" cy="3293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52E334F-D7CC-4BA3-AE52-7CE91A2B984F}"/>
              </a:ext>
            </a:extLst>
          </p:cNvPr>
          <p:cNvSpPr/>
          <p:nvPr/>
        </p:nvSpPr>
        <p:spPr>
          <a:xfrm>
            <a:off x="8035321" y="4823819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201AD74-FEEF-4533-9D25-A3EAD1259CEC}"/>
              </a:ext>
            </a:extLst>
          </p:cNvPr>
          <p:cNvSpPr/>
          <p:nvPr/>
        </p:nvSpPr>
        <p:spPr>
          <a:xfrm>
            <a:off x="5819447" y="4799384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E10E124-CDF4-48F4-B4CD-7D78E41EC017}"/>
              </a:ext>
            </a:extLst>
          </p:cNvPr>
          <p:cNvSpPr/>
          <p:nvPr/>
        </p:nvSpPr>
        <p:spPr>
          <a:xfrm>
            <a:off x="6576821" y="4798991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6A52B73-666B-4196-B10D-634F2762D192}"/>
              </a:ext>
            </a:extLst>
          </p:cNvPr>
          <p:cNvCxnSpPr>
            <a:cxnSpLocks/>
            <a:stCxn id="117" idx="2"/>
            <a:endCxn id="124" idx="0"/>
          </p:cNvCxnSpPr>
          <p:nvPr/>
        </p:nvCxnSpPr>
        <p:spPr>
          <a:xfrm flipH="1">
            <a:off x="6141970" y="4458276"/>
            <a:ext cx="480286" cy="34110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EB2CC07-13B8-4213-8B2D-26BD0EC2DAF4}"/>
              </a:ext>
            </a:extLst>
          </p:cNvPr>
          <p:cNvCxnSpPr>
            <a:cxnSpLocks/>
            <a:stCxn id="117" idx="2"/>
            <a:endCxn id="125" idx="0"/>
          </p:cNvCxnSpPr>
          <p:nvPr/>
        </p:nvCxnSpPr>
        <p:spPr>
          <a:xfrm>
            <a:off x="6622256" y="4458276"/>
            <a:ext cx="277088" cy="3407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D74138D-C358-4643-9C41-76102EEA4346}"/>
              </a:ext>
            </a:extLst>
          </p:cNvPr>
          <p:cNvCxnSpPr>
            <a:cxnSpLocks/>
            <a:stCxn id="57" idx="2"/>
            <a:endCxn id="44" idx="0"/>
          </p:cNvCxnSpPr>
          <p:nvPr/>
        </p:nvCxnSpPr>
        <p:spPr>
          <a:xfrm flipH="1">
            <a:off x="895501" y="2624109"/>
            <a:ext cx="3243146" cy="8308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44" name="Table 8">
            <a:extLst>
              <a:ext uri="{FF2B5EF4-FFF2-40B4-BE49-F238E27FC236}">
                <a16:creationId xmlns:a16="http://schemas.microsoft.com/office/drawing/2014/main" id="{3F95196C-A7EF-4ABC-822F-A3ED3D462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281599"/>
              </p:ext>
            </p:extLst>
          </p:nvPr>
        </p:nvGraphicFramePr>
        <p:xfrm>
          <a:off x="518629" y="3454992"/>
          <a:ext cx="75374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16.8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-15.2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5.8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-14.2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graphicFrame>
        <p:nvGraphicFramePr>
          <p:cNvPr id="46" name="Table 8">
            <a:extLst>
              <a:ext uri="{FF2B5EF4-FFF2-40B4-BE49-F238E27FC236}">
                <a16:creationId xmlns:a16="http://schemas.microsoft.com/office/drawing/2014/main" id="{7881C1F3-2D88-45AC-BD02-1B5DA60726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502738"/>
              </p:ext>
            </p:extLst>
          </p:nvPr>
        </p:nvGraphicFramePr>
        <p:xfrm>
          <a:off x="1849409" y="3521255"/>
          <a:ext cx="75374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15.1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4.3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-13.7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-12.7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50" name="副標題 2">
            <a:extLst>
              <a:ext uri="{FF2B5EF4-FFF2-40B4-BE49-F238E27FC236}">
                <a16:creationId xmlns:a16="http://schemas.microsoft.com/office/drawing/2014/main" id="{412756DD-4167-498C-BFE2-C0C336AA147A}"/>
              </a:ext>
            </a:extLst>
          </p:cNvPr>
          <p:cNvSpPr txBox="1">
            <a:spLocks/>
          </p:cNvSpPr>
          <p:nvPr/>
        </p:nvSpPr>
        <p:spPr>
          <a:xfrm>
            <a:off x="272917" y="2004780"/>
            <a:ext cx="1170033" cy="121086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Initial Residuals 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(Average Weight)</a:t>
            </a:r>
          </a:p>
        </p:txBody>
      </p:sp>
      <p:sp>
        <p:nvSpPr>
          <p:cNvPr id="53" name="副標題 2">
            <a:extLst>
              <a:ext uri="{FF2B5EF4-FFF2-40B4-BE49-F238E27FC236}">
                <a16:creationId xmlns:a16="http://schemas.microsoft.com/office/drawing/2014/main" id="{A4DA2016-4EDB-496B-B918-01F88E50186F}"/>
              </a:ext>
            </a:extLst>
          </p:cNvPr>
          <p:cNvSpPr txBox="1">
            <a:spLocks/>
          </p:cNvSpPr>
          <p:nvPr/>
        </p:nvSpPr>
        <p:spPr>
          <a:xfrm>
            <a:off x="1685866" y="1949279"/>
            <a:ext cx="1170033" cy="122492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Residuals 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(Average Weight + first Tree)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CE2749D-8920-4DE2-92E1-376B8D6CF3E9}"/>
              </a:ext>
            </a:extLst>
          </p:cNvPr>
          <p:cNvCxnSpPr>
            <a:cxnSpLocks/>
            <a:endCxn id="46" idx="0"/>
          </p:cNvCxnSpPr>
          <p:nvPr/>
        </p:nvCxnSpPr>
        <p:spPr>
          <a:xfrm flipH="1">
            <a:off x="2226281" y="2931891"/>
            <a:ext cx="3519472" cy="589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aphicFrame>
        <p:nvGraphicFramePr>
          <p:cNvPr id="60" name="Table 8">
            <a:extLst>
              <a:ext uri="{FF2B5EF4-FFF2-40B4-BE49-F238E27FC236}">
                <a16:creationId xmlns:a16="http://schemas.microsoft.com/office/drawing/2014/main" id="{99C524A8-6372-4414-AF81-610BF785C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114928"/>
              </p:ext>
            </p:extLst>
          </p:nvPr>
        </p:nvGraphicFramePr>
        <p:xfrm>
          <a:off x="3113785" y="3530777"/>
          <a:ext cx="75374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13.6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3.9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-12.4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-11.4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6D81E05-2CDF-4F9B-B3E1-11B8277D1432}"/>
              </a:ext>
            </a:extLst>
          </p:cNvPr>
          <p:cNvCxnSpPr>
            <a:cxnSpLocks/>
          </p:cNvCxnSpPr>
          <p:nvPr/>
        </p:nvCxnSpPr>
        <p:spPr>
          <a:xfrm flipH="1">
            <a:off x="3885129" y="4196085"/>
            <a:ext cx="1237975" cy="64601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4" name="副標題 2">
            <a:extLst>
              <a:ext uri="{FF2B5EF4-FFF2-40B4-BE49-F238E27FC236}">
                <a16:creationId xmlns:a16="http://schemas.microsoft.com/office/drawing/2014/main" id="{3DF9C705-E8BA-44E5-B5A4-E462F1628103}"/>
              </a:ext>
            </a:extLst>
          </p:cNvPr>
          <p:cNvSpPr txBox="1">
            <a:spLocks/>
          </p:cNvSpPr>
          <p:nvPr/>
        </p:nvSpPr>
        <p:spPr>
          <a:xfrm>
            <a:off x="4114332" y="4427840"/>
            <a:ext cx="1170033" cy="192851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Residual 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(Average Weight + first Tree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+ Second Tree)</a:t>
            </a:r>
          </a:p>
        </p:txBody>
      </p:sp>
    </p:spTree>
    <p:extLst>
      <p:ext uri="{BB962C8B-B14F-4D97-AF65-F5344CB8AC3E}">
        <p14:creationId xmlns:p14="http://schemas.microsoft.com/office/powerpoint/2010/main" val="29516799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50.7 Calculate All Residuals With GB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71522" y="1308270"/>
            <a:ext cx="3410060" cy="42703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Now, we add another tree.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470625" y="6277774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60</a:t>
            </a:fld>
            <a:endParaRPr lang="zh-TW" alt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1276746" y="2024253"/>
            <a:ext cx="960612" cy="317743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36090-E295-49AD-A8E2-492BEE6536EE}"/>
              </a:ext>
            </a:extLst>
          </p:cNvPr>
          <p:cNvSpPr txBox="1"/>
          <p:nvPr/>
        </p:nvSpPr>
        <p:spPr>
          <a:xfrm>
            <a:off x="3077545" y="1988803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C4527-BB04-48C6-8D29-36F7D1615A92}"/>
              </a:ext>
            </a:extLst>
          </p:cNvPr>
          <p:cNvSpPr txBox="1"/>
          <p:nvPr/>
        </p:nvSpPr>
        <p:spPr>
          <a:xfrm>
            <a:off x="3811794" y="3326314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0" name="Plus Sign 39">
            <a:extLst>
              <a:ext uri="{FF2B5EF4-FFF2-40B4-BE49-F238E27FC236}">
                <a16:creationId xmlns:a16="http://schemas.microsoft.com/office/drawing/2014/main" id="{4982CB3A-B1B4-4115-8290-69986DA95EA0}"/>
              </a:ext>
            </a:extLst>
          </p:cNvPr>
          <p:cNvSpPr/>
          <p:nvPr/>
        </p:nvSpPr>
        <p:spPr>
          <a:xfrm>
            <a:off x="2482469" y="1877689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us Sign 58">
            <a:extLst>
              <a:ext uri="{FF2B5EF4-FFF2-40B4-BE49-F238E27FC236}">
                <a16:creationId xmlns:a16="http://schemas.microsoft.com/office/drawing/2014/main" id="{143B6FBC-5389-4921-B3E8-FF4345E21877}"/>
              </a:ext>
            </a:extLst>
          </p:cNvPr>
          <p:cNvSpPr/>
          <p:nvPr/>
        </p:nvSpPr>
        <p:spPr>
          <a:xfrm>
            <a:off x="3138462" y="3140968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B0B199-8FC3-4684-AE3E-EF0EFFF79121}"/>
              </a:ext>
            </a:extLst>
          </p:cNvPr>
          <p:cNvSpPr/>
          <p:nvPr/>
        </p:nvSpPr>
        <p:spPr>
          <a:xfrm>
            <a:off x="4538956" y="1559010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6EEE8DE-EDE9-4579-8AAF-6E995E569D36}"/>
              </a:ext>
            </a:extLst>
          </p:cNvPr>
          <p:cNvSpPr/>
          <p:nvPr/>
        </p:nvSpPr>
        <p:spPr>
          <a:xfrm>
            <a:off x="5038331" y="2007869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4406222-9059-4FD9-98D3-D129FFB38462}"/>
              </a:ext>
            </a:extLst>
          </p:cNvPr>
          <p:cNvSpPr/>
          <p:nvPr/>
        </p:nvSpPr>
        <p:spPr>
          <a:xfrm>
            <a:off x="3937556" y="2032380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336287-EAD3-4A0F-A65B-98867013D909}"/>
              </a:ext>
            </a:extLst>
          </p:cNvPr>
          <p:cNvSpPr/>
          <p:nvPr/>
        </p:nvSpPr>
        <p:spPr>
          <a:xfrm>
            <a:off x="4945682" y="2562035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983ECAE-FC25-4EC3-8AAB-62B7E08854B3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4261868" y="1862616"/>
            <a:ext cx="591057" cy="1697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3B1CDD1-D9DD-4616-9ED3-78E51706E74A}"/>
              </a:ext>
            </a:extLst>
          </p:cNvPr>
          <p:cNvCxnSpPr>
            <a:cxnSpLocks/>
            <a:stCxn id="63" idx="2"/>
            <a:endCxn id="66" idx="0"/>
          </p:cNvCxnSpPr>
          <p:nvPr/>
        </p:nvCxnSpPr>
        <p:spPr>
          <a:xfrm>
            <a:off x="4852925" y="1862616"/>
            <a:ext cx="565517" cy="1452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0C07F03-2E9B-4A12-8DF2-7714909C7420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flipH="1">
            <a:off x="5277738" y="2348584"/>
            <a:ext cx="140704" cy="2134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F67AA2-D1F3-4B11-8A9D-4A9508B8EB6C}"/>
              </a:ext>
            </a:extLst>
          </p:cNvPr>
          <p:cNvCxnSpPr>
            <a:cxnSpLocks/>
            <a:stCxn id="66" idx="2"/>
            <a:endCxn id="73" idx="0"/>
          </p:cNvCxnSpPr>
          <p:nvPr/>
        </p:nvCxnSpPr>
        <p:spPr>
          <a:xfrm>
            <a:off x="5418442" y="2348584"/>
            <a:ext cx="538330" cy="218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9D26780-669A-4461-ADEE-2BDFF5C22752}"/>
              </a:ext>
            </a:extLst>
          </p:cNvPr>
          <p:cNvSpPr/>
          <p:nvPr/>
        </p:nvSpPr>
        <p:spPr>
          <a:xfrm>
            <a:off x="5674933" y="2567382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8E362C2-5DDE-4D32-9E23-5F26C6B9573F}"/>
              </a:ext>
            </a:extLst>
          </p:cNvPr>
          <p:cNvSpPr/>
          <p:nvPr/>
        </p:nvSpPr>
        <p:spPr>
          <a:xfrm>
            <a:off x="3459059" y="2542947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2A4999-3417-4DC7-8782-A8435F14BADA}"/>
              </a:ext>
            </a:extLst>
          </p:cNvPr>
          <p:cNvSpPr/>
          <p:nvPr/>
        </p:nvSpPr>
        <p:spPr>
          <a:xfrm>
            <a:off x="4216433" y="2542554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6B231A3-A99D-4C2C-8A17-C8135E72E81E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3781582" y="2312369"/>
            <a:ext cx="480286" cy="2305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DAC0B8C-8480-4DB0-B2D9-CD704061896A}"/>
              </a:ext>
            </a:extLst>
          </p:cNvPr>
          <p:cNvCxnSpPr>
            <a:cxnSpLocks/>
            <a:stCxn id="67" idx="2"/>
            <a:endCxn id="75" idx="0"/>
          </p:cNvCxnSpPr>
          <p:nvPr/>
        </p:nvCxnSpPr>
        <p:spPr>
          <a:xfrm>
            <a:off x="4261868" y="2312369"/>
            <a:ext cx="277088" cy="2301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5F9D218-627E-45D2-951E-63CB89AA3C4A}"/>
              </a:ext>
            </a:extLst>
          </p:cNvPr>
          <p:cNvSpPr/>
          <p:nvPr/>
        </p:nvSpPr>
        <p:spPr>
          <a:xfrm>
            <a:off x="5193410" y="2960169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9C002B-EE68-4363-BD2C-C4914D2E9480}"/>
              </a:ext>
            </a:extLst>
          </p:cNvPr>
          <p:cNvSpPr/>
          <p:nvPr/>
        </p:nvSpPr>
        <p:spPr>
          <a:xfrm>
            <a:off x="5692785" y="3371295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86CC64D-6FB6-429C-9C0B-4851AD12BA9D}"/>
              </a:ext>
            </a:extLst>
          </p:cNvPr>
          <p:cNvSpPr/>
          <p:nvPr/>
        </p:nvSpPr>
        <p:spPr>
          <a:xfrm>
            <a:off x="4592010" y="3395806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93FA8C0-1B8D-4C39-BAF3-3BA786160196}"/>
              </a:ext>
            </a:extLst>
          </p:cNvPr>
          <p:cNvSpPr/>
          <p:nvPr/>
        </p:nvSpPr>
        <p:spPr>
          <a:xfrm>
            <a:off x="5600136" y="3887728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24AB653-41FD-448D-8117-8BE607215241}"/>
              </a:ext>
            </a:extLst>
          </p:cNvPr>
          <p:cNvCxnSpPr>
            <a:cxnSpLocks/>
            <a:stCxn id="115" idx="2"/>
            <a:endCxn id="117" idx="0"/>
          </p:cNvCxnSpPr>
          <p:nvPr/>
        </p:nvCxnSpPr>
        <p:spPr>
          <a:xfrm flipH="1">
            <a:off x="4916322" y="3263775"/>
            <a:ext cx="591057" cy="1320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60ECE03-5B87-4030-A483-C782EB8A2D09}"/>
              </a:ext>
            </a:extLst>
          </p:cNvPr>
          <p:cNvCxnSpPr>
            <a:cxnSpLocks/>
            <a:stCxn id="115" idx="2"/>
            <a:endCxn id="116" idx="0"/>
          </p:cNvCxnSpPr>
          <p:nvPr/>
        </p:nvCxnSpPr>
        <p:spPr>
          <a:xfrm>
            <a:off x="5507379" y="3263775"/>
            <a:ext cx="565517" cy="107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5019FFE-E7D0-47DF-B4C5-C334B0CB2289}"/>
              </a:ext>
            </a:extLst>
          </p:cNvPr>
          <p:cNvCxnSpPr>
            <a:cxnSpLocks/>
            <a:stCxn id="116" idx="2"/>
            <a:endCxn id="118" idx="0"/>
          </p:cNvCxnSpPr>
          <p:nvPr/>
        </p:nvCxnSpPr>
        <p:spPr>
          <a:xfrm flipH="1">
            <a:off x="5932192" y="3712010"/>
            <a:ext cx="140704" cy="1757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1DC97E33-0FB8-4CD4-A1C2-2C9270E71130}"/>
              </a:ext>
            </a:extLst>
          </p:cNvPr>
          <p:cNvCxnSpPr>
            <a:cxnSpLocks/>
            <a:stCxn id="116" idx="2"/>
            <a:endCxn id="123" idx="0"/>
          </p:cNvCxnSpPr>
          <p:nvPr/>
        </p:nvCxnSpPr>
        <p:spPr>
          <a:xfrm>
            <a:off x="6072896" y="3712010"/>
            <a:ext cx="538330" cy="181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52E334F-D7CC-4BA3-AE52-7CE91A2B984F}"/>
              </a:ext>
            </a:extLst>
          </p:cNvPr>
          <p:cNvSpPr/>
          <p:nvPr/>
        </p:nvSpPr>
        <p:spPr>
          <a:xfrm>
            <a:off x="6329387" y="3893075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201AD74-FEEF-4533-9D25-A3EAD1259CEC}"/>
              </a:ext>
            </a:extLst>
          </p:cNvPr>
          <p:cNvSpPr/>
          <p:nvPr/>
        </p:nvSpPr>
        <p:spPr>
          <a:xfrm>
            <a:off x="4113513" y="3868640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E10E124-CDF4-48F4-B4CD-7D78E41EC017}"/>
              </a:ext>
            </a:extLst>
          </p:cNvPr>
          <p:cNvSpPr/>
          <p:nvPr/>
        </p:nvSpPr>
        <p:spPr>
          <a:xfrm>
            <a:off x="4870887" y="3868247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6A52B73-666B-4196-B10D-634F2762D192}"/>
              </a:ext>
            </a:extLst>
          </p:cNvPr>
          <p:cNvCxnSpPr>
            <a:cxnSpLocks/>
            <a:stCxn id="117" idx="2"/>
            <a:endCxn id="124" idx="0"/>
          </p:cNvCxnSpPr>
          <p:nvPr/>
        </p:nvCxnSpPr>
        <p:spPr>
          <a:xfrm flipH="1">
            <a:off x="4436036" y="3675795"/>
            <a:ext cx="480286" cy="192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EB2CC07-13B8-4213-8B2D-26BD0EC2DAF4}"/>
              </a:ext>
            </a:extLst>
          </p:cNvPr>
          <p:cNvCxnSpPr>
            <a:cxnSpLocks/>
            <a:stCxn id="117" idx="2"/>
            <a:endCxn id="125" idx="0"/>
          </p:cNvCxnSpPr>
          <p:nvPr/>
        </p:nvCxnSpPr>
        <p:spPr>
          <a:xfrm>
            <a:off x="4916322" y="3675795"/>
            <a:ext cx="277088" cy="1924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9AE33-6EB9-462F-954B-1AD44916C375}"/>
              </a:ext>
            </a:extLst>
          </p:cNvPr>
          <p:cNvSpPr txBox="1"/>
          <p:nvPr/>
        </p:nvSpPr>
        <p:spPr>
          <a:xfrm>
            <a:off x="4319833" y="4766474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9" name="Plus Sign 48">
            <a:extLst>
              <a:ext uri="{FF2B5EF4-FFF2-40B4-BE49-F238E27FC236}">
                <a16:creationId xmlns:a16="http://schemas.microsoft.com/office/drawing/2014/main" id="{34A6350A-9AB0-4896-852B-E7F954FD13D3}"/>
              </a:ext>
            </a:extLst>
          </p:cNvPr>
          <p:cNvSpPr/>
          <p:nvPr/>
        </p:nvSpPr>
        <p:spPr>
          <a:xfrm>
            <a:off x="3646501" y="4581128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153264-F553-4266-B639-4D884885EAF0}"/>
              </a:ext>
            </a:extLst>
          </p:cNvPr>
          <p:cNvSpPr/>
          <p:nvPr/>
        </p:nvSpPr>
        <p:spPr>
          <a:xfrm>
            <a:off x="5701449" y="4348796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F84F5E-A5B8-473A-831C-880F3A369277}"/>
              </a:ext>
            </a:extLst>
          </p:cNvPr>
          <p:cNvSpPr/>
          <p:nvPr/>
        </p:nvSpPr>
        <p:spPr>
          <a:xfrm>
            <a:off x="6200824" y="4759922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E5D48A-5523-4D5D-82BF-B0650FE7FAA7}"/>
              </a:ext>
            </a:extLst>
          </p:cNvPr>
          <p:cNvSpPr/>
          <p:nvPr/>
        </p:nvSpPr>
        <p:spPr>
          <a:xfrm>
            <a:off x="5100049" y="4784433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AF4CE8-B579-4B64-BBC4-767E3DBC5109}"/>
              </a:ext>
            </a:extLst>
          </p:cNvPr>
          <p:cNvSpPr/>
          <p:nvPr/>
        </p:nvSpPr>
        <p:spPr>
          <a:xfrm>
            <a:off x="6108175" y="5276355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C4DA276-B17F-4A84-B147-B5E58586B86B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 flipH="1">
            <a:off x="5424361" y="4652402"/>
            <a:ext cx="591057" cy="1320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4B4821E-0C66-4A49-803F-C7A736ADA938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>
            <a:off x="6015418" y="4652402"/>
            <a:ext cx="565517" cy="107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0AA13B6-21FD-4857-BB5C-DFD4F2B54339}"/>
              </a:ext>
            </a:extLst>
          </p:cNvPr>
          <p:cNvCxnSpPr>
            <a:cxnSpLocks/>
            <a:stCxn id="52" idx="2"/>
            <a:endCxn id="56" idx="0"/>
          </p:cNvCxnSpPr>
          <p:nvPr/>
        </p:nvCxnSpPr>
        <p:spPr>
          <a:xfrm flipH="1">
            <a:off x="6440231" y="5100637"/>
            <a:ext cx="140704" cy="1757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5A2DE6B-DF82-416F-9572-D1C638BD5948}"/>
              </a:ext>
            </a:extLst>
          </p:cNvPr>
          <p:cNvCxnSpPr>
            <a:cxnSpLocks/>
            <a:stCxn id="52" idx="2"/>
            <a:endCxn id="80" idx="0"/>
          </p:cNvCxnSpPr>
          <p:nvPr/>
        </p:nvCxnSpPr>
        <p:spPr>
          <a:xfrm>
            <a:off x="6580935" y="5100637"/>
            <a:ext cx="538330" cy="181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0F56BCA6-6FAB-4967-936B-D34C65850228}"/>
              </a:ext>
            </a:extLst>
          </p:cNvPr>
          <p:cNvSpPr/>
          <p:nvPr/>
        </p:nvSpPr>
        <p:spPr>
          <a:xfrm>
            <a:off x="6837426" y="5281702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F013B33-FEAA-464F-B403-39114064AC5E}"/>
              </a:ext>
            </a:extLst>
          </p:cNvPr>
          <p:cNvSpPr/>
          <p:nvPr/>
        </p:nvSpPr>
        <p:spPr>
          <a:xfrm>
            <a:off x="4621552" y="5257267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A1D59EB-343F-43D8-85D7-690A565AD364}"/>
              </a:ext>
            </a:extLst>
          </p:cNvPr>
          <p:cNvSpPr/>
          <p:nvPr/>
        </p:nvSpPr>
        <p:spPr>
          <a:xfrm>
            <a:off x="5378926" y="5256874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2B6FD59-BD12-449D-9C41-650B162D6EB1}"/>
              </a:ext>
            </a:extLst>
          </p:cNvPr>
          <p:cNvCxnSpPr>
            <a:cxnSpLocks/>
            <a:stCxn id="55" idx="2"/>
            <a:endCxn id="81" idx="0"/>
          </p:cNvCxnSpPr>
          <p:nvPr/>
        </p:nvCxnSpPr>
        <p:spPr>
          <a:xfrm flipH="1">
            <a:off x="4944075" y="5064422"/>
            <a:ext cx="480286" cy="192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0448779-360B-48AB-BFE3-9C4CBCD1FF33}"/>
              </a:ext>
            </a:extLst>
          </p:cNvPr>
          <p:cNvCxnSpPr>
            <a:cxnSpLocks/>
            <a:stCxn id="55" idx="2"/>
            <a:endCxn id="82" idx="0"/>
          </p:cNvCxnSpPr>
          <p:nvPr/>
        </p:nvCxnSpPr>
        <p:spPr>
          <a:xfrm>
            <a:off x="5424361" y="5064422"/>
            <a:ext cx="277088" cy="1924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副標題 2">
            <a:extLst>
              <a:ext uri="{FF2B5EF4-FFF2-40B4-BE49-F238E27FC236}">
                <a16:creationId xmlns:a16="http://schemas.microsoft.com/office/drawing/2014/main" id="{C29139D3-B4A0-4E20-9F3D-68759DD36186}"/>
              </a:ext>
            </a:extLst>
          </p:cNvPr>
          <p:cNvSpPr txBox="1">
            <a:spLocks/>
          </p:cNvSpPr>
          <p:nvPr/>
        </p:nvSpPr>
        <p:spPr>
          <a:xfrm>
            <a:off x="289963" y="3312977"/>
            <a:ext cx="2581753" cy="198499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.. And we keep making trees until we reach the maximum specified, or adding additional trees does not significant reduce the size of the </a:t>
            </a:r>
            <a:r>
              <a:rPr lang="en-US" sz="1800" b="1" dirty="0">
                <a:solidFill>
                  <a:srgbClr val="C00000"/>
                </a:solidFill>
              </a:rPr>
              <a:t>Residuals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6" name="副標題 2">
            <a:extLst>
              <a:ext uri="{FF2B5EF4-FFF2-40B4-BE49-F238E27FC236}">
                <a16:creationId xmlns:a16="http://schemas.microsoft.com/office/drawing/2014/main" id="{E599AE46-2678-4E93-8478-A27D9E60867B}"/>
              </a:ext>
            </a:extLst>
          </p:cNvPr>
          <p:cNvSpPr txBox="1">
            <a:spLocks/>
          </p:cNvSpPr>
          <p:nvPr/>
        </p:nvSpPr>
        <p:spPr>
          <a:xfrm>
            <a:off x="4732350" y="5808234"/>
            <a:ext cx="2681090" cy="40007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…etc., etc., and etc.</a:t>
            </a:r>
          </a:p>
        </p:txBody>
      </p:sp>
    </p:spTree>
    <p:extLst>
      <p:ext uri="{BB962C8B-B14F-4D97-AF65-F5344CB8AC3E}">
        <p14:creationId xmlns:p14="http://schemas.microsoft.com/office/powerpoint/2010/main" val="38752911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50.7 Calculate All Residuals With GB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6300" y="1230252"/>
            <a:ext cx="7041918" cy="42703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Then, we have new measurement, we can predict the weight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470625" y="6277774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61</a:t>
            </a:fld>
            <a:endParaRPr lang="zh-TW" alt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2245894" y="2094196"/>
            <a:ext cx="960612" cy="317743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36090-E295-49AD-A8E2-492BEE6536EE}"/>
              </a:ext>
            </a:extLst>
          </p:cNvPr>
          <p:cNvSpPr txBox="1"/>
          <p:nvPr/>
        </p:nvSpPr>
        <p:spPr>
          <a:xfrm>
            <a:off x="4046693" y="2058746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C4527-BB04-48C6-8D29-36F7D1615A92}"/>
              </a:ext>
            </a:extLst>
          </p:cNvPr>
          <p:cNvSpPr txBox="1"/>
          <p:nvPr/>
        </p:nvSpPr>
        <p:spPr>
          <a:xfrm>
            <a:off x="4780942" y="3396257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0" name="Plus Sign 39">
            <a:extLst>
              <a:ext uri="{FF2B5EF4-FFF2-40B4-BE49-F238E27FC236}">
                <a16:creationId xmlns:a16="http://schemas.microsoft.com/office/drawing/2014/main" id="{4982CB3A-B1B4-4115-8290-69986DA95EA0}"/>
              </a:ext>
            </a:extLst>
          </p:cNvPr>
          <p:cNvSpPr/>
          <p:nvPr/>
        </p:nvSpPr>
        <p:spPr>
          <a:xfrm>
            <a:off x="3451617" y="1947632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us Sign 58">
            <a:extLst>
              <a:ext uri="{FF2B5EF4-FFF2-40B4-BE49-F238E27FC236}">
                <a16:creationId xmlns:a16="http://schemas.microsoft.com/office/drawing/2014/main" id="{143B6FBC-5389-4921-B3E8-FF4345E21877}"/>
              </a:ext>
            </a:extLst>
          </p:cNvPr>
          <p:cNvSpPr/>
          <p:nvPr/>
        </p:nvSpPr>
        <p:spPr>
          <a:xfrm>
            <a:off x="4107610" y="3210911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B0B199-8FC3-4684-AE3E-EF0EFFF79121}"/>
              </a:ext>
            </a:extLst>
          </p:cNvPr>
          <p:cNvSpPr/>
          <p:nvPr/>
        </p:nvSpPr>
        <p:spPr>
          <a:xfrm>
            <a:off x="5508104" y="1628953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6EEE8DE-EDE9-4579-8AAF-6E995E569D36}"/>
              </a:ext>
            </a:extLst>
          </p:cNvPr>
          <p:cNvSpPr/>
          <p:nvPr/>
        </p:nvSpPr>
        <p:spPr>
          <a:xfrm>
            <a:off x="6007479" y="2077812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4406222-9059-4FD9-98D3-D129FFB38462}"/>
              </a:ext>
            </a:extLst>
          </p:cNvPr>
          <p:cNvSpPr/>
          <p:nvPr/>
        </p:nvSpPr>
        <p:spPr>
          <a:xfrm>
            <a:off x="4906704" y="2102323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336287-EAD3-4A0F-A65B-98867013D909}"/>
              </a:ext>
            </a:extLst>
          </p:cNvPr>
          <p:cNvSpPr/>
          <p:nvPr/>
        </p:nvSpPr>
        <p:spPr>
          <a:xfrm>
            <a:off x="5914830" y="2631978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983ECAE-FC25-4EC3-8AAB-62B7E08854B3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5231016" y="1932559"/>
            <a:ext cx="591057" cy="1697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3B1CDD1-D9DD-4616-9ED3-78E51706E74A}"/>
              </a:ext>
            </a:extLst>
          </p:cNvPr>
          <p:cNvCxnSpPr>
            <a:cxnSpLocks/>
            <a:stCxn id="63" idx="2"/>
            <a:endCxn id="66" idx="0"/>
          </p:cNvCxnSpPr>
          <p:nvPr/>
        </p:nvCxnSpPr>
        <p:spPr>
          <a:xfrm>
            <a:off x="5822073" y="1932559"/>
            <a:ext cx="565517" cy="1452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0C07F03-2E9B-4A12-8DF2-7714909C7420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flipH="1">
            <a:off x="6246886" y="2418527"/>
            <a:ext cx="140704" cy="2134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F67AA2-D1F3-4B11-8A9D-4A9508B8EB6C}"/>
              </a:ext>
            </a:extLst>
          </p:cNvPr>
          <p:cNvCxnSpPr>
            <a:cxnSpLocks/>
            <a:stCxn id="66" idx="2"/>
            <a:endCxn id="73" idx="0"/>
          </p:cNvCxnSpPr>
          <p:nvPr/>
        </p:nvCxnSpPr>
        <p:spPr>
          <a:xfrm>
            <a:off x="6387590" y="2418527"/>
            <a:ext cx="538330" cy="218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9D26780-669A-4461-ADEE-2BDFF5C22752}"/>
              </a:ext>
            </a:extLst>
          </p:cNvPr>
          <p:cNvSpPr/>
          <p:nvPr/>
        </p:nvSpPr>
        <p:spPr>
          <a:xfrm>
            <a:off x="6644081" y="2637325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8E362C2-5DDE-4D32-9E23-5F26C6B9573F}"/>
              </a:ext>
            </a:extLst>
          </p:cNvPr>
          <p:cNvSpPr/>
          <p:nvPr/>
        </p:nvSpPr>
        <p:spPr>
          <a:xfrm>
            <a:off x="4428207" y="2612890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2A4999-3417-4DC7-8782-A8435F14BADA}"/>
              </a:ext>
            </a:extLst>
          </p:cNvPr>
          <p:cNvSpPr/>
          <p:nvPr/>
        </p:nvSpPr>
        <p:spPr>
          <a:xfrm>
            <a:off x="5185581" y="2612497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6B231A3-A99D-4C2C-8A17-C8135E72E81E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4750730" y="2382312"/>
            <a:ext cx="480286" cy="2305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DAC0B8C-8480-4DB0-B2D9-CD704061896A}"/>
              </a:ext>
            </a:extLst>
          </p:cNvPr>
          <p:cNvCxnSpPr>
            <a:cxnSpLocks/>
            <a:stCxn id="67" idx="2"/>
            <a:endCxn id="75" idx="0"/>
          </p:cNvCxnSpPr>
          <p:nvPr/>
        </p:nvCxnSpPr>
        <p:spPr>
          <a:xfrm>
            <a:off x="5231016" y="2382312"/>
            <a:ext cx="277088" cy="23018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5F9D218-627E-45D2-951E-63CB89AA3C4A}"/>
              </a:ext>
            </a:extLst>
          </p:cNvPr>
          <p:cNvSpPr/>
          <p:nvPr/>
        </p:nvSpPr>
        <p:spPr>
          <a:xfrm>
            <a:off x="6162558" y="3030112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9C002B-EE68-4363-BD2C-C4914D2E9480}"/>
              </a:ext>
            </a:extLst>
          </p:cNvPr>
          <p:cNvSpPr/>
          <p:nvPr/>
        </p:nvSpPr>
        <p:spPr>
          <a:xfrm>
            <a:off x="6661933" y="3441238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86CC64D-6FB6-429C-9C0B-4851AD12BA9D}"/>
              </a:ext>
            </a:extLst>
          </p:cNvPr>
          <p:cNvSpPr/>
          <p:nvPr/>
        </p:nvSpPr>
        <p:spPr>
          <a:xfrm>
            <a:off x="5561158" y="3465749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93FA8C0-1B8D-4C39-BAF3-3BA786160196}"/>
              </a:ext>
            </a:extLst>
          </p:cNvPr>
          <p:cNvSpPr/>
          <p:nvPr/>
        </p:nvSpPr>
        <p:spPr>
          <a:xfrm>
            <a:off x="6569284" y="3957671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24AB653-41FD-448D-8117-8BE607215241}"/>
              </a:ext>
            </a:extLst>
          </p:cNvPr>
          <p:cNvCxnSpPr>
            <a:cxnSpLocks/>
            <a:stCxn id="115" idx="2"/>
            <a:endCxn id="117" idx="0"/>
          </p:cNvCxnSpPr>
          <p:nvPr/>
        </p:nvCxnSpPr>
        <p:spPr>
          <a:xfrm flipH="1">
            <a:off x="5885470" y="3333718"/>
            <a:ext cx="591057" cy="1320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60ECE03-5B87-4030-A483-C782EB8A2D09}"/>
              </a:ext>
            </a:extLst>
          </p:cNvPr>
          <p:cNvCxnSpPr>
            <a:cxnSpLocks/>
            <a:stCxn id="115" idx="2"/>
            <a:endCxn id="116" idx="0"/>
          </p:cNvCxnSpPr>
          <p:nvPr/>
        </p:nvCxnSpPr>
        <p:spPr>
          <a:xfrm>
            <a:off x="6476527" y="3333718"/>
            <a:ext cx="565517" cy="107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5019FFE-E7D0-47DF-B4C5-C334B0CB2289}"/>
              </a:ext>
            </a:extLst>
          </p:cNvPr>
          <p:cNvCxnSpPr>
            <a:cxnSpLocks/>
            <a:stCxn id="116" idx="2"/>
            <a:endCxn id="118" idx="0"/>
          </p:cNvCxnSpPr>
          <p:nvPr/>
        </p:nvCxnSpPr>
        <p:spPr>
          <a:xfrm flipH="1">
            <a:off x="6901340" y="3781953"/>
            <a:ext cx="140704" cy="1757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1DC97E33-0FB8-4CD4-A1C2-2C9270E71130}"/>
              </a:ext>
            </a:extLst>
          </p:cNvPr>
          <p:cNvCxnSpPr>
            <a:cxnSpLocks/>
            <a:stCxn id="116" idx="2"/>
            <a:endCxn id="123" idx="0"/>
          </p:cNvCxnSpPr>
          <p:nvPr/>
        </p:nvCxnSpPr>
        <p:spPr>
          <a:xfrm>
            <a:off x="7042044" y="3781953"/>
            <a:ext cx="538330" cy="181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52E334F-D7CC-4BA3-AE52-7CE91A2B984F}"/>
              </a:ext>
            </a:extLst>
          </p:cNvPr>
          <p:cNvSpPr/>
          <p:nvPr/>
        </p:nvSpPr>
        <p:spPr>
          <a:xfrm>
            <a:off x="7298535" y="3963018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201AD74-FEEF-4533-9D25-A3EAD1259CEC}"/>
              </a:ext>
            </a:extLst>
          </p:cNvPr>
          <p:cNvSpPr/>
          <p:nvPr/>
        </p:nvSpPr>
        <p:spPr>
          <a:xfrm>
            <a:off x="5082661" y="3938583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E10E124-CDF4-48F4-B4CD-7D78E41EC017}"/>
              </a:ext>
            </a:extLst>
          </p:cNvPr>
          <p:cNvSpPr/>
          <p:nvPr/>
        </p:nvSpPr>
        <p:spPr>
          <a:xfrm>
            <a:off x="5840035" y="3938190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6A52B73-666B-4196-B10D-634F2762D192}"/>
              </a:ext>
            </a:extLst>
          </p:cNvPr>
          <p:cNvCxnSpPr>
            <a:cxnSpLocks/>
            <a:stCxn id="117" idx="2"/>
            <a:endCxn id="124" idx="0"/>
          </p:cNvCxnSpPr>
          <p:nvPr/>
        </p:nvCxnSpPr>
        <p:spPr>
          <a:xfrm flipH="1">
            <a:off x="5405184" y="3745738"/>
            <a:ext cx="480286" cy="192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EB2CC07-13B8-4213-8B2D-26BD0EC2DAF4}"/>
              </a:ext>
            </a:extLst>
          </p:cNvPr>
          <p:cNvCxnSpPr>
            <a:cxnSpLocks/>
            <a:stCxn id="117" idx="2"/>
            <a:endCxn id="125" idx="0"/>
          </p:cNvCxnSpPr>
          <p:nvPr/>
        </p:nvCxnSpPr>
        <p:spPr>
          <a:xfrm>
            <a:off x="5885470" y="3745738"/>
            <a:ext cx="277088" cy="1924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9AE33-6EB9-462F-954B-1AD44916C375}"/>
              </a:ext>
            </a:extLst>
          </p:cNvPr>
          <p:cNvSpPr txBox="1"/>
          <p:nvPr/>
        </p:nvSpPr>
        <p:spPr>
          <a:xfrm>
            <a:off x="5288981" y="4836417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9" name="Plus Sign 48">
            <a:extLst>
              <a:ext uri="{FF2B5EF4-FFF2-40B4-BE49-F238E27FC236}">
                <a16:creationId xmlns:a16="http://schemas.microsoft.com/office/drawing/2014/main" id="{34A6350A-9AB0-4896-852B-E7F954FD13D3}"/>
              </a:ext>
            </a:extLst>
          </p:cNvPr>
          <p:cNvSpPr/>
          <p:nvPr/>
        </p:nvSpPr>
        <p:spPr>
          <a:xfrm>
            <a:off x="4615649" y="4651071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153264-F553-4266-B639-4D884885EAF0}"/>
              </a:ext>
            </a:extLst>
          </p:cNvPr>
          <p:cNvSpPr/>
          <p:nvPr/>
        </p:nvSpPr>
        <p:spPr>
          <a:xfrm>
            <a:off x="6670597" y="4418739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F84F5E-A5B8-473A-831C-880F3A369277}"/>
              </a:ext>
            </a:extLst>
          </p:cNvPr>
          <p:cNvSpPr/>
          <p:nvPr/>
        </p:nvSpPr>
        <p:spPr>
          <a:xfrm>
            <a:off x="7169972" y="4829865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E5D48A-5523-4D5D-82BF-B0650FE7FAA7}"/>
              </a:ext>
            </a:extLst>
          </p:cNvPr>
          <p:cNvSpPr/>
          <p:nvPr/>
        </p:nvSpPr>
        <p:spPr>
          <a:xfrm>
            <a:off x="6069197" y="4854376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AF4CE8-B579-4B64-BBC4-767E3DBC5109}"/>
              </a:ext>
            </a:extLst>
          </p:cNvPr>
          <p:cNvSpPr/>
          <p:nvPr/>
        </p:nvSpPr>
        <p:spPr>
          <a:xfrm>
            <a:off x="7077323" y="5346298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C4DA276-B17F-4A84-B147-B5E58586B86B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 flipH="1">
            <a:off x="6393509" y="4722345"/>
            <a:ext cx="591057" cy="1320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4B4821E-0C66-4A49-803F-C7A736ADA938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>
            <a:off x="6984566" y="4722345"/>
            <a:ext cx="565517" cy="107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0AA13B6-21FD-4857-BB5C-DFD4F2B54339}"/>
              </a:ext>
            </a:extLst>
          </p:cNvPr>
          <p:cNvCxnSpPr>
            <a:cxnSpLocks/>
            <a:stCxn id="52" idx="2"/>
            <a:endCxn id="56" idx="0"/>
          </p:cNvCxnSpPr>
          <p:nvPr/>
        </p:nvCxnSpPr>
        <p:spPr>
          <a:xfrm flipH="1">
            <a:off x="7409379" y="5170580"/>
            <a:ext cx="140704" cy="1757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5A2DE6B-DF82-416F-9572-D1C638BD5948}"/>
              </a:ext>
            </a:extLst>
          </p:cNvPr>
          <p:cNvCxnSpPr>
            <a:cxnSpLocks/>
            <a:stCxn id="52" idx="2"/>
            <a:endCxn id="80" idx="0"/>
          </p:cNvCxnSpPr>
          <p:nvPr/>
        </p:nvCxnSpPr>
        <p:spPr>
          <a:xfrm>
            <a:off x="7550083" y="5170580"/>
            <a:ext cx="538330" cy="181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0F56BCA6-6FAB-4967-936B-D34C65850228}"/>
              </a:ext>
            </a:extLst>
          </p:cNvPr>
          <p:cNvSpPr/>
          <p:nvPr/>
        </p:nvSpPr>
        <p:spPr>
          <a:xfrm>
            <a:off x="7806574" y="5351645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F013B33-FEAA-464F-B403-39114064AC5E}"/>
              </a:ext>
            </a:extLst>
          </p:cNvPr>
          <p:cNvSpPr/>
          <p:nvPr/>
        </p:nvSpPr>
        <p:spPr>
          <a:xfrm>
            <a:off x="5590700" y="5327210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A1D59EB-343F-43D8-85D7-690A565AD364}"/>
              </a:ext>
            </a:extLst>
          </p:cNvPr>
          <p:cNvSpPr/>
          <p:nvPr/>
        </p:nvSpPr>
        <p:spPr>
          <a:xfrm>
            <a:off x="6348074" y="5326817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2B6FD59-BD12-449D-9C41-650B162D6EB1}"/>
              </a:ext>
            </a:extLst>
          </p:cNvPr>
          <p:cNvCxnSpPr>
            <a:cxnSpLocks/>
            <a:stCxn id="55" idx="2"/>
            <a:endCxn id="81" idx="0"/>
          </p:cNvCxnSpPr>
          <p:nvPr/>
        </p:nvCxnSpPr>
        <p:spPr>
          <a:xfrm flipH="1">
            <a:off x="5913223" y="5134365"/>
            <a:ext cx="480286" cy="192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0448779-360B-48AB-BFE3-9C4CBCD1FF33}"/>
              </a:ext>
            </a:extLst>
          </p:cNvPr>
          <p:cNvCxnSpPr>
            <a:cxnSpLocks/>
            <a:stCxn id="55" idx="2"/>
            <a:endCxn id="82" idx="0"/>
          </p:cNvCxnSpPr>
          <p:nvPr/>
        </p:nvCxnSpPr>
        <p:spPr>
          <a:xfrm>
            <a:off x="6393509" y="5134365"/>
            <a:ext cx="277088" cy="1924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副標題 2">
            <a:extLst>
              <a:ext uri="{FF2B5EF4-FFF2-40B4-BE49-F238E27FC236}">
                <a16:creationId xmlns:a16="http://schemas.microsoft.com/office/drawing/2014/main" id="{C29139D3-B4A0-4E20-9F3D-68759DD36186}"/>
              </a:ext>
            </a:extLst>
          </p:cNvPr>
          <p:cNvSpPr txBox="1">
            <a:spLocks/>
          </p:cNvSpPr>
          <p:nvPr/>
        </p:nvSpPr>
        <p:spPr>
          <a:xfrm>
            <a:off x="502877" y="2877316"/>
            <a:ext cx="2581753" cy="63548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…by starting with the initial </a:t>
            </a:r>
            <a:r>
              <a:rPr lang="en-US" sz="1800" b="1" dirty="0">
                <a:solidFill>
                  <a:srgbClr val="C00000"/>
                </a:solidFill>
              </a:rPr>
              <a:t>Prediction</a:t>
            </a:r>
            <a:r>
              <a:rPr lang="en-US" sz="1800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6" name="副標題 2">
            <a:extLst>
              <a:ext uri="{FF2B5EF4-FFF2-40B4-BE49-F238E27FC236}">
                <a16:creationId xmlns:a16="http://schemas.microsoft.com/office/drawing/2014/main" id="{E599AE46-2678-4E93-8478-A27D9E60867B}"/>
              </a:ext>
            </a:extLst>
          </p:cNvPr>
          <p:cNvSpPr txBox="1">
            <a:spLocks/>
          </p:cNvSpPr>
          <p:nvPr/>
        </p:nvSpPr>
        <p:spPr>
          <a:xfrm>
            <a:off x="5701498" y="5878177"/>
            <a:ext cx="2681090" cy="40007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…etc., etc., and etc.</a:t>
            </a:r>
          </a:p>
        </p:txBody>
      </p:sp>
      <p:graphicFrame>
        <p:nvGraphicFramePr>
          <p:cNvPr id="58" name="Table 8">
            <a:extLst>
              <a:ext uri="{FF2B5EF4-FFF2-40B4-BE49-F238E27FC236}">
                <a16:creationId xmlns:a16="http://schemas.microsoft.com/office/drawing/2014/main" id="{90B92A1F-49C3-4E44-8578-1167FC3DF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614660"/>
              </p:ext>
            </p:extLst>
          </p:nvPr>
        </p:nvGraphicFramePr>
        <p:xfrm>
          <a:off x="416379" y="4058113"/>
          <a:ext cx="2790127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chemeClr val="bg1"/>
                          </a:solidFill>
                        </a:rPr>
                        <a:t>Femal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???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</a:tbl>
          </a:graphicData>
        </a:graphic>
      </p:graphicFrame>
      <p:sp>
        <p:nvSpPr>
          <p:cNvPr id="61" name="Rectangle 60">
            <a:extLst>
              <a:ext uri="{FF2B5EF4-FFF2-40B4-BE49-F238E27FC236}">
                <a16:creationId xmlns:a16="http://schemas.microsoft.com/office/drawing/2014/main" id="{BCB0B270-2B3A-439E-AB10-10EF5D83F9F0}"/>
              </a:ext>
            </a:extLst>
          </p:cNvPr>
          <p:cNvSpPr/>
          <p:nvPr/>
        </p:nvSpPr>
        <p:spPr>
          <a:xfrm>
            <a:off x="2511703" y="4541181"/>
            <a:ext cx="651708" cy="3844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D63436B-1DF2-444B-A9E5-7B3439801C52}"/>
              </a:ext>
            </a:extLst>
          </p:cNvPr>
          <p:cNvCxnSpPr>
            <a:cxnSpLocks/>
            <a:stCxn id="85" idx="0"/>
            <a:endCxn id="57" idx="2"/>
          </p:cNvCxnSpPr>
          <p:nvPr/>
        </p:nvCxnSpPr>
        <p:spPr>
          <a:xfrm flipV="1">
            <a:off x="1793754" y="2411939"/>
            <a:ext cx="932446" cy="465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468EF3D-55CE-457D-813C-984165227D35}"/>
              </a:ext>
            </a:extLst>
          </p:cNvPr>
          <p:cNvSpPr/>
          <p:nvPr/>
        </p:nvSpPr>
        <p:spPr>
          <a:xfrm>
            <a:off x="1701004" y="2427844"/>
            <a:ext cx="360040" cy="3407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A4542E4-AFA7-451B-B9C2-790A6CC647D8}"/>
              </a:ext>
            </a:extLst>
          </p:cNvPr>
          <p:cNvSpPr/>
          <p:nvPr/>
        </p:nvSpPr>
        <p:spPr>
          <a:xfrm>
            <a:off x="2230760" y="3575380"/>
            <a:ext cx="360040" cy="3407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5F9DC09-CA87-48B1-96BE-1F5018EA59CF}"/>
              </a:ext>
            </a:extLst>
          </p:cNvPr>
          <p:cNvCxnSpPr>
            <a:cxnSpLocks/>
            <a:stCxn id="85" idx="2"/>
          </p:cNvCxnSpPr>
          <p:nvPr/>
        </p:nvCxnSpPr>
        <p:spPr>
          <a:xfrm>
            <a:off x="1793754" y="3512801"/>
            <a:ext cx="1043803" cy="10577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7662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50.7 Calculate All Residuals With GB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6300" y="1230252"/>
            <a:ext cx="7041918" cy="42703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Then, we have new measurement, we can predict the weight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470625" y="6277774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62</a:t>
            </a:fld>
            <a:endParaRPr lang="zh-TW" alt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2245894" y="2094196"/>
            <a:ext cx="960612" cy="317743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36090-E295-49AD-A8E2-492BEE6536EE}"/>
              </a:ext>
            </a:extLst>
          </p:cNvPr>
          <p:cNvSpPr txBox="1"/>
          <p:nvPr/>
        </p:nvSpPr>
        <p:spPr>
          <a:xfrm>
            <a:off x="4046693" y="2058746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C4527-BB04-48C6-8D29-36F7D1615A92}"/>
              </a:ext>
            </a:extLst>
          </p:cNvPr>
          <p:cNvSpPr txBox="1"/>
          <p:nvPr/>
        </p:nvSpPr>
        <p:spPr>
          <a:xfrm>
            <a:off x="4780942" y="3396257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0" name="Plus Sign 39">
            <a:extLst>
              <a:ext uri="{FF2B5EF4-FFF2-40B4-BE49-F238E27FC236}">
                <a16:creationId xmlns:a16="http://schemas.microsoft.com/office/drawing/2014/main" id="{4982CB3A-B1B4-4115-8290-69986DA95EA0}"/>
              </a:ext>
            </a:extLst>
          </p:cNvPr>
          <p:cNvSpPr/>
          <p:nvPr/>
        </p:nvSpPr>
        <p:spPr>
          <a:xfrm>
            <a:off x="3451617" y="1947632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us Sign 58">
            <a:extLst>
              <a:ext uri="{FF2B5EF4-FFF2-40B4-BE49-F238E27FC236}">
                <a16:creationId xmlns:a16="http://schemas.microsoft.com/office/drawing/2014/main" id="{143B6FBC-5389-4921-B3E8-FF4345E21877}"/>
              </a:ext>
            </a:extLst>
          </p:cNvPr>
          <p:cNvSpPr/>
          <p:nvPr/>
        </p:nvSpPr>
        <p:spPr>
          <a:xfrm>
            <a:off x="4107610" y="3210911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B0B199-8FC3-4684-AE3E-EF0EFFF79121}"/>
              </a:ext>
            </a:extLst>
          </p:cNvPr>
          <p:cNvSpPr/>
          <p:nvPr/>
        </p:nvSpPr>
        <p:spPr>
          <a:xfrm>
            <a:off x="5508104" y="1628953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6EEE8DE-EDE9-4579-8AAF-6E995E569D36}"/>
              </a:ext>
            </a:extLst>
          </p:cNvPr>
          <p:cNvSpPr/>
          <p:nvPr/>
        </p:nvSpPr>
        <p:spPr>
          <a:xfrm>
            <a:off x="6007479" y="2077812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4406222-9059-4FD9-98D3-D129FFB38462}"/>
              </a:ext>
            </a:extLst>
          </p:cNvPr>
          <p:cNvSpPr/>
          <p:nvPr/>
        </p:nvSpPr>
        <p:spPr>
          <a:xfrm>
            <a:off x="4906704" y="2102323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336287-EAD3-4A0F-A65B-98867013D909}"/>
              </a:ext>
            </a:extLst>
          </p:cNvPr>
          <p:cNvSpPr/>
          <p:nvPr/>
        </p:nvSpPr>
        <p:spPr>
          <a:xfrm>
            <a:off x="5914830" y="2631978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983ECAE-FC25-4EC3-8AAB-62B7E08854B3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5231016" y="1932559"/>
            <a:ext cx="591057" cy="1697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3B1CDD1-D9DD-4616-9ED3-78E51706E74A}"/>
              </a:ext>
            </a:extLst>
          </p:cNvPr>
          <p:cNvCxnSpPr>
            <a:cxnSpLocks/>
            <a:stCxn id="63" idx="2"/>
            <a:endCxn id="66" idx="0"/>
          </p:cNvCxnSpPr>
          <p:nvPr/>
        </p:nvCxnSpPr>
        <p:spPr>
          <a:xfrm>
            <a:off x="5822073" y="1932559"/>
            <a:ext cx="565517" cy="1452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0C07F03-2E9B-4A12-8DF2-7714909C7420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flipH="1">
            <a:off x="6246886" y="2418527"/>
            <a:ext cx="140704" cy="2134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F67AA2-D1F3-4B11-8A9D-4A9508B8EB6C}"/>
              </a:ext>
            </a:extLst>
          </p:cNvPr>
          <p:cNvCxnSpPr>
            <a:cxnSpLocks/>
            <a:stCxn id="66" idx="2"/>
            <a:endCxn id="73" idx="0"/>
          </p:cNvCxnSpPr>
          <p:nvPr/>
        </p:nvCxnSpPr>
        <p:spPr>
          <a:xfrm>
            <a:off x="6387590" y="2418527"/>
            <a:ext cx="538330" cy="218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9D26780-669A-4461-ADEE-2BDFF5C22752}"/>
              </a:ext>
            </a:extLst>
          </p:cNvPr>
          <p:cNvSpPr/>
          <p:nvPr/>
        </p:nvSpPr>
        <p:spPr>
          <a:xfrm>
            <a:off x="6644081" y="2637325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8E362C2-5DDE-4D32-9E23-5F26C6B9573F}"/>
              </a:ext>
            </a:extLst>
          </p:cNvPr>
          <p:cNvSpPr/>
          <p:nvPr/>
        </p:nvSpPr>
        <p:spPr>
          <a:xfrm>
            <a:off x="4428207" y="2612890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2A4999-3417-4DC7-8782-A8435F14BADA}"/>
              </a:ext>
            </a:extLst>
          </p:cNvPr>
          <p:cNvSpPr/>
          <p:nvPr/>
        </p:nvSpPr>
        <p:spPr>
          <a:xfrm>
            <a:off x="5185581" y="2612497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6B231A3-A99D-4C2C-8A17-C8135E72E81E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4750730" y="2382312"/>
            <a:ext cx="480286" cy="2305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DAC0B8C-8480-4DB0-B2D9-CD704061896A}"/>
              </a:ext>
            </a:extLst>
          </p:cNvPr>
          <p:cNvCxnSpPr>
            <a:cxnSpLocks/>
            <a:stCxn id="67" idx="2"/>
            <a:endCxn id="75" idx="0"/>
          </p:cNvCxnSpPr>
          <p:nvPr/>
        </p:nvCxnSpPr>
        <p:spPr>
          <a:xfrm>
            <a:off x="5231016" y="2382312"/>
            <a:ext cx="277088" cy="2301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5F9D218-627E-45D2-951E-63CB89AA3C4A}"/>
              </a:ext>
            </a:extLst>
          </p:cNvPr>
          <p:cNvSpPr/>
          <p:nvPr/>
        </p:nvSpPr>
        <p:spPr>
          <a:xfrm>
            <a:off x="6162558" y="3030112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9C002B-EE68-4363-BD2C-C4914D2E9480}"/>
              </a:ext>
            </a:extLst>
          </p:cNvPr>
          <p:cNvSpPr/>
          <p:nvPr/>
        </p:nvSpPr>
        <p:spPr>
          <a:xfrm>
            <a:off x="6661933" y="3441238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86CC64D-6FB6-429C-9C0B-4851AD12BA9D}"/>
              </a:ext>
            </a:extLst>
          </p:cNvPr>
          <p:cNvSpPr/>
          <p:nvPr/>
        </p:nvSpPr>
        <p:spPr>
          <a:xfrm>
            <a:off x="5561158" y="3465749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93FA8C0-1B8D-4C39-BAF3-3BA786160196}"/>
              </a:ext>
            </a:extLst>
          </p:cNvPr>
          <p:cNvSpPr/>
          <p:nvPr/>
        </p:nvSpPr>
        <p:spPr>
          <a:xfrm>
            <a:off x="6569284" y="3957671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24AB653-41FD-448D-8117-8BE607215241}"/>
              </a:ext>
            </a:extLst>
          </p:cNvPr>
          <p:cNvCxnSpPr>
            <a:cxnSpLocks/>
            <a:stCxn id="115" idx="2"/>
            <a:endCxn id="117" idx="0"/>
          </p:cNvCxnSpPr>
          <p:nvPr/>
        </p:nvCxnSpPr>
        <p:spPr>
          <a:xfrm flipH="1">
            <a:off x="5885470" y="3333718"/>
            <a:ext cx="591057" cy="1320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60ECE03-5B87-4030-A483-C782EB8A2D09}"/>
              </a:ext>
            </a:extLst>
          </p:cNvPr>
          <p:cNvCxnSpPr>
            <a:cxnSpLocks/>
            <a:stCxn id="115" idx="2"/>
            <a:endCxn id="116" idx="0"/>
          </p:cNvCxnSpPr>
          <p:nvPr/>
        </p:nvCxnSpPr>
        <p:spPr>
          <a:xfrm>
            <a:off x="6476527" y="3333718"/>
            <a:ext cx="565517" cy="107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5019FFE-E7D0-47DF-B4C5-C334B0CB2289}"/>
              </a:ext>
            </a:extLst>
          </p:cNvPr>
          <p:cNvCxnSpPr>
            <a:cxnSpLocks/>
            <a:stCxn id="116" idx="2"/>
            <a:endCxn id="118" idx="0"/>
          </p:cNvCxnSpPr>
          <p:nvPr/>
        </p:nvCxnSpPr>
        <p:spPr>
          <a:xfrm flipH="1">
            <a:off x="6901340" y="3781953"/>
            <a:ext cx="140704" cy="1757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1DC97E33-0FB8-4CD4-A1C2-2C9270E71130}"/>
              </a:ext>
            </a:extLst>
          </p:cNvPr>
          <p:cNvCxnSpPr>
            <a:cxnSpLocks/>
            <a:stCxn id="116" idx="2"/>
            <a:endCxn id="123" idx="0"/>
          </p:cNvCxnSpPr>
          <p:nvPr/>
        </p:nvCxnSpPr>
        <p:spPr>
          <a:xfrm>
            <a:off x="7042044" y="3781953"/>
            <a:ext cx="538330" cy="181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52E334F-D7CC-4BA3-AE52-7CE91A2B984F}"/>
              </a:ext>
            </a:extLst>
          </p:cNvPr>
          <p:cNvSpPr/>
          <p:nvPr/>
        </p:nvSpPr>
        <p:spPr>
          <a:xfrm>
            <a:off x="7298535" y="3963018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201AD74-FEEF-4533-9D25-A3EAD1259CEC}"/>
              </a:ext>
            </a:extLst>
          </p:cNvPr>
          <p:cNvSpPr/>
          <p:nvPr/>
        </p:nvSpPr>
        <p:spPr>
          <a:xfrm>
            <a:off x="5082661" y="3938583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E10E124-CDF4-48F4-B4CD-7D78E41EC017}"/>
              </a:ext>
            </a:extLst>
          </p:cNvPr>
          <p:cNvSpPr/>
          <p:nvPr/>
        </p:nvSpPr>
        <p:spPr>
          <a:xfrm>
            <a:off x="5840035" y="3938190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6A52B73-666B-4196-B10D-634F2762D192}"/>
              </a:ext>
            </a:extLst>
          </p:cNvPr>
          <p:cNvCxnSpPr>
            <a:cxnSpLocks/>
            <a:stCxn id="117" idx="2"/>
            <a:endCxn id="124" idx="0"/>
          </p:cNvCxnSpPr>
          <p:nvPr/>
        </p:nvCxnSpPr>
        <p:spPr>
          <a:xfrm flipH="1">
            <a:off x="5405184" y="3745738"/>
            <a:ext cx="480286" cy="192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EB2CC07-13B8-4213-8B2D-26BD0EC2DAF4}"/>
              </a:ext>
            </a:extLst>
          </p:cNvPr>
          <p:cNvCxnSpPr>
            <a:cxnSpLocks/>
            <a:stCxn id="117" idx="2"/>
            <a:endCxn id="125" idx="0"/>
          </p:cNvCxnSpPr>
          <p:nvPr/>
        </p:nvCxnSpPr>
        <p:spPr>
          <a:xfrm>
            <a:off x="5885470" y="3745738"/>
            <a:ext cx="277088" cy="1924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9AE33-6EB9-462F-954B-1AD44916C375}"/>
              </a:ext>
            </a:extLst>
          </p:cNvPr>
          <p:cNvSpPr txBox="1"/>
          <p:nvPr/>
        </p:nvSpPr>
        <p:spPr>
          <a:xfrm>
            <a:off x="5288981" y="4836417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9" name="Plus Sign 48">
            <a:extLst>
              <a:ext uri="{FF2B5EF4-FFF2-40B4-BE49-F238E27FC236}">
                <a16:creationId xmlns:a16="http://schemas.microsoft.com/office/drawing/2014/main" id="{34A6350A-9AB0-4896-852B-E7F954FD13D3}"/>
              </a:ext>
            </a:extLst>
          </p:cNvPr>
          <p:cNvSpPr/>
          <p:nvPr/>
        </p:nvSpPr>
        <p:spPr>
          <a:xfrm>
            <a:off x="4615649" y="4651071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153264-F553-4266-B639-4D884885EAF0}"/>
              </a:ext>
            </a:extLst>
          </p:cNvPr>
          <p:cNvSpPr/>
          <p:nvPr/>
        </p:nvSpPr>
        <p:spPr>
          <a:xfrm>
            <a:off x="6670597" y="4418739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F84F5E-A5B8-473A-831C-880F3A369277}"/>
              </a:ext>
            </a:extLst>
          </p:cNvPr>
          <p:cNvSpPr/>
          <p:nvPr/>
        </p:nvSpPr>
        <p:spPr>
          <a:xfrm>
            <a:off x="7169972" y="4829865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E5D48A-5523-4D5D-82BF-B0650FE7FAA7}"/>
              </a:ext>
            </a:extLst>
          </p:cNvPr>
          <p:cNvSpPr/>
          <p:nvPr/>
        </p:nvSpPr>
        <p:spPr>
          <a:xfrm>
            <a:off x="6069197" y="4854376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AF4CE8-B579-4B64-BBC4-767E3DBC5109}"/>
              </a:ext>
            </a:extLst>
          </p:cNvPr>
          <p:cNvSpPr/>
          <p:nvPr/>
        </p:nvSpPr>
        <p:spPr>
          <a:xfrm>
            <a:off x="7077323" y="5346298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C4DA276-B17F-4A84-B147-B5E58586B86B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 flipH="1">
            <a:off x="6393509" y="4722345"/>
            <a:ext cx="591057" cy="1320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4B4821E-0C66-4A49-803F-C7A736ADA938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>
            <a:off x="6984566" y="4722345"/>
            <a:ext cx="565517" cy="1075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0AA13B6-21FD-4857-BB5C-DFD4F2B54339}"/>
              </a:ext>
            </a:extLst>
          </p:cNvPr>
          <p:cNvCxnSpPr>
            <a:cxnSpLocks/>
            <a:stCxn id="52" idx="2"/>
            <a:endCxn id="56" idx="0"/>
          </p:cNvCxnSpPr>
          <p:nvPr/>
        </p:nvCxnSpPr>
        <p:spPr>
          <a:xfrm flipH="1">
            <a:off x="7409379" y="5170580"/>
            <a:ext cx="140704" cy="1757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5A2DE6B-DF82-416F-9572-D1C638BD5948}"/>
              </a:ext>
            </a:extLst>
          </p:cNvPr>
          <p:cNvCxnSpPr>
            <a:cxnSpLocks/>
            <a:stCxn id="52" idx="2"/>
            <a:endCxn id="80" idx="0"/>
          </p:cNvCxnSpPr>
          <p:nvPr/>
        </p:nvCxnSpPr>
        <p:spPr>
          <a:xfrm>
            <a:off x="7550083" y="5170580"/>
            <a:ext cx="538330" cy="18106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0F56BCA6-6FAB-4967-936B-D34C65850228}"/>
              </a:ext>
            </a:extLst>
          </p:cNvPr>
          <p:cNvSpPr/>
          <p:nvPr/>
        </p:nvSpPr>
        <p:spPr>
          <a:xfrm>
            <a:off x="7806574" y="5351645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F013B33-FEAA-464F-B403-39114064AC5E}"/>
              </a:ext>
            </a:extLst>
          </p:cNvPr>
          <p:cNvSpPr/>
          <p:nvPr/>
        </p:nvSpPr>
        <p:spPr>
          <a:xfrm>
            <a:off x="5590700" y="5327210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A1D59EB-343F-43D8-85D7-690A565AD364}"/>
              </a:ext>
            </a:extLst>
          </p:cNvPr>
          <p:cNvSpPr/>
          <p:nvPr/>
        </p:nvSpPr>
        <p:spPr>
          <a:xfrm>
            <a:off x="6348074" y="5326817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2B6FD59-BD12-449D-9C41-650B162D6EB1}"/>
              </a:ext>
            </a:extLst>
          </p:cNvPr>
          <p:cNvCxnSpPr>
            <a:cxnSpLocks/>
            <a:stCxn id="55" idx="2"/>
            <a:endCxn id="81" idx="0"/>
          </p:cNvCxnSpPr>
          <p:nvPr/>
        </p:nvCxnSpPr>
        <p:spPr>
          <a:xfrm flipH="1">
            <a:off x="5913223" y="5134365"/>
            <a:ext cx="480286" cy="192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0448779-360B-48AB-BFE3-9C4CBCD1FF33}"/>
              </a:ext>
            </a:extLst>
          </p:cNvPr>
          <p:cNvCxnSpPr>
            <a:cxnSpLocks/>
            <a:stCxn id="55" idx="2"/>
            <a:endCxn id="82" idx="0"/>
          </p:cNvCxnSpPr>
          <p:nvPr/>
        </p:nvCxnSpPr>
        <p:spPr>
          <a:xfrm>
            <a:off x="6393509" y="5134365"/>
            <a:ext cx="277088" cy="1924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副標題 2">
            <a:extLst>
              <a:ext uri="{FF2B5EF4-FFF2-40B4-BE49-F238E27FC236}">
                <a16:creationId xmlns:a16="http://schemas.microsoft.com/office/drawing/2014/main" id="{C29139D3-B4A0-4E20-9F3D-68759DD36186}"/>
              </a:ext>
            </a:extLst>
          </p:cNvPr>
          <p:cNvSpPr txBox="1">
            <a:spLocks/>
          </p:cNvSpPr>
          <p:nvPr/>
        </p:nvSpPr>
        <p:spPr>
          <a:xfrm>
            <a:off x="502877" y="2877316"/>
            <a:ext cx="2581753" cy="63548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…by starting with the initial </a:t>
            </a:r>
            <a:r>
              <a:rPr lang="en-US" sz="1800" b="1" dirty="0">
                <a:solidFill>
                  <a:srgbClr val="C00000"/>
                </a:solidFill>
              </a:rPr>
              <a:t>Prediction</a:t>
            </a:r>
            <a:r>
              <a:rPr lang="en-US" sz="1800" b="1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86" name="副標題 2">
            <a:extLst>
              <a:ext uri="{FF2B5EF4-FFF2-40B4-BE49-F238E27FC236}">
                <a16:creationId xmlns:a16="http://schemas.microsoft.com/office/drawing/2014/main" id="{E599AE46-2678-4E93-8478-A27D9E60867B}"/>
              </a:ext>
            </a:extLst>
          </p:cNvPr>
          <p:cNvSpPr txBox="1">
            <a:spLocks/>
          </p:cNvSpPr>
          <p:nvPr/>
        </p:nvSpPr>
        <p:spPr>
          <a:xfrm>
            <a:off x="5701498" y="5878177"/>
            <a:ext cx="2681090" cy="40007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…etc., etc., and etc.</a:t>
            </a:r>
          </a:p>
        </p:txBody>
      </p:sp>
      <p:graphicFrame>
        <p:nvGraphicFramePr>
          <p:cNvPr id="58" name="Table 8">
            <a:extLst>
              <a:ext uri="{FF2B5EF4-FFF2-40B4-BE49-F238E27FC236}">
                <a16:creationId xmlns:a16="http://schemas.microsoft.com/office/drawing/2014/main" id="{90B92A1F-49C3-4E44-8578-1167FC3DF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698536"/>
              </p:ext>
            </p:extLst>
          </p:nvPr>
        </p:nvGraphicFramePr>
        <p:xfrm>
          <a:off x="1030488" y="5449734"/>
          <a:ext cx="2790127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chemeClr val="bg1"/>
                          </a:solidFill>
                        </a:rPr>
                        <a:t>Femal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</a:tbl>
          </a:graphicData>
        </a:graphic>
      </p:graphicFrame>
      <p:sp>
        <p:nvSpPr>
          <p:cNvPr id="61" name="Rectangle 60">
            <a:extLst>
              <a:ext uri="{FF2B5EF4-FFF2-40B4-BE49-F238E27FC236}">
                <a16:creationId xmlns:a16="http://schemas.microsoft.com/office/drawing/2014/main" id="{BCB0B270-2B3A-439E-AB10-10EF5D83F9F0}"/>
              </a:ext>
            </a:extLst>
          </p:cNvPr>
          <p:cNvSpPr/>
          <p:nvPr/>
        </p:nvSpPr>
        <p:spPr>
          <a:xfrm>
            <a:off x="3125812" y="5932802"/>
            <a:ext cx="651708" cy="3844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0D63436B-1DF2-444B-A9E5-7B3439801C52}"/>
              </a:ext>
            </a:extLst>
          </p:cNvPr>
          <p:cNvCxnSpPr>
            <a:cxnSpLocks/>
            <a:stCxn id="85" idx="0"/>
            <a:endCxn id="57" idx="2"/>
          </p:cNvCxnSpPr>
          <p:nvPr/>
        </p:nvCxnSpPr>
        <p:spPr>
          <a:xfrm flipV="1">
            <a:off x="1793754" y="2411939"/>
            <a:ext cx="932446" cy="4653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468EF3D-55CE-457D-813C-984165227D35}"/>
              </a:ext>
            </a:extLst>
          </p:cNvPr>
          <p:cNvSpPr/>
          <p:nvPr/>
        </p:nvSpPr>
        <p:spPr>
          <a:xfrm>
            <a:off x="1701004" y="2427844"/>
            <a:ext cx="360040" cy="3407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A4542E4-AFA7-451B-B9C2-790A6CC647D8}"/>
              </a:ext>
            </a:extLst>
          </p:cNvPr>
          <p:cNvSpPr/>
          <p:nvPr/>
        </p:nvSpPr>
        <p:spPr>
          <a:xfrm>
            <a:off x="303257" y="3745738"/>
            <a:ext cx="360040" cy="3407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5F9DC09-CA87-48B1-96BE-1F5018EA59CF}"/>
              </a:ext>
            </a:extLst>
          </p:cNvPr>
          <p:cNvCxnSpPr>
            <a:cxnSpLocks/>
            <a:endCxn id="61" idx="0"/>
          </p:cNvCxnSpPr>
          <p:nvPr/>
        </p:nvCxnSpPr>
        <p:spPr>
          <a:xfrm>
            <a:off x="2995364" y="5410226"/>
            <a:ext cx="456302" cy="522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9" name="Oval 88">
            <a:extLst>
              <a:ext uri="{FF2B5EF4-FFF2-40B4-BE49-F238E27FC236}">
                <a16:creationId xmlns:a16="http://schemas.microsoft.com/office/drawing/2014/main" id="{2B6B557A-FCA1-4EEF-85CC-3FBC04DA408E}"/>
              </a:ext>
            </a:extLst>
          </p:cNvPr>
          <p:cNvSpPr/>
          <p:nvPr/>
        </p:nvSpPr>
        <p:spPr>
          <a:xfrm>
            <a:off x="7049338" y="1746556"/>
            <a:ext cx="360040" cy="3407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0" name="副標題 2">
            <a:extLst>
              <a:ext uri="{FF2B5EF4-FFF2-40B4-BE49-F238E27FC236}">
                <a16:creationId xmlns:a16="http://schemas.microsoft.com/office/drawing/2014/main" id="{45A0ABC4-5379-40BA-994F-1ADA439B8CFA}"/>
              </a:ext>
            </a:extLst>
          </p:cNvPr>
          <p:cNvSpPr txBox="1">
            <a:spLocks/>
          </p:cNvSpPr>
          <p:nvPr/>
        </p:nvSpPr>
        <p:spPr>
          <a:xfrm>
            <a:off x="7637054" y="1593600"/>
            <a:ext cx="1153413" cy="216962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…Creating new tree, Calculate the Residual,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…and etc., …</a:t>
            </a:r>
          </a:p>
        </p:txBody>
      </p:sp>
      <p:sp>
        <p:nvSpPr>
          <p:cNvPr id="91" name="副標題 2">
            <a:extLst>
              <a:ext uri="{FF2B5EF4-FFF2-40B4-BE49-F238E27FC236}">
                <a16:creationId xmlns:a16="http://schemas.microsoft.com/office/drawing/2014/main" id="{44ECF0CF-8B2E-4006-827B-A9C4231419B6}"/>
              </a:ext>
            </a:extLst>
          </p:cNvPr>
          <p:cNvSpPr txBox="1">
            <a:spLocks/>
          </p:cNvSpPr>
          <p:nvPr/>
        </p:nvSpPr>
        <p:spPr>
          <a:xfrm>
            <a:off x="775625" y="3735202"/>
            <a:ext cx="3191073" cy="159161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…and once the math is all done, we are left with the </a:t>
            </a:r>
            <a:r>
              <a:rPr lang="en-US" sz="1800" b="1" dirty="0">
                <a:solidFill>
                  <a:srgbClr val="C00000"/>
                </a:solidFill>
              </a:rPr>
              <a:t>Predicted Weighted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In this case, we predict this person </a:t>
            </a:r>
            <a:r>
              <a:rPr lang="en-US" sz="1800" b="1">
                <a:solidFill>
                  <a:schemeClr val="tx1"/>
                </a:solidFill>
              </a:rPr>
              <a:t>is 70 Kg</a:t>
            </a:r>
            <a:r>
              <a:rPr lang="en-US" sz="1800" b="1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911735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50.8 Summary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63</a:t>
            </a:fld>
            <a:endParaRPr lang="zh-TW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488C5-DA27-405E-9F7E-A4EF5DF95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3695964"/>
            <a:ext cx="1004960" cy="8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268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50.8 Summary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6299" y="1230252"/>
            <a:ext cx="3147589" cy="42703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have Training Data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470625" y="6277774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64</a:t>
            </a:fld>
            <a:endParaRPr lang="zh-TW" altLang="en-US" dirty="0"/>
          </a:p>
        </p:txBody>
      </p:sp>
      <p:graphicFrame>
        <p:nvGraphicFramePr>
          <p:cNvPr id="92" name="Table 8">
            <a:extLst>
              <a:ext uri="{FF2B5EF4-FFF2-40B4-BE49-F238E27FC236}">
                <a16:creationId xmlns:a16="http://schemas.microsoft.com/office/drawing/2014/main" id="{FDF96857-9DAA-46BE-B651-67881D522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831342"/>
              </p:ext>
            </p:extLst>
          </p:nvPr>
        </p:nvGraphicFramePr>
        <p:xfrm>
          <a:off x="4860032" y="2470253"/>
          <a:ext cx="2790127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???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</a:tbl>
          </a:graphicData>
        </a:graphic>
      </p:graphicFrame>
      <p:graphicFrame>
        <p:nvGraphicFramePr>
          <p:cNvPr id="93" name="Table 8">
            <a:extLst>
              <a:ext uri="{FF2B5EF4-FFF2-40B4-BE49-F238E27FC236}">
                <a16:creationId xmlns:a16="http://schemas.microsoft.com/office/drawing/2014/main" id="{4B1F5F2C-A074-442D-B06A-E50336B82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29997"/>
              </p:ext>
            </p:extLst>
          </p:nvPr>
        </p:nvGraphicFramePr>
        <p:xfrm>
          <a:off x="459777" y="1839832"/>
          <a:ext cx="3543872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581089154"/>
                    </a:ext>
                  </a:extLst>
                </a:gridCol>
              </a:tblGrid>
              <a:tr h="342096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Residual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88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13.6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1.6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3.9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21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56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-12.4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9498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1.8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Red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73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91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1.5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5.1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431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1.4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Female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57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-11.4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386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rgbClr val="00B050">
                        <a:alpha val="43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508210"/>
                  </a:ext>
                </a:extLst>
              </a:tr>
            </a:tbl>
          </a:graphicData>
        </a:graphic>
      </p:graphicFrame>
      <p:sp>
        <p:nvSpPr>
          <p:cNvPr id="94" name="副標題 2">
            <a:extLst>
              <a:ext uri="{FF2B5EF4-FFF2-40B4-BE49-F238E27FC236}">
                <a16:creationId xmlns:a16="http://schemas.microsoft.com/office/drawing/2014/main" id="{DCCBCAA1-FAC5-4D62-A780-CDA28BA9EF08}"/>
              </a:ext>
            </a:extLst>
          </p:cNvPr>
          <p:cNvSpPr txBox="1">
            <a:spLocks/>
          </p:cNvSpPr>
          <p:nvPr/>
        </p:nvSpPr>
        <p:spPr>
          <a:xfrm>
            <a:off x="4860032" y="1309440"/>
            <a:ext cx="3147589" cy="967431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also have Testing Data.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want to predict the weight. </a:t>
            </a:r>
          </a:p>
        </p:txBody>
      </p:sp>
    </p:spTree>
    <p:extLst>
      <p:ext uri="{BB962C8B-B14F-4D97-AF65-F5344CB8AC3E}">
        <p14:creationId xmlns:p14="http://schemas.microsoft.com/office/powerpoint/2010/main" val="116932386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50.8 Summary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6299" y="1230252"/>
            <a:ext cx="8187925" cy="42703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We start a simple tree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470625" y="6277774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65</a:t>
            </a:fld>
            <a:endParaRPr lang="zh-TW" alt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1907704" y="2060848"/>
            <a:ext cx="960612" cy="317743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</p:spTree>
    <p:extLst>
      <p:ext uri="{BB962C8B-B14F-4D97-AF65-F5344CB8AC3E}">
        <p14:creationId xmlns:p14="http://schemas.microsoft.com/office/powerpoint/2010/main" val="18586609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50.8 Summary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6300" y="1230252"/>
            <a:ext cx="8260156" cy="42703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The, we create the first tree.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470625" y="6277774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66</a:t>
            </a:fld>
            <a:endParaRPr lang="zh-TW" alt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2245894" y="2094196"/>
            <a:ext cx="960612" cy="317743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36090-E295-49AD-A8E2-492BEE6536EE}"/>
              </a:ext>
            </a:extLst>
          </p:cNvPr>
          <p:cNvSpPr txBox="1"/>
          <p:nvPr/>
        </p:nvSpPr>
        <p:spPr>
          <a:xfrm>
            <a:off x="4046693" y="2058746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0" name="Plus Sign 39">
            <a:extLst>
              <a:ext uri="{FF2B5EF4-FFF2-40B4-BE49-F238E27FC236}">
                <a16:creationId xmlns:a16="http://schemas.microsoft.com/office/drawing/2014/main" id="{4982CB3A-B1B4-4115-8290-69986DA95EA0}"/>
              </a:ext>
            </a:extLst>
          </p:cNvPr>
          <p:cNvSpPr/>
          <p:nvPr/>
        </p:nvSpPr>
        <p:spPr>
          <a:xfrm>
            <a:off x="3451617" y="1947632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B0B199-8FC3-4684-AE3E-EF0EFFF79121}"/>
              </a:ext>
            </a:extLst>
          </p:cNvPr>
          <p:cNvSpPr/>
          <p:nvPr/>
        </p:nvSpPr>
        <p:spPr>
          <a:xfrm>
            <a:off x="5508104" y="1628953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6EEE8DE-EDE9-4579-8AAF-6E995E569D36}"/>
              </a:ext>
            </a:extLst>
          </p:cNvPr>
          <p:cNvSpPr/>
          <p:nvPr/>
        </p:nvSpPr>
        <p:spPr>
          <a:xfrm>
            <a:off x="6007479" y="2077812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4406222-9059-4FD9-98D3-D129FFB38462}"/>
              </a:ext>
            </a:extLst>
          </p:cNvPr>
          <p:cNvSpPr/>
          <p:nvPr/>
        </p:nvSpPr>
        <p:spPr>
          <a:xfrm>
            <a:off x="4906704" y="2102323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336287-EAD3-4A0F-A65B-98867013D909}"/>
              </a:ext>
            </a:extLst>
          </p:cNvPr>
          <p:cNvSpPr/>
          <p:nvPr/>
        </p:nvSpPr>
        <p:spPr>
          <a:xfrm>
            <a:off x="5914830" y="2631978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983ECAE-FC25-4EC3-8AAB-62B7E08854B3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5231016" y="1932559"/>
            <a:ext cx="591057" cy="1697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3B1CDD1-D9DD-4616-9ED3-78E51706E74A}"/>
              </a:ext>
            </a:extLst>
          </p:cNvPr>
          <p:cNvCxnSpPr>
            <a:cxnSpLocks/>
            <a:stCxn id="63" idx="2"/>
            <a:endCxn id="66" idx="0"/>
          </p:cNvCxnSpPr>
          <p:nvPr/>
        </p:nvCxnSpPr>
        <p:spPr>
          <a:xfrm>
            <a:off x="5822073" y="1932559"/>
            <a:ext cx="565517" cy="1452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0C07F03-2E9B-4A12-8DF2-7714909C7420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flipH="1">
            <a:off x="6246886" y="2418527"/>
            <a:ext cx="140704" cy="2134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F67AA2-D1F3-4B11-8A9D-4A9508B8EB6C}"/>
              </a:ext>
            </a:extLst>
          </p:cNvPr>
          <p:cNvCxnSpPr>
            <a:cxnSpLocks/>
            <a:stCxn id="66" idx="2"/>
            <a:endCxn id="73" idx="0"/>
          </p:cNvCxnSpPr>
          <p:nvPr/>
        </p:nvCxnSpPr>
        <p:spPr>
          <a:xfrm>
            <a:off x="6387590" y="2418527"/>
            <a:ext cx="538330" cy="218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9D26780-669A-4461-ADEE-2BDFF5C22752}"/>
              </a:ext>
            </a:extLst>
          </p:cNvPr>
          <p:cNvSpPr/>
          <p:nvPr/>
        </p:nvSpPr>
        <p:spPr>
          <a:xfrm>
            <a:off x="6644081" y="2637325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8E362C2-5DDE-4D32-9E23-5F26C6B9573F}"/>
              </a:ext>
            </a:extLst>
          </p:cNvPr>
          <p:cNvSpPr/>
          <p:nvPr/>
        </p:nvSpPr>
        <p:spPr>
          <a:xfrm>
            <a:off x="4428207" y="2612890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2A4999-3417-4DC7-8782-A8435F14BADA}"/>
              </a:ext>
            </a:extLst>
          </p:cNvPr>
          <p:cNvSpPr/>
          <p:nvPr/>
        </p:nvSpPr>
        <p:spPr>
          <a:xfrm>
            <a:off x="5185581" y="2612497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6B231A3-A99D-4C2C-8A17-C8135E72E81E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4750730" y="2382312"/>
            <a:ext cx="480286" cy="2305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DAC0B8C-8480-4DB0-B2D9-CD704061896A}"/>
              </a:ext>
            </a:extLst>
          </p:cNvPr>
          <p:cNvCxnSpPr>
            <a:cxnSpLocks/>
            <a:stCxn id="67" idx="2"/>
            <a:endCxn id="75" idx="0"/>
          </p:cNvCxnSpPr>
          <p:nvPr/>
        </p:nvCxnSpPr>
        <p:spPr>
          <a:xfrm>
            <a:off x="5231016" y="2382312"/>
            <a:ext cx="277088" cy="2301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318438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50.8 Summary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6300" y="1230252"/>
            <a:ext cx="7041918" cy="42703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Then, we add second tree.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470625" y="6277774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67</a:t>
            </a:fld>
            <a:endParaRPr lang="zh-TW" alt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2245894" y="2094196"/>
            <a:ext cx="960612" cy="317743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36090-E295-49AD-A8E2-492BEE6536EE}"/>
              </a:ext>
            </a:extLst>
          </p:cNvPr>
          <p:cNvSpPr txBox="1"/>
          <p:nvPr/>
        </p:nvSpPr>
        <p:spPr>
          <a:xfrm>
            <a:off x="4046693" y="2058746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C4527-BB04-48C6-8D29-36F7D1615A92}"/>
              </a:ext>
            </a:extLst>
          </p:cNvPr>
          <p:cNvSpPr txBox="1"/>
          <p:nvPr/>
        </p:nvSpPr>
        <p:spPr>
          <a:xfrm>
            <a:off x="4780942" y="3396257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0" name="Plus Sign 39">
            <a:extLst>
              <a:ext uri="{FF2B5EF4-FFF2-40B4-BE49-F238E27FC236}">
                <a16:creationId xmlns:a16="http://schemas.microsoft.com/office/drawing/2014/main" id="{4982CB3A-B1B4-4115-8290-69986DA95EA0}"/>
              </a:ext>
            </a:extLst>
          </p:cNvPr>
          <p:cNvSpPr/>
          <p:nvPr/>
        </p:nvSpPr>
        <p:spPr>
          <a:xfrm>
            <a:off x="3451617" y="1947632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us Sign 58">
            <a:extLst>
              <a:ext uri="{FF2B5EF4-FFF2-40B4-BE49-F238E27FC236}">
                <a16:creationId xmlns:a16="http://schemas.microsoft.com/office/drawing/2014/main" id="{143B6FBC-5389-4921-B3E8-FF4345E21877}"/>
              </a:ext>
            </a:extLst>
          </p:cNvPr>
          <p:cNvSpPr/>
          <p:nvPr/>
        </p:nvSpPr>
        <p:spPr>
          <a:xfrm>
            <a:off x="4107610" y="3210911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B0B199-8FC3-4684-AE3E-EF0EFFF79121}"/>
              </a:ext>
            </a:extLst>
          </p:cNvPr>
          <p:cNvSpPr/>
          <p:nvPr/>
        </p:nvSpPr>
        <p:spPr>
          <a:xfrm>
            <a:off x="5508104" y="1628953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6EEE8DE-EDE9-4579-8AAF-6E995E569D36}"/>
              </a:ext>
            </a:extLst>
          </p:cNvPr>
          <p:cNvSpPr/>
          <p:nvPr/>
        </p:nvSpPr>
        <p:spPr>
          <a:xfrm>
            <a:off x="6007479" y="2077812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4406222-9059-4FD9-98D3-D129FFB38462}"/>
              </a:ext>
            </a:extLst>
          </p:cNvPr>
          <p:cNvSpPr/>
          <p:nvPr/>
        </p:nvSpPr>
        <p:spPr>
          <a:xfrm>
            <a:off x="4906704" y="2102323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336287-EAD3-4A0F-A65B-98867013D909}"/>
              </a:ext>
            </a:extLst>
          </p:cNvPr>
          <p:cNvSpPr/>
          <p:nvPr/>
        </p:nvSpPr>
        <p:spPr>
          <a:xfrm>
            <a:off x="5914830" y="2631978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983ECAE-FC25-4EC3-8AAB-62B7E08854B3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5231016" y="1932559"/>
            <a:ext cx="591057" cy="1697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3B1CDD1-D9DD-4616-9ED3-78E51706E74A}"/>
              </a:ext>
            </a:extLst>
          </p:cNvPr>
          <p:cNvCxnSpPr>
            <a:cxnSpLocks/>
            <a:stCxn id="63" idx="2"/>
            <a:endCxn id="66" idx="0"/>
          </p:cNvCxnSpPr>
          <p:nvPr/>
        </p:nvCxnSpPr>
        <p:spPr>
          <a:xfrm>
            <a:off x="5822073" y="1932559"/>
            <a:ext cx="565517" cy="1452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0C07F03-2E9B-4A12-8DF2-7714909C7420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flipH="1">
            <a:off x="6246886" y="2418527"/>
            <a:ext cx="140704" cy="2134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F67AA2-D1F3-4B11-8A9D-4A9508B8EB6C}"/>
              </a:ext>
            </a:extLst>
          </p:cNvPr>
          <p:cNvCxnSpPr>
            <a:cxnSpLocks/>
            <a:stCxn id="66" idx="2"/>
            <a:endCxn id="73" idx="0"/>
          </p:cNvCxnSpPr>
          <p:nvPr/>
        </p:nvCxnSpPr>
        <p:spPr>
          <a:xfrm>
            <a:off x="6387590" y="2418527"/>
            <a:ext cx="538330" cy="218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9D26780-669A-4461-ADEE-2BDFF5C22752}"/>
              </a:ext>
            </a:extLst>
          </p:cNvPr>
          <p:cNvSpPr/>
          <p:nvPr/>
        </p:nvSpPr>
        <p:spPr>
          <a:xfrm>
            <a:off x="6644081" y="2637325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8E362C2-5DDE-4D32-9E23-5F26C6B9573F}"/>
              </a:ext>
            </a:extLst>
          </p:cNvPr>
          <p:cNvSpPr/>
          <p:nvPr/>
        </p:nvSpPr>
        <p:spPr>
          <a:xfrm>
            <a:off x="4428207" y="2612890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2A4999-3417-4DC7-8782-A8435F14BADA}"/>
              </a:ext>
            </a:extLst>
          </p:cNvPr>
          <p:cNvSpPr/>
          <p:nvPr/>
        </p:nvSpPr>
        <p:spPr>
          <a:xfrm>
            <a:off x="5185581" y="2612497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6B231A3-A99D-4C2C-8A17-C8135E72E81E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4750730" y="2382312"/>
            <a:ext cx="480286" cy="2305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DAC0B8C-8480-4DB0-B2D9-CD704061896A}"/>
              </a:ext>
            </a:extLst>
          </p:cNvPr>
          <p:cNvCxnSpPr>
            <a:cxnSpLocks/>
            <a:stCxn id="67" idx="2"/>
            <a:endCxn id="75" idx="0"/>
          </p:cNvCxnSpPr>
          <p:nvPr/>
        </p:nvCxnSpPr>
        <p:spPr>
          <a:xfrm>
            <a:off x="5231016" y="2382312"/>
            <a:ext cx="277088" cy="2301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5F9D218-627E-45D2-951E-63CB89AA3C4A}"/>
              </a:ext>
            </a:extLst>
          </p:cNvPr>
          <p:cNvSpPr/>
          <p:nvPr/>
        </p:nvSpPr>
        <p:spPr>
          <a:xfrm>
            <a:off x="6162558" y="3030112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9C002B-EE68-4363-BD2C-C4914D2E9480}"/>
              </a:ext>
            </a:extLst>
          </p:cNvPr>
          <p:cNvSpPr/>
          <p:nvPr/>
        </p:nvSpPr>
        <p:spPr>
          <a:xfrm>
            <a:off x="6661933" y="3441238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86CC64D-6FB6-429C-9C0B-4851AD12BA9D}"/>
              </a:ext>
            </a:extLst>
          </p:cNvPr>
          <p:cNvSpPr/>
          <p:nvPr/>
        </p:nvSpPr>
        <p:spPr>
          <a:xfrm>
            <a:off x="5561158" y="3465749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93FA8C0-1B8D-4C39-BAF3-3BA786160196}"/>
              </a:ext>
            </a:extLst>
          </p:cNvPr>
          <p:cNvSpPr/>
          <p:nvPr/>
        </p:nvSpPr>
        <p:spPr>
          <a:xfrm>
            <a:off x="6569284" y="3957671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24AB653-41FD-448D-8117-8BE607215241}"/>
              </a:ext>
            </a:extLst>
          </p:cNvPr>
          <p:cNvCxnSpPr>
            <a:cxnSpLocks/>
            <a:stCxn id="115" idx="2"/>
            <a:endCxn id="117" idx="0"/>
          </p:cNvCxnSpPr>
          <p:nvPr/>
        </p:nvCxnSpPr>
        <p:spPr>
          <a:xfrm flipH="1">
            <a:off x="5885470" y="3333718"/>
            <a:ext cx="591057" cy="1320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60ECE03-5B87-4030-A483-C782EB8A2D09}"/>
              </a:ext>
            </a:extLst>
          </p:cNvPr>
          <p:cNvCxnSpPr>
            <a:cxnSpLocks/>
            <a:stCxn id="115" idx="2"/>
            <a:endCxn id="116" idx="0"/>
          </p:cNvCxnSpPr>
          <p:nvPr/>
        </p:nvCxnSpPr>
        <p:spPr>
          <a:xfrm>
            <a:off x="6476527" y="3333718"/>
            <a:ext cx="565517" cy="107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5019FFE-E7D0-47DF-B4C5-C334B0CB2289}"/>
              </a:ext>
            </a:extLst>
          </p:cNvPr>
          <p:cNvCxnSpPr>
            <a:cxnSpLocks/>
            <a:stCxn id="116" idx="2"/>
            <a:endCxn id="118" idx="0"/>
          </p:cNvCxnSpPr>
          <p:nvPr/>
        </p:nvCxnSpPr>
        <p:spPr>
          <a:xfrm flipH="1">
            <a:off x="6901340" y="3781953"/>
            <a:ext cx="140704" cy="1757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1DC97E33-0FB8-4CD4-A1C2-2C9270E71130}"/>
              </a:ext>
            </a:extLst>
          </p:cNvPr>
          <p:cNvCxnSpPr>
            <a:cxnSpLocks/>
            <a:stCxn id="116" idx="2"/>
            <a:endCxn id="123" idx="0"/>
          </p:cNvCxnSpPr>
          <p:nvPr/>
        </p:nvCxnSpPr>
        <p:spPr>
          <a:xfrm>
            <a:off x="7042044" y="3781953"/>
            <a:ext cx="538330" cy="181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52E334F-D7CC-4BA3-AE52-7CE91A2B984F}"/>
              </a:ext>
            </a:extLst>
          </p:cNvPr>
          <p:cNvSpPr/>
          <p:nvPr/>
        </p:nvSpPr>
        <p:spPr>
          <a:xfrm>
            <a:off x="7298535" y="3963018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201AD74-FEEF-4533-9D25-A3EAD1259CEC}"/>
              </a:ext>
            </a:extLst>
          </p:cNvPr>
          <p:cNvSpPr/>
          <p:nvPr/>
        </p:nvSpPr>
        <p:spPr>
          <a:xfrm>
            <a:off x="5082661" y="3938583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E10E124-CDF4-48F4-B4CD-7D78E41EC017}"/>
              </a:ext>
            </a:extLst>
          </p:cNvPr>
          <p:cNvSpPr/>
          <p:nvPr/>
        </p:nvSpPr>
        <p:spPr>
          <a:xfrm>
            <a:off x="5840035" y="3938190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6A52B73-666B-4196-B10D-634F2762D192}"/>
              </a:ext>
            </a:extLst>
          </p:cNvPr>
          <p:cNvCxnSpPr>
            <a:cxnSpLocks/>
            <a:stCxn id="117" idx="2"/>
            <a:endCxn id="124" idx="0"/>
          </p:cNvCxnSpPr>
          <p:nvPr/>
        </p:nvCxnSpPr>
        <p:spPr>
          <a:xfrm flipH="1">
            <a:off x="5405184" y="3745738"/>
            <a:ext cx="480286" cy="192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EB2CC07-13B8-4213-8B2D-26BD0EC2DAF4}"/>
              </a:ext>
            </a:extLst>
          </p:cNvPr>
          <p:cNvCxnSpPr>
            <a:cxnSpLocks/>
            <a:stCxn id="117" idx="2"/>
            <a:endCxn id="125" idx="0"/>
          </p:cNvCxnSpPr>
          <p:nvPr/>
        </p:nvCxnSpPr>
        <p:spPr>
          <a:xfrm>
            <a:off x="5885470" y="3745738"/>
            <a:ext cx="277088" cy="1924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89061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50.8 Summary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6300" y="1230252"/>
            <a:ext cx="7041918" cy="42703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Then, we add third tree, and etc.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470625" y="6277774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68</a:t>
            </a:fld>
            <a:endParaRPr lang="zh-TW" alt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2245894" y="2094196"/>
            <a:ext cx="960612" cy="317743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36090-E295-49AD-A8E2-492BEE6536EE}"/>
              </a:ext>
            </a:extLst>
          </p:cNvPr>
          <p:cNvSpPr txBox="1"/>
          <p:nvPr/>
        </p:nvSpPr>
        <p:spPr>
          <a:xfrm>
            <a:off x="4046693" y="2058746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C4527-BB04-48C6-8D29-36F7D1615A92}"/>
              </a:ext>
            </a:extLst>
          </p:cNvPr>
          <p:cNvSpPr txBox="1"/>
          <p:nvPr/>
        </p:nvSpPr>
        <p:spPr>
          <a:xfrm>
            <a:off x="4780942" y="3396257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0" name="Plus Sign 39">
            <a:extLst>
              <a:ext uri="{FF2B5EF4-FFF2-40B4-BE49-F238E27FC236}">
                <a16:creationId xmlns:a16="http://schemas.microsoft.com/office/drawing/2014/main" id="{4982CB3A-B1B4-4115-8290-69986DA95EA0}"/>
              </a:ext>
            </a:extLst>
          </p:cNvPr>
          <p:cNvSpPr/>
          <p:nvPr/>
        </p:nvSpPr>
        <p:spPr>
          <a:xfrm>
            <a:off x="3451617" y="1947632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B0B199-8FC3-4684-AE3E-EF0EFFF79121}"/>
              </a:ext>
            </a:extLst>
          </p:cNvPr>
          <p:cNvSpPr/>
          <p:nvPr/>
        </p:nvSpPr>
        <p:spPr>
          <a:xfrm>
            <a:off x="5508104" y="1628953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6EEE8DE-EDE9-4579-8AAF-6E995E569D36}"/>
              </a:ext>
            </a:extLst>
          </p:cNvPr>
          <p:cNvSpPr/>
          <p:nvPr/>
        </p:nvSpPr>
        <p:spPr>
          <a:xfrm>
            <a:off x="6007479" y="2077812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4406222-9059-4FD9-98D3-D129FFB38462}"/>
              </a:ext>
            </a:extLst>
          </p:cNvPr>
          <p:cNvSpPr/>
          <p:nvPr/>
        </p:nvSpPr>
        <p:spPr>
          <a:xfrm>
            <a:off x="4906704" y="2102323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336287-EAD3-4A0F-A65B-98867013D909}"/>
              </a:ext>
            </a:extLst>
          </p:cNvPr>
          <p:cNvSpPr/>
          <p:nvPr/>
        </p:nvSpPr>
        <p:spPr>
          <a:xfrm>
            <a:off x="5914830" y="2631978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983ECAE-FC25-4EC3-8AAB-62B7E08854B3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5231016" y="1932559"/>
            <a:ext cx="591057" cy="1697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3B1CDD1-D9DD-4616-9ED3-78E51706E74A}"/>
              </a:ext>
            </a:extLst>
          </p:cNvPr>
          <p:cNvCxnSpPr>
            <a:cxnSpLocks/>
            <a:stCxn id="63" idx="2"/>
            <a:endCxn id="66" idx="0"/>
          </p:cNvCxnSpPr>
          <p:nvPr/>
        </p:nvCxnSpPr>
        <p:spPr>
          <a:xfrm>
            <a:off x="5822073" y="1932559"/>
            <a:ext cx="565517" cy="1452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0C07F03-2E9B-4A12-8DF2-7714909C7420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flipH="1">
            <a:off x="6246886" y="2418527"/>
            <a:ext cx="140704" cy="2134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F67AA2-D1F3-4B11-8A9D-4A9508B8EB6C}"/>
              </a:ext>
            </a:extLst>
          </p:cNvPr>
          <p:cNvCxnSpPr>
            <a:cxnSpLocks/>
            <a:stCxn id="66" idx="2"/>
            <a:endCxn id="73" idx="0"/>
          </p:cNvCxnSpPr>
          <p:nvPr/>
        </p:nvCxnSpPr>
        <p:spPr>
          <a:xfrm>
            <a:off x="6387590" y="2418527"/>
            <a:ext cx="538330" cy="218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9D26780-669A-4461-ADEE-2BDFF5C22752}"/>
              </a:ext>
            </a:extLst>
          </p:cNvPr>
          <p:cNvSpPr/>
          <p:nvPr/>
        </p:nvSpPr>
        <p:spPr>
          <a:xfrm>
            <a:off x="6644081" y="2637325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8E362C2-5DDE-4D32-9E23-5F26C6B9573F}"/>
              </a:ext>
            </a:extLst>
          </p:cNvPr>
          <p:cNvSpPr/>
          <p:nvPr/>
        </p:nvSpPr>
        <p:spPr>
          <a:xfrm>
            <a:off x="4428207" y="2612890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2A4999-3417-4DC7-8782-A8435F14BADA}"/>
              </a:ext>
            </a:extLst>
          </p:cNvPr>
          <p:cNvSpPr/>
          <p:nvPr/>
        </p:nvSpPr>
        <p:spPr>
          <a:xfrm>
            <a:off x="5185581" y="2612497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6B231A3-A99D-4C2C-8A17-C8135E72E81E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4750730" y="2382312"/>
            <a:ext cx="480286" cy="2305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DAC0B8C-8480-4DB0-B2D9-CD704061896A}"/>
              </a:ext>
            </a:extLst>
          </p:cNvPr>
          <p:cNvCxnSpPr>
            <a:cxnSpLocks/>
            <a:stCxn id="67" idx="2"/>
            <a:endCxn id="75" idx="0"/>
          </p:cNvCxnSpPr>
          <p:nvPr/>
        </p:nvCxnSpPr>
        <p:spPr>
          <a:xfrm>
            <a:off x="5231016" y="2382312"/>
            <a:ext cx="277088" cy="2301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5F9D218-627E-45D2-951E-63CB89AA3C4A}"/>
              </a:ext>
            </a:extLst>
          </p:cNvPr>
          <p:cNvSpPr/>
          <p:nvPr/>
        </p:nvSpPr>
        <p:spPr>
          <a:xfrm>
            <a:off x="6162558" y="3030112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9C002B-EE68-4363-BD2C-C4914D2E9480}"/>
              </a:ext>
            </a:extLst>
          </p:cNvPr>
          <p:cNvSpPr/>
          <p:nvPr/>
        </p:nvSpPr>
        <p:spPr>
          <a:xfrm>
            <a:off x="6661933" y="3441238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86CC64D-6FB6-429C-9C0B-4851AD12BA9D}"/>
              </a:ext>
            </a:extLst>
          </p:cNvPr>
          <p:cNvSpPr/>
          <p:nvPr/>
        </p:nvSpPr>
        <p:spPr>
          <a:xfrm>
            <a:off x="5561158" y="3465749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93FA8C0-1B8D-4C39-BAF3-3BA786160196}"/>
              </a:ext>
            </a:extLst>
          </p:cNvPr>
          <p:cNvSpPr/>
          <p:nvPr/>
        </p:nvSpPr>
        <p:spPr>
          <a:xfrm>
            <a:off x="6569284" y="3957671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24AB653-41FD-448D-8117-8BE607215241}"/>
              </a:ext>
            </a:extLst>
          </p:cNvPr>
          <p:cNvCxnSpPr>
            <a:cxnSpLocks/>
            <a:stCxn id="115" idx="2"/>
            <a:endCxn id="117" idx="0"/>
          </p:cNvCxnSpPr>
          <p:nvPr/>
        </p:nvCxnSpPr>
        <p:spPr>
          <a:xfrm flipH="1">
            <a:off x="5885470" y="3333718"/>
            <a:ext cx="591057" cy="1320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60ECE03-5B87-4030-A483-C782EB8A2D09}"/>
              </a:ext>
            </a:extLst>
          </p:cNvPr>
          <p:cNvCxnSpPr>
            <a:cxnSpLocks/>
            <a:stCxn id="115" idx="2"/>
            <a:endCxn id="116" idx="0"/>
          </p:cNvCxnSpPr>
          <p:nvPr/>
        </p:nvCxnSpPr>
        <p:spPr>
          <a:xfrm>
            <a:off x="6476527" y="3333718"/>
            <a:ext cx="565517" cy="107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5019FFE-E7D0-47DF-B4C5-C334B0CB2289}"/>
              </a:ext>
            </a:extLst>
          </p:cNvPr>
          <p:cNvCxnSpPr>
            <a:cxnSpLocks/>
            <a:stCxn id="116" idx="2"/>
            <a:endCxn id="118" idx="0"/>
          </p:cNvCxnSpPr>
          <p:nvPr/>
        </p:nvCxnSpPr>
        <p:spPr>
          <a:xfrm flipH="1">
            <a:off x="6901340" y="3781953"/>
            <a:ext cx="140704" cy="1757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1DC97E33-0FB8-4CD4-A1C2-2C9270E71130}"/>
              </a:ext>
            </a:extLst>
          </p:cNvPr>
          <p:cNvCxnSpPr>
            <a:cxnSpLocks/>
            <a:stCxn id="116" idx="2"/>
            <a:endCxn id="123" idx="0"/>
          </p:cNvCxnSpPr>
          <p:nvPr/>
        </p:nvCxnSpPr>
        <p:spPr>
          <a:xfrm>
            <a:off x="7042044" y="3781953"/>
            <a:ext cx="538330" cy="181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52E334F-D7CC-4BA3-AE52-7CE91A2B984F}"/>
              </a:ext>
            </a:extLst>
          </p:cNvPr>
          <p:cNvSpPr/>
          <p:nvPr/>
        </p:nvSpPr>
        <p:spPr>
          <a:xfrm>
            <a:off x="7298535" y="3963018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201AD74-FEEF-4533-9D25-A3EAD1259CEC}"/>
              </a:ext>
            </a:extLst>
          </p:cNvPr>
          <p:cNvSpPr/>
          <p:nvPr/>
        </p:nvSpPr>
        <p:spPr>
          <a:xfrm>
            <a:off x="5082661" y="3938583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E10E124-CDF4-48F4-B4CD-7D78E41EC017}"/>
              </a:ext>
            </a:extLst>
          </p:cNvPr>
          <p:cNvSpPr/>
          <p:nvPr/>
        </p:nvSpPr>
        <p:spPr>
          <a:xfrm>
            <a:off x="5840035" y="3938190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6A52B73-666B-4196-B10D-634F2762D192}"/>
              </a:ext>
            </a:extLst>
          </p:cNvPr>
          <p:cNvCxnSpPr>
            <a:cxnSpLocks/>
            <a:stCxn id="117" idx="2"/>
            <a:endCxn id="124" idx="0"/>
          </p:cNvCxnSpPr>
          <p:nvPr/>
        </p:nvCxnSpPr>
        <p:spPr>
          <a:xfrm flipH="1">
            <a:off x="5405184" y="3745738"/>
            <a:ext cx="480286" cy="192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EB2CC07-13B8-4213-8B2D-26BD0EC2DAF4}"/>
              </a:ext>
            </a:extLst>
          </p:cNvPr>
          <p:cNvCxnSpPr>
            <a:cxnSpLocks/>
            <a:stCxn id="117" idx="2"/>
            <a:endCxn id="125" idx="0"/>
          </p:cNvCxnSpPr>
          <p:nvPr/>
        </p:nvCxnSpPr>
        <p:spPr>
          <a:xfrm>
            <a:off x="5885470" y="3745738"/>
            <a:ext cx="277088" cy="1924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9AE33-6EB9-462F-954B-1AD44916C375}"/>
              </a:ext>
            </a:extLst>
          </p:cNvPr>
          <p:cNvSpPr txBox="1"/>
          <p:nvPr/>
        </p:nvSpPr>
        <p:spPr>
          <a:xfrm>
            <a:off x="5288981" y="4836417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9" name="Plus Sign 48">
            <a:extLst>
              <a:ext uri="{FF2B5EF4-FFF2-40B4-BE49-F238E27FC236}">
                <a16:creationId xmlns:a16="http://schemas.microsoft.com/office/drawing/2014/main" id="{34A6350A-9AB0-4896-852B-E7F954FD13D3}"/>
              </a:ext>
            </a:extLst>
          </p:cNvPr>
          <p:cNvSpPr/>
          <p:nvPr/>
        </p:nvSpPr>
        <p:spPr>
          <a:xfrm>
            <a:off x="4615649" y="4651071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153264-F553-4266-B639-4D884885EAF0}"/>
              </a:ext>
            </a:extLst>
          </p:cNvPr>
          <p:cNvSpPr/>
          <p:nvPr/>
        </p:nvSpPr>
        <p:spPr>
          <a:xfrm>
            <a:off x="6670597" y="4418739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F84F5E-A5B8-473A-831C-880F3A369277}"/>
              </a:ext>
            </a:extLst>
          </p:cNvPr>
          <p:cNvSpPr/>
          <p:nvPr/>
        </p:nvSpPr>
        <p:spPr>
          <a:xfrm>
            <a:off x="7169972" y="4829865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E5D48A-5523-4D5D-82BF-B0650FE7FAA7}"/>
              </a:ext>
            </a:extLst>
          </p:cNvPr>
          <p:cNvSpPr/>
          <p:nvPr/>
        </p:nvSpPr>
        <p:spPr>
          <a:xfrm>
            <a:off x="6069197" y="4854376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AF4CE8-B579-4B64-BBC4-767E3DBC5109}"/>
              </a:ext>
            </a:extLst>
          </p:cNvPr>
          <p:cNvSpPr/>
          <p:nvPr/>
        </p:nvSpPr>
        <p:spPr>
          <a:xfrm>
            <a:off x="7077323" y="5346298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C4DA276-B17F-4A84-B147-B5E58586B86B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 flipH="1">
            <a:off x="6393509" y="4722345"/>
            <a:ext cx="591057" cy="1320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4B4821E-0C66-4A49-803F-C7A736ADA938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>
            <a:off x="6984566" y="4722345"/>
            <a:ext cx="565517" cy="1075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0AA13B6-21FD-4857-BB5C-DFD4F2B54339}"/>
              </a:ext>
            </a:extLst>
          </p:cNvPr>
          <p:cNvCxnSpPr>
            <a:cxnSpLocks/>
            <a:stCxn id="52" idx="2"/>
            <a:endCxn id="56" idx="0"/>
          </p:cNvCxnSpPr>
          <p:nvPr/>
        </p:nvCxnSpPr>
        <p:spPr>
          <a:xfrm flipH="1">
            <a:off x="7409379" y="5170580"/>
            <a:ext cx="140704" cy="1757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5A2DE6B-DF82-416F-9572-D1C638BD5948}"/>
              </a:ext>
            </a:extLst>
          </p:cNvPr>
          <p:cNvCxnSpPr>
            <a:cxnSpLocks/>
            <a:stCxn id="52" idx="2"/>
            <a:endCxn id="80" idx="0"/>
          </p:cNvCxnSpPr>
          <p:nvPr/>
        </p:nvCxnSpPr>
        <p:spPr>
          <a:xfrm>
            <a:off x="7550083" y="5170580"/>
            <a:ext cx="538330" cy="18106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0F56BCA6-6FAB-4967-936B-D34C65850228}"/>
              </a:ext>
            </a:extLst>
          </p:cNvPr>
          <p:cNvSpPr/>
          <p:nvPr/>
        </p:nvSpPr>
        <p:spPr>
          <a:xfrm>
            <a:off x="7806574" y="5351645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F013B33-FEAA-464F-B403-39114064AC5E}"/>
              </a:ext>
            </a:extLst>
          </p:cNvPr>
          <p:cNvSpPr/>
          <p:nvPr/>
        </p:nvSpPr>
        <p:spPr>
          <a:xfrm>
            <a:off x="5590700" y="5327210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A1D59EB-343F-43D8-85D7-690A565AD364}"/>
              </a:ext>
            </a:extLst>
          </p:cNvPr>
          <p:cNvSpPr/>
          <p:nvPr/>
        </p:nvSpPr>
        <p:spPr>
          <a:xfrm>
            <a:off x="6348074" y="5326817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2B6FD59-BD12-449D-9C41-650B162D6EB1}"/>
              </a:ext>
            </a:extLst>
          </p:cNvPr>
          <p:cNvCxnSpPr>
            <a:cxnSpLocks/>
            <a:stCxn id="55" idx="2"/>
            <a:endCxn id="81" idx="0"/>
          </p:cNvCxnSpPr>
          <p:nvPr/>
        </p:nvCxnSpPr>
        <p:spPr>
          <a:xfrm flipH="1">
            <a:off x="5913223" y="5134365"/>
            <a:ext cx="480286" cy="192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0448779-360B-48AB-BFE3-9C4CBCD1FF33}"/>
              </a:ext>
            </a:extLst>
          </p:cNvPr>
          <p:cNvCxnSpPr>
            <a:cxnSpLocks/>
            <a:stCxn id="55" idx="2"/>
            <a:endCxn id="82" idx="0"/>
          </p:cNvCxnSpPr>
          <p:nvPr/>
        </p:nvCxnSpPr>
        <p:spPr>
          <a:xfrm>
            <a:off x="6393509" y="5134365"/>
            <a:ext cx="277088" cy="1924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95284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pPr algn="l"/>
            <a:r>
              <a:rPr lang="en-US" altLang="zh-TW" sz="4400" b="1" dirty="0">
                <a:solidFill>
                  <a:srgbClr val="FFFF00"/>
                </a:solidFill>
              </a:rPr>
              <a:t>50.8 Summary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6300" y="1230252"/>
            <a:ext cx="7041918" cy="427036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Finally, we got all the tree and ready for prediction.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6004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/>
          </a:bodyPr>
          <a:lstStyle/>
          <a:p>
            <a:pPr lvl="0">
              <a:spcBef>
                <a:spcPct val="0"/>
              </a:spcBef>
            </a:pPr>
            <a:r>
              <a:rPr lang="en-US" sz="1600" dirty="0"/>
              <a:t>https://www.youtube.com/watch?v=3CC4N4z3GJc&amp;list=PLblh5JKOoLUICTaGLRoHQDuF_7q2GfuJF&amp;index=50</a:t>
            </a:r>
            <a:endParaRPr kumimoji="0" lang="zh-TW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910E6-8D00-4BAF-8C48-9688E0B449D3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470625" y="6277774"/>
            <a:ext cx="2133600" cy="365125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69</a:t>
            </a:fld>
            <a:endParaRPr lang="zh-TW" alt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FC6D15-A9F7-4E8D-A2AD-2075AA6CBE64}"/>
              </a:ext>
            </a:extLst>
          </p:cNvPr>
          <p:cNvSpPr/>
          <p:nvPr/>
        </p:nvSpPr>
        <p:spPr>
          <a:xfrm>
            <a:off x="2245894" y="2094196"/>
            <a:ext cx="960612" cy="317743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71.2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736090-E295-49AD-A8E2-492BEE6536EE}"/>
              </a:ext>
            </a:extLst>
          </p:cNvPr>
          <p:cNvSpPr txBox="1"/>
          <p:nvPr/>
        </p:nvSpPr>
        <p:spPr>
          <a:xfrm>
            <a:off x="4046693" y="2058746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4C4527-BB04-48C6-8D29-36F7D1615A92}"/>
              </a:ext>
            </a:extLst>
          </p:cNvPr>
          <p:cNvSpPr txBox="1"/>
          <p:nvPr/>
        </p:nvSpPr>
        <p:spPr>
          <a:xfrm>
            <a:off x="4780942" y="3396257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0" name="Plus Sign 39">
            <a:extLst>
              <a:ext uri="{FF2B5EF4-FFF2-40B4-BE49-F238E27FC236}">
                <a16:creationId xmlns:a16="http://schemas.microsoft.com/office/drawing/2014/main" id="{4982CB3A-B1B4-4115-8290-69986DA95EA0}"/>
              </a:ext>
            </a:extLst>
          </p:cNvPr>
          <p:cNvSpPr/>
          <p:nvPr/>
        </p:nvSpPr>
        <p:spPr>
          <a:xfrm>
            <a:off x="3451617" y="1947632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lus Sign 58">
            <a:extLst>
              <a:ext uri="{FF2B5EF4-FFF2-40B4-BE49-F238E27FC236}">
                <a16:creationId xmlns:a16="http://schemas.microsoft.com/office/drawing/2014/main" id="{143B6FBC-5389-4921-B3E8-FF4345E21877}"/>
              </a:ext>
            </a:extLst>
          </p:cNvPr>
          <p:cNvSpPr/>
          <p:nvPr/>
        </p:nvSpPr>
        <p:spPr>
          <a:xfrm>
            <a:off x="4107610" y="3210911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FB0B199-8FC3-4684-AE3E-EF0EFFF79121}"/>
              </a:ext>
            </a:extLst>
          </p:cNvPr>
          <p:cNvSpPr/>
          <p:nvPr/>
        </p:nvSpPr>
        <p:spPr>
          <a:xfrm>
            <a:off x="5508104" y="1628953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6EEE8DE-EDE9-4579-8AAF-6E995E569D36}"/>
              </a:ext>
            </a:extLst>
          </p:cNvPr>
          <p:cNvSpPr/>
          <p:nvPr/>
        </p:nvSpPr>
        <p:spPr>
          <a:xfrm>
            <a:off x="6007479" y="2077812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4406222-9059-4FD9-98D3-D129FFB38462}"/>
              </a:ext>
            </a:extLst>
          </p:cNvPr>
          <p:cNvSpPr/>
          <p:nvPr/>
        </p:nvSpPr>
        <p:spPr>
          <a:xfrm>
            <a:off x="4906704" y="2102323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0336287-EAD3-4A0F-A65B-98867013D909}"/>
              </a:ext>
            </a:extLst>
          </p:cNvPr>
          <p:cNvSpPr/>
          <p:nvPr/>
        </p:nvSpPr>
        <p:spPr>
          <a:xfrm>
            <a:off x="5914830" y="2631978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983ECAE-FC25-4EC3-8AAB-62B7E08854B3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5231016" y="1932559"/>
            <a:ext cx="591057" cy="16976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3B1CDD1-D9DD-4616-9ED3-78E51706E74A}"/>
              </a:ext>
            </a:extLst>
          </p:cNvPr>
          <p:cNvCxnSpPr>
            <a:cxnSpLocks/>
            <a:stCxn id="63" idx="2"/>
            <a:endCxn id="66" idx="0"/>
          </p:cNvCxnSpPr>
          <p:nvPr/>
        </p:nvCxnSpPr>
        <p:spPr>
          <a:xfrm>
            <a:off x="5822073" y="1932559"/>
            <a:ext cx="565517" cy="1452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0C07F03-2E9B-4A12-8DF2-7714909C7420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flipH="1">
            <a:off x="6246886" y="2418527"/>
            <a:ext cx="140704" cy="21345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B2F67AA2-D1F3-4B11-8A9D-4A9508B8EB6C}"/>
              </a:ext>
            </a:extLst>
          </p:cNvPr>
          <p:cNvCxnSpPr>
            <a:cxnSpLocks/>
            <a:stCxn id="66" idx="2"/>
            <a:endCxn id="73" idx="0"/>
          </p:cNvCxnSpPr>
          <p:nvPr/>
        </p:nvCxnSpPr>
        <p:spPr>
          <a:xfrm>
            <a:off x="6387590" y="2418527"/>
            <a:ext cx="538330" cy="21879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59D26780-669A-4461-ADEE-2BDFF5C22752}"/>
              </a:ext>
            </a:extLst>
          </p:cNvPr>
          <p:cNvSpPr/>
          <p:nvPr/>
        </p:nvSpPr>
        <p:spPr>
          <a:xfrm>
            <a:off x="6644081" y="2637325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8E362C2-5DDE-4D32-9E23-5F26C6B9573F}"/>
              </a:ext>
            </a:extLst>
          </p:cNvPr>
          <p:cNvSpPr/>
          <p:nvPr/>
        </p:nvSpPr>
        <p:spPr>
          <a:xfrm>
            <a:off x="4428207" y="2612890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CC2A4999-3417-4DC7-8782-A8435F14BADA}"/>
              </a:ext>
            </a:extLst>
          </p:cNvPr>
          <p:cNvSpPr/>
          <p:nvPr/>
        </p:nvSpPr>
        <p:spPr>
          <a:xfrm>
            <a:off x="5185581" y="2612497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86B231A3-A99D-4C2C-8A17-C8135E72E81E}"/>
              </a:ext>
            </a:extLst>
          </p:cNvPr>
          <p:cNvCxnSpPr>
            <a:cxnSpLocks/>
            <a:stCxn id="67" idx="2"/>
            <a:endCxn id="74" idx="0"/>
          </p:cNvCxnSpPr>
          <p:nvPr/>
        </p:nvCxnSpPr>
        <p:spPr>
          <a:xfrm flipH="1">
            <a:off x="4750730" y="2382312"/>
            <a:ext cx="480286" cy="23057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DAC0B8C-8480-4DB0-B2D9-CD704061896A}"/>
              </a:ext>
            </a:extLst>
          </p:cNvPr>
          <p:cNvCxnSpPr>
            <a:cxnSpLocks/>
            <a:stCxn id="67" idx="2"/>
            <a:endCxn id="75" idx="0"/>
          </p:cNvCxnSpPr>
          <p:nvPr/>
        </p:nvCxnSpPr>
        <p:spPr>
          <a:xfrm>
            <a:off x="5231016" y="2382312"/>
            <a:ext cx="277088" cy="23018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25F9D218-627E-45D2-951E-63CB89AA3C4A}"/>
              </a:ext>
            </a:extLst>
          </p:cNvPr>
          <p:cNvSpPr/>
          <p:nvPr/>
        </p:nvSpPr>
        <p:spPr>
          <a:xfrm>
            <a:off x="6162558" y="3030112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9C002B-EE68-4363-BD2C-C4914D2E9480}"/>
              </a:ext>
            </a:extLst>
          </p:cNvPr>
          <p:cNvSpPr/>
          <p:nvPr/>
        </p:nvSpPr>
        <p:spPr>
          <a:xfrm>
            <a:off x="6661933" y="3441238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586CC64D-6FB6-429C-9C0B-4851AD12BA9D}"/>
              </a:ext>
            </a:extLst>
          </p:cNvPr>
          <p:cNvSpPr/>
          <p:nvPr/>
        </p:nvSpPr>
        <p:spPr>
          <a:xfrm>
            <a:off x="5561158" y="3465749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893FA8C0-1B8D-4C39-BAF3-3BA786160196}"/>
              </a:ext>
            </a:extLst>
          </p:cNvPr>
          <p:cNvSpPr/>
          <p:nvPr/>
        </p:nvSpPr>
        <p:spPr>
          <a:xfrm>
            <a:off x="6569284" y="3957671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D24AB653-41FD-448D-8117-8BE607215241}"/>
              </a:ext>
            </a:extLst>
          </p:cNvPr>
          <p:cNvCxnSpPr>
            <a:cxnSpLocks/>
            <a:stCxn id="115" idx="2"/>
            <a:endCxn id="117" idx="0"/>
          </p:cNvCxnSpPr>
          <p:nvPr/>
        </p:nvCxnSpPr>
        <p:spPr>
          <a:xfrm flipH="1">
            <a:off x="5885470" y="3333718"/>
            <a:ext cx="591057" cy="1320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160ECE03-5B87-4030-A483-C782EB8A2D09}"/>
              </a:ext>
            </a:extLst>
          </p:cNvPr>
          <p:cNvCxnSpPr>
            <a:cxnSpLocks/>
            <a:stCxn id="115" idx="2"/>
            <a:endCxn id="116" idx="0"/>
          </p:cNvCxnSpPr>
          <p:nvPr/>
        </p:nvCxnSpPr>
        <p:spPr>
          <a:xfrm>
            <a:off x="6476527" y="3333718"/>
            <a:ext cx="565517" cy="1075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F5019FFE-E7D0-47DF-B4C5-C334B0CB2289}"/>
              </a:ext>
            </a:extLst>
          </p:cNvPr>
          <p:cNvCxnSpPr>
            <a:cxnSpLocks/>
            <a:stCxn id="116" idx="2"/>
            <a:endCxn id="118" idx="0"/>
          </p:cNvCxnSpPr>
          <p:nvPr/>
        </p:nvCxnSpPr>
        <p:spPr>
          <a:xfrm flipH="1">
            <a:off x="6901340" y="3781953"/>
            <a:ext cx="140704" cy="1757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1DC97E33-0FB8-4CD4-A1C2-2C9270E71130}"/>
              </a:ext>
            </a:extLst>
          </p:cNvPr>
          <p:cNvCxnSpPr>
            <a:cxnSpLocks/>
            <a:stCxn id="116" idx="2"/>
            <a:endCxn id="123" idx="0"/>
          </p:cNvCxnSpPr>
          <p:nvPr/>
        </p:nvCxnSpPr>
        <p:spPr>
          <a:xfrm>
            <a:off x="7042044" y="3781953"/>
            <a:ext cx="538330" cy="1810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52E334F-D7CC-4BA3-AE52-7CE91A2B984F}"/>
              </a:ext>
            </a:extLst>
          </p:cNvPr>
          <p:cNvSpPr/>
          <p:nvPr/>
        </p:nvSpPr>
        <p:spPr>
          <a:xfrm>
            <a:off x="7298535" y="3963018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201AD74-FEEF-4533-9D25-A3EAD1259CEC}"/>
              </a:ext>
            </a:extLst>
          </p:cNvPr>
          <p:cNvSpPr/>
          <p:nvPr/>
        </p:nvSpPr>
        <p:spPr>
          <a:xfrm>
            <a:off x="5082661" y="3938583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E10E124-CDF4-48F4-B4CD-7D78E41EC017}"/>
              </a:ext>
            </a:extLst>
          </p:cNvPr>
          <p:cNvSpPr/>
          <p:nvPr/>
        </p:nvSpPr>
        <p:spPr>
          <a:xfrm>
            <a:off x="5840035" y="3938190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86A52B73-666B-4196-B10D-634F2762D192}"/>
              </a:ext>
            </a:extLst>
          </p:cNvPr>
          <p:cNvCxnSpPr>
            <a:cxnSpLocks/>
            <a:stCxn id="117" idx="2"/>
            <a:endCxn id="124" idx="0"/>
          </p:cNvCxnSpPr>
          <p:nvPr/>
        </p:nvCxnSpPr>
        <p:spPr>
          <a:xfrm flipH="1">
            <a:off x="5405184" y="3745738"/>
            <a:ext cx="480286" cy="192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BEB2CC07-13B8-4213-8B2D-26BD0EC2DAF4}"/>
              </a:ext>
            </a:extLst>
          </p:cNvPr>
          <p:cNvCxnSpPr>
            <a:cxnSpLocks/>
            <a:stCxn id="117" idx="2"/>
            <a:endCxn id="125" idx="0"/>
          </p:cNvCxnSpPr>
          <p:nvPr/>
        </p:nvCxnSpPr>
        <p:spPr>
          <a:xfrm>
            <a:off x="5885470" y="3745738"/>
            <a:ext cx="277088" cy="192452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A89AE33-6EB9-462F-954B-1AD44916C375}"/>
              </a:ext>
            </a:extLst>
          </p:cNvPr>
          <p:cNvSpPr txBox="1"/>
          <p:nvPr/>
        </p:nvSpPr>
        <p:spPr>
          <a:xfrm>
            <a:off x="5288981" y="4836417"/>
            <a:ext cx="727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0.1 x</a:t>
            </a:r>
          </a:p>
        </p:txBody>
      </p:sp>
      <p:sp>
        <p:nvSpPr>
          <p:cNvPr id="49" name="Plus Sign 48">
            <a:extLst>
              <a:ext uri="{FF2B5EF4-FFF2-40B4-BE49-F238E27FC236}">
                <a16:creationId xmlns:a16="http://schemas.microsoft.com/office/drawing/2014/main" id="{34A6350A-9AB0-4896-852B-E7F954FD13D3}"/>
              </a:ext>
            </a:extLst>
          </p:cNvPr>
          <p:cNvSpPr/>
          <p:nvPr/>
        </p:nvSpPr>
        <p:spPr>
          <a:xfrm>
            <a:off x="4615649" y="4651071"/>
            <a:ext cx="648623" cy="635485"/>
          </a:xfrm>
          <a:prstGeom prst="mathPlu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153264-F553-4266-B639-4D884885EAF0}"/>
              </a:ext>
            </a:extLst>
          </p:cNvPr>
          <p:cNvSpPr/>
          <p:nvPr/>
        </p:nvSpPr>
        <p:spPr>
          <a:xfrm>
            <a:off x="6670597" y="4418739"/>
            <a:ext cx="627938" cy="303606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9F84F5E-A5B8-473A-831C-880F3A369277}"/>
              </a:ext>
            </a:extLst>
          </p:cNvPr>
          <p:cNvSpPr/>
          <p:nvPr/>
        </p:nvSpPr>
        <p:spPr>
          <a:xfrm>
            <a:off x="7169972" y="4829865"/>
            <a:ext cx="760221" cy="340715"/>
          </a:xfrm>
          <a:prstGeom prst="rect">
            <a:avLst/>
          </a:prstGeom>
          <a:solidFill>
            <a:srgbClr val="00B0F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E5D48A-5523-4D5D-82BF-B0650FE7FAA7}"/>
              </a:ext>
            </a:extLst>
          </p:cNvPr>
          <p:cNvSpPr/>
          <p:nvPr/>
        </p:nvSpPr>
        <p:spPr>
          <a:xfrm>
            <a:off x="6069197" y="4854376"/>
            <a:ext cx="648623" cy="279989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AAF4CE8-B579-4B64-BBC4-767E3DBC5109}"/>
              </a:ext>
            </a:extLst>
          </p:cNvPr>
          <p:cNvSpPr/>
          <p:nvPr/>
        </p:nvSpPr>
        <p:spPr>
          <a:xfrm>
            <a:off x="7077323" y="5346298"/>
            <a:ext cx="664111" cy="303606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C4DA276-B17F-4A84-B147-B5E58586B86B}"/>
              </a:ext>
            </a:extLst>
          </p:cNvPr>
          <p:cNvCxnSpPr>
            <a:cxnSpLocks/>
            <a:stCxn id="51" idx="2"/>
            <a:endCxn id="55" idx="0"/>
          </p:cNvCxnSpPr>
          <p:nvPr/>
        </p:nvCxnSpPr>
        <p:spPr>
          <a:xfrm flipH="1">
            <a:off x="6393509" y="4722345"/>
            <a:ext cx="591057" cy="13203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4B4821E-0C66-4A49-803F-C7A736ADA938}"/>
              </a:ext>
            </a:extLst>
          </p:cNvPr>
          <p:cNvCxnSpPr>
            <a:cxnSpLocks/>
            <a:stCxn id="51" idx="2"/>
            <a:endCxn id="52" idx="0"/>
          </p:cNvCxnSpPr>
          <p:nvPr/>
        </p:nvCxnSpPr>
        <p:spPr>
          <a:xfrm>
            <a:off x="6984566" y="4722345"/>
            <a:ext cx="565517" cy="10752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0AA13B6-21FD-4857-BB5C-DFD4F2B54339}"/>
              </a:ext>
            </a:extLst>
          </p:cNvPr>
          <p:cNvCxnSpPr>
            <a:cxnSpLocks/>
            <a:stCxn id="52" idx="2"/>
            <a:endCxn id="56" idx="0"/>
          </p:cNvCxnSpPr>
          <p:nvPr/>
        </p:nvCxnSpPr>
        <p:spPr>
          <a:xfrm flipH="1">
            <a:off x="7409379" y="5170580"/>
            <a:ext cx="140704" cy="17571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5A2DE6B-DF82-416F-9572-D1C638BD5948}"/>
              </a:ext>
            </a:extLst>
          </p:cNvPr>
          <p:cNvCxnSpPr>
            <a:cxnSpLocks/>
            <a:stCxn id="52" idx="2"/>
            <a:endCxn id="80" idx="0"/>
          </p:cNvCxnSpPr>
          <p:nvPr/>
        </p:nvCxnSpPr>
        <p:spPr>
          <a:xfrm>
            <a:off x="7550083" y="5170580"/>
            <a:ext cx="538330" cy="18106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0F56BCA6-6FAB-4967-936B-D34C65850228}"/>
              </a:ext>
            </a:extLst>
          </p:cNvPr>
          <p:cNvSpPr/>
          <p:nvPr/>
        </p:nvSpPr>
        <p:spPr>
          <a:xfrm>
            <a:off x="7806574" y="5351645"/>
            <a:ext cx="563678" cy="303606"/>
          </a:xfrm>
          <a:prstGeom prst="rect">
            <a:avLst/>
          </a:prstGeom>
          <a:solidFill>
            <a:srgbClr val="00B050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F013B33-FEAA-464F-B403-39114064AC5E}"/>
              </a:ext>
            </a:extLst>
          </p:cNvPr>
          <p:cNvSpPr/>
          <p:nvPr/>
        </p:nvSpPr>
        <p:spPr>
          <a:xfrm>
            <a:off x="5590700" y="5327210"/>
            <a:ext cx="645046" cy="322694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A1D59EB-343F-43D8-85D7-690A565AD364}"/>
              </a:ext>
            </a:extLst>
          </p:cNvPr>
          <p:cNvSpPr/>
          <p:nvPr/>
        </p:nvSpPr>
        <p:spPr>
          <a:xfrm>
            <a:off x="6348074" y="5326817"/>
            <a:ext cx="645046" cy="308090"/>
          </a:xfrm>
          <a:prstGeom prst="rect">
            <a:avLst/>
          </a:prstGeom>
          <a:solidFill>
            <a:srgbClr val="00B05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32B6FD59-BD12-449D-9C41-650B162D6EB1}"/>
              </a:ext>
            </a:extLst>
          </p:cNvPr>
          <p:cNvCxnSpPr>
            <a:cxnSpLocks/>
            <a:stCxn id="55" idx="2"/>
            <a:endCxn id="81" idx="0"/>
          </p:cNvCxnSpPr>
          <p:nvPr/>
        </p:nvCxnSpPr>
        <p:spPr>
          <a:xfrm flipH="1">
            <a:off x="5913223" y="5134365"/>
            <a:ext cx="480286" cy="1928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F0448779-360B-48AB-BFE3-9C4CBCD1FF33}"/>
              </a:ext>
            </a:extLst>
          </p:cNvPr>
          <p:cNvCxnSpPr>
            <a:cxnSpLocks/>
            <a:stCxn id="55" idx="2"/>
            <a:endCxn id="82" idx="0"/>
          </p:cNvCxnSpPr>
          <p:nvPr/>
        </p:nvCxnSpPr>
        <p:spPr>
          <a:xfrm>
            <a:off x="6393509" y="5134365"/>
            <a:ext cx="277088" cy="19245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副標題 2">
            <a:extLst>
              <a:ext uri="{FF2B5EF4-FFF2-40B4-BE49-F238E27FC236}">
                <a16:creationId xmlns:a16="http://schemas.microsoft.com/office/drawing/2014/main" id="{E599AE46-2678-4E93-8478-A27D9E60867B}"/>
              </a:ext>
            </a:extLst>
          </p:cNvPr>
          <p:cNvSpPr txBox="1">
            <a:spLocks/>
          </p:cNvSpPr>
          <p:nvPr/>
        </p:nvSpPr>
        <p:spPr>
          <a:xfrm>
            <a:off x="5701498" y="5878177"/>
            <a:ext cx="2681090" cy="40007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>
                <a:srgbClr val="0070C0"/>
              </a:buClr>
              <a:buSzPct val="80000"/>
            </a:pPr>
            <a:r>
              <a:rPr lang="en-US" sz="1800" b="1" dirty="0">
                <a:solidFill>
                  <a:schemeClr val="tx1"/>
                </a:solidFill>
              </a:rPr>
              <a:t>…etc., etc., and etc.</a:t>
            </a:r>
          </a:p>
        </p:txBody>
      </p:sp>
      <p:graphicFrame>
        <p:nvGraphicFramePr>
          <p:cNvPr id="58" name="Table 8">
            <a:extLst>
              <a:ext uri="{FF2B5EF4-FFF2-40B4-BE49-F238E27FC236}">
                <a16:creationId xmlns:a16="http://schemas.microsoft.com/office/drawing/2014/main" id="{90B92A1F-49C3-4E44-8578-1167FC3DFABE}"/>
              </a:ext>
            </a:extLst>
          </p:cNvPr>
          <p:cNvGraphicFramePr>
            <a:graphicFrameLocks noGrp="1"/>
          </p:cNvGraphicFramePr>
          <p:nvPr/>
        </p:nvGraphicFramePr>
        <p:xfrm>
          <a:off x="1030488" y="5449734"/>
          <a:ext cx="2790127" cy="828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0433">
                  <a:extLst>
                    <a:ext uri="{9D8B030D-6E8A-4147-A177-3AD203B41FA5}">
                      <a16:colId xmlns:a16="http://schemas.microsoft.com/office/drawing/2014/main" val="4226822064"/>
                    </a:ext>
                  </a:extLst>
                </a:gridCol>
                <a:gridCol w="762254">
                  <a:extLst>
                    <a:ext uri="{9D8B030D-6E8A-4147-A177-3AD203B41FA5}">
                      <a16:colId xmlns:a16="http://schemas.microsoft.com/office/drawing/2014/main" val="1058971579"/>
                    </a:ext>
                  </a:extLst>
                </a:gridCol>
                <a:gridCol w="686118">
                  <a:extLst>
                    <a:ext uri="{9D8B030D-6E8A-4147-A177-3AD203B41FA5}">
                      <a16:colId xmlns:a16="http://schemas.microsoft.com/office/drawing/2014/main" val="2178053178"/>
                    </a:ext>
                  </a:extLst>
                </a:gridCol>
                <a:gridCol w="671322">
                  <a:extLst>
                    <a:ext uri="{9D8B030D-6E8A-4147-A177-3AD203B41FA5}">
                      <a16:colId xmlns:a16="http://schemas.microsoft.com/office/drawing/2014/main" val="1260777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Height </a:t>
                      </a:r>
                    </a:p>
                    <a:p>
                      <a:pPr algn="ctr"/>
                      <a:r>
                        <a:rPr lang="en-US" sz="1200" b="1" dirty="0"/>
                        <a:t>(m)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Favorite </a:t>
                      </a:r>
                    </a:p>
                    <a:p>
                      <a:pPr algn="ctr"/>
                      <a:r>
                        <a:rPr lang="en-US" sz="1200" b="1" dirty="0"/>
                        <a:t>Color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Gender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Weight</a:t>
                      </a:r>
                    </a:p>
                    <a:p>
                      <a:pPr algn="ctr"/>
                      <a:r>
                        <a:rPr lang="en-US" sz="1200" b="1" dirty="0"/>
                        <a:t>(kg)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57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1.7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Green</a:t>
                      </a: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err="1">
                          <a:solidFill>
                            <a:schemeClr val="bg1"/>
                          </a:solidFill>
                        </a:rPr>
                        <a:t>Femal</a:t>
                      </a:r>
                      <a:endParaRPr 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70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189711"/>
                  </a:ext>
                </a:extLst>
              </a:tr>
            </a:tbl>
          </a:graphicData>
        </a:graphic>
      </p:graphicFrame>
      <p:sp>
        <p:nvSpPr>
          <p:cNvPr id="61" name="Rectangle 60">
            <a:extLst>
              <a:ext uri="{FF2B5EF4-FFF2-40B4-BE49-F238E27FC236}">
                <a16:creationId xmlns:a16="http://schemas.microsoft.com/office/drawing/2014/main" id="{BCB0B270-2B3A-439E-AB10-10EF5D83F9F0}"/>
              </a:ext>
            </a:extLst>
          </p:cNvPr>
          <p:cNvSpPr/>
          <p:nvPr/>
        </p:nvSpPr>
        <p:spPr>
          <a:xfrm>
            <a:off x="3125812" y="5932802"/>
            <a:ext cx="651708" cy="3844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3439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2021/1/1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70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3858</TotalTime>
  <Words>6257</Words>
  <Application>Microsoft Office PowerPoint</Application>
  <PresentationFormat>On-screen Show (4:3)</PresentationFormat>
  <Paragraphs>2247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5" baseType="lpstr">
      <vt:lpstr>Arial</vt:lpstr>
      <vt:lpstr>Calibri</vt:lpstr>
      <vt:lpstr>Cambria Math</vt:lpstr>
      <vt:lpstr>Wingdings</vt:lpstr>
      <vt:lpstr>Office 佈景主題</vt:lpstr>
      <vt:lpstr>50 Gradient Boost: Main Idea</vt:lpstr>
      <vt:lpstr>50 Gradient Boost: Main Idea</vt:lpstr>
      <vt:lpstr>51.1 Dataset</vt:lpstr>
      <vt:lpstr>51.1 Dataset</vt:lpstr>
      <vt:lpstr>51.1 Dataset</vt:lpstr>
      <vt:lpstr>51.1 Dataset</vt:lpstr>
      <vt:lpstr>51.1 Dataset</vt:lpstr>
      <vt:lpstr>50.1 AdaBoost vs. Gradient Boost</vt:lpstr>
      <vt:lpstr>50.1 AdaBoost vs. Gradient Boost</vt:lpstr>
      <vt:lpstr>50.1 AdaBoost vs. Gradient Boost</vt:lpstr>
      <vt:lpstr>50.1 AdaBoost vs. Gradient Boost</vt:lpstr>
      <vt:lpstr>50.1 AdaBoost vs. Gradient Boost</vt:lpstr>
      <vt:lpstr>50.1 AdaBoost vs. Gradient Boost</vt:lpstr>
      <vt:lpstr>50.1 AdaBoost vs. Gradient Boost</vt:lpstr>
      <vt:lpstr>50.1 AdaBoost vs. Gradient Boost</vt:lpstr>
      <vt:lpstr>50.1 AdaBoost vs. Gradient Boost</vt:lpstr>
      <vt:lpstr>50.1 AdaBoost vs. Gradient Boost</vt:lpstr>
      <vt:lpstr>50.1 AdaBoost vs. Gradient Boost</vt:lpstr>
      <vt:lpstr>50.1 AdaBoost vs. Gradient Boost</vt:lpstr>
      <vt:lpstr>50.2 Build Tree by Gradient Boost</vt:lpstr>
      <vt:lpstr>50.2 Build Tree by Gradient Boost</vt:lpstr>
      <vt:lpstr>50.2 Build Tree by Gradient Boost</vt:lpstr>
      <vt:lpstr>50.2 Build Tree by Gradient Boost</vt:lpstr>
      <vt:lpstr>50.2 Build Tree by Gradient Boost</vt:lpstr>
      <vt:lpstr>50.2 Build Tree by Gradient Boost</vt:lpstr>
      <vt:lpstr>50.2 Build Tree by Gradient Boost</vt:lpstr>
      <vt:lpstr>50.2 Build Tree by Gradient Boost</vt:lpstr>
      <vt:lpstr>50.2 Build Tree by Gradient Boost</vt:lpstr>
      <vt:lpstr>50.2 Build Tree by Gradient Boost</vt:lpstr>
      <vt:lpstr>50.2 Build Tree by Gradient Boost</vt:lpstr>
      <vt:lpstr>50.2 Build Tree by Gradient Boost</vt:lpstr>
      <vt:lpstr>50.3 Predict by Gradient Boost</vt:lpstr>
      <vt:lpstr>50.3 Predict by Gradient Boost</vt:lpstr>
      <vt:lpstr>50.3 Predict by Gradient Boost</vt:lpstr>
      <vt:lpstr>50.3 Predict by Gradient Boost</vt:lpstr>
      <vt:lpstr>50.3 Predict by Gradient Boost</vt:lpstr>
      <vt:lpstr>50.3 Predict by Gradient Boost</vt:lpstr>
      <vt:lpstr>50.4 Learning Rate</vt:lpstr>
      <vt:lpstr>50.4 Learning Rate</vt:lpstr>
      <vt:lpstr>50.4 Learning Rate</vt:lpstr>
      <vt:lpstr>50.4 Learning Rate</vt:lpstr>
      <vt:lpstr>50.4 Learning Rate</vt:lpstr>
      <vt:lpstr>50.4 Learning Rate</vt:lpstr>
      <vt:lpstr>50.4 Learning Rate</vt:lpstr>
      <vt:lpstr>50.5 Build Tree with Learning Rate</vt:lpstr>
      <vt:lpstr>50.5 Build Tree with Learning Rate</vt:lpstr>
      <vt:lpstr>50.5 Build Tree with Learning Rate</vt:lpstr>
      <vt:lpstr>50.5 Build Tree with Learning Rate</vt:lpstr>
      <vt:lpstr>50.5 Build Tree with Learning Rate</vt:lpstr>
      <vt:lpstr>50.5 Build Tree with Learning Rate</vt:lpstr>
      <vt:lpstr>50.5 Build Tree with Learning Rate</vt:lpstr>
      <vt:lpstr>50.5 Build Tree with Learning Rate</vt:lpstr>
      <vt:lpstr>50.5 Build Tree with Learning Rate</vt:lpstr>
      <vt:lpstr>50.6 Predict with Gradient Boost</vt:lpstr>
      <vt:lpstr>50.6 Predict with Gradient Boost</vt:lpstr>
      <vt:lpstr>50.6 Predict with Gradient Boost</vt:lpstr>
      <vt:lpstr>50.7 Calculate All Residuals With GB</vt:lpstr>
      <vt:lpstr>50.7 Calculate All Residuals With GB</vt:lpstr>
      <vt:lpstr>50.7 Calculate All Residuals With GB</vt:lpstr>
      <vt:lpstr>50.7 Calculate All Residuals With GB</vt:lpstr>
      <vt:lpstr>50.7 Calculate All Residuals With GB</vt:lpstr>
      <vt:lpstr>50.7 Calculate All Residuals With GB</vt:lpstr>
      <vt:lpstr>50.8 Summary</vt:lpstr>
      <vt:lpstr>50.8 Summary</vt:lpstr>
      <vt:lpstr>50.8 Summary</vt:lpstr>
      <vt:lpstr>50.8 Summary</vt:lpstr>
      <vt:lpstr>50.8 Summary</vt:lpstr>
      <vt:lpstr>50.8 Summary</vt:lpstr>
      <vt:lpstr>50.8 Summary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1486</cp:revision>
  <dcterms:created xsi:type="dcterms:W3CDTF">2018-09-28T16:40:41Z</dcterms:created>
  <dcterms:modified xsi:type="dcterms:W3CDTF">2021-01-01T08:47:52Z</dcterms:modified>
</cp:coreProperties>
</file>