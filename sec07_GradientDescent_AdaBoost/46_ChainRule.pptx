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334" r:id="rId3"/>
    <p:sldId id="335" r:id="rId4"/>
    <p:sldId id="336" r:id="rId5"/>
    <p:sldId id="333" r:id="rId6"/>
    <p:sldId id="328" r:id="rId7"/>
    <p:sldId id="338" r:id="rId8"/>
    <p:sldId id="339" r:id="rId9"/>
    <p:sldId id="337" r:id="rId10"/>
    <p:sldId id="340" r:id="rId11"/>
    <p:sldId id="341" r:id="rId12"/>
    <p:sldId id="342" r:id="rId13"/>
    <p:sldId id="343" r:id="rId14"/>
    <p:sldId id="345" r:id="rId15"/>
    <p:sldId id="346" r:id="rId16"/>
    <p:sldId id="344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5" r:id="rId25"/>
    <p:sldId id="354" r:id="rId26"/>
    <p:sldId id="356" r:id="rId27"/>
    <p:sldId id="357" r:id="rId28"/>
    <p:sldId id="359" r:id="rId29"/>
    <p:sldId id="358" r:id="rId30"/>
    <p:sldId id="360" r:id="rId31"/>
    <p:sldId id="259" r:id="rId3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4088587657" initials="1" lastIdx="2" clrIdx="0">
    <p:extLst>
      <p:ext uri="{19B8F6BF-5375-455C-9EA6-DF929625EA0E}">
        <p15:presenceInfo xmlns:p15="http://schemas.microsoft.com/office/powerpoint/2012/main" userId="46f8387d243ddec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92" autoAdjust="0"/>
    <p:restoredTop sz="96806" autoAdjust="0"/>
  </p:normalViewPr>
  <p:slideViewPr>
    <p:cSldViewPr>
      <p:cViewPr varScale="1">
        <p:scale>
          <a:sx n="80" d="100"/>
          <a:sy n="80" d="100"/>
        </p:scale>
        <p:origin x="108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46 Chain Rule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59632" y="4581128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 Chain Rule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40766"/>
            <a:ext cx="8352928" cy="75002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have Weight to Height Data, we can fit these data into a line.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Given a person weight, we can use fit line to predict height.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378332-98C3-4DCE-8391-4D4C0EE3C9DF}"/>
              </a:ext>
            </a:extLst>
          </p:cNvPr>
          <p:cNvCxnSpPr>
            <a:cxnSpLocks/>
          </p:cNvCxnSpPr>
          <p:nvPr/>
        </p:nvCxnSpPr>
        <p:spPr>
          <a:xfrm>
            <a:off x="3203848" y="5517234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5C348A-AB65-494E-8521-DD53AC4FFF6C}"/>
              </a:ext>
            </a:extLst>
          </p:cNvPr>
          <p:cNvCxnSpPr>
            <a:cxnSpLocks/>
          </p:cNvCxnSpPr>
          <p:nvPr/>
        </p:nvCxnSpPr>
        <p:spPr>
          <a:xfrm flipV="1">
            <a:off x="3203848" y="2708922"/>
            <a:ext cx="0" cy="28083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C8E91E-91FE-42BA-B700-0252AE59397C}"/>
              </a:ext>
            </a:extLst>
          </p:cNvPr>
          <p:cNvCxnSpPr/>
          <p:nvPr/>
        </p:nvCxnSpPr>
        <p:spPr>
          <a:xfrm>
            <a:off x="4139952" y="5373218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798FA71-163E-4DA6-96D3-4613D370217D}"/>
              </a:ext>
            </a:extLst>
          </p:cNvPr>
          <p:cNvCxnSpPr/>
          <p:nvPr/>
        </p:nvCxnSpPr>
        <p:spPr>
          <a:xfrm>
            <a:off x="5076056" y="538919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0B1E74-C383-406D-8153-7FF97CAF50F1}"/>
              </a:ext>
            </a:extLst>
          </p:cNvPr>
          <p:cNvCxnSpPr/>
          <p:nvPr/>
        </p:nvCxnSpPr>
        <p:spPr>
          <a:xfrm>
            <a:off x="6012160" y="538919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BB03F6-6B5F-4EEF-B5BD-725BAF4BD76A}"/>
              </a:ext>
            </a:extLst>
          </p:cNvPr>
          <p:cNvCxnSpPr>
            <a:cxnSpLocks/>
          </p:cNvCxnSpPr>
          <p:nvPr/>
        </p:nvCxnSpPr>
        <p:spPr>
          <a:xfrm>
            <a:off x="3051448" y="4581130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DB9AA7-6509-48D6-8FDC-45DB400F649F}"/>
              </a:ext>
            </a:extLst>
          </p:cNvPr>
          <p:cNvCxnSpPr>
            <a:cxnSpLocks/>
          </p:cNvCxnSpPr>
          <p:nvPr/>
        </p:nvCxnSpPr>
        <p:spPr>
          <a:xfrm>
            <a:off x="3073152" y="3651490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DCE0936-A827-429A-A695-D69E1A455797}"/>
              </a:ext>
            </a:extLst>
          </p:cNvPr>
          <p:cNvCxnSpPr>
            <a:cxnSpLocks/>
          </p:cNvCxnSpPr>
          <p:nvPr/>
        </p:nvCxnSpPr>
        <p:spPr>
          <a:xfrm>
            <a:off x="3073152" y="2708922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0F9174C-B9EB-44D9-88A6-FF77E2C1EE46}"/>
              </a:ext>
            </a:extLst>
          </p:cNvPr>
          <p:cNvSpPr/>
          <p:nvPr/>
        </p:nvSpPr>
        <p:spPr>
          <a:xfrm>
            <a:off x="4932040" y="2708922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6855B21-B5BC-4AED-9FF8-E741773BB493}"/>
              </a:ext>
            </a:extLst>
          </p:cNvPr>
          <p:cNvSpPr/>
          <p:nvPr/>
        </p:nvSpPr>
        <p:spPr>
          <a:xfrm>
            <a:off x="4022721" y="3062497"/>
            <a:ext cx="261382" cy="32357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9BB448B-FD38-422D-95E2-61286C71FE81}"/>
              </a:ext>
            </a:extLst>
          </p:cNvPr>
          <p:cNvSpPr/>
          <p:nvPr/>
        </p:nvSpPr>
        <p:spPr>
          <a:xfrm>
            <a:off x="4009261" y="4761155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A3E08C-DC90-4D95-93D3-FDCB0673DFD8}"/>
              </a:ext>
            </a:extLst>
          </p:cNvPr>
          <p:cNvSpPr txBox="1"/>
          <p:nvPr/>
        </p:nvSpPr>
        <p:spPr>
          <a:xfrm>
            <a:off x="4193721" y="5677226"/>
            <a:ext cx="100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204B50-EA17-401A-A9D5-1422CE7C603D}"/>
              </a:ext>
            </a:extLst>
          </p:cNvPr>
          <p:cNvSpPr txBox="1"/>
          <p:nvPr/>
        </p:nvSpPr>
        <p:spPr>
          <a:xfrm>
            <a:off x="2304739" y="3025484"/>
            <a:ext cx="100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66B1A4-F295-4728-84AF-38FB9F7EF742}"/>
              </a:ext>
            </a:extLst>
          </p:cNvPr>
          <p:cNvSpPr txBox="1"/>
          <p:nvPr/>
        </p:nvSpPr>
        <p:spPr>
          <a:xfrm>
            <a:off x="4957987" y="3944930"/>
            <a:ext cx="2169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fit a line to the Data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5AD028-B0E2-4A31-B108-3ACEB1630C71}"/>
              </a:ext>
            </a:extLst>
          </p:cNvPr>
          <p:cNvCxnSpPr>
            <a:cxnSpLocks/>
          </p:cNvCxnSpPr>
          <p:nvPr/>
        </p:nvCxnSpPr>
        <p:spPr>
          <a:xfrm flipH="1">
            <a:off x="3203848" y="2708921"/>
            <a:ext cx="1573822" cy="280831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1D07510-D09F-4A47-B9E7-665E09AE072C}"/>
              </a:ext>
            </a:extLst>
          </p:cNvPr>
          <p:cNvSpPr/>
          <p:nvPr/>
        </p:nvSpPr>
        <p:spPr>
          <a:xfrm>
            <a:off x="4088855" y="4058987"/>
            <a:ext cx="819509" cy="167576"/>
          </a:xfrm>
          <a:custGeom>
            <a:avLst/>
            <a:gdLst>
              <a:gd name="connsiteX0" fmla="*/ 585216 w 585216"/>
              <a:gd name="connsiteY0" fmla="*/ 195072 h 213842"/>
              <a:gd name="connsiteX1" fmla="*/ 207264 w 585216"/>
              <a:gd name="connsiteY1" fmla="*/ 195072 h 213842"/>
              <a:gd name="connsiteX2" fmla="*/ 0 w 585216"/>
              <a:gd name="connsiteY2" fmla="*/ 0 h 21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5216" h="213842">
                <a:moveTo>
                  <a:pt x="585216" y="195072"/>
                </a:moveTo>
                <a:cubicBezTo>
                  <a:pt x="445008" y="211328"/>
                  <a:pt x="304800" y="227584"/>
                  <a:pt x="207264" y="195072"/>
                </a:cubicBezTo>
                <a:cubicBezTo>
                  <a:pt x="109728" y="162560"/>
                  <a:pt x="54864" y="81280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5B19AC47-31AA-4777-8A56-BB1AB8A2BE34}"/>
              </a:ext>
            </a:extLst>
          </p:cNvPr>
          <p:cNvSpPr/>
          <p:nvPr/>
        </p:nvSpPr>
        <p:spPr>
          <a:xfrm>
            <a:off x="4165898" y="5338664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23495E64-C0A5-4EAE-B1D3-A973ED21008B}"/>
              </a:ext>
            </a:extLst>
          </p:cNvPr>
          <p:cNvSpPr/>
          <p:nvPr/>
        </p:nvSpPr>
        <p:spPr>
          <a:xfrm>
            <a:off x="4088702" y="3379564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870665-789E-4FE8-9E7D-5BA08987D6E3}"/>
              </a:ext>
            </a:extLst>
          </p:cNvPr>
          <p:cNvCxnSpPr>
            <a:cxnSpLocks/>
          </p:cNvCxnSpPr>
          <p:nvPr/>
        </p:nvCxnSpPr>
        <p:spPr>
          <a:xfrm flipH="1" flipV="1">
            <a:off x="4307427" y="3734085"/>
            <a:ext cx="40401" cy="1783150"/>
          </a:xfrm>
          <a:prstGeom prst="line">
            <a:avLst/>
          </a:prstGeom>
          <a:ln w="38100"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Multiplication Sign 35">
            <a:extLst>
              <a:ext uri="{FF2B5EF4-FFF2-40B4-BE49-F238E27FC236}">
                <a16:creationId xmlns:a16="http://schemas.microsoft.com/office/drawing/2014/main" id="{9E9E50C7-D37E-4B3D-9DE8-C1C1F8D08FBF}"/>
              </a:ext>
            </a:extLst>
          </p:cNvPr>
          <p:cNvSpPr/>
          <p:nvPr/>
        </p:nvSpPr>
        <p:spPr>
          <a:xfrm>
            <a:off x="2982815" y="3364753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B007E6B-6A6A-499D-BCA6-00E800DF85D6}"/>
              </a:ext>
            </a:extLst>
          </p:cNvPr>
          <p:cNvCxnSpPr>
            <a:cxnSpLocks/>
          </p:cNvCxnSpPr>
          <p:nvPr/>
        </p:nvCxnSpPr>
        <p:spPr>
          <a:xfrm flipH="1">
            <a:off x="3410626" y="3549419"/>
            <a:ext cx="873477" cy="0"/>
          </a:xfrm>
          <a:prstGeom prst="line">
            <a:avLst/>
          </a:prstGeom>
          <a:ln w="38100"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945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 Chain Rule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40766"/>
            <a:ext cx="8352928" cy="75002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people height to Shoe Size data. We fit them into a line.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From people height, we can predict the shoe size.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378332-98C3-4DCE-8391-4D4C0EE3C9DF}"/>
              </a:ext>
            </a:extLst>
          </p:cNvPr>
          <p:cNvCxnSpPr>
            <a:cxnSpLocks/>
          </p:cNvCxnSpPr>
          <p:nvPr/>
        </p:nvCxnSpPr>
        <p:spPr>
          <a:xfrm>
            <a:off x="3203848" y="5517234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5C348A-AB65-494E-8521-DD53AC4FFF6C}"/>
              </a:ext>
            </a:extLst>
          </p:cNvPr>
          <p:cNvCxnSpPr>
            <a:cxnSpLocks/>
          </p:cNvCxnSpPr>
          <p:nvPr/>
        </p:nvCxnSpPr>
        <p:spPr>
          <a:xfrm flipV="1">
            <a:off x="3203848" y="3651490"/>
            <a:ext cx="0" cy="18657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C8E91E-91FE-42BA-B700-0252AE59397C}"/>
              </a:ext>
            </a:extLst>
          </p:cNvPr>
          <p:cNvCxnSpPr/>
          <p:nvPr/>
        </p:nvCxnSpPr>
        <p:spPr>
          <a:xfrm>
            <a:off x="4139952" y="5373218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798FA71-163E-4DA6-96D3-4613D370217D}"/>
              </a:ext>
            </a:extLst>
          </p:cNvPr>
          <p:cNvCxnSpPr/>
          <p:nvPr/>
        </p:nvCxnSpPr>
        <p:spPr>
          <a:xfrm>
            <a:off x="5076056" y="538919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0B1E74-C383-406D-8153-7FF97CAF50F1}"/>
              </a:ext>
            </a:extLst>
          </p:cNvPr>
          <p:cNvCxnSpPr/>
          <p:nvPr/>
        </p:nvCxnSpPr>
        <p:spPr>
          <a:xfrm>
            <a:off x="6012160" y="538919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BB03F6-6B5F-4EEF-B5BD-725BAF4BD76A}"/>
              </a:ext>
            </a:extLst>
          </p:cNvPr>
          <p:cNvCxnSpPr>
            <a:cxnSpLocks/>
          </p:cNvCxnSpPr>
          <p:nvPr/>
        </p:nvCxnSpPr>
        <p:spPr>
          <a:xfrm>
            <a:off x="3051448" y="4581130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DB9AA7-6509-48D6-8FDC-45DB400F649F}"/>
              </a:ext>
            </a:extLst>
          </p:cNvPr>
          <p:cNvCxnSpPr>
            <a:cxnSpLocks/>
          </p:cNvCxnSpPr>
          <p:nvPr/>
        </p:nvCxnSpPr>
        <p:spPr>
          <a:xfrm>
            <a:off x="3073152" y="3651490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0F9174C-B9EB-44D9-88A6-FF77E2C1EE46}"/>
              </a:ext>
            </a:extLst>
          </p:cNvPr>
          <p:cNvSpPr/>
          <p:nvPr/>
        </p:nvSpPr>
        <p:spPr>
          <a:xfrm>
            <a:off x="5064312" y="3549419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6855B21-B5BC-4AED-9FF8-E741773BB493}"/>
              </a:ext>
            </a:extLst>
          </p:cNvPr>
          <p:cNvSpPr/>
          <p:nvPr/>
        </p:nvSpPr>
        <p:spPr>
          <a:xfrm>
            <a:off x="4539034" y="4649547"/>
            <a:ext cx="278282" cy="32032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9BB448B-FD38-422D-95E2-61286C71FE81}"/>
              </a:ext>
            </a:extLst>
          </p:cNvPr>
          <p:cNvSpPr/>
          <p:nvPr/>
        </p:nvSpPr>
        <p:spPr>
          <a:xfrm>
            <a:off x="3616959" y="4864314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A3E08C-DC90-4D95-93D3-FDCB0673DFD8}"/>
              </a:ext>
            </a:extLst>
          </p:cNvPr>
          <p:cNvSpPr txBox="1"/>
          <p:nvPr/>
        </p:nvSpPr>
        <p:spPr>
          <a:xfrm>
            <a:off x="4193721" y="5677226"/>
            <a:ext cx="100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204B50-EA17-401A-A9D5-1422CE7C603D}"/>
              </a:ext>
            </a:extLst>
          </p:cNvPr>
          <p:cNvSpPr txBox="1"/>
          <p:nvPr/>
        </p:nvSpPr>
        <p:spPr>
          <a:xfrm>
            <a:off x="2015823" y="3854239"/>
            <a:ext cx="10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Shoe Size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66B1A4-F295-4728-84AF-38FB9F7EF742}"/>
              </a:ext>
            </a:extLst>
          </p:cNvPr>
          <p:cNvSpPr txBox="1"/>
          <p:nvPr/>
        </p:nvSpPr>
        <p:spPr>
          <a:xfrm>
            <a:off x="5573294" y="4003216"/>
            <a:ext cx="2169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fit a line to the Data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5AD028-B0E2-4A31-B108-3ACEB1630C71}"/>
              </a:ext>
            </a:extLst>
          </p:cNvPr>
          <p:cNvCxnSpPr>
            <a:cxnSpLocks/>
          </p:cNvCxnSpPr>
          <p:nvPr/>
        </p:nvCxnSpPr>
        <p:spPr>
          <a:xfrm flipH="1">
            <a:off x="3203848" y="3429000"/>
            <a:ext cx="2121846" cy="208823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1D07510-D09F-4A47-B9E7-665E09AE072C}"/>
              </a:ext>
            </a:extLst>
          </p:cNvPr>
          <p:cNvSpPr/>
          <p:nvPr/>
        </p:nvSpPr>
        <p:spPr>
          <a:xfrm>
            <a:off x="4792067" y="4300210"/>
            <a:ext cx="819509" cy="167576"/>
          </a:xfrm>
          <a:custGeom>
            <a:avLst/>
            <a:gdLst>
              <a:gd name="connsiteX0" fmla="*/ 585216 w 585216"/>
              <a:gd name="connsiteY0" fmla="*/ 195072 h 213842"/>
              <a:gd name="connsiteX1" fmla="*/ 207264 w 585216"/>
              <a:gd name="connsiteY1" fmla="*/ 195072 h 213842"/>
              <a:gd name="connsiteX2" fmla="*/ 0 w 585216"/>
              <a:gd name="connsiteY2" fmla="*/ 0 h 21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5216" h="213842">
                <a:moveTo>
                  <a:pt x="585216" y="195072"/>
                </a:moveTo>
                <a:cubicBezTo>
                  <a:pt x="445008" y="211328"/>
                  <a:pt x="304800" y="227584"/>
                  <a:pt x="207264" y="195072"/>
                </a:cubicBezTo>
                <a:cubicBezTo>
                  <a:pt x="109728" y="162560"/>
                  <a:pt x="54864" y="81280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5B19AC47-31AA-4777-8A56-BB1AB8A2BE34}"/>
              </a:ext>
            </a:extLst>
          </p:cNvPr>
          <p:cNvSpPr/>
          <p:nvPr/>
        </p:nvSpPr>
        <p:spPr>
          <a:xfrm>
            <a:off x="4167559" y="5298068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23495E64-C0A5-4EAE-B1D3-A973ED21008B}"/>
              </a:ext>
            </a:extLst>
          </p:cNvPr>
          <p:cNvSpPr/>
          <p:nvPr/>
        </p:nvSpPr>
        <p:spPr>
          <a:xfrm>
            <a:off x="4156701" y="4197425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870665-789E-4FE8-9E7D-5BA08987D6E3}"/>
              </a:ext>
            </a:extLst>
          </p:cNvPr>
          <p:cNvCxnSpPr>
            <a:cxnSpLocks/>
          </p:cNvCxnSpPr>
          <p:nvPr/>
        </p:nvCxnSpPr>
        <p:spPr>
          <a:xfrm flipV="1">
            <a:off x="4378822" y="4363386"/>
            <a:ext cx="19499" cy="1212974"/>
          </a:xfrm>
          <a:prstGeom prst="line">
            <a:avLst/>
          </a:prstGeom>
          <a:ln w="38100"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Multiplication Sign 35">
            <a:extLst>
              <a:ext uri="{FF2B5EF4-FFF2-40B4-BE49-F238E27FC236}">
                <a16:creationId xmlns:a16="http://schemas.microsoft.com/office/drawing/2014/main" id="{9E9E50C7-D37E-4B3D-9DE8-C1C1F8D08FBF}"/>
              </a:ext>
            </a:extLst>
          </p:cNvPr>
          <p:cNvSpPr/>
          <p:nvPr/>
        </p:nvSpPr>
        <p:spPr>
          <a:xfrm>
            <a:off x="2965628" y="4131238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B007E6B-6A6A-499D-BCA6-00E800DF85D6}"/>
              </a:ext>
            </a:extLst>
          </p:cNvPr>
          <p:cNvCxnSpPr>
            <a:cxnSpLocks/>
          </p:cNvCxnSpPr>
          <p:nvPr/>
        </p:nvCxnSpPr>
        <p:spPr>
          <a:xfrm flipH="1">
            <a:off x="3393439" y="4342349"/>
            <a:ext cx="681232" cy="24224"/>
          </a:xfrm>
          <a:prstGeom prst="line">
            <a:avLst/>
          </a:prstGeom>
          <a:ln w="38100"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071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 Chain Rule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40767"/>
            <a:ext cx="8352928" cy="77332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Now, </a:t>
            </a:r>
            <a:r>
              <a:rPr lang="en-US" sz="1800" b="1" dirty="0">
                <a:solidFill>
                  <a:schemeClr val="tx1"/>
                </a:solidFill>
              </a:rPr>
              <a:t>we can combine fit line of weight to height </a:t>
            </a:r>
            <a:r>
              <a:rPr lang="en-US" sz="1800" dirty="0">
                <a:solidFill>
                  <a:schemeClr val="tx1"/>
                </a:solidFill>
              </a:rPr>
              <a:t>and fit line of height to shoes size.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We can use </a:t>
            </a:r>
            <a:r>
              <a:rPr lang="en-US" sz="1800" b="1" dirty="0">
                <a:solidFill>
                  <a:schemeClr val="tx1"/>
                </a:solidFill>
              </a:rPr>
              <a:t>Weight to predict Height</a:t>
            </a:r>
            <a:r>
              <a:rPr lang="en-US" sz="1800" dirty="0">
                <a:solidFill>
                  <a:schemeClr val="tx1"/>
                </a:solidFill>
              </a:rPr>
              <a:t>,  and then use </a:t>
            </a:r>
            <a:r>
              <a:rPr lang="en-US" sz="1800" b="1" dirty="0">
                <a:solidFill>
                  <a:schemeClr val="tx1"/>
                </a:solidFill>
              </a:rPr>
              <a:t>Height to predict the Shoe Size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378332-98C3-4DCE-8391-4D4C0EE3C9DF}"/>
              </a:ext>
            </a:extLst>
          </p:cNvPr>
          <p:cNvCxnSpPr>
            <a:cxnSpLocks/>
          </p:cNvCxnSpPr>
          <p:nvPr/>
        </p:nvCxnSpPr>
        <p:spPr>
          <a:xfrm>
            <a:off x="4860032" y="4873992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5C348A-AB65-494E-8521-DD53AC4FFF6C}"/>
              </a:ext>
            </a:extLst>
          </p:cNvPr>
          <p:cNvCxnSpPr>
            <a:cxnSpLocks/>
          </p:cNvCxnSpPr>
          <p:nvPr/>
        </p:nvCxnSpPr>
        <p:spPr>
          <a:xfrm flipV="1">
            <a:off x="4860032" y="3008248"/>
            <a:ext cx="0" cy="18657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C8E91E-91FE-42BA-B700-0252AE59397C}"/>
              </a:ext>
            </a:extLst>
          </p:cNvPr>
          <p:cNvCxnSpPr/>
          <p:nvPr/>
        </p:nvCxnSpPr>
        <p:spPr>
          <a:xfrm>
            <a:off x="5796136" y="472997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798FA71-163E-4DA6-96D3-4613D370217D}"/>
              </a:ext>
            </a:extLst>
          </p:cNvPr>
          <p:cNvCxnSpPr/>
          <p:nvPr/>
        </p:nvCxnSpPr>
        <p:spPr>
          <a:xfrm>
            <a:off x="6732240" y="474595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0B1E74-C383-406D-8153-7FF97CAF50F1}"/>
              </a:ext>
            </a:extLst>
          </p:cNvPr>
          <p:cNvCxnSpPr/>
          <p:nvPr/>
        </p:nvCxnSpPr>
        <p:spPr>
          <a:xfrm>
            <a:off x="7668344" y="474595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BB03F6-6B5F-4EEF-B5BD-725BAF4BD76A}"/>
              </a:ext>
            </a:extLst>
          </p:cNvPr>
          <p:cNvCxnSpPr>
            <a:cxnSpLocks/>
          </p:cNvCxnSpPr>
          <p:nvPr/>
        </p:nvCxnSpPr>
        <p:spPr>
          <a:xfrm>
            <a:off x="4707632" y="3937888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DB9AA7-6509-48D6-8FDC-45DB400F649F}"/>
              </a:ext>
            </a:extLst>
          </p:cNvPr>
          <p:cNvCxnSpPr>
            <a:cxnSpLocks/>
          </p:cNvCxnSpPr>
          <p:nvPr/>
        </p:nvCxnSpPr>
        <p:spPr>
          <a:xfrm>
            <a:off x="4729336" y="3008248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0F9174C-B9EB-44D9-88A6-FF77E2C1EE46}"/>
              </a:ext>
            </a:extLst>
          </p:cNvPr>
          <p:cNvSpPr/>
          <p:nvPr/>
        </p:nvSpPr>
        <p:spPr>
          <a:xfrm>
            <a:off x="6720496" y="2906177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6855B21-B5BC-4AED-9FF8-E741773BB493}"/>
              </a:ext>
            </a:extLst>
          </p:cNvPr>
          <p:cNvSpPr/>
          <p:nvPr/>
        </p:nvSpPr>
        <p:spPr>
          <a:xfrm>
            <a:off x="6195218" y="4006305"/>
            <a:ext cx="278282" cy="32032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9BB448B-FD38-422D-95E2-61286C71FE81}"/>
              </a:ext>
            </a:extLst>
          </p:cNvPr>
          <p:cNvSpPr/>
          <p:nvPr/>
        </p:nvSpPr>
        <p:spPr>
          <a:xfrm>
            <a:off x="5273143" y="4221072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A3E08C-DC90-4D95-93D3-FDCB0673DFD8}"/>
              </a:ext>
            </a:extLst>
          </p:cNvPr>
          <p:cNvSpPr txBox="1"/>
          <p:nvPr/>
        </p:nvSpPr>
        <p:spPr>
          <a:xfrm>
            <a:off x="6035006" y="5229316"/>
            <a:ext cx="100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204B50-EA17-401A-A9D5-1422CE7C603D}"/>
              </a:ext>
            </a:extLst>
          </p:cNvPr>
          <p:cNvSpPr txBox="1"/>
          <p:nvPr/>
        </p:nvSpPr>
        <p:spPr>
          <a:xfrm>
            <a:off x="3891414" y="3194205"/>
            <a:ext cx="742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Shoe Size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66B1A4-F295-4728-84AF-38FB9F7EF742}"/>
              </a:ext>
            </a:extLst>
          </p:cNvPr>
          <p:cNvSpPr txBox="1"/>
          <p:nvPr/>
        </p:nvSpPr>
        <p:spPr>
          <a:xfrm>
            <a:off x="7229478" y="3359974"/>
            <a:ext cx="2169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fit a line to the Data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5AD028-B0E2-4A31-B108-3ACEB1630C71}"/>
              </a:ext>
            </a:extLst>
          </p:cNvPr>
          <p:cNvCxnSpPr>
            <a:cxnSpLocks/>
          </p:cNvCxnSpPr>
          <p:nvPr/>
        </p:nvCxnSpPr>
        <p:spPr>
          <a:xfrm flipH="1">
            <a:off x="4860032" y="2780928"/>
            <a:ext cx="2121846" cy="209306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1D07510-D09F-4A47-B9E7-665E09AE072C}"/>
              </a:ext>
            </a:extLst>
          </p:cNvPr>
          <p:cNvSpPr/>
          <p:nvPr/>
        </p:nvSpPr>
        <p:spPr>
          <a:xfrm>
            <a:off x="6448251" y="3656968"/>
            <a:ext cx="819509" cy="167576"/>
          </a:xfrm>
          <a:custGeom>
            <a:avLst/>
            <a:gdLst>
              <a:gd name="connsiteX0" fmla="*/ 585216 w 585216"/>
              <a:gd name="connsiteY0" fmla="*/ 195072 h 213842"/>
              <a:gd name="connsiteX1" fmla="*/ 207264 w 585216"/>
              <a:gd name="connsiteY1" fmla="*/ 195072 h 213842"/>
              <a:gd name="connsiteX2" fmla="*/ 0 w 585216"/>
              <a:gd name="connsiteY2" fmla="*/ 0 h 21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5216" h="213842">
                <a:moveTo>
                  <a:pt x="585216" y="195072"/>
                </a:moveTo>
                <a:cubicBezTo>
                  <a:pt x="445008" y="211328"/>
                  <a:pt x="304800" y="227584"/>
                  <a:pt x="207264" y="195072"/>
                </a:cubicBezTo>
                <a:cubicBezTo>
                  <a:pt x="109728" y="162560"/>
                  <a:pt x="54864" y="81280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5B19AC47-31AA-4777-8A56-BB1AB8A2BE34}"/>
              </a:ext>
            </a:extLst>
          </p:cNvPr>
          <p:cNvSpPr/>
          <p:nvPr/>
        </p:nvSpPr>
        <p:spPr>
          <a:xfrm>
            <a:off x="5823743" y="4654826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23495E64-C0A5-4EAE-B1D3-A973ED21008B}"/>
              </a:ext>
            </a:extLst>
          </p:cNvPr>
          <p:cNvSpPr/>
          <p:nvPr/>
        </p:nvSpPr>
        <p:spPr>
          <a:xfrm>
            <a:off x="5812885" y="3554183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870665-789E-4FE8-9E7D-5BA08987D6E3}"/>
              </a:ext>
            </a:extLst>
          </p:cNvPr>
          <p:cNvCxnSpPr>
            <a:cxnSpLocks/>
          </p:cNvCxnSpPr>
          <p:nvPr/>
        </p:nvCxnSpPr>
        <p:spPr>
          <a:xfrm flipV="1">
            <a:off x="6035006" y="3720144"/>
            <a:ext cx="19499" cy="1212974"/>
          </a:xfrm>
          <a:prstGeom prst="line">
            <a:avLst/>
          </a:prstGeom>
          <a:ln w="38100"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Multiplication Sign 35">
            <a:extLst>
              <a:ext uri="{FF2B5EF4-FFF2-40B4-BE49-F238E27FC236}">
                <a16:creationId xmlns:a16="http://schemas.microsoft.com/office/drawing/2014/main" id="{9E9E50C7-D37E-4B3D-9DE8-C1C1F8D08FBF}"/>
              </a:ext>
            </a:extLst>
          </p:cNvPr>
          <p:cNvSpPr/>
          <p:nvPr/>
        </p:nvSpPr>
        <p:spPr>
          <a:xfrm>
            <a:off x="4621812" y="3487996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B007E6B-6A6A-499D-BCA6-00E800DF85D6}"/>
              </a:ext>
            </a:extLst>
          </p:cNvPr>
          <p:cNvCxnSpPr>
            <a:cxnSpLocks/>
          </p:cNvCxnSpPr>
          <p:nvPr/>
        </p:nvCxnSpPr>
        <p:spPr>
          <a:xfrm flipH="1">
            <a:off x="5049623" y="3699107"/>
            <a:ext cx="681232" cy="24224"/>
          </a:xfrm>
          <a:prstGeom prst="line">
            <a:avLst/>
          </a:prstGeom>
          <a:ln w="38100"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C032F3F-42EC-4B05-B35C-305E9AA33841}"/>
              </a:ext>
            </a:extLst>
          </p:cNvPr>
          <p:cNvCxnSpPr>
            <a:cxnSpLocks/>
          </p:cNvCxnSpPr>
          <p:nvPr/>
        </p:nvCxnSpPr>
        <p:spPr>
          <a:xfrm>
            <a:off x="920553" y="5785225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7B3D695-6D84-4EB5-9729-66D6069D737A}"/>
              </a:ext>
            </a:extLst>
          </p:cNvPr>
          <p:cNvCxnSpPr>
            <a:cxnSpLocks/>
          </p:cNvCxnSpPr>
          <p:nvPr/>
        </p:nvCxnSpPr>
        <p:spPr>
          <a:xfrm flipV="1">
            <a:off x="920553" y="2976913"/>
            <a:ext cx="0" cy="28083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F58CB2-3F4B-492E-87E8-04096FCADA71}"/>
              </a:ext>
            </a:extLst>
          </p:cNvPr>
          <p:cNvCxnSpPr/>
          <p:nvPr/>
        </p:nvCxnSpPr>
        <p:spPr>
          <a:xfrm>
            <a:off x="1856657" y="564120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7B6BD4-BD00-40C8-ACE1-63DE48494E4E}"/>
              </a:ext>
            </a:extLst>
          </p:cNvPr>
          <p:cNvCxnSpPr/>
          <p:nvPr/>
        </p:nvCxnSpPr>
        <p:spPr>
          <a:xfrm>
            <a:off x="2792761" y="565718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C4C82AB-5C3D-4BA9-A609-04EBECD7D78D}"/>
              </a:ext>
            </a:extLst>
          </p:cNvPr>
          <p:cNvCxnSpPr/>
          <p:nvPr/>
        </p:nvCxnSpPr>
        <p:spPr>
          <a:xfrm>
            <a:off x="3728865" y="565718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EFEB469-073A-47E1-BA90-1745EDFC6864}"/>
              </a:ext>
            </a:extLst>
          </p:cNvPr>
          <p:cNvCxnSpPr>
            <a:cxnSpLocks/>
          </p:cNvCxnSpPr>
          <p:nvPr/>
        </p:nvCxnSpPr>
        <p:spPr>
          <a:xfrm>
            <a:off x="768153" y="4849121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F27F75-0B4A-4E94-B06D-261DBBAFEEF6}"/>
              </a:ext>
            </a:extLst>
          </p:cNvPr>
          <p:cNvCxnSpPr>
            <a:cxnSpLocks/>
          </p:cNvCxnSpPr>
          <p:nvPr/>
        </p:nvCxnSpPr>
        <p:spPr>
          <a:xfrm>
            <a:off x="789857" y="3919481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2EDB113-19F3-425D-B587-734966A3AE6A}"/>
              </a:ext>
            </a:extLst>
          </p:cNvPr>
          <p:cNvCxnSpPr>
            <a:cxnSpLocks/>
          </p:cNvCxnSpPr>
          <p:nvPr/>
        </p:nvCxnSpPr>
        <p:spPr>
          <a:xfrm>
            <a:off x="789857" y="2976913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4E4AF4FC-1C9F-4695-B316-3940AC532BAB}"/>
              </a:ext>
            </a:extLst>
          </p:cNvPr>
          <p:cNvSpPr/>
          <p:nvPr/>
        </p:nvSpPr>
        <p:spPr>
          <a:xfrm>
            <a:off x="2648745" y="2976913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1C7542F-947D-458C-A0BF-66962923F3E8}"/>
              </a:ext>
            </a:extLst>
          </p:cNvPr>
          <p:cNvSpPr/>
          <p:nvPr/>
        </p:nvSpPr>
        <p:spPr>
          <a:xfrm>
            <a:off x="1739426" y="3330488"/>
            <a:ext cx="261382" cy="32357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978AAE3-B4B0-4E32-B2D9-6EDA630200C6}"/>
              </a:ext>
            </a:extLst>
          </p:cNvPr>
          <p:cNvSpPr/>
          <p:nvPr/>
        </p:nvSpPr>
        <p:spPr>
          <a:xfrm>
            <a:off x="1725966" y="5029146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30A2A4-8E85-482A-A749-D7FC93D5FCBF}"/>
              </a:ext>
            </a:extLst>
          </p:cNvPr>
          <p:cNvSpPr txBox="1"/>
          <p:nvPr/>
        </p:nvSpPr>
        <p:spPr>
          <a:xfrm>
            <a:off x="1910426" y="5945217"/>
            <a:ext cx="100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3FDEC5-1585-4582-82C3-3A1B38156DAF}"/>
              </a:ext>
            </a:extLst>
          </p:cNvPr>
          <p:cNvSpPr txBox="1"/>
          <p:nvPr/>
        </p:nvSpPr>
        <p:spPr>
          <a:xfrm>
            <a:off x="21444" y="3293475"/>
            <a:ext cx="100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3CE0356-BF75-4878-AC19-346C80CAD3D8}"/>
              </a:ext>
            </a:extLst>
          </p:cNvPr>
          <p:cNvCxnSpPr>
            <a:cxnSpLocks/>
          </p:cNvCxnSpPr>
          <p:nvPr/>
        </p:nvCxnSpPr>
        <p:spPr>
          <a:xfrm flipH="1">
            <a:off x="950976" y="2976912"/>
            <a:ext cx="1543399" cy="280831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Multiplication Sign 48">
            <a:extLst>
              <a:ext uri="{FF2B5EF4-FFF2-40B4-BE49-F238E27FC236}">
                <a16:creationId xmlns:a16="http://schemas.microsoft.com/office/drawing/2014/main" id="{D0561673-0219-4256-B469-347266A5FAEC}"/>
              </a:ext>
            </a:extLst>
          </p:cNvPr>
          <p:cNvSpPr/>
          <p:nvPr/>
        </p:nvSpPr>
        <p:spPr>
          <a:xfrm>
            <a:off x="1850148" y="5567222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Multiplication Sign 49">
            <a:extLst>
              <a:ext uri="{FF2B5EF4-FFF2-40B4-BE49-F238E27FC236}">
                <a16:creationId xmlns:a16="http://schemas.microsoft.com/office/drawing/2014/main" id="{2E8B77B5-357C-4876-980D-DFDA25A91841}"/>
              </a:ext>
            </a:extLst>
          </p:cNvPr>
          <p:cNvSpPr/>
          <p:nvPr/>
        </p:nvSpPr>
        <p:spPr>
          <a:xfrm>
            <a:off x="1832294" y="3613658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BFDF194-103A-42EA-9700-293B3FDB6754}"/>
              </a:ext>
            </a:extLst>
          </p:cNvPr>
          <p:cNvCxnSpPr>
            <a:cxnSpLocks/>
          </p:cNvCxnSpPr>
          <p:nvPr/>
        </p:nvCxnSpPr>
        <p:spPr>
          <a:xfrm flipH="1" flipV="1">
            <a:off x="2030899" y="3982991"/>
            <a:ext cx="38848" cy="1584230"/>
          </a:xfrm>
          <a:prstGeom prst="line">
            <a:avLst/>
          </a:prstGeom>
          <a:ln w="38100"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Multiplication Sign 51">
            <a:extLst>
              <a:ext uri="{FF2B5EF4-FFF2-40B4-BE49-F238E27FC236}">
                <a16:creationId xmlns:a16="http://schemas.microsoft.com/office/drawing/2014/main" id="{F1AC4595-E0D6-44D2-9E48-B9E7FD3014BB}"/>
              </a:ext>
            </a:extLst>
          </p:cNvPr>
          <p:cNvSpPr/>
          <p:nvPr/>
        </p:nvSpPr>
        <p:spPr>
          <a:xfrm>
            <a:off x="731382" y="3656968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39F6F74-9604-4C7E-B240-1EDC64A7B790}"/>
              </a:ext>
            </a:extLst>
          </p:cNvPr>
          <p:cNvCxnSpPr>
            <a:cxnSpLocks/>
          </p:cNvCxnSpPr>
          <p:nvPr/>
        </p:nvCxnSpPr>
        <p:spPr>
          <a:xfrm flipH="1">
            <a:off x="1148418" y="3817410"/>
            <a:ext cx="681232" cy="24224"/>
          </a:xfrm>
          <a:prstGeom prst="line">
            <a:avLst/>
          </a:prstGeom>
          <a:ln w="38100"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A4EDC1B-1315-4F65-8C61-491B5EE936C6}"/>
              </a:ext>
            </a:extLst>
          </p:cNvPr>
          <p:cNvSpPr/>
          <p:nvPr/>
        </p:nvSpPr>
        <p:spPr>
          <a:xfrm>
            <a:off x="950976" y="3974592"/>
            <a:ext cx="5059680" cy="1545709"/>
          </a:xfrm>
          <a:custGeom>
            <a:avLst/>
            <a:gdLst>
              <a:gd name="connsiteX0" fmla="*/ 0 w 5059680"/>
              <a:gd name="connsiteY0" fmla="*/ 0 h 1545709"/>
              <a:gd name="connsiteX1" fmla="*/ 3169920 w 5059680"/>
              <a:gd name="connsiteY1" fmla="*/ 1438656 h 1545709"/>
              <a:gd name="connsiteX2" fmla="*/ 4608576 w 5059680"/>
              <a:gd name="connsiteY2" fmla="*/ 1389888 h 1545709"/>
              <a:gd name="connsiteX3" fmla="*/ 5059680 w 5059680"/>
              <a:gd name="connsiteY3" fmla="*/ 987552 h 1545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9680" h="1545709">
                <a:moveTo>
                  <a:pt x="0" y="0"/>
                </a:moveTo>
                <a:cubicBezTo>
                  <a:pt x="1200912" y="603504"/>
                  <a:pt x="2401824" y="1207008"/>
                  <a:pt x="3169920" y="1438656"/>
                </a:cubicBezTo>
                <a:cubicBezTo>
                  <a:pt x="3938016" y="1670304"/>
                  <a:pt x="4293616" y="1465072"/>
                  <a:pt x="4608576" y="1389888"/>
                </a:cubicBezTo>
                <a:cubicBezTo>
                  <a:pt x="4923536" y="1314704"/>
                  <a:pt x="4991608" y="1151128"/>
                  <a:pt x="5059680" y="987552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889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46.1 Relation From Weight to Size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72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46.1 Relation From Weight to Size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3872" y="1231216"/>
                <a:ext cx="8352928" cy="2389934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dirty="0">
                    <a:solidFill>
                      <a:schemeClr val="tx1"/>
                    </a:solidFill>
                  </a:rPr>
                  <a:t>Now, we focus on the relationship between weight and Height. In the Weight and Height diagram. From line slope = 2, we have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dirty="0">
                    <a:solidFill>
                      <a:schemeClr val="tx1"/>
                    </a:solidFill>
                  </a:rPr>
                  <a:t>Slope1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en-US" sz="18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Height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en-US" sz="18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Weight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= 2					(1)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dirty="0">
                    <a:solidFill>
                      <a:schemeClr val="tx1"/>
                    </a:solidFill>
                  </a:rPr>
                  <a:t>Height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en-US" sz="18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Height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en-US" sz="18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Weight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 x Weight 					(2)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Height </a:t>
                </a:r>
                <a:r>
                  <a:rPr lang="en-US" sz="1800" dirty="0">
                    <a:solidFill>
                      <a:schemeClr val="tx1"/>
                    </a:solidFill>
                  </a:rPr>
                  <a:t>= 2 x Weight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dirty="0">
                    <a:solidFill>
                      <a:schemeClr val="tx1"/>
                    </a:solidFill>
                  </a:rPr>
                  <a:t>Note: we do not have intercept in this case. We only consider the slope only.</a:t>
                </a: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3872" y="1231216"/>
                <a:ext cx="8352928" cy="2389934"/>
              </a:xfrm>
              <a:blipFill>
                <a:blip r:embed="rId2"/>
                <a:stretch>
                  <a:fillRect l="-73" t="-1269" b="-6345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8F1DCE-87B2-4CAC-B9C2-6B3E2AC24BF8}"/>
              </a:ext>
            </a:extLst>
          </p:cNvPr>
          <p:cNvCxnSpPr>
            <a:cxnSpLocks/>
          </p:cNvCxnSpPr>
          <p:nvPr/>
        </p:nvCxnSpPr>
        <p:spPr>
          <a:xfrm>
            <a:off x="2987824" y="6330187"/>
            <a:ext cx="2304256" cy="1597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62C00E-3A2D-4E07-9D28-3C055B37360A}"/>
              </a:ext>
            </a:extLst>
          </p:cNvPr>
          <p:cNvCxnSpPr>
            <a:cxnSpLocks/>
          </p:cNvCxnSpPr>
          <p:nvPr/>
        </p:nvCxnSpPr>
        <p:spPr>
          <a:xfrm flipH="1" flipV="1">
            <a:off x="2981419" y="3981189"/>
            <a:ext cx="6405" cy="234899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8FBCAE-0F41-445D-8F94-45720CB4B47C}"/>
              </a:ext>
            </a:extLst>
          </p:cNvPr>
          <p:cNvCxnSpPr/>
          <p:nvPr/>
        </p:nvCxnSpPr>
        <p:spPr>
          <a:xfrm>
            <a:off x="3923928" y="618617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D8F726-433A-43EE-A3A9-FBC266C36D1C}"/>
              </a:ext>
            </a:extLst>
          </p:cNvPr>
          <p:cNvCxnSpPr/>
          <p:nvPr/>
        </p:nvCxnSpPr>
        <p:spPr>
          <a:xfrm>
            <a:off x="4860032" y="6202147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46E4D8-3872-43F7-BAFE-F599376683A4}"/>
              </a:ext>
            </a:extLst>
          </p:cNvPr>
          <p:cNvCxnSpPr>
            <a:cxnSpLocks/>
          </p:cNvCxnSpPr>
          <p:nvPr/>
        </p:nvCxnSpPr>
        <p:spPr>
          <a:xfrm>
            <a:off x="2835424" y="5394083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2F8FEE3-7047-435C-82BA-E14CEDE659C4}"/>
              </a:ext>
            </a:extLst>
          </p:cNvPr>
          <p:cNvCxnSpPr>
            <a:cxnSpLocks/>
          </p:cNvCxnSpPr>
          <p:nvPr/>
        </p:nvCxnSpPr>
        <p:spPr>
          <a:xfrm>
            <a:off x="2857128" y="4464443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4B078EBA-3A00-4DDC-959B-F04E16C1C54A}"/>
              </a:ext>
            </a:extLst>
          </p:cNvPr>
          <p:cNvSpPr/>
          <p:nvPr/>
        </p:nvSpPr>
        <p:spPr>
          <a:xfrm>
            <a:off x="4568051" y="3924181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5FCAB2E-0CFA-4747-8ACA-7D97181A6BBC}"/>
              </a:ext>
            </a:extLst>
          </p:cNvPr>
          <p:cNvSpPr/>
          <p:nvPr/>
        </p:nvSpPr>
        <p:spPr>
          <a:xfrm>
            <a:off x="3710828" y="4045088"/>
            <a:ext cx="261382" cy="274531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0AE94F8-A28F-4376-9C1D-A676B35B11A2}"/>
              </a:ext>
            </a:extLst>
          </p:cNvPr>
          <p:cNvSpPr/>
          <p:nvPr/>
        </p:nvSpPr>
        <p:spPr>
          <a:xfrm>
            <a:off x="3673542" y="5608134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0306AF-A29A-476B-9DA6-004FAFE7D0CC}"/>
              </a:ext>
            </a:extLst>
          </p:cNvPr>
          <p:cNvSpPr txBox="1"/>
          <p:nvPr/>
        </p:nvSpPr>
        <p:spPr>
          <a:xfrm>
            <a:off x="3977697" y="6490179"/>
            <a:ext cx="100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F346B8-205A-4157-B5B4-BAD99D0888A7}"/>
              </a:ext>
            </a:extLst>
          </p:cNvPr>
          <p:cNvSpPr txBox="1"/>
          <p:nvPr/>
        </p:nvSpPr>
        <p:spPr>
          <a:xfrm>
            <a:off x="2030846" y="4654276"/>
            <a:ext cx="100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90D9834-C7D0-4148-9F1F-503E8C48F509}"/>
              </a:ext>
            </a:extLst>
          </p:cNvPr>
          <p:cNvCxnSpPr>
            <a:cxnSpLocks/>
          </p:cNvCxnSpPr>
          <p:nvPr/>
        </p:nvCxnSpPr>
        <p:spPr>
          <a:xfrm flipH="1">
            <a:off x="2987824" y="3965214"/>
            <a:ext cx="1339552" cy="236497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88DA37C4-A83E-4B6C-A9AB-10F0F916D2EB}"/>
              </a:ext>
            </a:extLst>
          </p:cNvPr>
          <p:cNvSpPr/>
          <p:nvPr/>
        </p:nvSpPr>
        <p:spPr>
          <a:xfrm>
            <a:off x="3917419" y="6112184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99C872E2-0FA0-4306-BE6E-DF5FA2A3F066}"/>
              </a:ext>
            </a:extLst>
          </p:cNvPr>
          <p:cNvSpPr/>
          <p:nvPr/>
        </p:nvSpPr>
        <p:spPr>
          <a:xfrm>
            <a:off x="3899565" y="4158620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E5C631-A1F9-4FE8-BB4D-12206690CDBF}"/>
              </a:ext>
            </a:extLst>
          </p:cNvPr>
          <p:cNvCxnSpPr>
            <a:cxnSpLocks/>
          </p:cNvCxnSpPr>
          <p:nvPr/>
        </p:nvCxnSpPr>
        <p:spPr>
          <a:xfrm flipH="1" flipV="1">
            <a:off x="4098170" y="4527953"/>
            <a:ext cx="38848" cy="1584230"/>
          </a:xfrm>
          <a:prstGeom prst="line">
            <a:avLst/>
          </a:prstGeom>
          <a:ln w="38100"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AFA87212-3264-4089-B833-025C413A8861}"/>
              </a:ext>
            </a:extLst>
          </p:cNvPr>
          <p:cNvSpPr/>
          <p:nvPr/>
        </p:nvSpPr>
        <p:spPr>
          <a:xfrm>
            <a:off x="2798653" y="4201930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4A9AA54-D478-479C-82ED-CB3B1BC0190A}"/>
              </a:ext>
            </a:extLst>
          </p:cNvPr>
          <p:cNvCxnSpPr>
            <a:cxnSpLocks/>
          </p:cNvCxnSpPr>
          <p:nvPr/>
        </p:nvCxnSpPr>
        <p:spPr>
          <a:xfrm flipH="1">
            <a:off x="3215689" y="4362372"/>
            <a:ext cx="681232" cy="24224"/>
          </a:xfrm>
          <a:prstGeom prst="line">
            <a:avLst/>
          </a:prstGeom>
          <a:ln w="38100"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53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46.1 Relation From Weight to Size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3872" y="1231216"/>
                <a:ext cx="8352928" cy="2174186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In the Height and Shoe Size diagram.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From line slope = 0.25, we have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 Slope2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𝒅𝒚</m:t>
                        </m:r>
                      </m:num>
                      <m:den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tx1"/>
                            </a:solidFill>
                          </a:rPr>
                          <m:t>Size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tx1"/>
                            </a:solidFill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eight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0.25					(3)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Size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Size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Height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  <m:r>
                      <a:rPr lang="en-US" sz="18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x Height 						(4)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Size = 0.25 x Height 			</a:t>
                </a: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3872" y="1231216"/>
                <a:ext cx="8352928" cy="2174186"/>
              </a:xfrm>
              <a:blipFill>
                <a:blip r:embed="rId2"/>
                <a:stretch>
                  <a:fillRect l="-73" t="-1393" b="-3621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</a:t>
            </a:fld>
            <a:endParaRPr lang="zh-TW" alt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0E16392-7859-42F0-95EA-B1F417095757}"/>
              </a:ext>
            </a:extLst>
          </p:cNvPr>
          <p:cNvCxnSpPr>
            <a:cxnSpLocks/>
          </p:cNvCxnSpPr>
          <p:nvPr/>
        </p:nvCxnSpPr>
        <p:spPr>
          <a:xfrm>
            <a:off x="3347864" y="6174607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EF2AB0-FC79-47AC-A54D-0C4E38452321}"/>
              </a:ext>
            </a:extLst>
          </p:cNvPr>
          <p:cNvCxnSpPr>
            <a:cxnSpLocks/>
          </p:cNvCxnSpPr>
          <p:nvPr/>
        </p:nvCxnSpPr>
        <p:spPr>
          <a:xfrm flipV="1">
            <a:off x="3347864" y="4308863"/>
            <a:ext cx="0" cy="18657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313862-3B56-422E-B0DC-9CDEA216A447}"/>
              </a:ext>
            </a:extLst>
          </p:cNvPr>
          <p:cNvCxnSpPr/>
          <p:nvPr/>
        </p:nvCxnSpPr>
        <p:spPr>
          <a:xfrm>
            <a:off x="4283968" y="603059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F458DF2-FE2A-46B1-919B-0C5221AA4DA6}"/>
              </a:ext>
            </a:extLst>
          </p:cNvPr>
          <p:cNvCxnSpPr/>
          <p:nvPr/>
        </p:nvCxnSpPr>
        <p:spPr>
          <a:xfrm>
            <a:off x="5220072" y="6046567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FF52A4D-1180-43BF-8064-71D2A3EEE3D5}"/>
              </a:ext>
            </a:extLst>
          </p:cNvPr>
          <p:cNvCxnSpPr/>
          <p:nvPr/>
        </p:nvCxnSpPr>
        <p:spPr>
          <a:xfrm>
            <a:off x="6156176" y="6046567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D23413-028A-4CF7-9DD8-77751DF319A4}"/>
              </a:ext>
            </a:extLst>
          </p:cNvPr>
          <p:cNvCxnSpPr>
            <a:cxnSpLocks/>
          </p:cNvCxnSpPr>
          <p:nvPr/>
        </p:nvCxnSpPr>
        <p:spPr>
          <a:xfrm>
            <a:off x="3195464" y="5238503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FFC9F46-9287-47A2-A1A1-D5571CB5A8EE}"/>
              </a:ext>
            </a:extLst>
          </p:cNvPr>
          <p:cNvCxnSpPr>
            <a:cxnSpLocks/>
          </p:cNvCxnSpPr>
          <p:nvPr/>
        </p:nvCxnSpPr>
        <p:spPr>
          <a:xfrm>
            <a:off x="3217168" y="4308863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7A99C244-C972-4DD2-B309-E1BEB9D1B27A}"/>
              </a:ext>
            </a:extLst>
          </p:cNvPr>
          <p:cNvSpPr/>
          <p:nvPr/>
        </p:nvSpPr>
        <p:spPr>
          <a:xfrm>
            <a:off x="5208328" y="4206792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92D00A-73A2-4B9E-AF69-E6F5A06D165B}"/>
              </a:ext>
            </a:extLst>
          </p:cNvPr>
          <p:cNvSpPr/>
          <p:nvPr/>
        </p:nvSpPr>
        <p:spPr>
          <a:xfrm>
            <a:off x="4683050" y="5306920"/>
            <a:ext cx="278282" cy="32032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AF3556D-7AFD-4283-8D1F-434522B856A1}"/>
              </a:ext>
            </a:extLst>
          </p:cNvPr>
          <p:cNvSpPr/>
          <p:nvPr/>
        </p:nvSpPr>
        <p:spPr>
          <a:xfrm>
            <a:off x="3760975" y="5521687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8764D0-82BA-488C-B57B-F3FF658ECB76}"/>
              </a:ext>
            </a:extLst>
          </p:cNvPr>
          <p:cNvSpPr txBox="1"/>
          <p:nvPr/>
        </p:nvSpPr>
        <p:spPr>
          <a:xfrm>
            <a:off x="4337737" y="6334599"/>
            <a:ext cx="100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8D5681-D891-4255-84FF-711F7AFB03D2}"/>
              </a:ext>
            </a:extLst>
          </p:cNvPr>
          <p:cNvSpPr txBox="1"/>
          <p:nvPr/>
        </p:nvSpPr>
        <p:spPr>
          <a:xfrm>
            <a:off x="2159839" y="4511612"/>
            <a:ext cx="100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Shoe Size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4C91C9-ECC6-4265-B183-6F3FD4C99965}"/>
              </a:ext>
            </a:extLst>
          </p:cNvPr>
          <p:cNvSpPr txBox="1"/>
          <p:nvPr/>
        </p:nvSpPr>
        <p:spPr>
          <a:xfrm>
            <a:off x="5717310" y="4660589"/>
            <a:ext cx="2169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fit a line to the Data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A278A1-8223-4E53-B0F7-1DFF818D2B63}"/>
              </a:ext>
            </a:extLst>
          </p:cNvPr>
          <p:cNvCxnSpPr>
            <a:cxnSpLocks/>
          </p:cNvCxnSpPr>
          <p:nvPr/>
        </p:nvCxnSpPr>
        <p:spPr>
          <a:xfrm flipH="1">
            <a:off x="3347864" y="4149080"/>
            <a:ext cx="1997974" cy="208465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4B973BA-E619-4B84-8238-1F437E606724}"/>
              </a:ext>
            </a:extLst>
          </p:cNvPr>
          <p:cNvSpPr/>
          <p:nvPr/>
        </p:nvSpPr>
        <p:spPr>
          <a:xfrm>
            <a:off x="4936083" y="4957583"/>
            <a:ext cx="819509" cy="167576"/>
          </a:xfrm>
          <a:custGeom>
            <a:avLst/>
            <a:gdLst>
              <a:gd name="connsiteX0" fmla="*/ 585216 w 585216"/>
              <a:gd name="connsiteY0" fmla="*/ 195072 h 213842"/>
              <a:gd name="connsiteX1" fmla="*/ 207264 w 585216"/>
              <a:gd name="connsiteY1" fmla="*/ 195072 h 213842"/>
              <a:gd name="connsiteX2" fmla="*/ 0 w 585216"/>
              <a:gd name="connsiteY2" fmla="*/ 0 h 21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5216" h="213842">
                <a:moveTo>
                  <a:pt x="585216" y="195072"/>
                </a:moveTo>
                <a:cubicBezTo>
                  <a:pt x="445008" y="211328"/>
                  <a:pt x="304800" y="227584"/>
                  <a:pt x="207264" y="195072"/>
                </a:cubicBezTo>
                <a:cubicBezTo>
                  <a:pt x="109728" y="162560"/>
                  <a:pt x="54864" y="81280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Multiplication Sign 42">
            <a:extLst>
              <a:ext uri="{FF2B5EF4-FFF2-40B4-BE49-F238E27FC236}">
                <a16:creationId xmlns:a16="http://schemas.microsoft.com/office/drawing/2014/main" id="{7C1C28F3-22FC-4CB3-A859-0926E5613A61}"/>
              </a:ext>
            </a:extLst>
          </p:cNvPr>
          <p:cNvSpPr/>
          <p:nvPr/>
        </p:nvSpPr>
        <p:spPr>
          <a:xfrm>
            <a:off x="4311575" y="5955441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Multiplication Sign 43">
            <a:extLst>
              <a:ext uri="{FF2B5EF4-FFF2-40B4-BE49-F238E27FC236}">
                <a16:creationId xmlns:a16="http://schemas.microsoft.com/office/drawing/2014/main" id="{357A61DF-E0CE-4769-BE9C-DBD002F1BAC6}"/>
              </a:ext>
            </a:extLst>
          </p:cNvPr>
          <p:cNvSpPr/>
          <p:nvPr/>
        </p:nvSpPr>
        <p:spPr>
          <a:xfrm>
            <a:off x="4300717" y="4854798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D7EF8D5-DC3A-40E9-A7A5-48684A1A6645}"/>
              </a:ext>
            </a:extLst>
          </p:cNvPr>
          <p:cNvCxnSpPr>
            <a:cxnSpLocks/>
          </p:cNvCxnSpPr>
          <p:nvPr/>
        </p:nvCxnSpPr>
        <p:spPr>
          <a:xfrm flipV="1">
            <a:off x="4522838" y="5020759"/>
            <a:ext cx="19499" cy="1212974"/>
          </a:xfrm>
          <a:prstGeom prst="line">
            <a:avLst/>
          </a:prstGeom>
          <a:ln w="38100"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Multiplication Sign 45">
            <a:extLst>
              <a:ext uri="{FF2B5EF4-FFF2-40B4-BE49-F238E27FC236}">
                <a16:creationId xmlns:a16="http://schemas.microsoft.com/office/drawing/2014/main" id="{B4EE52EC-D7D8-46C1-A1B8-84AFCC5017DE}"/>
              </a:ext>
            </a:extLst>
          </p:cNvPr>
          <p:cNvSpPr/>
          <p:nvPr/>
        </p:nvSpPr>
        <p:spPr>
          <a:xfrm>
            <a:off x="3109644" y="4788611"/>
            <a:ext cx="427811" cy="36933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1D6251E-A1F9-42A8-B86E-BBFC0C51E660}"/>
              </a:ext>
            </a:extLst>
          </p:cNvPr>
          <p:cNvCxnSpPr>
            <a:cxnSpLocks/>
          </p:cNvCxnSpPr>
          <p:nvPr/>
        </p:nvCxnSpPr>
        <p:spPr>
          <a:xfrm flipH="1">
            <a:off x="3537455" y="4999722"/>
            <a:ext cx="681232" cy="24224"/>
          </a:xfrm>
          <a:prstGeom prst="line">
            <a:avLst/>
          </a:prstGeom>
          <a:ln w="38100"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6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46.2 Chain Rule Relation 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02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46.2 Chain Rule Relation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3872" y="1231215"/>
                <a:ext cx="8352928" cy="2436953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From equation (1) and Equation (3):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Slope1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Height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Weight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		 				(1)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Slope2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Size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Height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  <m:r>
                      <a:rPr lang="en-US" sz="18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						(3)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Multiply (1) and (3), We have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Size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Weight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Size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Height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Height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Weight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endParaRPr lang="en-US" sz="1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3872" y="1231215"/>
                <a:ext cx="8352928" cy="2436953"/>
              </a:xfrm>
              <a:blipFill>
                <a:blip r:embed="rId2"/>
                <a:stretch>
                  <a:fillRect l="-73" t="-1244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9</a:t>
            </a:fld>
            <a:endParaRPr lang="zh-TW" alt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0E16392-7859-42F0-95EA-B1F417095757}"/>
              </a:ext>
            </a:extLst>
          </p:cNvPr>
          <p:cNvCxnSpPr>
            <a:cxnSpLocks/>
          </p:cNvCxnSpPr>
          <p:nvPr/>
        </p:nvCxnSpPr>
        <p:spPr>
          <a:xfrm>
            <a:off x="4896750" y="6354864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EF2AB0-FC79-47AC-A54D-0C4E38452321}"/>
              </a:ext>
            </a:extLst>
          </p:cNvPr>
          <p:cNvCxnSpPr>
            <a:cxnSpLocks/>
          </p:cNvCxnSpPr>
          <p:nvPr/>
        </p:nvCxnSpPr>
        <p:spPr>
          <a:xfrm flipV="1">
            <a:off x="4896750" y="4489120"/>
            <a:ext cx="0" cy="18657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313862-3B56-422E-B0DC-9CDEA216A447}"/>
              </a:ext>
            </a:extLst>
          </p:cNvPr>
          <p:cNvCxnSpPr/>
          <p:nvPr/>
        </p:nvCxnSpPr>
        <p:spPr>
          <a:xfrm>
            <a:off x="5832854" y="6210848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F458DF2-FE2A-46B1-919B-0C5221AA4DA6}"/>
              </a:ext>
            </a:extLst>
          </p:cNvPr>
          <p:cNvCxnSpPr/>
          <p:nvPr/>
        </p:nvCxnSpPr>
        <p:spPr>
          <a:xfrm>
            <a:off x="6768958" y="622682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FF52A4D-1180-43BF-8064-71D2A3EEE3D5}"/>
              </a:ext>
            </a:extLst>
          </p:cNvPr>
          <p:cNvCxnSpPr/>
          <p:nvPr/>
        </p:nvCxnSpPr>
        <p:spPr>
          <a:xfrm>
            <a:off x="7705062" y="622682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D23413-028A-4CF7-9DD8-77751DF319A4}"/>
              </a:ext>
            </a:extLst>
          </p:cNvPr>
          <p:cNvCxnSpPr>
            <a:cxnSpLocks/>
          </p:cNvCxnSpPr>
          <p:nvPr/>
        </p:nvCxnSpPr>
        <p:spPr>
          <a:xfrm>
            <a:off x="4744350" y="5418760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FFC9F46-9287-47A2-A1A1-D5571CB5A8EE}"/>
              </a:ext>
            </a:extLst>
          </p:cNvPr>
          <p:cNvCxnSpPr>
            <a:cxnSpLocks/>
          </p:cNvCxnSpPr>
          <p:nvPr/>
        </p:nvCxnSpPr>
        <p:spPr>
          <a:xfrm>
            <a:off x="4766054" y="4489120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7A99C244-C972-4DD2-B309-E1BEB9D1B27A}"/>
              </a:ext>
            </a:extLst>
          </p:cNvPr>
          <p:cNvSpPr/>
          <p:nvPr/>
        </p:nvSpPr>
        <p:spPr>
          <a:xfrm>
            <a:off x="6496953" y="4806183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92D00A-73A2-4B9E-AF69-E6F5A06D165B}"/>
              </a:ext>
            </a:extLst>
          </p:cNvPr>
          <p:cNvSpPr/>
          <p:nvPr/>
        </p:nvSpPr>
        <p:spPr>
          <a:xfrm>
            <a:off x="6231936" y="5487177"/>
            <a:ext cx="278282" cy="32032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AF3556D-7AFD-4283-8D1F-434522B856A1}"/>
              </a:ext>
            </a:extLst>
          </p:cNvPr>
          <p:cNvSpPr/>
          <p:nvPr/>
        </p:nvSpPr>
        <p:spPr>
          <a:xfrm>
            <a:off x="5309861" y="5701944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8764D0-82BA-488C-B57B-F3FF658ECB76}"/>
              </a:ext>
            </a:extLst>
          </p:cNvPr>
          <p:cNvSpPr txBox="1"/>
          <p:nvPr/>
        </p:nvSpPr>
        <p:spPr>
          <a:xfrm>
            <a:off x="5957673" y="6433159"/>
            <a:ext cx="100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8D5681-D891-4255-84FF-711F7AFB03D2}"/>
              </a:ext>
            </a:extLst>
          </p:cNvPr>
          <p:cNvSpPr txBox="1"/>
          <p:nvPr/>
        </p:nvSpPr>
        <p:spPr>
          <a:xfrm>
            <a:off x="3977298" y="4652260"/>
            <a:ext cx="742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Shoe Size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A278A1-8223-4E53-B0F7-1DFF818D2B63}"/>
              </a:ext>
            </a:extLst>
          </p:cNvPr>
          <p:cNvCxnSpPr>
            <a:cxnSpLocks/>
          </p:cNvCxnSpPr>
          <p:nvPr/>
        </p:nvCxnSpPr>
        <p:spPr>
          <a:xfrm flipH="1">
            <a:off x="4933949" y="4811616"/>
            <a:ext cx="2031825" cy="1473527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1149CD8-1E82-400E-9B1E-E54578B00259}"/>
              </a:ext>
            </a:extLst>
          </p:cNvPr>
          <p:cNvCxnSpPr>
            <a:cxnSpLocks/>
          </p:cNvCxnSpPr>
          <p:nvPr/>
        </p:nvCxnSpPr>
        <p:spPr>
          <a:xfrm>
            <a:off x="1505353" y="6413183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4D3B86-05A1-41FC-8588-75F072DDC231}"/>
              </a:ext>
            </a:extLst>
          </p:cNvPr>
          <p:cNvCxnSpPr>
            <a:cxnSpLocks/>
          </p:cNvCxnSpPr>
          <p:nvPr/>
        </p:nvCxnSpPr>
        <p:spPr>
          <a:xfrm flipV="1">
            <a:off x="1505353" y="4381590"/>
            <a:ext cx="0" cy="20315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D4816F6-7BC4-4600-8A5F-C364DEA0D235}"/>
              </a:ext>
            </a:extLst>
          </p:cNvPr>
          <p:cNvCxnSpPr/>
          <p:nvPr/>
        </p:nvCxnSpPr>
        <p:spPr>
          <a:xfrm>
            <a:off x="2441457" y="6269167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10C398E-2C95-47B5-830C-E92639F4D1F7}"/>
              </a:ext>
            </a:extLst>
          </p:cNvPr>
          <p:cNvCxnSpPr/>
          <p:nvPr/>
        </p:nvCxnSpPr>
        <p:spPr>
          <a:xfrm>
            <a:off x="3377561" y="628514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E1EA880-A656-4D37-B766-FF38617241B9}"/>
              </a:ext>
            </a:extLst>
          </p:cNvPr>
          <p:cNvCxnSpPr>
            <a:cxnSpLocks/>
          </p:cNvCxnSpPr>
          <p:nvPr/>
        </p:nvCxnSpPr>
        <p:spPr>
          <a:xfrm>
            <a:off x="1352953" y="5477079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47EEB4D-4C4F-44EC-94DC-E00B6451A00A}"/>
              </a:ext>
            </a:extLst>
          </p:cNvPr>
          <p:cNvCxnSpPr>
            <a:cxnSpLocks/>
          </p:cNvCxnSpPr>
          <p:nvPr/>
        </p:nvCxnSpPr>
        <p:spPr>
          <a:xfrm>
            <a:off x="1374657" y="4547439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A9AC4F96-F25A-4055-89A9-C627E74B6CCA}"/>
              </a:ext>
            </a:extLst>
          </p:cNvPr>
          <p:cNvSpPr/>
          <p:nvPr/>
        </p:nvSpPr>
        <p:spPr>
          <a:xfrm>
            <a:off x="3115713" y="5020658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CB30660-D224-43F8-8A0D-12A8CD2EC6C6}"/>
              </a:ext>
            </a:extLst>
          </p:cNvPr>
          <p:cNvSpPr/>
          <p:nvPr/>
        </p:nvSpPr>
        <p:spPr>
          <a:xfrm>
            <a:off x="2159062" y="4526914"/>
            <a:ext cx="261382" cy="32357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3CD8EDE-165D-4032-AAB0-5818A7DF60B5}"/>
              </a:ext>
            </a:extLst>
          </p:cNvPr>
          <p:cNvSpPr/>
          <p:nvPr/>
        </p:nvSpPr>
        <p:spPr>
          <a:xfrm>
            <a:off x="2310766" y="5657104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6446F7-73F7-47FC-BAF2-DD0127ED7ECB}"/>
              </a:ext>
            </a:extLst>
          </p:cNvPr>
          <p:cNvSpPr txBox="1"/>
          <p:nvPr/>
        </p:nvSpPr>
        <p:spPr>
          <a:xfrm>
            <a:off x="2572148" y="6413183"/>
            <a:ext cx="100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5234F1A-F3AA-4F04-98F1-ECD15B4F4DF7}"/>
              </a:ext>
            </a:extLst>
          </p:cNvPr>
          <p:cNvCxnSpPr>
            <a:cxnSpLocks/>
          </p:cNvCxnSpPr>
          <p:nvPr/>
        </p:nvCxnSpPr>
        <p:spPr>
          <a:xfrm flipH="1">
            <a:off x="1493401" y="4707459"/>
            <a:ext cx="1677798" cy="170572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12AAEE4-9095-40BA-9393-62122C8E3CB9}"/>
              </a:ext>
            </a:extLst>
          </p:cNvPr>
          <p:cNvSpPr txBox="1"/>
          <p:nvPr/>
        </p:nvSpPr>
        <p:spPr>
          <a:xfrm>
            <a:off x="445283" y="4523622"/>
            <a:ext cx="100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3079333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46.2 Chain Rule Relation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3872" y="1231216"/>
                <a:ext cx="8352928" cy="1731696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From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6"/>
                            </a:solidFill>
                          </a:rPr>
                          <m:t>Size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70C0"/>
                            </a:solidFill>
                          </a:rPr>
                          <m:t>Weight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6"/>
                            </a:solidFill>
                          </a:rPr>
                          <m:t>Size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C00000"/>
                            </a:solidFill>
                          </a:rPr>
                          <m:t>Height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C00000"/>
                            </a:solidFill>
                          </a:rPr>
                          <m:t>Height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70C0"/>
                            </a:solidFill>
                          </a:rPr>
                          <m:t>Weight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endParaRPr lang="en-US" sz="18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We know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Height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 connects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Weight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 to </a:t>
                </a:r>
                <a:r>
                  <a:rPr lang="en-US" sz="1800" b="1" dirty="0">
                    <a:solidFill>
                      <a:schemeClr val="accent6"/>
                    </a:solidFill>
                  </a:rPr>
                  <a:t>Show Size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8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3872" y="1231216"/>
                <a:ext cx="8352928" cy="1731696"/>
              </a:xfrm>
              <a:blipFill>
                <a:blip r:embed="rId2"/>
                <a:stretch>
                  <a:fillRect l="-73" t="-1748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10</a:t>
            </a:fld>
            <a:endParaRPr lang="zh-TW" alt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0E16392-7859-42F0-95EA-B1F417095757}"/>
              </a:ext>
            </a:extLst>
          </p:cNvPr>
          <p:cNvCxnSpPr>
            <a:cxnSpLocks/>
          </p:cNvCxnSpPr>
          <p:nvPr/>
        </p:nvCxnSpPr>
        <p:spPr>
          <a:xfrm>
            <a:off x="5117159" y="5375524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EF2AB0-FC79-47AC-A54D-0C4E38452321}"/>
              </a:ext>
            </a:extLst>
          </p:cNvPr>
          <p:cNvCxnSpPr>
            <a:cxnSpLocks/>
          </p:cNvCxnSpPr>
          <p:nvPr/>
        </p:nvCxnSpPr>
        <p:spPr>
          <a:xfrm flipV="1">
            <a:off x="5117159" y="3509780"/>
            <a:ext cx="0" cy="18657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313862-3B56-422E-B0DC-9CDEA216A447}"/>
              </a:ext>
            </a:extLst>
          </p:cNvPr>
          <p:cNvCxnSpPr/>
          <p:nvPr/>
        </p:nvCxnSpPr>
        <p:spPr>
          <a:xfrm>
            <a:off x="6053263" y="5231508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F458DF2-FE2A-46B1-919B-0C5221AA4DA6}"/>
              </a:ext>
            </a:extLst>
          </p:cNvPr>
          <p:cNvCxnSpPr/>
          <p:nvPr/>
        </p:nvCxnSpPr>
        <p:spPr>
          <a:xfrm>
            <a:off x="6989367" y="52474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FF52A4D-1180-43BF-8064-71D2A3EEE3D5}"/>
              </a:ext>
            </a:extLst>
          </p:cNvPr>
          <p:cNvCxnSpPr/>
          <p:nvPr/>
        </p:nvCxnSpPr>
        <p:spPr>
          <a:xfrm>
            <a:off x="7925471" y="524748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D23413-028A-4CF7-9DD8-77751DF319A4}"/>
              </a:ext>
            </a:extLst>
          </p:cNvPr>
          <p:cNvCxnSpPr>
            <a:cxnSpLocks/>
          </p:cNvCxnSpPr>
          <p:nvPr/>
        </p:nvCxnSpPr>
        <p:spPr>
          <a:xfrm>
            <a:off x="4964759" y="4439420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FFC9F46-9287-47A2-A1A1-D5571CB5A8EE}"/>
              </a:ext>
            </a:extLst>
          </p:cNvPr>
          <p:cNvCxnSpPr>
            <a:cxnSpLocks/>
          </p:cNvCxnSpPr>
          <p:nvPr/>
        </p:nvCxnSpPr>
        <p:spPr>
          <a:xfrm>
            <a:off x="4986463" y="3509780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7A99C244-C972-4DD2-B309-E1BEB9D1B27A}"/>
              </a:ext>
            </a:extLst>
          </p:cNvPr>
          <p:cNvSpPr/>
          <p:nvPr/>
        </p:nvSpPr>
        <p:spPr>
          <a:xfrm>
            <a:off x="6717362" y="3826843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92D00A-73A2-4B9E-AF69-E6F5A06D165B}"/>
              </a:ext>
            </a:extLst>
          </p:cNvPr>
          <p:cNvSpPr/>
          <p:nvPr/>
        </p:nvSpPr>
        <p:spPr>
          <a:xfrm>
            <a:off x="6452345" y="4507837"/>
            <a:ext cx="278282" cy="32032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AF3556D-7AFD-4283-8D1F-434522B856A1}"/>
              </a:ext>
            </a:extLst>
          </p:cNvPr>
          <p:cNvSpPr/>
          <p:nvPr/>
        </p:nvSpPr>
        <p:spPr>
          <a:xfrm>
            <a:off x="5530270" y="4722604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8764D0-82BA-488C-B57B-F3FF658ECB76}"/>
              </a:ext>
            </a:extLst>
          </p:cNvPr>
          <p:cNvSpPr txBox="1"/>
          <p:nvPr/>
        </p:nvSpPr>
        <p:spPr>
          <a:xfrm>
            <a:off x="6178082" y="5453819"/>
            <a:ext cx="100810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Height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8D5681-D891-4255-84FF-711F7AFB03D2}"/>
              </a:ext>
            </a:extLst>
          </p:cNvPr>
          <p:cNvSpPr txBox="1"/>
          <p:nvPr/>
        </p:nvSpPr>
        <p:spPr>
          <a:xfrm>
            <a:off x="4197707" y="3672920"/>
            <a:ext cx="742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Shoe Size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A278A1-8223-4E53-B0F7-1DFF818D2B63}"/>
              </a:ext>
            </a:extLst>
          </p:cNvPr>
          <p:cNvCxnSpPr>
            <a:cxnSpLocks/>
          </p:cNvCxnSpPr>
          <p:nvPr/>
        </p:nvCxnSpPr>
        <p:spPr>
          <a:xfrm flipH="1">
            <a:off x="5112990" y="3895089"/>
            <a:ext cx="1954954" cy="1469195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1149CD8-1E82-400E-9B1E-E54578B00259}"/>
              </a:ext>
            </a:extLst>
          </p:cNvPr>
          <p:cNvCxnSpPr>
            <a:cxnSpLocks/>
          </p:cNvCxnSpPr>
          <p:nvPr/>
        </p:nvCxnSpPr>
        <p:spPr>
          <a:xfrm>
            <a:off x="1641045" y="5421867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4D3B86-05A1-41FC-8588-75F072DDC231}"/>
              </a:ext>
            </a:extLst>
          </p:cNvPr>
          <p:cNvCxnSpPr>
            <a:cxnSpLocks/>
          </p:cNvCxnSpPr>
          <p:nvPr/>
        </p:nvCxnSpPr>
        <p:spPr>
          <a:xfrm flipV="1">
            <a:off x="1641045" y="3390274"/>
            <a:ext cx="0" cy="20315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D4816F6-7BC4-4600-8A5F-C364DEA0D235}"/>
              </a:ext>
            </a:extLst>
          </p:cNvPr>
          <p:cNvCxnSpPr/>
          <p:nvPr/>
        </p:nvCxnSpPr>
        <p:spPr>
          <a:xfrm>
            <a:off x="2577149" y="527785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10C398E-2C95-47B5-830C-E92639F4D1F7}"/>
              </a:ext>
            </a:extLst>
          </p:cNvPr>
          <p:cNvCxnSpPr/>
          <p:nvPr/>
        </p:nvCxnSpPr>
        <p:spPr>
          <a:xfrm>
            <a:off x="3513253" y="5293827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E1EA880-A656-4D37-B766-FF38617241B9}"/>
              </a:ext>
            </a:extLst>
          </p:cNvPr>
          <p:cNvCxnSpPr>
            <a:cxnSpLocks/>
          </p:cNvCxnSpPr>
          <p:nvPr/>
        </p:nvCxnSpPr>
        <p:spPr>
          <a:xfrm>
            <a:off x="1488645" y="4485763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47EEB4D-4C4F-44EC-94DC-E00B6451A00A}"/>
              </a:ext>
            </a:extLst>
          </p:cNvPr>
          <p:cNvCxnSpPr>
            <a:cxnSpLocks/>
          </p:cNvCxnSpPr>
          <p:nvPr/>
        </p:nvCxnSpPr>
        <p:spPr>
          <a:xfrm>
            <a:off x="1510349" y="3556123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A9AC4F96-F25A-4055-89A9-C627E74B6CCA}"/>
              </a:ext>
            </a:extLst>
          </p:cNvPr>
          <p:cNvSpPr/>
          <p:nvPr/>
        </p:nvSpPr>
        <p:spPr>
          <a:xfrm>
            <a:off x="3251405" y="4029342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CB30660-D224-43F8-8A0D-12A8CD2EC6C6}"/>
              </a:ext>
            </a:extLst>
          </p:cNvPr>
          <p:cNvSpPr/>
          <p:nvPr/>
        </p:nvSpPr>
        <p:spPr>
          <a:xfrm>
            <a:off x="2294754" y="3535598"/>
            <a:ext cx="261382" cy="32357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3CD8EDE-165D-4032-AAB0-5818A7DF60B5}"/>
              </a:ext>
            </a:extLst>
          </p:cNvPr>
          <p:cNvSpPr/>
          <p:nvPr/>
        </p:nvSpPr>
        <p:spPr>
          <a:xfrm>
            <a:off x="2446458" y="4665788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6446F7-73F7-47FC-BAF2-DD0127ED7ECB}"/>
              </a:ext>
            </a:extLst>
          </p:cNvPr>
          <p:cNvSpPr txBox="1"/>
          <p:nvPr/>
        </p:nvSpPr>
        <p:spPr>
          <a:xfrm>
            <a:off x="2707840" y="5421867"/>
            <a:ext cx="100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5234F1A-F3AA-4F04-98F1-ECD15B4F4DF7}"/>
              </a:ext>
            </a:extLst>
          </p:cNvPr>
          <p:cNvCxnSpPr>
            <a:cxnSpLocks/>
          </p:cNvCxnSpPr>
          <p:nvPr/>
        </p:nvCxnSpPr>
        <p:spPr>
          <a:xfrm flipH="1">
            <a:off x="1651203" y="3716141"/>
            <a:ext cx="1677798" cy="170572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12AAEE4-9095-40BA-9393-62122C8E3CB9}"/>
              </a:ext>
            </a:extLst>
          </p:cNvPr>
          <p:cNvSpPr txBox="1"/>
          <p:nvPr/>
        </p:nvSpPr>
        <p:spPr>
          <a:xfrm>
            <a:off x="396374" y="3657516"/>
            <a:ext cx="100810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Height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0535A7B-0D22-49AD-A464-0B84CFB7CDAD}"/>
              </a:ext>
            </a:extLst>
          </p:cNvPr>
          <p:cNvSpPr/>
          <p:nvPr/>
        </p:nvSpPr>
        <p:spPr>
          <a:xfrm>
            <a:off x="841248" y="4011168"/>
            <a:ext cx="6096000" cy="2137348"/>
          </a:xfrm>
          <a:custGeom>
            <a:avLst/>
            <a:gdLst>
              <a:gd name="connsiteX0" fmla="*/ 0 w 6096000"/>
              <a:gd name="connsiteY0" fmla="*/ 0 h 2137348"/>
              <a:gd name="connsiteX1" fmla="*/ 499872 w 6096000"/>
              <a:gd name="connsiteY1" fmla="*/ 1828800 h 2137348"/>
              <a:gd name="connsiteX2" fmla="*/ 2840736 w 6096000"/>
              <a:gd name="connsiteY2" fmla="*/ 2121408 h 2137348"/>
              <a:gd name="connsiteX3" fmla="*/ 5376672 w 6096000"/>
              <a:gd name="connsiteY3" fmla="*/ 2072640 h 2137348"/>
              <a:gd name="connsiteX4" fmla="*/ 6096000 w 6096000"/>
              <a:gd name="connsiteY4" fmla="*/ 1853184 h 2137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2137348">
                <a:moveTo>
                  <a:pt x="0" y="0"/>
                </a:moveTo>
                <a:cubicBezTo>
                  <a:pt x="13208" y="737616"/>
                  <a:pt x="26416" y="1475232"/>
                  <a:pt x="499872" y="1828800"/>
                </a:cubicBezTo>
                <a:cubicBezTo>
                  <a:pt x="973328" y="2182368"/>
                  <a:pt x="2027936" y="2080768"/>
                  <a:pt x="2840736" y="2121408"/>
                </a:cubicBezTo>
                <a:cubicBezTo>
                  <a:pt x="3653536" y="2162048"/>
                  <a:pt x="4834128" y="2117344"/>
                  <a:pt x="5376672" y="2072640"/>
                </a:cubicBezTo>
                <a:cubicBezTo>
                  <a:pt x="5919216" y="2027936"/>
                  <a:pt x="6007608" y="1940560"/>
                  <a:pt x="6096000" y="1853184"/>
                </a:cubicBezTo>
              </a:path>
            </a:pathLst>
          </a:custGeom>
          <a:noFill/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201BB8-3FF7-47DA-AD50-77F68D7B1015}"/>
              </a:ext>
            </a:extLst>
          </p:cNvPr>
          <p:cNvSpPr/>
          <p:nvPr/>
        </p:nvSpPr>
        <p:spPr>
          <a:xfrm>
            <a:off x="1641045" y="2132855"/>
            <a:ext cx="3723044" cy="41644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AEFF44-5ACE-48F2-BABE-31C0BC8C2499}"/>
              </a:ext>
            </a:extLst>
          </p:cNvPr>
          <p:cNvSpPr/>
          <p:nvPr/>
        </p:nvSpPr>
        <p:spPr>
          <a:xfrm>
            <a:off x="3462528" y="2560320"/>
            <a:ext cx="1463040" cy="3560064"/>
          </a:xfrm>
          <a:custGeom>
            <a:avLst/>
            <a:gdLst>
              <a:gd name="connsiteX0" fmla="*/ 0 w 1463040"/>
              <a:gd name="connsiteY0" fmla="*/ 0 h 3560064"/>
              <a:gd name="connsiteX1" fmla="*/ 487680 w 1463040"/>
              <a:gd name="connsiteY1" fmla="*/ 1950720 h 3560064"/>
              <a:gd name="connsiteX2" fmla="*/ 1463040 w 1463040"/>
              <a:gd name="connsiteY2" fmla="*/ 3560064 h 3560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3040" h="3560064">
                <a:moveTo>
                  <a:pt x="0" y="0"/>
                </a:moveTo>
                <a:cubicBezTo>
                  <a:pt x="121920" y="678688"/>
                  <a:pt x="243840" y="1357376"/>
                  <a:pt x="487680" y="1950720"/>
                </a:cubicBezTo>
                <a:cubicBezTo>
                  <a:pt x="731520" y="2544064"/>
                  <a:pt x="1097280" y="3052064"/>
                  <a:pt x="1463040" y="3560064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78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46.2 Chain Rule Relation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3872" y="1231215"/>
                <a:ext cx="8352928" cy="2429523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6"/>
                            </a:solidFill>
                          </a:rPr>
                          <m:t>Size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C00000"/>
                            </a:solidFill>
                          </a:rPr>
                          <m:t>Height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= 2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C00000"/>
                            </a:solidFill>
                          </a:rPr>
                          <m:t>Height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70C0"/>
                            </a:solidFill>
                          </a:rPr>
                          <m:t>Weight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0.25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6"/>
                            </a:solidFill>
                          </a:rPr>
                          <m:t>Size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70C0"/>
                            </a:solidFill>
                          </a:rPr>
                          <m:t>Weight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2 x 0.25 = 0.5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The relationship is called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Chain Rule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This mean 1 unit increase in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Weight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, we have 0.5 unit increase in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Shoe Size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3872" y="1231215"/>
                <a:ext cx="8352928" cy="2429523"/>
              </a:xfrm>
              <a:blipFill>
                <a:blip r:embed="rId2"/>
                <a:stretch>
                  <a:fillRect l="-73" b="-1247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11</a:t>
            </a:fld>
            <a:endParaRPr lang="zh-TW" alt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0E16392-7859-42F0-95EA-B1F417095757}"/>
              </a:ext>
            </a:extLst>
          </p:cNvPr>
          <p:cNvCxnSpPr>
            <a:cxnSpLocks/>
          </p:cNvCxnSpPr>
          <p:nvPr/>
        </p:nvCxnSpPr>
        <p:spPr>
          <a:xfrm>
            <a:off x="5027230" y="5895814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EF2AB0-FC79-47AC-A54D-0C4E38452321}"/>
              </a:ext>
            </a:extLst>
          </p:cNvPr>
          <p:cNvCxnSpPr>
            <a:cxnSpLocks/>
          </p:cNvCxnSpPr>
          <p:nvPr/>
        </p:nvCxnSpPr>
        <p:spPr>
          <a:xfrm flipV="1">
            <a:off x="5027230" y="4030070"/>
            <a:ext cx="0" cy="18657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313862-3B56-422E-B0DC-9CDEA216A447}"/>
              </a:ext>
            </a:extLst>
          </p:cNvPr>
          <p:cNvCxnSpPr/>
          <p:nvPr/>
        </p:nvCxnSpPr>
        <p:spPr>
          <a:xfrm>
            <a:off x="5963334" y="5751798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F458DF2-FE2A-46B1-919B-0C5221AA4DA6}"/>
              </a:ext>
            </a:extLst>
          </p:cNvPr>
          <p:cNvCxnSpPr/>
          <p:nvPr/>
        </p:nvCxnSpPr>
        <p:spPr>
          <a:xfrm>
            <a:off x="6899438" y="576777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FF52A4D-1180-43BF-8064-71D2A3EEE3D5}"/>
              </a:ext>
            </a:extLst>
          </p:cNvPr>
          <p:cNvCxnSpPr/>
          <p:nvPr/>
        </p:nvCxnSpPr>
        <p:spPr>
          <a:xfrm>
            <a:off x="7835542" y="5767774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D23413-028A-4CF7-9DD8-77751DF319A4}"/>
              </a:ext>
            </a:extLst>
          </p:cNvPr>
          <p:cNvCxnSpPr>
            <a:cxnSpLocks/>
          </p:cNvCxnSpPr>
          <p:nvPr/>
        </p:nvCxnSpPr>
        <p:spPr>
          <a:xfrm>
            <a:off x="4874830" y="4959710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FFC9F46-9287-47A2-A1A1-D5571CB5A8EE}"/>
              </a:ext>
            </a:extLst>
          </p:cNvPr>
          <p:cNvCxnSpPr>
            <a:cxnSpLocks/>
          </p:cNvCxnSpPr>
          <p:nvPr/>
        </p:nvCxnSpPr>
        <p:spPr>
          <a:xfrm>
            <a:off x="4896534" y="4030070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7A99C244-C972-4DD2-B309-E1BEB9D1B27A}"/>
              </a:ext>
            </a:extLst>
          </p:cNvPr>
          <p:cNvSpPr/>
          <p:nvPr/>
        </p:nvSpPr>
        <p:spPr>
          <a:xfrm>
            <a:off x="6627433" y="4347133"/>
            <a:ext cx="268692" cy="27765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492D00A-73A2-4B9E-AF69-E6F5A06D165B}"/>
              </a:ext>
            </a:extLst>
          </p:cNvPr>
          <p:cNvSpPr/>
          <p:nvPr/>
        </p:nvSpPr>
        <p:spPr>
          <a:xfrm>
            <a:off x="6362416" y="5028127"/>
            <a:ext cx="268720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AF3556D-7AFD-4283-8D1F-434522B856A1}"/>
              </a:ext>
            </a:extLst>
          </p:cNvPr>
          <p:cNvSpPr/>
          <p:nvPr/>
        </p:nvSpPr>
        <p:spPr>
          <a:xfrm>
            <a:off x="5440340" y="5242894"/>
            <a:ext cx="268719" cy="28802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8764D0-82BA-488C-B57B-F3FF658ECB76}"/>
              </a:ext>
            </a:extLst>
          </p:cNvPr>
          <p:cNvSpPr txBox="1"/>
          <p:nvPr/>
        </p:nvSpPr>
        <p:spPr>
          <a:xfrm>
            <a:off x="6088153" y="5974109"/>
            <a:ext cx="100810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Height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8D5681-D891-4255-84FF-711F7AFB03D2}"/>
              </a:ext>
            </a:extLst>
          </p:cNvPr>
          <p:cNvSpPr txBox="1"/>
          <p:nvPr/>
        </p:nvSpPr>
        <p:spPr>
          <a:xfrm>
            <a:off x="4107778" y="4193210"/>
            <a:ext cx="742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Shoe Size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A278A1-8223-4E53-B0F7-1DFF818D2B63}"/>
              </a:ext>
            </a:extLst>
          </p:cNvPr>
          <p:cNvCxnSpPr>
            <a:cxnSpLocks/>
          </p:cNvCxnSpPr>
          <p:nvPr/>
        </p:nvCxnSpPr>
        <p:spPr>
          <a:xfrm flipH="1">
            <a:off x="5064423" y="4394965"/>
            <a:ext cx="1880651" cy="148794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1149CD8-1E82-400E-9B1E-E54578B00259}"/>
              </a:ext>
            </a:extLst>
          </p:cNvPr>
          <p:cNvCxnSpPr>
            <a:cxnSpLocks/>
          </p:cNvCxnSpPr>
          <p:nvPr/>
        </p:nvCxnSpPr>
        <p:spPr>
          <a:xfrm>
            <a:off x="1551116" y="5942157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4D3B86-05A1-41FC-8588-75F072DDC231}"/>
              </a:ext>
            </a:extLst>
          </p:cNvPr>
          <p:cNvCxnSpPr>
            <a:cxnSpLocks/>
          </p:cNvCxnSpPr>
          <p:nvPr/>
        </p:nvCxnSpPr>
        <p:spPr>
          <a:xfrm flipV="1">
            <a:off x="1551116" y="3910564"/>
            <a:ext cx="0" cy="20315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D4816F6-7BC4-4600-8A5F-C364DEA0D235}"/>
              </a:ext>
            </a:extLst>
          </p:cNvPr>
          <p:cNvCxnSpPr/>
          <p:nvPr/>
        </p:nvCxnSpPr>
        <p:spPr>
          <a:xfrm>
            <a:off x="2487220" y="579814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10C398E-2C95-47B5-830C-E92639F4D1F7}"/>
              </a:ext>
            </a:extLst>
          </p:cNvPr>
          <p:cNvCxnSpPr/>
          <p:nvPr/>
        </p:nvCxnSpPr>
        <p:spPr>
          <a:xfrm>
            <a:off x="3423324" y="5814117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E1EA880-A656-4D37-B766-FF38617241B9}"/>
              </a:ext>
            </a:extLst>
          </p:cNvPr>
          <p:cNvCxnSpPr>
            <a:cxnSpLocks/>
          </p:cNvCxnSpPr>
          <p:nvPr/>
        </p:nvCxnSpPr>
        <p:spPr>
          <a:xfrm>
            <a:off x="1398716" y="5006053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47EEB4D-4C4F-44EC-94DC-E00B6451A00A}"/>
              </a:ext>
            </a:extLst>
          </p:cNvPr>
          <p:cNvCxnSpPr>
            <a:cxnSpLocks/>
          </p:cNvCxnSpPr>
          <p:nvPr/>
        </p:nvCxnSpPr>
        <p:spPr>
          <a:xfrm>
            <a:off x="1420420" y="4076413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A9AC4F96-F25A-4055-89A9-C627E74B6CCA}"/>
              </a:ext>
            </a:extLst>
          </p:cNvPr>
          <p:cNvSpPr/>
          <p:nvPr/>
        </p:nvSpPr>
        <p:spPr>
          <a:xfrm>
            <a:off x="3161476" y="4549632"/>
            <a:ext cx="261375" cy="28802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CB30660-D224-43F8-8A0D-12A8CD2EC6C6}"/>
              </a:ext>
            </a:extLst>
          </p:cNvPr>
          <p:cNvSpPr/>
          <p:nvPr/>
        </p:nvSpPr>
        <p:spPr>
          <a:xfrm>
            <a:off x="2204825" y="4055888"/>
            <a:ext cx="261381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3CD8EDE-165D-4032-AAB0-5818A7DF60B5}"/>
              </a:ext>
            </a:extLst>
          </p:cNvPr>
          <p:cNvSpPr/>
          <p:nvPr/>
        </p:nvSpPr>
        <p:spPr>
          <a:xfrm>
            <a:off x="2356529" y="5186078"/>
            <a:ext cx="261382" cy="28802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6446F7-73F7-47FC-BAF2-DD0127ED7ECB}"/>
              </a:ext>
            </a:extLst>
          </p:cNvPr>
          <p:cNvSpPr txBox="1"/>
          <p:nvPr/>
        </p:nvSpPr>
        <p:spPr>
          <a:xfrm>
            <a:off x="2617911" y="5942157"/>
            <a:ext cx="100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5234F1A-F3AA-4F04-98F1-ECD15B4F4DF7}"/>
              </a:ext>
            </a:extLst>
          </p:cNvPr>
          <p:cNvCxnSpPr>
            <a:cxnSpLocks/>
          </p:cNvCxnSpPr>
          <p:nvPr/>
        </p:nvCxnSpPr>
        <p:spPr>
          <a:xfrm flipH="1">
            <a:off x="1540580" y="4260940"/>
            <a:ext cx="1677798" cy="170572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12AAEE4-9095-40BA-9393-62122C8E3CB9}"/>
              </a:ext>
            </a:extLst>
          </p:cNvPr>
          <p:cNvSpPr txBox="1"/>
          <p:nvPr/>
        </p:nvSpPr>
        <p:spPr>
          <a:xfrm>
            <a:off x="306445" y="4177806"/>
            <a:ext cx="100810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414216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 fontScale="90000"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46.3 Complicate Chain Rule Relation 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12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96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46.3 Complicate Chain Rule Relation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33872" y="1231215"/>
            <a:ext cx="4022102" cy="104206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hungry  to Time since Last Snack.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fit a </a:t>
            </a:r>
            <a:r>
              <a:rPr lang="en-US" sz="1800" b="1" dirty="0">
                <a:solidFill>
                  <a:srgbClr val="00B050"/>
                </a:solidFill>
              </a:rPr>
              <a:t>exponential line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Hungry = Time</a:t>
            </a:r>
            <a:r>
              <a:rPr lang="en-US" sz="1800" b="1" baseline="30000" dirty="0">
                <a:solidFill>
                  <a:schemeClr val="tx1"/>
                </a:solidFill>
              </a:rPr>
              <a:t>2</a:t>
            </a:r>
            <a:r>
              <a:rPr lang="en-US" sz="1800" b="1" dirty="0">
                <a:solidFill>
                  <a:schemeClr val="tx1"/>
                </a:solidFill>
              </a:rPr>
              <a:t> + 1/2	(5)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13</a:t>
            </a:fld>
            <a:endParaRPr lang="zh-TW" alt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1149CD8-1E82-400E-9B1E-E54578B00259}"/>
              </a:ext>
            </a:extLst>
          </p:cNvPr>
          <p:cNvCxnSpPr>
            <a:cxnSpLocks/>
          </p:cNvCxnSpPr>
          <p:nvPr/>
        </p:nvCxnSpPr>
        <p:spPr>
          <a:xfrm>
            <a:off x="1430733" y="5207812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4D3B86-05A1-41FC-8588-75F072DDC231}"/>
              </a:ext>
            </a:extLst>
          </p:cNvPr>
          <p:cNvCxnSpPr>
            <a:cxnSpLocks/>
          </p:cNvCxnSpPr>
          <p:nvPr/>
        </p:nvCxnSpPr>
        <p:spPr>
          <a:xfrm flipV="1">
            <a:off x="1430733" y="3176219"/>
            <a:ext cx="0" cy="20315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D4816F6-7BC4-4600-8A5F-C364DEA0D235}"/>
              </a:ext>
            </a:extLst>
          </p:cNvPr>
          <p:cNvCxnSpPr/>
          <p:nvPr/>
        </p:nvCxnSpPr>
        <p:spPr>
          <a:xfrm>
            <a:off x="2366837" y="506379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10C398E-2C95-47B5-830C-E92639F4D1F7}"/>
              </a:ext>
            </a:extLst>
          </p:cNvPr>
          <p:cNvCxnSpPr/>
          <p:nvPr/>
        </p:nvCxnSpPr>
        <p:spPr>
          <a:xfrm>
            <a:off x="3302941" y="507977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E1EA880-A656-4D37-B766-FF38617241B9}"/>
              </a:ext>
            </a:extLst>
          </p:cNvPr>
          <p:cNvCxnSpPr>
            <a:cxnSpLocks/>
          </p:cNvCxnSpPr>
          <p:nvPr/>
        </p:nvCxnSpPr>
        <p:spPr>
          <a:xfrm>
            <a:off x="1300037" y="4278831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47EEB4D-4C4F-44EC-94DC-E00B6451A00A}"/>
              </a:ext>
            </a:extLst>
          </p:cNvPr>
          <p:cNvCxnSpPr>
            <a:cxnSpLocks/>
          </p:cNvCxnSpPr>
          <p:nvPr/>
        </p:nvCxnSpPr>
        <p:spPr>
          <a:xfrm>
            <a:off x="1300037" y="3342068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A9AC4F96-F25A-4055-89A9-C627E74B6CCA}"/>
              </a:ext>
            </a:extLst>
          </p:cNvPr>
          <p:cNvSpPr/>
          <p:nvPr/>
        </p:nvSpPr>
        <p:spPr>
          <a:xfrm>
            <a:off x="2406797" y="4457810"/>
            <a:ext cx="288633" cy="25822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CB30660-D224-43F8-8A0D-12A8CD2EC6C6}"/>
              </a:ext>
            </a:extLst>
          </p:cNvPr>
          <p:cNvSpPr/>
          <p:nvPr/>
        </p:nvSpPr>
        <p:spPr>
          <a:xfrm>
            <a:off x="1996909" y="4586924"/>
            <a:ext cx="261380" cy="26935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3CD8EDE-165D-4032-AAB0-5818A7DF60B5}"/>
              </a:ext>
            </a:extLst>
          </p:cNvPr>
          <p:cNvSpPr/>
          <p:nvPr/>
        </p:nvSpPr>
        <p:spPr>
          <a:xfrm>
            <a:off x="1583134" y="4770353"/>
            <a:ext cx="261375" cy="25790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6446F7-73F7-47FC-BAF2-DD0127ED7ECB}"/>
              </a:ext>
            </a:extLst>
          </p:cNvPr>
          <p:cNvSpPr txBox="1"/>
          <p:nvPr/>
        </p:nvSpPr>
        <p:spPr>
          <a:xfrm>
            <a:off x="1763980" y="5354682"/>
            <a:ext cx="2394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Since Last Snack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EC3C24-D56B-477D-9E99-B1F32AC9CB58}"/>
              </a:ext>
            </a:extLst>
          </p:cNvPr>
          <p:cNvSpPr txBox="1"/>
          <p:nvPr/>
        </p:nvSpPr>
        <p:spPr>
          <a:xfrm>
            <a:off x="307984" y="3304695"/>
            <a:ext cx="1008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Hungry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5721101-69CA-4993-AA3B-53663CBBF52B}"/>
              </a:ext>
            </a:extLst>
          </p:cNvPr>
          <p:cNvSpPr/>
          <p:nvPr/>
        </p:nvSpPr>
        <p:spPr>
          <a:xfrm>
            <a:off x="2560568" y="3887601"/>
            <a:ext cx="274320" cy="25822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2FE1EEC-7E54-41F3-A6A3-6141C17FF59D}"/>
              </a:ext>
            </a:extLst>
          </p:cNvPr>
          <p:cNvSpPr/>
          <p:nvPr/>
        </p:nvSpPr>
        <p:spPr>
          <a:xfrm>
            <a:off x="2719762" y="3495795"/>
            <a:ext cx="288633" cy="25822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78F5936-4351-42C7-85EE-1795FF0F8046}"/>
              </a:ext>
            </a:extLst>
          </p:cNvPr>
          <p:cNvSpPr/>
          <p:nvPr/>
        </p:nvSpPr>
        <p:spPr>
          <a:xfrm>
            <a:off x="3008395" y="3192870"/>
            <a:ext cx="247382" cy="27250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EFF6AEE-7DFD-456E-A832-58812B00F95B}"/>
              </a:ext>
            </a:extLst>
          </p:cNvPr>
          <p:cNvSpPr/>
          <p:nvPr/>
        </p:nvSpPr>
        <p:spPr>
          <a:xfrm>
            <a:off x="1451258" y="2833702"/>
            <a:ext cx="1621536" cy="2194560"/>
          </a:xfrm>
          <a:custGeom>
            <a:avLst/>
            <a:gdLst>
              <a:gd name="connsiteX0" fmla="*/ 0 w 1621536"/>
              <a:gd name="connsiteY0" fmla="*/ 2194560 h 2194560"/>
              <a:gd name="connsiteX1" fmla="*/ 829056 w 1621536"/>
              <a:gd name="connsiteY1" fmla="*/ 1767840 h 2194560"/>
              <a:gd name="connsiteX2" fmla="*/ 1353312 w 1621536"/>
              <a:gd name="connsiteY2" fmla="*/ 1011936 h 2194560"/>
              <a:gd name="connsiteX3" fmla="*/ 1621536 w 1621536"/>
              <a:gd name="connsiteY3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1536" h="2194560">
                <a:moveTo>
                  <a:pt x="0" y="2194560"/>
                </a:moveTo>
                <a:cubicBezTo>
                  <a:pt x="301752" y="2079752"/>
                  <a:pt x="603504" y="1964944"/>
                  <a:pt x="829056" y="1767840"/>
                </a:cubicBezTo>
                <a:cubicBezTo>
                  <a:pt x="1054608" y="1570736"/>
                  <a:pt x="1221232" y="1306576"/>
                  <a:pt x="1353312" y="1011936"/>
                </a:cubicBezTo>
                <a:cubicBezTo>
                  <a:pt x="1485392" y="717296"/>
                  <a:pt x="1553464" y="358648"/>
                  <a:pt x="1621536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1115F92-21A6-4632-A563-24D2CB7193B8}"/>
              </a:ext>
            </a:extLst>
          </p:cNvPr>
          <p:cNvCxnSpPr>
            <a:cxnSpLocks/>
          </p:cNvCxnSpPr>
          <p:nvPr/>
        </p:nvCxnSpPr>
        <p:spPr>
          <a:xfrm>
            <a:off x="5666829" y="5163211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8AC96B8-568D-4389-8770-640528C4FF4D}"/>
              </a:ext>
            </a:extLst>
          </p:cNvPr>
          <p:cNvCxnSpPr>
            <a:cxnSpLocks/>
          </p:cNvCxnSpPr>
          <p:nvPr/>
        </p:nvCxnSpPr>
        <p:spPr>
          <a:xfrm flipV="1">
            <a:off x="5666829" y="3665744"/>
            <a:ext cx="0" cy="149746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B48B2EF-8788-4EE4-8581-567ECD103554}"/>
              </a:ext>
            </a:extLst>
          </p:cNvPr>
          <p:cNvCxnSpPr/>
          <p:nvPr/>
        </p:nvCxnSpPr>
        <p:spPr>
          <a:xfrm>
            <a:off x="6602933" y="501919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3345F79-39EE-41C7-BABF-9D202FD15358}"/>
              </a:ext>
            </a:extLst>
          </p:cNvPr>
          <p:cNvCxnSpPr/>
          <p:nvPr/>
        </p:nvCxnSpPr>
        <p:spPr>
          <a:xfrm>
            <a:off x="7539037" y="503517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583801A-4AAB-4695-BC9A-5BA6911930FB}"/>
              </a:ext>
            </a:extLst>
          </p:cNvPr>
          <p:cNvCxnSpPr>
            <a:cxnSpLocks/>
          </p:cNvCxnSpPr>
          <p:nvPr/>
        </p:nvCxnSpPr>
        <p:spPr>
          <a:xfrm>
            <a:off x="5536133" y="4234230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D86FE4FC-E237-496F-A37E-CCE5512E3026}"/>
              </a:ext>
            </a:extLst>
          </p:cNvPr>
          <p:cNvSpPr/>
          <p:nvPr/>
        </p:nvSpPr>
        <p:spPr>
          <a:xfrm>
            <a:off x="6508031" y="4092324"/>
            <a:ext cx="288633" cy="25822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50E329A-5FEB-44E0-8108-DAB62AD6CE24}"/>
              </a:ext>
            </a:extLst>
          </p:cNvPr>
          <p:cNvSpPr/>
          <p:nvPr/>
        </p:nvSpPr>
        <p:spPr>
          <a:xfrm>
            <a:off x="6098435" y="4154598"/>
            <a:ext cx="261380" cy="26935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83F4679-CFBD-4DA5-AFCC-20883DFCC9E5}"/>
              </a:ext>
            </a:extLst>
          </p:cNvPr>
          <p:cNvSpPr/>
          <p:nvPr/>
        </p:nvSpPr>
        <p:spPr>
          <a:xfrm>
            <a:off x="5819230" y="4725752"/>
            <a:ext cx="261375" cy="2579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3841E6-8CD8-48FE-AA30-A7103FF4F82A}"/>
              </a:ext>
            </a:extLst>
          </p:cNvPr>
          <p:cNvSpPr txBox="1"/>
          <p:nvPr/>
        </p:nvSpPr>
        <p:spPr>
          <a:xfrm>
            <a:off x="6508031" y="5389079"/>
            <a:ext cx="947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Hunger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8B9466B-0E42-4F07-BC2A-D5B55FC94962}"/>
              </a:ext>
            </a:extLst>
          </p:cNvPr>
          <p:cNvSpPr txBox="1"/>
          <p:nvPr/>
        </p:nvSpPr>
        <p:spPr>
          <a:xfrm>
            <a:off x="4584160" y="3692933"/>
            <a:ext cx="10081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Crave for Ice Cream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F659D0B-2F66-4383-8091-24176B6D0803}"/>
              </a:ext>
            </a:extLst>
          </p:cNvPr>
          <p:cNvSpPr/>
          <p:nvPr/>
        </p:nvSpPr>
        <p:spPr>
          <a:xfrm>
            <a:off x="6796664" y="3843000"/>
            <a:ext cx="274320" cy="25822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695A721-26F9-4FAF-9EEE-F28DE1BF1CB4}"/>
              </a:ext>
            </a:extLst>
          </p:cNvPr>
          <p:cNvSpPr/>
          <p:nvPr/>
        </p:nvSpPr>
        <p:spPr>
          <a:xfrm>
            <a:off x="7137409" y="3963210"/>
            <a:ext cx="288633" cy="25822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B19FDBF-EEDC-44AD-90A6-CCE7C484C3BD}"/>
              </a:ext>
            </a:extLst>
          </p:cNvPr>
          <p:cNvSpPr/>
          <p:nvPr/>
        </p:nvSpPr>
        <p:spPr>
          <a:xfrm>
            <a:off x="7606693" y="4000300"/>
            <a:ext cx="247382" cy="27250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副標題 2">
                <a:extLst>
                  <a:ext uri="{FF2B5EF4-FFF2-40B4-BE49-F238E27FC236}">
                    <a16:creationId xmlns:a16="http://schemas.microsoft.com/office/drawing/2014/main" id="{EC24E9EB-FB35-4916-86A8-ECDF4AC1B1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30001" y="1229374"/>
                <a:ext cx="4022102" cy="1042067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We Hungry vs. Crave for Ice Scream: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We fit a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exponential line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: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Crave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Hungry</m:t>
                        </m:r>
                      </m:e>
                    </m:rad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	(6)</a:t>
                </a:r>
              </a:p>
            </p:txBody>
          </p:sp>
        </mc:Choice>
        <mc:Fallback xmlns="">
          <p:sp>
            <p:nvSpPr>
              <p:cNvPr id="72" name="副標題 2">
                <a:extLst>
                  <a:ext uri="{FF2B5EF4-FFF2-40B4-BE49-F238E27FC236}">
                    <a16:creationId xmlns:a16="http://schemas.microsoft.com/office/drawing/2014/main" id="{EC24E9EB-FB35-4916-86A8-ECDF4AC1B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001" y="1229374"/>
                <a:ext cx="4022102" cy="1042067"/>
              </a:xfrm>
              <a:prstGeom prst="rect">
                <a:avLst/>
              </a:prstGeom>
              <a:blipFill>
                <a:blip r:embed="rId2"/>
                <a:stretch>
                  <a:fillRect l="-151" t="-2890" b="-7514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0F04708-8614-4E78-9823-C142B4D888C0}"/>
              </a:ext>
            </a:extLst>
          </p:cNvPr>
          <p:cNvSpPr/>
          <p:nvPr/>
        </p:nvSpPr>
        <p:spPr>
          <a:xfrm>
            <a:off x="5672431" y="3870567"/>
            <a:ext cx="2243328" cy="1219200"/>
          </a:xfrm>
          <a:custGeom>
            <a:avLst/>
            <a:gdLst>
              <a:gd name="connsiteX0" fmla="*/ 0 w 2243328"/>
              <a:gd name="connsiteY0" fmla="*/ 1219200 h 1219200"/>
              <a:gd name="connsiteX1" fmla="*/ 268224 w 2243328"/>
              <a:gd name="connsiteY1" fmla="*/ 694944 h 1219200"/>
              <a:gd name="connsiteX2" fmla="*/ 950976 w 2243328"/>
              <a:gd name="connsiteY2" fmla="*/ 182880 h 1219200"/>
              <a:gd name="connsiteX3" fmla="*/ 2243328 w 2243328"/>
              <a:gd name="connsiteY3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3328" h="1219200">
                <a:moveTo>
                  <a:pt x="0" y="1219200"/>
                </a:moveTo>
                <a:cubicBezTo>
                  <a:pt x="54864" y="1043432"/>
                  <a:pt x="109728" y="867664"/>
                  <a:pt x="268224" y="694944"/>
                </a:cubicBezTo>
                <a:cubicBezTo>
                  <a:pt x="426720" y="522224"/>
                  <a:pt x="621792" y="298704"/>
                  <a:pt x="950976" y="182880"/>
                </a:cubicBezTo>
                <a:cubicBezTo>
                  <a:pt x="1280160" y="67056"/>
                  <a:pt x="1761744" y="33528"/>
                  <a:pt x="2243328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80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46.3 Complicate Chain Rule Relation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3871" y="1231215"/>
                <a:ext cx="8352917" cy="2240396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Now, we want to see the relation of “Time since Last Snack” vs. “Crave for Ice Cream”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From Equation (5) and (6).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Hungry = Time</a:t>
                </a:r>
                <a:r>
                  <a:rPr lang="en-US" sz="1800" b="1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 + 1/2			(5)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Crave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Hungry</m:t>
                        </m:r>
                      </m:e>
                    </m:rad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			(6)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 Crave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Time</m:t>
                        </m:r>
                        <m:r>
                          <m:rPr>
                            <m:nor/>
                          </m:rPr>
                          <a:rPr lang="en-US" sz="1800" b="1" baseline="30000" dirty="0">
                            <a:solidFill>
                              <a:schemeClr val="tx1"/>
                            </a:solidFill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+ 1/2</m:t>
                        </m:r>
                      </m:e>
                    </m:rad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			(7)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8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3871" y="1231215"/>
                <a:ext cx="8352917" cy="2240396"/>
              </a:xfrm>
              <a:blipFill>
                <a:blip r:embed="rId2"/>
                <a:stretch>
                  <a:fillRect l="-73" t="-1355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14</a:t>
            </a:fld>
            <a:endParaRPr lang="zh-TW" alt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1149CD8-1E82-400E-9B1E-E54578B00259}"/>
              </a:ext>
            </a:extLst>
          </p:cNvPr>
          <p:cNvCxnSpPr>
            <a:cxnSpLocks/>
          </p:cNvCxnSpPr>
          <p:nvPr/>
        </p:nvCxnSpPr>
        <p:spPr>
          <a:xfrm>
            <a:off x="1430733" y="5686713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4D3B86-05A1-41FC-8588-75F072DDC231}"/>
              </a:ext>
            </a:extLst>
          </p:cNvPr>
          <p:cNvCxnSpPr>
            <a:cxnSpLocks/>
          </p:cNvCxnSpPr>
          <p:nvPr/>
        </p:nvCxnSpPr>
        <p:spPr>
          <a:xfrm flipV="1">
            <a:off x="1430733" y="3655120"/>
            <a:ext cx="0" cy="20315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D4816F6-7BC4-4600-8A5F-C364DEA0D235}"/>
              </a:ext>
            </a:extLst>
          </p:cNvPr>
          <p:cNvCxnSpPr/>
          <p:nvPr/>
        </p:nvCxnSpPr>
        <p:spPr>
          <a:xfrm>
            <a:off x="2366837" y="5542697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10C398E-2C95-47B5-830C-E92639F4D1F7}"/>
              </a:ext>
            </a:extLst>
          </p:cNvPr>
          <p:cNvCxnSpPr/>
          <p:nvPr/>
        </p:nvCxnSpPr>
        <p:spPr>
          <a:xfrm>
            <a:off x="3302941" y="555867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E1EA880-A656-4D37-B766-FF38617241B9}"/>
              </a:ext>
            </a:extLst>
          </p:cNvPr>
          <p:cNvCxnSpPr>
            <a:cxnSpLocks/>
          </p:cNvCxnSpPr>
          <p:nvPr/>
        </p:nvCxnSpPr>
        <p:spPr>
          <a:xfrm>
            <a:off x="1300037" y="4757732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47EEB4D-4C4F-44EC-94DC-E00B6451A00A}"/>
              </a:ext>
            </a:extLst>
          </p:cNvPr>
          <p:cNvCxnSpPr>
            <a:cxnSpLocks/>
          </p:cNvCxnSpPr>
          <p:nvPr/>
        </p:nvCxnSpPr>
        <p:spPr>
          <a:xfrm>
            <a:off x="1300037" y="3820969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A9AC4F96-F25A-4055-89A9-C627E74B6CCA}"/>
              </a:ext>
            </a:extLst>
          </p:cNvPr>
          <p:cNvSpPr/>
          <p:nvPr/>
        </p:nvSpPr>
        <p:spPr>
          <a:xfrm>
            <a:off x="2406797" y="4936711"/>
            <a:ext cx="288633" cy="25822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CB30660-D224-43F8-8A0D-12A8CD2EC6C6}"/>
              </a:ext>
            </a:extLst>
          </p:cNvPr>
          <p:cNvSpPr/>
          <p:nvPr/>
        </p:nvSpPr>
        <p:spPr>
          <a:xfrm>
            <a:off x="1996909" y="5065825"/>
            <a:ext cx="261380" cy="26935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3CD8EDE-165D-4032-AAB0-5818A7DF60B5}"/>
              </a:ext>
            </a:extLst>
          </p:cNvPr>
          <p:cNvSpPr/>
          <p:nvPr/>
        </p:nvSpPr>
        <p:spPr>
          <a:xfrm>
            <a:off x="1583134" y="5249254"/>
            <a:ext cx="261375" cy="25790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6446F7-73F7-47FC-BAF2-DD0127ED7ECB}"/>
              </a:ext>
            </a:extLst>
          </p:cNvPr>
          <p:cNvSpPr txBox="1"/>
          <p:nvPr/>
        </p:nvSpPr>
        <p:spPr>
          <a:xfrm>
            <a:off x="1763980" y="5833583"/>
            <a:ext cx="2394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Since Last Snack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EC3C24-D56B-477D-9E99-B1F32AC9CB58}"/>
              </a:ext>
            </a:extLst>
          </p:cNvPr>
          <p:cNvSpPr txBox="1"/>
          <p:nvPr/>
        </p:nvSpPr>
        <p:spPr>
          <a:xfrm>
            <a:off x="307984" y="3783596"/>
            <a:ext cx="100810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Hungry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5721101-69CA-4993-AA3B-53663CBBF52B}"/>
              </a:ext>
            </a:extLst>
          </p:cNvPr>
          <p:cNvSpPr/>
          <p:nvPr/>
        </p:nvSpPr>
        <p:spPr>
          <a:xfrm>
            <a:off x="2560568" y="4366502"/>
            <a:ext cx="274320" cy="25822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2FE1EEC-7E54-41F3-A6A3-6141C17FF59D}"/>
              </a:ext>
            </a:extLst>
          </p:cNvPr>
          <p:cNvSpPr/>
          <p:nvPr/>
        </p:nvSpPr>
        <p:spPr>
          <a:xfrm>
            <a:off x="2719762" y="3974696"/>
            <a:ext cx="288633" cy="25822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78F5936-4351-42C7-85EE-1795FF0F8046}"/>
              </a:ext>
            </a:extLst>
          </p:cNvPr>
          <p:cNvSpPr/>
          <p:nvPr/>
        </p:nvSpPr>
        <p:spPr>
          <a:xfrm>
            <a:off x="3008395" y="3671771"/>
            <a:ext cx="247382" cy="27250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EFF6AEE-7DFD-456E-A832-58812B00F95B}"/>
              </a:ext>
            </a:extLst>
          </p:cNvPr>
          <p:cNvSpPr/>
          <p:nvPr/>
        </p:nvSpPr>
        <p:spPr>
          <a:xfrm>
            <a:off x="1463919" y="3358492"/>
            <a:ext cx="1621536" cy="2194560"/>
          </a:xfrm>
          <a:custGeom>
            <a:avLst/>
            <a:gdLst>
              <a:gd name="connsiteX0" fmla="*/ 0 w 1621536"/>
              <a:gd name="connsiteY0" fmla="*/ 2194560 h 2194560"/>
              <a:gd name="connsiteX1" fmla="*/ 829056 w 1621536"/>
              <a:gd name="connsiteY1" fmla="*/ 1767840 h 2194560"/>
              <a:gd name="connsiteX2" fmla="*/ 1353312 w 1621536"/>
              <a:gd name="connsiteY2" fmla="*/ 1011936 h 2194560"/>
              <a:gd name="connsiteX3" fmla="*/ 1621536 w 1621536"/>
              <a:gd name="connsiteY3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1536" h="2194560">
                <a:moveTo>
                  <a:pt x="0" y="2194560"/>
                </a:moveTo>
                <a:cubicBezTo>
                  <a:pt x="301752" y="2079752"/>
                  <a:pt x="603504" y="1964944"/>
                  <a:pt x="829056" y="1767840"/>
                </a:cubicBezTo>
                <a:cubicBezTo>
                  <a:pt x="1054608" y="1570736"/>
                  <a:pt x="1221232" y="1306576"/>
                  <a:pt x="1353312" y="1011936"/>
                </a:cubicBezTo>
                <a:cubicBezTo>
                  <a:pt x="1485392" y="717296"/>
                  <a:pt x="1553464" y="358648"/>
                  <a:pt x="1621536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1115F92-21A6-4632-A563-24D2CB7193B8}"/>
              </a:ext>
            </a:extLst>
          </p:cNvPr>
          <p:cNvCxnSpPr>
            <a:cxnSpLocks/>
          </p:cNvCxnSpPr>
          <p:nvPr/>
        </p:nvCxnSpPr>
        <p:spPr>
          <a:xfrm>
            <a:off x="5666829" y="5642112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8AC96B8-568D-4389-8770-640528C4FF4D}"/>
              </a:ext>
            </a:extLst>
          </p:cNvPr>
          <p:cNvCxnSpPr>
            <a:cxnSpLocks/>
          </p:cNvCxnSpPr>
          <p:nvPr/>
        </p:nvCxnSpPr>
        <p:spPr>
          <a:xfrm flipV="1">
            <a:off x="5666829" y="4144645"/>
            <a:ext cx="0" cy="149746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B48B2EF-8788-4EE4-8581-567ECD103554}"/>
              </a:ext>
            </a:extLst>
          </p:cNvPr>
          <p:cNvCxnSpPr/>
          <p:nvPr/>
        </p:nvCxnSpPr>
        <p:spPr>
          <a:xfrm>
            <a:off x="6602933" y="549809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3345F79-39EE-41C7-BABF-9D202FD15358}"/>
              </a:ext>
            </a:extLst>
          </p:cNvPr>
          <p:cNvCxnSpPr/>
          <p:nvPr/>
        </p:nvCxnSpPr>
        <p:spPr>
          <a:xfrm>
            <a:off x="7539037" y="551407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583801A-4AAB-4695-BC9A-5BA6911930FB}"/>
              </a:ext>
            </a:extLst>
          </p:cNvPr>
          <p:cNvCxnSpPr>
            <a:cxnSpLocks/>
          </p:cNvCxnSpPr>
          <p:nvPr/>
        </p:nvCxnSpPr>
        <p:spPr>
          <a:xfrm>
            <a:off x="5536133" y="4713131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D86FE4FC-E237-496F-A37E-CCE5512E3026}"/>
              </a:ext>
            </a:extLst>
          </p:cNvPr>
          <p:cNvSpPr/>
          <p:nvPr/>
        </p:nvSpPr>
        <p:spPr>
          <a:xfrm>
            <a:off x="6508031" y="4571225"/>
            <a:ext cx="288633" cy="25822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50E329A-5FEB-44E0-8108-DAB62AD6CE24}"/>
              </a:ext>
            </a:extLst>
          </p:cNvPr>
          <p:cNvSpPr/>
          <p:nvPr/>
        </p:nvSpPr>
        <p:spPr>
          <a:xfrm>
            <a:off x="6098435" y="4633499"/>
            <a:ext cx="261380" cy="26935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83F4679-CFBD-4DA5-AFCC-20883DFCC9E5}"/>
              </a:ext>
            </a:extLst>
          </p:cNvPr>
          <p:cNvSpPr/>
          <p:nvPr/>
        </p:nvSpPr>
        <p:spPr>
          <a:xfrm>
            <a:off x="5819230" y="5204653"/>
            <a:ext cx="261375" cy="2579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8B9466B-0E42-4F07-BC2A-D5B55FC94962}"/>
              </a:ext>
            </a:extLst>
          </p:cNvPr>
          <p:cNvSpPr txBox="1"/>
          <p:nvPr/>
        </p:nvSpPr>
        <p:spPr>
          <a:xfrm>
            <a:off x="4584160" y="4171834"/>
            <a:ext cx="10081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Crave for Ice Cream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F659D0B-2F66-4383-8091-24176B6D0803}"/>
              </a:ext>
            </a:extLst>
          </p:cNvPr>
          <p:cNvSpPr/>
          <p:nvPr/>
        </p:nvSpPr>
        <p:spPr>
          <a:xfrm>
            <a:off x="6796664" y="4321901"/>
            <a:ext cx="274320" cy="25822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695A721-26F9-4FAF-9EEE-F28DE1BF1CB4}"/>
              </a:ext>
            </a:extLst>
          </p:cNvPr>
          <p:cNvSpPr/>
          <p:nvPr/>
        </p:nvSpPr>
        <p:spPr>
          <a:xfrm>
            <a:off x="7137409" y="4442111"/>
            <a:ext cx="288633" cy="25822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B19FDBF-EEDC-44AD-90A6-CCE7C484C3BD}"/>
              </a:ext>
            </a:extLst>
          </p:cNvPr>
          <p:cNvSpPr/>
          <p:nvPr/>
        </p:nvSpPr>
        <p:spPr>
          <a:xfrm>
            <a:off x="7606693" y="4479201"/>
            <a:ext cx="247382" cy="27250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0F04708-8614-4E78-9823-C142B4D888C0}"/>
              </a:ext>
            </a:extLst>
          </p:cNvPr>
          <p:cNvSpPr/>
          <p:nvPr/>
        </p:nvSpPr>
        <p:spPr>
          <a:xfrm>
            <a:off x="5672431" y="4349468"/>
            <a:ext cx="2243328" cy="1219200"/>
          </a:xfrm>
          <a:custGeom>
            <a:avLst/>
            <a:gdLst>
              <a:gd name="connsiteX0" fmla="*/ 0 w 2243328"/>
              <a:gd name="connsiteY0" fmla="*/ 1219200 h 1219200"/>
              <a:gd name="connsiteX1" fmla="*/ 268224 w 2243328"/>
              <a:gd name="connsiteY1" fmla="*/ 694944 h 1219200"/>
              <a:gd name="connsiteX2" fmla="*/ 950976 w 2243328"/>
              <a:gd name="connsiteY2" fmla="*/ 182880 h 1219200"/>
              <a:gd name="connsiteX3" fmla="*/ 2243328 w 2243328"/>
              <a:gd name="connsiteY3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3328" h="1219200">
                <a:moveTo>
                  <a:pt x="0" y="1219200"/>
                </a:moveTo>
                <a:cubicBezTo>
                  <a:pt x="54864" y="1043432"/>
                  <a:pt x="109728" y="867664"/>
                  <a:pt x="268224" y="694944"/>
                </a:cubicBezTo>
                <a:cubicBezTo>
                  <a:pt x="426720" y="522224"/>
                  <a:pt x="621792" y="298704"/>
                  <a:pt x="950976" y="182880"/>
                </a:cubicBezTo>
                <a:cubicBezTo>
                  <a:pt x="1280160" y="67056"/>
                  <a:pt x="1761744" y="33528"/>
                  <a:pt x="2243328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05AA8A-A0ED-46FD-908D-80BE13B2D2FD}"/>
              </a:ext>
            </a:extLst>
          </p:cNvPr>
          <p:cNvSpPr txBox="1"/>
          <p:nvPr/>
        </p:nvSpPr>
        <p:spPr>
          <a:xfrm>
            <a:off x="6488647" y="5908630"/>
            <a:ext cx="100810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Hungry</a:t>
            </a:r>
          </a:p>
        </p:txBody>
      </p:sp>
    </p:spTree>
    <p:extLst>
      <p:ext uri="{BB962C8B-B14F-4D97-AF65-F5344CB8AC3E}">
        <p14:creationId xmlns:p14="http://schemas.microsoft.com/office/powerpoint/2010/main" val="2579673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46.3 Complicate Chain Rule Relation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3871" y="1231213"/>
                <a:ext cx="8352917" cy="5125137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Apply the Chain Rule for equation (5), (6), and (7):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Hungry = Time</a:t>
                </a:r>
                <a:r>
                  <a:rPr lang="en-US" sz="1800" b="1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 + 1/2			(5)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Crave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Hungry</m:t>
                        </m:r>
                      </m:e>
                    </m:rad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			(6)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accent6"/>
                            </a:solidFill>
                          </a:rPr>
                          <m:t>Crave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0070C0"/>
                            </a:solidFill>
                          </a:rPr>
                          <m:t>Time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accent6"/>
                            </a:solidFill>
                          </a:rPr>
                          <m:t>Crave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C00000"/>
                            </a:solidFill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C00000"/>
                            </a:solidFill>
                          </a:rPr>
                          <m:t>ungry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C00000"/>
                            </a:solidFill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C00000"/>
                            </a:solidFill>
                          </a:rPr>
                          <m:t>ungy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0070C0"/>
                            </a:solidFill>
                          </a:rPr>
                          <m:t>Time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		(8)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We take Partial Derivative (i.e., Power rule) for Equations (5) and (6)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Eq (5) </a:t>
                </a:r>
                <a:r>
                  <a:rPr lang="en-US" sz="18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accent6"/>
                            </a:solidFill>
                          </a:rPr>
                          <m:t>Crave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C00000"/>
                            </a:solidFill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C00000"/>
                            </a:solidFill>
                          </a:rPr>
                          <m:t>ungry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(1/2) x (Hungry)</a:t>
                </a:r>
                <a:r>
                  <a:rPr lang="en-US" sz="1800" b="1" baseline="30000" dirty="0">
                    <a:solidFill>
                      <a:schemeClr val="tx1"/>
                    </a:solidFill>
                  </a:rPr>
                  <a:t>-1/2 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	(9)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Eq (6) </a:t>
                </a:r>
                <a:r>
                  <a:rPr lang="en-US" sz="18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C00000"/>
                            </a:solidFill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C00000"/>
                            </a:solidFill>
                          </a:rPr>
                          <m:t>ungy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0070C0"/>
                            </a:solidFill>
                          </a:rPr>
                          <m:t>Time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2 x Time		(10)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Substitute (9) and (10) into (8), we have: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accent6"/>
                            </a:solidFill>
                          </a:rPr>
                          <m:t>Crave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0070C0"/>
                            </a:solidFill>
                          </a:rPr>
                          <m:t>Time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(1/2) x (Hungry)</a:t>
                </a:r>
                <a:r>
                  <a:rPr lang="en-US" sz="1800" b="1" baseline="30000" dirty="0">
                    <a:solidFill>
                      <a:schemeClr val="tx1"/>
                    </a:solidFill>
                  </a:rPr>
                  <a:t>-1/2 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x (2 x Time)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accent6"/>
                            </a:solidFill>
                          </a:rPr>
                          <m:t>Crave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0070C0"/>
                            </a:solidFill>
                          </a:rPr>
                          <m:t>Time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Time x (Time</a:t>
                </a:r>
                <a:r>
                  <a:rPr lang="en-US" sz="1800" b="1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 + 1/2)</a:t>
                </a:r>
                <a:r>
                  <a:rPr lang="en-US" sz="1800" b="1" baseline="30000" dirty="0">
                    <a:solidFill>
                      <a:schemeClr val="tx1"/>
                    </a:solidFill>
                  </a:rPr>
                  <a:t>-1/2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accent6"/>
                            </a:solidFill>
                          </a:rPr>
                          <m:t>Crave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0070C0"/>
                            </a:solidFill>
                          </a:rPr>
                          <m:t>Time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Time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nor/>
                              </m:rPr>
                              <a:rPr lang="en-US" sz="1800" b="1" dirty="0">
                                <a:solidFill>
                                  <a:schemeClr val="tx1"/>
                                </a:solidFill>
                              </a:rPr>
                              <m:t>Time</m:t>
                            </m:r>
                            <m:r>
                              <m:rPr>
                                <m:nor/>
                              </m:rPr>
                              <a:rPr lang="en-US" sz="1800" b="1" baseline="30000" dirty="0">
                                <a:solidFill>
                                  <a:schemeClr val="tx1"/>
                                </a:solidFill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sz="1800" b="1" dirty="0">
                                <a:solidFill>
                                  <a:schemeClr val="tx1"/>
                                </a:solidFill>
                              </a:rPr>
                              <m:t> + 1/2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		(11)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3871" y="1231213"/>
                <a:ext cx="8352917" cy="5125137"/>
              </a:xfrm>
              <a:blipFill>
                <a:blip r:embed="rId2"/>
                <a:stretch>
                  <a:fillRect l="-73" t="-593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7948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46.3 Complicate Chain Rule Relation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3871" y="1231215"/>
                <a:ext cx="8352917" cy="1635964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We use “Hungry” as a link between the “Time Since Last Snack” and “Crave for Ice Cream”,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Apply the Chain Rule for equation (5), (6), and (7):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accent6"/>
                            </a:solidFill>
                          </a:rPr>
                          <m:t>Crave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0070C0"/>
                            </a:solidFill>
                          </a:rPr>
                          <m:t>Time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accent6"/>
                            </a:solidFill>
                          </a:rPr>
                          <m:t>Crave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C00000"/>
                            </a:solidFill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C00000"/>
                            </a:solidFill>
                          </a:rPr>
                          <m:t>ungry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C00000"/>
                            </a:solidFill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C00000"/>
                            </a:solidFill>
                          </a:rPr>
                          <m:t>ungy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m:rPr>
                            <m:nor/>
                          </m:rPr>
                          <a:rPr lang="en-US" sz="18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rgbClr val="0070C0"/>
                            </a:solidFill>
                          </a:rPr>
                          <m:t>Time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			(8)</a:t>
                </a: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3871" y="1231215"/>
                <a:ext cx="8352917" cy="1635964"/>
              </a:xfrm>
              <a:blipFill>
                <a:blip r:embed="rId2"/>
                <a:stretch>
                  <a:fillRect l="-73" t="-1852" r="-219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16</a:t>
            </a:fld>
            <a:endParaRPr lang="zh-TW" alt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1149CD8-1E82-400E-9B1E-E54578B00259}"/>
              </a:ext>
            </a:extLst>
          </p:cNvPr>
          <p:cNvCxnSpPr>
            <a:cxnSpLocks/>
          </p:cNvCxnSpPr>
          <p:nvPr/>
        </p:nvCxnSpPr>
        <p:spPr>
          <a:xfrm>
            <a:off x="1734580" y="6093296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4D3B86-05A1-41FC-8588-75F072DDC231}"/>
              </a:ext>
            </a:extLst>
          </p:cNvPr>
          <p:cNvCxnSpPr>
            <a:cxnSpLocks/>
          </p:cNvCxnSpPr>
          <p:nvPr/>
        </p:nvCxnSpPr>
        <p:spPr>
          <a:xfrm flipV="1">
            <a:off x="1734580" y="4061703"/>
            <a:ext cx="0" cy="20315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D4816F6-7BC4-4600-8A5F-C364DEA0D235}"/>
              </a:ext>
            </a:extLst>
          </p:cNvPr>
          <p:cNvCxnSpPr/>
          <p:nvPr/>
        </p:nvCxnSpPr>
        <p:spPr>
          <a:xfrm>
            <a:off x="2670684" y="594928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10C398E-2C95-47B5-830C-E92639F4D1F7}"/>
              </a:ext>
            </a:extLst>
          </p:cNvPr>
          <p:cNvCxnSpPr/>
          <p:nvPr/>
        </p:nvCxnSpPr>
        <p:spPr>
          <a:xfrm>
            <a:off x="3606788" y="596525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E1EA880-A656-4D37-B766-FF38617241B9}"/>
              </a:ext>
            </a:extLst>
          </p:cNvPr>
          <p:cNvCxnSpPr>
            <a:cxnSpLocks/>
          </p:cNvCxnSpPr>
          <p:nvPr/>
        </p:nvCxnSpPr>
        <p:spPr>
          <a:xfrm>
            <a:off x="1603884" y="5164315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47EEB4D-4C4F-44EC-94DC-E00B6451A00A}"/>
              </a:ext>
            </a:extLst>
          </p:cNvPr>
          <p:cNvCxnSpPr>
            <a:cxnSpLocks/>
          </p:cNvCxnSpPr>
          <p:nvPr/>
        </p:nvCxnSpPr>
        <p:spPr>
          <a:xfrm>
            <a:off x="1603884" y="4227552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A9AC4F96-F25A-4055-89A9-C627E74B6CCA}"/>
              </a:ext>
            </a:extLst>
          </p:cNvPr>
          <p:cNvSpPr/>
          <p:nvPr/>
        </p:nvSpPr>
        <p:spPr>
          <a:xfrm>
            <a:off x="2710644" y="5343294"/>
            <a:ext cx="288633" cy="25822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CB30660-D224-43F8-8A0D-12A8CD2EC6C6}"/>
              </a:ext>
            </a:extLst>
          </p:cNvPr>
          <p:cNvSpPr/>
          <p:nvPr/>
        </p:nvSpPr>
        <p:spPr>
          <a:xfrm>
            <a:off x="2300756" y="5472408"/>
            <a:ext cx="261380" cy="26935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3CD8EDE-165D-4032-AAB0-5818A7DF60B5}"/>
              </a:ext>
            </a:extLst>
          </p:cNvPr>
          <p:cNvSpPr/>
          <p:nvPr/>
        </p:nvSpPr>
        <p:spPr>
          <a:xfrm>
            <a:off x="1886981" y="5655837"/>
            <a:ext cx="261375" cy="25790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6446F7-73F7-47FC-BAF2-DD0127ED7ECB}"/>
              </a:ext>
            </a:extLst>
          </p:cNvPr>
          <p:cNvSpPr txBox="1"/>
          <p:nvPr/>
        </p:nvSpPr>
        <p:spPr>
          <a:xfrm>
            <a:off x="2067827" y="6240166"/>
            <a:ext cx="2394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Since Last Snack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EC3C24-D56B-477D-9E99-B1F32AC9CB58}"/>
              </a:ext>
            </a:extLst>
          </p:cNvPr>
          <p:cNvSpPr txBox="1"/>
          <p:nvPr/>
        </p:nvSpPr>
        <p:spPr>
          <a:xfrm>
            <a:off x="611831" y="4190179"/>
            <a:ext cx="100810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Hungry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5721101-69CA-4993-AA3B-53663CBBF52B}"/>
              </a:ext>
            </a:extLst>
          </p:cNvPr>
          <p:cNvSpPr/>
          <p:nvPr/>
        </p:nvSpPr>
        <p:spPr>
          <a:xfrm>
            <a:off x="2864415" y="4773085"/>
            <a:ext cx="274320" cy="25822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2FE1EEC-7E54-41F3-A6A3-6141C17FF59D}"/>
              </a:ext>
            </a:extLst>
          </p:cNvPr>
          <p:cNvSpPr/>
          <p:nvPr/>
        </p:nvSpPr>
        <p:spPr>
          <a:xfrm>
            <a:off x="3023609" y="4381279"/>
            <a:ext cx="288633" cy="25822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78F5936-4351-42C7-85EE-1795FF0F8046}"/>
              </a:ext>
            </a:extLst>
          </p:cNvPr>
          <p:cNvSpPr/>
          <p:nvPr/>
        </p:nvSpPr>
        <p:spPr>
          <a:xfrm>
            <a:off x="3312242" y="4078354"/>
            <a:ext cx="247382" cy="27250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EFF6AEE-7DFD-456E-A832-58812B00F95B}"/>
              </a:ext>
            </a:extLst>
          </p:cNvPr>
          <p:cNvSpPr/>
          <p:nvPr/>
        </p:nvSpPr>
        <p:spPr>
          <a:xfrm>
            <a:off x="1756504" y="4075499"/>
            <a:ext cx="1647725" cy="1903147"/>
          </a:xfrm>
          <a:custGeom>
            <a:avLst/>
            <a:gdLst>
              <a:gd name="connsiteX0" fmla="*/ 0 w 1621536"/>
              <a:gd name="connsiteY0" fmla="*/ 2194560 h 2194560"/>
              <a:gd name="connsiteX1" fmla="*/ 829056 w 1621536"/>
              <a:gd name="connsiteY1" fmla="*/ 1767840 h 2194560"/>
              <a:gd name="connsiteX2" fmla="*/ 1353312 w 1621536"/>
              <a:gd name="connsiteY2" fmla="*/ 1011936 h 2194560"/>
              <a:gd name="connsiteX3" fmla="*/ 1621536 w 1621536"/>
              <a:gd name="connsiteY3" fmla="*/ 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1536" h="2194560">
                <a:moveTo>
                  <a:pt x="0" y="2194560"/>
                </a:moveTo>
                <a:cubicBezTo>
                  <a:pt x="301752" y="2079752"/>
                  <a:pt x="603504" y="1964944"/>
                  <a:pt x="829056" y="1767840"/>
                </a:cubicBezTo>
                <a:cubicBezTo>
                  <a:pt x="1054608" y="1570736"/>
                  <a:pt x="1221232" y="1306576"/>
                  <a:pt x="1353312" y="1011936"/>
                </a:cubicBezTo>
                <a:cubicBezTo>
                  <a:pt x="1485392" y="717296"/>
                  <a:pt x="1553464" y="358648"/>
                  <a:pt x="1621536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1115F92-21A6-4632-A563-24D2CB7193B8}"/>
              </a:ext>
            </a:extLst>
          </p:cNvPr>
          <p:cNvCxnSpPr>
            <a:cxnSpLocks/>
          </p:cNvCxnSpPr>
          <p:nvPr/>
        </p:nvCxnSpPr>
        <p:spPr>
          <a:xfrm>
            <a:off x="5666829" y="5642112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8AC96B8-568D-4389-8770-640528C4FF4D}"/>
              </a:ext>
            </a:extLst>
          </p:cNvPr>
          <p:cNvCxnSpPr>
            <a:cxnSpLocks/>
          </p:cNvCxnSpPr>
          <p:nvPr/>
        </p:nvCxnSpPr>
        <p:spPr>
          <a:xfrm flipV="1">
            <a:off x="5666829" y="4144645"/>
            <a:ext cx="0" cy="149746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B48B2EF-8788-4EE4-8581-567ECD103554}"/>
              </a:ext>
            </a:extLst>
          </p:cNvPr>
          <p:cNvCxnSpPr/>
          <p:nvPr/>
        </p:nvCxnSpPr>
        <p:spPr>
          <a:xfrm>
            <a:off x="6602933" y="549809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3345F79-39EE-41C7-BABF-9D202FD15358}"/>
              </a:ext>
            </a:extLst>
          </p:cNvPr>
          <p:cNvCxnSpPr/>
          <p:nvPr/>
        </p:nvCxnSpPr>
        <p:spPr>
          <a:xfrm>
            <a:off x="7539037" y="5514072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583801A-4AAB-4695-BC9A-5BA6911930FB}"/>
              </a:ext>
            </a:extLst>
          </p:cNvPr>
          <p:cNvCxnSpPr>
            <a:cxnSpLocks/>
          </p:cNvCxnSpPr>
          <p:nvPr/>
        </p:nvCxnSpPr>
        <p:spPr>
          <a:xfrm>
            <a:off x="5536133" y="4713131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D86FE4FC-E237-496F-A37E-CCE5512E3026}"/>
              </a:ext>
            </a:extLst>
          </p:cNvPr>
          <p:cNvSpPr/>
          <p:nvPr/>
        </p:nvSpPr>
        <p:spPr>
          <a:xfrm>
            <a:off x="6508031" y="4571225"/>
            <a:ext cx="288633" cy="25822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50E329A-5FEB-44E0-8108-DAB62AD6CE24}"/>
              </a:ext>
            </a:extLst>
          </p:cNvPr>
          <p:cNvSpPr/>
          <p:nvPr/>
        </p:nvSpPr>
        <p:spPr>
          <a:xfrm>
            <a:off x="6098435" y="4633499"/>
            <a:ext cx="261380" cy="26935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83F4679-CFBD-4DA5-AFCC-20883DFCC9E5}"/>
              </a:ext>
            </a:extLst>
          </p:cNvPr>
          <p:cNvSpPr/>
          <p:nvPr/>
        </p:nvSpPr>
        <p:spPr>
          <a:xfrm>
            <a:off x="5819230" y="5204653"/>
            <a:ext cx="261375" cy="25790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8B9466B-0E42-4F07-BC2A-D5B55FC94962}"/>
              </a:ext>
            </a:extLst>
          </p:cNvPr>
          <p:cNvSpPr txBox="1"/>
          <p:nvPr/>
        </p:nvSpPr>
        <p:spPr>
          <a:xfrm>
            <a:off x="4584160" y="4171834"/>
            <a:ext cx="10081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Crave for Ice Cream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F659D0B-2F66-4383-8091-24176B6D0803}"/>
              </a:ext>
            </a:extLst>
          </p:cNvPr>
          <p:cNvSpPr/>
          <p:nvPr/>
        </p:nvSpPr>
        <p:spPr>
          <a:xfrm>
            <a:off x="6796664" y="4321901"/>
            <a:ext cx="274320" cy="25822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695A721-26F9-4FAF-9EEE-F28DE1BF1CB4}"/>
              </a:ext>
            </a:extLst>
          </p:cNvPr>
          <p:cNvSpPr/>
          <p:nvPr/>
        </p:nvSpPr>
        <p:spPr>
          <a:xfrm>
            <a:off x="7137409" y="4442111"/>
            <a:ext cx="288633" cy="25822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B19FDBF-EEDC-44AD-90A6-CCE7C484C3BD}"/>
              </a:ext>
            </a:extLst>
          </p:cNvPr>
          <p:cNvSpPr/>
          <p:nvPr/>
        </p:nvSpPr>
        <p:spPr>
          <a:xfrm>
            <a:off x="7606693" y="4479201"/>
            <a:ext cx="247382" cy="27250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0F04708-8614-4E78-9823-C142B4D888C0}"/>
              </a:ext>
            </a:extLst>
          </p:cNvPr>
          <p:cNvSpPr/>
          <p:nvPr/>
        </p:nvSpPr>
        <p:spPr>
          <a:xfrm>
            <a:off x="5672431" y="4349468"/>
            <a:ext cx="2243328" cy="1219200"/>
          </a:xfrm>
          <a:custGeom>
            <a:avLst/>
            <a:gdLst>
              <a:gd name="connsiteX0" fmla="*/ 0 w 2243328"/>
              <a:gd name="connsiteY0" fmla="*/ 1219200 h 1219200"/>
              <a:gd name="connsiteX1" fmla="*/ 268224 w 2243328"/>
              <a:gd name="connsiteY1" fmla="*/ 694944 h 1219200"/>
              <a:gd name="connsiteX2" fmla="*/ 950976 w 2243328"/>
              <a:gd name="connsiteY2" fmla="*/ 182880 h 1219200"/>
              <a:gd name="connsiteX3" fmla="*/ 2243328 w 2243328"/>
              <a:gd name="connsiteY3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3328" h="1219200">
                <a:moveTo>
                  <a:pt x="0" y="1219200"/>
                </a:moveTo>
                <a:cubicBezTo>
                  <a:pt x="54864" y="1043432"/>
                  <a:pt x="109728" y="867664"/>
                  <a:pt x="268224" y="694944"/>
                </a:cubicBezTo>
                <a:cubicBezTo>
                  <a:pt x="426720" y="522224"/>
                  <a:pt x="621792" y="298704"/>
                  <a:pt x="950976" y="182880"/>
                </a:cubicBezTo>
                <a:cubicBezTo>
                  <a:pt x="1280160" y="67056"/>
                  <a:pt x="1761744" y="33528"/>
                  <a:pt x="2243328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05AA8A-A0ED-46FD-908D-80BE13B2D2FD}"/>
              </a:ext>
            </a:extLst>
          </p:cNvPr>
          <p:cNvSpPr txBox="1"/>
          <p:nvPr/>
        </p:nvSpPr>
        <p:spPr>
          <a:xfrm>
            <a:off x="6488647" y="5908630"/>
            <a:ext cx="1008101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Hungry</a:t>
            </a:r>
          </a:p>
        </p:txBody>
      </p:sp>
    </p:spTree>
    <p:extLst>
      <p:ext uri="{BB962C8B-B14F-4D97-AF65-F5344CB8AC3E}">
        <p14:creationId xmlns:p14="http://schemas.microsoft.com/office/powerpoint/2010/main" val="2058687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46.4 Chain Rule to Sum of Squared 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17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41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46.4 Chain Rule to Sum of Squared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5875" y="1230523"/>
            <a:ext cx="8352917" cy="163596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Now, we apply the </a:t>
            </a:r>
            <a:r>
              <a:rPr lang="en-US" sz="1800" b="1" dirty="0">
                <a:solidFill>
                  <a:srgbClr val="C00000"/>
                </a:solidFill>
              </a:rPr>
              <a:t>Chain Rule </a:t>
            </a:r>
            <a:r>
              <a:rPr lang="en-US" sz="1800" dirty="0">
                <a:solidFill>
                  <a:schemeClr val="tx1"/>
                </a:solidFill>
              </a:rPr>
              <a:t>to </a:t>
            </a:r>
            <a:r>
              <a:rPr lang="en-US" sz="1800" b="1" dirty="0">
                <a:solidFill>
                  <a:srgbClr val="C00000"/>
                </a:solidFill>
              </a:rPr>
              <a:t>SSR (Sum of Squared Residuals)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dirty="0">
                <a:solidFill>
                  <a:schemeClr val="tx1"/>
                </a:solidFill>
              </a:rPr>
              <a:t>this is very commonly used in </a:t>
            </a:r>
            <a:r>
              <a:rPr lang="en-US" sz="1800" b="1" dirty="0">
                <a:solidFill>
                  <a:srgbClr val="C00000"/>
                </a:solidFill>
              </a:rPr>
              <a:t>Loss Function in Machine Learning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Assume we have Weight vs. Height with measure data </a:t>
            </a:r>
            <a:r>
              <a:rPr lang="en-US" sz="1800" dirty="0">
                <a:solidFill>
                  <a:srgbClr val="C00000"/>
                </a:solidFill>
              </a:rPr>
              <a:t>red dot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We want to find the  </a:t>
            </a:r>
            <a:r>
              <a:rPr lang="en-US" sz="1800" dirty="0">
                <a:solidFill>
                  <a:srgbClr val="C00000"/>
                </a:solidFill>
              </a:rPr>
              <a:t>intercept </a:t>
            </a:r>
            <a:r>
              <a:rPr lang="en-US" sz="1800" dirty="0">
                <a:solidFill>
                  <a:schemeClr val="tx1"/>
                </a:solidFill>
              </a:rPr>
              <a:t>of line with Slope = 1 and with the minimum SSR.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How to do that?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18</a:t>
            </a:fld>
            <a:endParaRPr lang="zh-TW" alt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FB68EAA-2393-49B0-8EA2-FB94CF20D814}"/>
              </a:ext>
            </a:extLst>
          </p:cNvPr>
          <p:cNvCxnSpPr>
            <a:cxnSpLocks/>
          </p:cNvCxnSpPr>
          <p:nvPr/>
        </p:nvCxnSpPr>
        <p:spPr>
          <a:xfrm>
            <a:off x="2590800" y="5431525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0A2B63B-B1F5-4E4A-8F12-3D712032D19E}"/>
              </a:ext>
            </a:extLst>
          </p:cNvPr>
          <p:cNvCxnSpPr>
            <a:cxnSpLocks/>
          </p:cNvCxnSpPr>
          <p:nvPr/>
        </p:nvCxnSpPr>
        <p:spPr>
          <a:xfrm flipV="1">
            <a:off x="2590800" y="3399932"/>
            <a:ext cx="0" cy="20315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5A51FF8-811E-4695-864D-55227BAEA1A8}"/>
              </a:ext>
            </a:extLst>
          </p:cNvPr>
          <p:cNvCxnSpPr/>
          <p:nvPr/>
        </p:nvCxnSpPr>
        <p:spPr>
          <a:xfrm>
            <a:off x="3526904" y="528750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3B412DC-3C2B-4568-B963-9EB61448B0EE}"/>
              </a:ext>
            </a:extLst>
          </p:cNvPr>
          <p:cNvCxnSpPr/>
          <p:nvPr/>
        </p:nvCxnSpPr>
        <p:spPr>
          <a:xfrm>
            <a:off x="4463008" y="530348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C3A41F0-B1C4-4D4B-A2A7-68F95074DB6C}"/>
              </a:ext>
            </a:extLst>
          </p:cNvPr>
          <p:cNvCxnSpPr>
            <a:cxnSpLocks/>
          </p:cNvCxnSpPr>
          <p:nvPr/>
        </p:nvCxnSpPr>
        <p:spPr>
          <a:xfrm>
            <a:off x="2460104" y="4502544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52B94C6-76AF-43AF-94D4-7B84DE4C121B}"/>
              </a:ext>
            </a:extLst>
          </p:cNvPr>
          <p:cNvCxnSpPr>
            <a:cxnSpLocks/>
          </p:cNvCxnSpPr>
          <p:nvPr/>
        </p:nvCxnSpPr>
        <p:spPr>
          <a:xfrm>
            <a:off x="2460104" y="3565781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4BEB149-3F18-4A3B-A8C0-04660BBD592C}"/>
              </a:ext>
            </a:extLst>
          </p:cNvPr>
          <p:cNvSpPr txBox="1"/>
          <p:nvPr/>
        </p:nvSpPr>
        <p:spPr>
          <a:xfrm>
            <a:off x="3526904" y="5617113"/>
            <a:ext cx="1244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Weight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594DC44-F1EF-44A3-B262-9814D14F6039}"/>
              </a:ext>
            </a:extLst>
          </p:cNvPr>
          <p:cNvSpPr txBox="1"/>
          <p:nvPr/>
        </p:nvSpPr>
        <p:spPr>
          <a:xfrm>
            <a:off x="1468051" y="3528408"/>
            <a:ext cx="1008101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Height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05BD34D3-9B9D-4530-91D9-6E4A182B186C}"/>
              </a:ext>
            </a:extLst>
          </p:cNvPr>
          <p:cNvSpPr/>
          <p:nvPr/>
        </p:nvSpPr>
        <p:spPr>
          <a:xfrm>
            <a:off x="3747574" y="3604293"/>
            <a:ext cx="247382" cy="27250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FD617F-3AEE-4B4B-ACBB-6C804D7944E7}"/>
              </a:ext>
            </a:extLst>
          </p:cNvPr>
          <p:cNvCxnSpPr/>
          <p:nvPr/>
        </p:nvCxnSpPr>
        <p:spPr>
          <a:xfrm flipH="1">
            <a:off x="2606848" y="3429000"/>
            <a:ext cx="1558310" cy="158462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06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46.4 Chain Rule to Sum of Squared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5875" y="1230523"/>
            <a:ext cx="8352917" cy="144349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Assume we can only move the green line up and down.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 equation for the </a:t>
            </a:r>
            <a:r>
              <a:rPr lang="en-US" sz="1800" b="1" dirty="0">
                <a:solidFill>
                  <a:srgbClr val="00B050"/>
                </a:solidFill>
              </a:rPr>
              <a:t>green line </a:t>
            </a:r>
            <a:r>
              <a:rPr lang="en-US" sz="1800" b="1" dirty="0">
                <a:solidFill>
                  <a:schemeClr val="tx1"/>
                </a:solidFill>
              </a:rPr>
              <a:t>is: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Height = Intercept + (1 x Weight)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To keep simple, we keep the slope = 1.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19</a:t>
            </a:fld>
            <a:endParaRPr lang="zh-TW" alt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FB68EAA-2393-49B0-8EA2-FB94CF20D814}"/>
              </a:ext>
            </a:extLst>
          </p:cNvPr>
          <p:cNvCxnSpPr>
            <a:cxnSpLocks/>
          </p:cNvCxnSpPr>
          <p:nvPr/>
        </p:nvCxnSpPr>
        <p:spPr>
          <a:xfrm>
            <a:off x="2590800" y="5431525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0A2B63B-B1F5-4E4A-8F12-3D712032D19E}"/>
              </a:ext>
            </a:extLst>
          </p:cNvPr>
          <p:cNvCxnSpPr>
            <a:cxnSpLocks/>
          </p:cNvCxnSpPr>
          <p:nvPr/>
        </p:nvCxnSpPr>
        <p:spPr>
          <a:xfrm flipV="1">
            <a:off x="2590800" y="3399932"/>
            <a:ext cx="0" cy="20315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5A51FF8-811E-4695-864D-55227BAEA1A8}"/>
              </a:ext>
            </a:extLst>
          </p:cNvPr>
          <p:cNvCxnSpPr/>
          <p:nvPr/>
        </p:nvCxnSpPr>
        <p:spPr>
          <a:xfrm>
            <a:off x="3526904" y="5287509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3B412DC-3C2B-4568-B963-9EB61448B0EE}"/>
              </a:ext>
            </a:extLst>
          </p:cNvPr>
          <p:cNvCxnSpPr/>
          <p:nvPr/>
        </p:nvCxnSpPr>
        <p:spPr>
          <a:xfrm>
            <a:off x="4463008" y="530348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C3A41F0-B1C4-4D4B-A2A7-68F95074DB6C}"/>
              </a:ext>
            </a:extLst>
          </p:cNvPr>
          <p:cNvCxnSpPr>
            <a:cxnSpLocks/>
          </p:cNvCxnSpPr>
          <p:nvPr/>
        </p:nvCxnSpPr>
        <p:spPr>
          <a:xfrm>
            <a:off x="2460104" y="4502544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52B94C6-76AF-43AF-94D4-7B84DE4C121B}"/>
              </a:ext>
            </a:extLst>
          </p:cNvPr>
          <p:cNvCxnSpPr>
            <a:cxnSpLocks/>
          </p:cNvCxnSpPr>
          <p:nvPr/>
        </p:nvCxnSpPr>
        <p:spPr>
          <a:xfrm>
            <a:off x="2460104" y="3565781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4BEB149-3F18-4A3B-A8C0-04660BBD592C}"/>
              </a:ext>
            </a:extLst>
          </p:cNvPr>
          <p:cNvSpPr txBox="1"/>
          <p:nvPr/>
        </p:nvSpPr>
        <p:spPr>
          <a:xfrm>
            <a:off x="3526904" y="5617113"/>
            <a:ext cx="1244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Weight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594DC44-F1EF-44A3-B262-9814D14F6039}"/>
              </a:ext>
            </a:extLst>
          </p:cNvPr>
          <p:cNvSpPr txBox="1"/>
          <p:nvPr/>
        </p:nvSpPr>
        <p:spPr>
          <a:xfrm>
            <a:off x="1468051" y="3528408"/>
            <a:ext cx="1008101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Height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05BD34D3-9B9D-4530-91D9-6E4A182B186C}"/>
              </a:ext>
            </a:extLst>
          </p:cNvPr>
          <p:cNvSpPr/>
          <p:nvPr/>
        </p:nvSpPr>
        <p:spPr>
          <a:xfrm>
            <a:off x="3747574" y="3356992"/>
            <a:ext cx="247382" cy="27250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FD617F-3AEE-4B4B-ACBB-6C804D7944E7}"/>
              </a:ext>
            </a:extLst>
          </p:cNvPr>
          <p:cNvCxnSpPr/>
          <p:nvPr/>
        </p:nvCxnSpPr>
        <p:spPr>
          <a:xfrm flipH="1">
            <a:off x="2590799" y="3862872"/>
            <a:ext cx="1558310" cy="158462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427F446-0D74-4FB6-AD96-DC4A22606528}"/>
              </a:ext>
            </a:extLst>
          </p:cNvPr>
          <p:cNvCxnSpPr>
            <a:cxnSpLocks/>
          </p:cNvCxnSpPr>
          <p:nvPr/>
        </p:nvCxnSpPr>
        <p:spPr>
          <a:xfrm flipH="1">
            <a:off x="2590797" y="3474139"/>
            <a:ext cx="1558310" cy="1584629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C6A301D-C990-4565-84DF-4027B487B18D}"/>
              </a:ext>
            </a:extLst>
          </p:cNvPr>
          <p:cNvCxnSpPr>
            <a:cxnSpLocks/>
          </p:cNvCxnSpPr>
          <p:nvPr/>
        </p:nvCxnSpPr>
        <p:spPr>
          <a:xfrm flipH="1">
            <a:off x="2590798" y="3161500"/>
            <a:ext cx="1558310" cy="1584629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7DECF99-F046-4244-B93D-A6B4EA88C630}"/>
              </a:ext>
            </a:extLst>
          </p:cNvPr>
          <p:cNvCxnSpPr/>
          <p:nvPr/>
        </p:nvCxnSpPr>
        <p:spPr>
          <a:xfrm flipH="1">
            <a:off x="2702070" y="4183982"/>
            <a:ext cx="1558310" cy="1584629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6D8F7F0-A16D-4696-B435-F5E01500491D}"/>
              </a:ext>
            </a:extLst>
          </p:cNvPr>
          <p:cNvCxnSpPr/>
          <p:nvPr/>
        </p:nvCxnSpPr>
        <p:spPr>
          <a:xfrm flipH="1">
            <a:off x="2677104" y="4554731"/>
            <a:ext cx="1558310" cy="1584629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048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46.4 Chain Rule to Sum of Squared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5875" y="1230523"/>
            <a:ext cx="8352917" cy="164339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Set the intercept to 0.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Height = 0 + (1 x Weight)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have the </a:t>
            </a:r>
            <a:r>
              <a:rPr lang="en-US" sz="1800" b="1" dirty="0">
                <a:solidFill>
                  <a:srgbClr val="C00000"/>
                </a:solidFill>
              </a:rPr>
              <a:t>predicted Height </a:t>
            </a:r>
            <a:r>
              <a:rPr lang="en-US" sz="1800" b="1" dirty="0">
                <a:solidFill>
                  <a:schemeClr val="tx1"/>
                </a:solidFill>
              </a:rPr>
              <a:t>on with the weight.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And we can calculate the </a:t>
            </a:r>
            <a:r>
              <a:rPr lang="en-US" sz="1800" b="1" dirty="0">
                <a:solidFill>
                  <a:srgbClr val="C00000"/>
                </a:solidFill>
              </a:rPr>
              <a:t>Residual</a:t>
            </a:r>
            <a:r>
              <a:rPr lang="en-US" sz="1800" b="1" dirty="0">
                <a:solidFill>
                  <a:schemeClr val="tx1"/>
                </a:solidFill>
              </a:rPr>
              <a:t>, the </a:t>
            </a:r>
            <a:r>
              <a:rPr lang="en-US" sz="1800" b="1" dirty="0">
                <a:solidFill>
                  <a:srgbClr val="C00000"/>
                </a:solidFill>
              </a:rPr>
              <a:t>difference between the Observed Height and the Predict Height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67CF661-AF78-4A68-869F-C1BD08E97039}"/>
              </a:ext>
            </a:extLst>
          </p:cNvPr>
          <p:cNvSpPr/>
          <p:nvPr/>
        </p:nvSpPr>
        <p:spPr>
          <a:xfrm>
            <a:off x="3925824" y="2535935"/>
            <a:ext cx="2275416" cy="1850583"/>
          </a:xfrm>
          <a:custGeom>
            <a:avLst/>
            <a:gdLst>
              <a:gd name="connsiteX0" fmla="*/ 2133600 w 2275416"/>
              <a:gd name="connsiteY0" fmla="*/ 0 h 1231392"/>
              <a:gd name="connsiteX1" fmla="*/ 2048256 w 2275416"/>
              <a:gd name="connsiteY1" fmla="*/ 792480 h 1231392"/>
              <a:gd name="connsiteX2" fmla="*/ 0 w 2275416"/>
              <a:gd name="connsiteY2" fmla="*/ 1231392 h 1231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75416" h="1231392">
                <a:moveTo>
                  <a:pt x="2133600" y="0"/>
                </a:moveTo>
                <a:cubicBezTo>
                  <a:pt x="2268728" y="293624"/>
                  <a:pt x="2403856" y="587248"/>
                  <a:pt x="2048256" y="792480"/>
                </a:cubicBezTo>
                <a:cubicBezTo>
                  <a:pt x="1692656" y="997712"/>
                  <a:pt x="846328" y="1114552"/>
                  <a:pt x="0" y="1231392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ACB8E16-D91C-45E7-B77D-9744F8795FFF}"/>
              </a:ext>
            </a:extLst>
          </p:cNvPr>
          <p:cNvCxnSpPr>
            <a:cxnSpLocks/>
          </p:cNvCxnSpPr>
          <p:nvPr/>
        </p:nvCxnSpPr>
        <p:spPr>
          <a:xfrm flipV="1">
            <a:off x="3030945" y="5871936"/>
            <a:ext cx="1657164" cy="61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F16B18C-A80E-4799-A0B4-C8F086CE02C8}"/>
              </a:ext>
            </a:extLst>
          </p:cNvPr>
          <p:cNvCxnSpPr>
            <a:cxnSpLocks/>
          </p:cNvCxnSpPr>
          <p:nvPr/>
        </p:nvCxnSpPr>
        <p:spPr>
          <a:xfrm flipV="1">
            <a:off x="3030945" y="3846478"/>
            <a:ext cx="0" cy="20315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77D49AE-93F0-4BF6-AEF4-A109714BDB3B}"/>
              </a:ext>
            </a:extLst>
          </p:cNvPr>
          <p:cNvCxnSpPr>
            <a:cxnSpLocks/>
          </p:cNvCxnSpPr>
          <p:nvPr/>
        </p:nvCxnSpPr>
        <p:spPr>
          <a:xfrm>
            <a:off x="3967049" y="573405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3E34732-5134-4AB5-909E-4ACB24E67028}"/>
              </a:ext>
            </a:extLst>
          </p:cNvPr>
          <p:cNvCxnSpPr>
            <a:cxnSpLocks/>
          </p:cNvCxnSpPr>
          <p:nvPr/>
        </p:nvCxnSpPr>
        <p:spPr>
          <a:xfrm>
            <a:off x="2900249" y="4949090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95F2F50-027F-486E-976F-D4F7549E4F41}"/>
              </a:ext>
            </a:extLst>
          </p:cNvPr>
          <p:cNvCxnSpPr>
            <a:cxnSpLocks/>
          </p:cNvCxnSpPr>
          <p:nvPr/>
        </p:nvCxnSpPr>
        <p:spPr>
          <a:xfrm>
            <a:off x="2900249" y="4012327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D6602EC-5163-4764-B4D6-335142208AEA}"/>
              </a:ext>
            </a:extLst>
          </p:cNvPr>
          <p:cNvSpPr txBox="1"/>
          <p:nvPr/>
        </p:nvSpPr>
        <p:spPr>
          <a:xfrm>
            <a:off x="3424339" y="6092105"/>
            <a:ext cx="101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Weight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9BF256A-5B83-45A5-9FE8-F5DDB556EB93}"/>
              </a:ext>
            </a:extLst>
          </p:cNvPr>
          <p:cNvSpPr/>
          <p:nvPr/>
        </p:nvSpPr>
        <p:spPr>
          <a:xfrm>
            <a:off x="3847939" y="3803538"/>
            <a:ext cx="247382" cy="27250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6003CF6-A284-473A-86F5-6C92F5AB5300}"/>
              </a:ext>
            </a:extLst>
          </p:cNvPr>
          <p:cNvCxnSpPr>
            <a:cxnSpLocks/>
          </p:cNvCxnSpPr>
          <p:nvPr/>
        </p:nvCxnSpPr>
        <p:spPr>
          <a:xfrm flipH="1">
            <a:off x="2901618" y="3535147"/>
            <a:ext cx="1065264" cy="1019942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6EC7C41-1AAF-4A6A-90DB-6CBAE0B3CC39}"/>
              </a:ext>
            </a:extLst>
          </p:cNvPr>
          <p:cNvCxnSpPr>
            <a:cxnSpLocks/>
          </p:cNvCxnSpPr>
          <p:nvPr/>
        </p:nvCxnSpPr>
        <p:spPr>
          <a:xfrm flipH="1">
            <a:off x="3046014" y="4076045"/>
            <a:ext cx="1154748" cy="1236640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AE369ED-1CFB-43F4-B558-AB3A5326EF80}"/>
              </a:ext>
            </a:extLst>
          </p:cNvPr>
          <p:cNvCxnSpPr>
            <a:cxnSpLocks/>
          </p:cNvCxnSpPr>
          <p:nvPr/>
        </p:nvCxnSpPr>
        <p:spPr>
          <a:xfrm flipH="1">
            <a:off x="2963665" y="3751747"/>
            <a:ext cx="1173023" cy="1210741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3D79C35-6CE8-49B1-B3B4-74D6B7C0BD19}"/>
              </a:ext>
            </a:extLst>
          </p:cNvPr>
          <p:cNvCxnSpPr>
            <a:cxnSpLocks/>
          </p:cNvCxnSpPr>
          <p:nvPr/>
        </p:nvCxnSpPr>
        <p:spPr>
          <a:xfrm flipH="1">
            <a:off x="3042928" y="4517765"/>
            <a:ext cx="1169820" cy="133581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ultiplication Sign 41">
            <a:extLst>
              <a:ext uri="{FF2B5EF4-FFF2-40B4-BE49-F238E27FC236}">
                <a16:creationId xmlns:a16="http://schemas.microsoft.com/office/drawing/2014/main" id="{C45846AA-29F8-4CB7-8492-D2FE06AD39ED}"/>
              </a:ext>
            </a:extLst>
          </p:cNvPr>
          <p:cNvSpPr/>
          <p:nvPr/>
        </p:nvSpPr>
        <p:spPr>
          <a:xfrm>
            <a:off x="3764997" y="4584060"/>
            <a:ext cx="448756" cy="37074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2231946-C91B-4121-81FC-FD929F150C10}"/>
              </a:ext>
            </a:extLst>
          </p:cNvPr>
          <p:cNvCxnSpPr>
            <a:cxnSpLocks/>
          </p:cNvCxnSpPr>
          <p:nvPr/>
        </p:nvCxnSpPr>
        <p:spPr>
          <a:xfrm flipH="1">
            <a:off x="3061390" y="4826297"/>
            <a:ext cx="1347728" cy="1396535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412B941-A2E9-418E-99D4-BEE715D55411}"/>
              </a:ext>
            </a:extLst>
          </p:cNvPr>
          <p:cNvCxnSpPr>
            <a:cxnSpLocks/>
          </p:cNvCxnSpPr>
          <p:nvPr/>
        </p:nvCxnSpPr>
        <p:spPr>
          <a:xfrm>
            <a:off x="3967049" y="4012327"/>
            <a:ext cx="0" cy="732113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4255FFC-DC20-4F92-B3ED-471EB39D745C}"/>
              </a:ext>
            </a:extLst>
          </p:cNvPr>
          <p:cNvSpPr txBox="1"/>
          <p:nvPr/>
        </p:nvSpPr>
        <p:spPr>
          <a:xfrm>
            <a:off x="1989215" y="4517707"/>
            <a:ext cx="1008101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165578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46.4 Chain Rule to Sum of Squared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74360" y="1217600"/>
            <a:ext cx="8352917" cy="54681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plot the intercept vs. Residual = (Observed – Predicted)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21</a:t>
            </a:fld>
            <a:endParaRPr lang="zh-TW" alt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6142A1-D8D8-448A-907F-F0400D6321E6}"/>
              </a:ext>
            </a:extLst>
          </p:cNvPr>
          <p:cNvCxnSpPr>
            <a:cxnSpLocks/>
          </p:cNvCxnSpPr>
          <p:nvPr/>
        </p:nvCxnSpPr>
        <p:spPr>
          <a:xfrm flipV="1">
            <a:off x="3744888" y="3799281"/>
            <a:ext cx="2483296" cy="2150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9CA4F2D-ECDF-45FA-B996-966688C782D1}"/>
              </a:ext>
            </a:extLst>
          </p:cNvPr>
          <p:cNvCxnSpPr>
            <a:cxnSpLocks/>
          </p:cNvCxnSpPr>
          <p:nvPr/>
        </p:nvCxnSpPr>
        <p:spPr>
          <a:xfrm flipV="1">
            <a:off x="3744888" y="3124173"/>
            <a:ext cx="0" cy="13932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77889D8-8EEC-4B84-90A0-B6E1AB9ADF31}"/>
              </a:ext>
            </a:extLst>
          </p:cNvPr>
          <p:cNvSpPr txBox="1"/>
          <p:nvPr/>
        </p:nvSpPr>
        <p:spPr>
          <a:xfrm>
            <a:off x="3837691" y="4008879"/>
            <a:ext cx="1244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intercept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3155E4-47A1-4B8E-9D4A-1C9C8EA21AEC}"/>
              </a:ext>
            </a:extLst>
          </p:cNvPr>
          <p:cNvSpPr txBox="1"/>
          <p:nvPr/>
        </p:nvSpPr>
        <p:spPr>
          <a:xfrm>
            <a:off x="3026805" y="2506155"/>
            <a:ext cx="354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Residual = (Observed – Predicted)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33D93AC-ADFF-4809-AEF9-A4E1A0002CB4}"/>
              </a:ext>
            </a:extLst>
          </p:cNvPr>
          <p:cNvSpPr/>
          <p:nvPr/>
        </p:nvSpPr>
        <p:spPr>
          <a:xfrm>
            <a:off x="3621197" y="3037885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0591481-8D63-42A7-991A-82B4845F9B83}"/>
              </a:ext>
            </a:extLst>
          </p:cNvPr>
          <p:cNvCxnSpPr>
            <a:cxnSpLocks/>
          </p:cNvCxnSpPr>
          <p:nvPr/>
        </p:nvCxnSpPr>
        <p:spPr>
          <a:xfrm flipH="1" flipV="1">
            <a:off x="3491880" y="3037740"/>
            <a:ext cx="2304256" cy="137676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789539ED-6276-4FE5-AE23-04D3CC92D873}"/>
              </a:ext>
            </a:extLst>
          </p:cNvPr>
          <p:cNvSpPr/>
          <p:nvPr/>
        </p:nvSpPr>
        <p:spPr>
          <a:xfrm>
            <a:off x="3886769" y="3255946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21384A-A65A-4F8B-B137-8CC04AB5D281}"/>
              </a:ext>
            </a:extLst>
          </p:cNvPr>
          <p:cNvSpPr/>
          <p:nvPr/>
        </p:nvSpPr>
        <p:spPr>
          <a:xfrm>
            <a:off x="4288169" y="3456252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1CD887F-334F-4E23-9604-C0E52752D6C9}"/>
              </a:ext>
            </a:extLst>
          </p:cNvPr>
          <p:cNvSpPr/>
          <p:nvPr/>
        </p:nvSpPr>
        <p:spPr>
          <a:xfrm>
            <a:off x="5399113" y="4161745"/>
            <a:ext cx="247382" cy="27250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3F057AB-AE1B-4838-AE98-D240F939DF87}"/>
              </a:ext>
            </a:extLst>
          </p:cNvPr>
          <p:cNvSpPr/>
          <p:nvPr/>
        </p:nvSpPr>
        <p:spPr>
          <a:xfrm>
            <a:off x="4701761" y="3681700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F106550-6239-455D-BEC7-F8616056FD0A}"/>
              </a:ext>
            </a:extLst>
          </p:cNvPr>
          <p:cNvSpPr/>
          <p:nvPr/>
        </p:nvSpPr>
        <p:spPr>
          <a:xfrm>
            <a:off x="5082103" y="3895309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CF38E86-CD68-4A69-8D8D-B19086A8A202}"/>
              </a:ext>
            </a:extLst>
          </p:cNvPr>
          <p:cNvCxnSpPr>
            <a:cxnSpLocks/>
          </p:cNvCxnSpPr>
          <p:nvPr/>
        </p:nvCxnSpPr>
        <p:spPr>
          <a:xfrm flipV="1">
            <a:off x="1226014" y="4963868"/>
            <a:ext cx="1657164" cy="61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C147663-6156-418B-88ED-5B7DFAE10C8D}"/>
              </a:ext>
            </a:extLst>
          </p:cNvPr>
          <p:cNvCxnSpPr>
            <a:cxnSpLocks/>
          </p:cNvCxnSpPr>
          <p:nvPr/>
        </p:nvCxnSpPr>
        <p:spPr>
          <a:xfrm flipV="1">
            <a:off x="1226014" y="2938410"/>
            <a:ext cx="0" cy="20315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8F76597-A475-4F3F-9CFF-797ACC9002E3}"/>
              </a:ext>
            </a:extLst>
          </p:cNvPr>
          <p:cNvCxnSpPr>
            <a:cxnSpLocks/>
          </p:cNvCxnSpPr>
          <p:nvPr/>
        </p:nvCxnSpPr>
        <p:spPr>
          <a:xfrm>
            <a:off x="2162118" y="4825987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480EA88-FBF4-4F92-829C-D169DF96957C}"/>
              </a:ext>
            </a:extLst>
          </p:cNvPr>
          <p:cNvCxnSpPr>
            <a:cxnSpLocks/>
          </p:cNvCxnSpPr>
          <p:nvPr/>
        </p:nvCxnSpPr>
        <p:spPr>
          <a:xfrm>
            <a:off x="1095318" y="4041022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D092FEC-5E3A-49D8-914B-26216F025B91}"/>
              </a:ext>
            </a:extLst>
          </p:cNvPr>
          <p:cNvCxnSpPr>
            <a:cxnSpLocks/>
          </p:cNvCxnSpPr>
          <p:nvPr/>
        </p:nvCxnSpPr>
        <p:spPr>
          <a:xfrm>
            <a:off x="1095318" y="3104259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56CD680-41AD-46CA-B134-65CE2BA5CA15}"/>
              </a:ext>
            </a:extLst>
          </p:cNvPr>
          <p:cNvSpPr txBox="1"/>
          <p:nvPr/>
        </p:nvSpPr>
        <p:spPr>
          <a:xfrm>
            <a:off x="1619408" y="5184037"/>
            <a:ext cx="101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Weight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B2252FF-8E4D-4297-92C8-53580B18377E}"/>
              </a:ext>
            </a:extLst>
          </p:cNvPr>
          <p:cNvSpPr/>
          <p:nvPr/>
        </p:nvSpPr>
        <p:spPr>
          <a:xfrm>
            <a:off x="2043008" y="2895470"/>
            <a:ext cx="247382" cy="27250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038FB7B-11D0-403B-A175-D38CD7B28B74}"/>
              </a:ext>
            </a:extLst>
          </p:cNvPr>
          <p:cNvCxnSpPr>
            <a:cxnSpLocks/>
          </p:cNvCxnSpPr>
          <p:nvPr/>
        </p:nvCxnSpPr>
        <p:spPr>
          <a:xfrm flipH="1">
            <a:off x="1238704" y="3549747"/>
            <a:ext cx="1326656" cy="1414121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73169E2-EBE7-48B2-B0D4-A278DFBBBD49}"/>
              </a:ext>
            </a:extLst>
          </p:cNvPr>
          <p:cNvCxnSpPr>
            <a:cxnSpLocks/>
          </p:cNvCxnSpPr>
          <p:nvPr/>
        </p:nvCxnSpPr>
        <p:spPr>
          <a:xfrm flipH="1">
            <a:off x="1241083" y="3167977"/>
            <a:ext cx="1154748" cy="1236640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B423651-10CA-433B-93E1-B97EC5C8DFDA}"/>
              </a:ext>
            </a:extLst>
          </p:cNvPr>
          <p:cNvCxnSpPr>
            <a:cxnSpLocks/>
          </p:cNvCxnSpPr>
          <p:nvPr/>
        </p:nvCxnSpPr>
        <p:spPr>
          <a:xfrm flipH="1">
            <a:off x="1158734" y="2843679"/>
            <a:ext cx="1173023" cy="1210741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98F7C11-525A-4039-A2DC-DCE29FA7DED3}"/>
              </a:ext>
            </a:extLst>
          </p:cNvPr>
          <p:cNvCxnSpPr>
            <a:cxnSpLocks/>
          </p:cNvCxnSpPr>
          <p:nvPr/>
        </p:nvCxnSpPr>
        <p:spPr>
          <a:xfrm flipH="1">
            <a:off x="1164172" y="2361597"/>
            <a:ext cx="1169820" cy="133581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Multiplication Sign 73">
            <a:extLst>
              <a:ext uri="{FF2B5EF4-FFF2-40B4-BE49-F238E27FC236}">
                <a16:creationId xmlns:a16="http://schemas.microsoft.com/office/drawing/2014/main" id="{28CD263A-E14B-4AB7-9E72-B486080FBD7C}"/>
              </a:ext>
            </a:extLst>
          </p:cNvPr>
          <p:cNvSpPr/>
          <p:nvPr/>
        </p:nvSpPr>
        <p:spPr>
          <a:xfrm>
            <a:off x="1900410" y="2443954"/>
            <a:ext cx="448756" cy="37074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817750D-9B0A-4246-9199-B93B1C29EF2E}"/>
              </a:ext>
            </a:extLst>
          </p:cNvPr>
          <p:cNvCxnSpPr>
            <a:cxnSpLocks/>
          </p:cNvCxnSpPr>
          <p:nvPr/>
        </p:nvCxnSpPr>
        <p:spPr>
          <a:xfrm flipH="1">
            <a:off x="1256459" y="3918229"/>
            <a:ext cx="1347728" cy="1396535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A29D360-A8B2-484A-99C4-B907D9ECCEAA}"/>
              </a:ext>
            </a:extLst>
          </p:cNvPr>
          <p:cNvCxnSpPr>
            <a:cxnSpLocks/>
          </p:cNvCxnSpPr>
          <p:nvPr/>
        </p:nvCxnSpPr>
        <p:spPr>
          <a:xfrm>
            <a:off x="2162118" y="2622115"/>
            <a:ext cx="0" cy="443127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6347335-DBF5-45BF-943C-95C159B06A1C}"/>
              </a:ext>
            </a:extLst>
          </p:cNvPr>
          <p:cNvSpPr txBox="1"/>
          <p:nvPr/>
        </p:nvSpPr>
        <p:spPr>
          <a:xfrm>
            <a:off x="63895" y="3491080"/>
            <a:ext cx="1008101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123391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46.4 Chain Rule to Sum of Squared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11562" y="1380212"/>
            <a:ext cx="7804388" cy="41849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plot the intercept vs. Squared Residual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22</a:t>
            </a:fld>
            <a:endParaRPr lang="zh-TW" alt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FB68EAA-2393-49B0-8EA2-FB94CF20D814}"/>
              </a:ext>
            </a:extLst>
          </p:cNvPr>
          <p:cNvCxnSpPr>
            <a:cxnSpLocks/>
          </p:cNvCxnSpPr>
          <p:nvPr/>
        </p:nvCxnSpPr>
        <p:spPr>
          <a:xfrm>
            <a:off x="1186644" y="5394197"/>
            <a:ext cx="2808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0A2B63B-B1F5-4E4A-8F12-3D712032D19E}"/>
              </a:ext>
            </a:extLst>
          </p:cNvPr>
          <p:cNvCxnSpPr>
            <a:cxnSpLocks/>
          </p:cNvCxnSpPr>
          <p:nvPr/>
        </p:nvCxnSpPr>
        <p:spPr>
          <a:xfrm flipV="1">
            <a:off x="1186644" y="3362604"/>
            <a:ext cx="0" cy="20315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5A51FF8-811E-4695-864D-55227BAEA1A8}"/>
              </a:ext>
            </a:extLst>
          </p:cNvPr>
          <p:cNvCxnSpPr/>
          <p:nvPr/>
        </p:nvCxnSpPr>
        <p:spPr>
          <a:xfrm>
            <a:off x="2122748" y="525018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3B412DC-3C2B-4568-B963-9EB61448B0EE}"/>
              </a:ext>
            </a:extLst>
          </p:cNvPr>
          <p:cNvCxnSpPr/>
          <p:nvPr/>
        </p:nvCxnSpPr>
        <p:spPr>
          <a:xfrm>
            <a:off x="3058852" y="5266157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C3A41F0-B1C4-4D4B-A2A7-68F95074DB6C}"/>
              </a:ext>
            </a:extLst>
          </p:cNvPr>
          <p:cNvCxnSpPr>
            <a:cxnSpLocks/>
          </p:cNvCxnSpPr>
          <p:nvPr/>
        </p:nvCxnSpPr>
        <p:spPr>
          <a:xfrm>
            <a:off x="1055948" y="4465216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52B94C6-76AF-43AF-94D4-7B84DE4C121B}"/>
              </a:ext>
            </a:extLst>
          </p:cNvPr>
          <p:cNvCxnSpPr>
            <a:cxnSpLocks/>
          </p:cNvCxnSpPr>
          <p:nvPr/>
        </p:nvCxnSpPr>
        <p:spPr>
          <a:xfrm>
            <a:off x="1055948" y="3528453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4BEB149-3F18-4A3B-A8C0-04660BBD592C}"/>
              </a:ext>
            </a:extLst>
          </p:cNvPr>
          <p:cNvSpPr txBox="1"/>
          <p:nvPr/>
        </p:nvSpPr>
        <p:spPr>
          <a:xfrm>
            <a:off x="2122748" y="5579785"/>
            <a:ext cx="1244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Weight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594DC44-F1EF-44A3-B262-9814D14F6039}"/>
              </a:ext>
            </a:extLst>
          </p:cNvPr>
          <p:cNvSpPr txBox="1"/>
          <p:nvPr/>
        </p:nvSpPr>
        <p:spPr>
          <a:xfrm>
            <a:off x="63895" y="3491080"/>
            <a:ext cx="1008101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Height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05BD34D3-9B9D-4530-91D9-6E4A182B186C}"/>
              </a:ext>
            </a:extLst>
          </p:cNvPr>
          <p:cNvSpPr/>
          <p:nvPr/>
        </p:nvSpPr>
        <p:spPr>
          <a:xfrm>
            <a:off x="2343418" y="3319664"/>
            <a:ext cx="247382" cy="27250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FD617F-3AEE-4B4B-ACBB-6C804D7944E7}"/>
              </a:ext>
            </a:extLst>
          </p:cNvPr>
          <p:cNvCxnSpPr/>
          <p:nvPr/>
        </p:nvCxnSpPr>
        <p:spPr>
          <a:xfrm flipH="1">
            <a:off x="1186643" y="3825544"/>
            <a:ext cx="1558310" cy="1584629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427F446-0D74-4FB6-AD96-DC4A22606528}"/>
              </a:ext>
            </a:extLst>
          </p:cNvPr>
          <p:cNvCxnSpPr>
            <a:cxnSpLocks/>
          </p:cNvCxnSpPr>
          <p:nvPr/>
        </p:nvCxnSpPr>
        <p:spPr>
          <a:xfrm flipH="1">
            <a:off x="1186641" y="3436811"/>
            <a:ext cx="1558310" cy="1584629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C6A301D-C990-4565-84DF-4027B487B18D}"/>
              </a:ext>
            </a:extLst>
          </p:cNvPr>
          <p:cNvCxnSpPr>
            <a:cxnSpLocks/>
          </p:cNvCxnSpPr>
          <p:nvPr/>
        </p:nvCxnSpPr>
        <p:spPr>
          <a:xfrm flipH="1">
            <a:off x="1186642" y="3124172"/>
            <a:ext cx="1558310" cy="1584629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7DECF99-F046-4244-B93D-A6B4EA88C630}"/>
              </a:ext>
            </a:extLst>
          </p:cNvPr>
          <p:cNvCxnSpPr/>
          <p:nvPr/>
        </p:nvCxnSpPr>
        <p:spPr>
          <a:xfrm flipH="1">
            <a:off x="1042572" y="2854494"/>
            <a:ext cx="1558310" cy="1584629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6D8F7F0-A16D-4696-B435-F5E01500491D}"/>
              </a:ext>
            </a:extLst>
          </p:cNvPr>
          <p:cNvCxnSpPr/>
          <p:nvPr/>
        </p:nvCxnSpPr>
        <p:spPr>
          <a:xfrm flipH="1">
            <a:off x="1029345" y="2518077"/>
            <a:ext cx="1558310" cy="158462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B7A805C9-99DC-4A88-9D73-15ABD3CF839B}"/>
              </a:ext>
            </a:extLst>
          </p:cNvPr>
          <p:cNvSpPr/>
          <p:nvPr/>
        </p:nvSpPr>
        <p:spPr>
          <a:xfrm>
            <a:off x="2165353" y="2515266"/>
            <a:ext cx="448756" cy="37074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1A896E-F7EC-4598-A9F8-20CEA657C180}"/>
              </a:ext>
            </a:extLst>
          </p:cNvPr>
          <p:cNvCxnSpPr>
            <a:cxnSpLocks/>
          </p:cNvCxnSpPr>
          <p:nvPr/>
        </p:nvCxnSpPr>
        <p:spPr>
          <a:xfrm>
            <a:off x="2430474" y="2763404"/>
            <a:ext cx="24966" cy="73624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6142A1-D8D8-448A-907F-F0400D6321E6}"/>
              </a:ext>
            </a:extLst>
          </p:cNvPr>
          <p:cNvCxnSpPr>
            <a:cxnSpLocks/>
          </p:cNvCxnSpPr>
          <p:nvPr/>
        </p:nvCxnSpPr>
        <p:spPr>
          <a:xfrm flipV="1">
            <a:off x="3744888" y="3820788"/>
            <a:ext cx="2051248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9CA4F2D-ECDF-45FA-B996-966688C782D1}"/>
              </a:ext>
            </a:extLst>
          </p:cNvPr>
          <p:cNvCxnSpPr>
            <a:cxnSpLocks/>
          </p:cNvCxnSpPr>
          <p:nvPr/>
        </p:nvCxnSpPr>
        <p:spPr>
          <a:xfrm flipV="1">
            <a:off x="3744888" y="3124173"/>
            <a:ext cx="0" cy="13932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77889D8-8EEC-4B84-90A0-B6E1AB9ADF31}"/>
              </a:ext>
            </a:extLst>
          </p:cNvPr>
          <p:cNvSpPr txBox="1"/>
          <p:nvPr/>
        </p:nvSpPr>
        <p:spPr>
          <a:xfrm>
            <a:off x="3868579" y="4008880"/>
            <a:ext cx="1244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intercept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3155E4-47A1-4B8E-9D4A-1C9C8EA21AEC}"/>
              </a:ext>
            </a:extLst>
          </p:cNvPr>
          <p:cNvSpPr txBox="1"/>
          <p:nvPr/>
        </p:nvSpPr>
        <p:spPr>
          <a:xfrm>
            <a:off x="3259343" y="2615881"/>
            <a:ext cx="276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Residual = (Observed – Predicted)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33D93AC-ADFF-4809-AEF9-A4E1A0002CB4}"/>
              </a:ext>
            </a:extLst>
          </p:cNvPr>
          <p:cNvSpPr/>
          <p:nvPr/>
        </p:nvSpPr>
        <p:spPr>
          <a:xfrm>
            <a:off x="3621197" y="3037885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0591481-8D63-42A7-991A-82B4845F9B83}"/>
              </a:ext>
            </a:extLst>
          </p:cNvPr>
          <p:cNvCxnSpPr>
            <a:cxnSpLocks/>
          </p:cNvCxnSpPr>
          <p:nvPr/>
        </p:nvCxnSpPr>
        <p:spPr>
          <a:xfrm flipH="1" flipV="1">
            <a:off x="3491880" y="3037740"/>
            <a:ext cx="2304256" cy="137676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789539ED-6276-4FE5-AE23-04D3CC92D873}"/>
              </a:ext>
            </a:extLst>
          </p:cNvPr>
          <p:cNvSpPr/>
          <p:nvPr/>
        </p:nvSpPr>
        <p:spPr>
          <a:xfrm>
            <a:off x="3886769" y="3255946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21384A-A65A-4F8B-B137-8CC04AB5D281}"/>
              </a:ext>
            </a:extLst>
          </p:cNvPr>
          <p:cNvSpPr/>
          <p:nvPr/>
        </p:nvSpPr>
        <p:spPr>
          <a:xfrm>
            <a:off x="4288169" y="3456252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1CD887F-334F-4E23-9604-C0E52752D6C9}"/>
              </a:ext>
            </a:extLst>
          </p:cNvPr>
          <p:cNvSpPr/>
          <p:nvPr/>
        </p:nvSpPr>
        <p:spPr>
          <a:xfrm>
            <a:off x="5399113" y="4161745"/>
            <a:ext cx="247382" cy="27250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4CD3784-6D8E-4AB2-8A1D-21B3994D735E}"/>
              </a:ext>
            </a:extLst>
          </p:cNvPr>
          <p:cNvCxnSpPr/>
          <p:nvPr/>
        </p:nvCxnSpPr>
        <p:spPr>
          <a:xfrm flipH="1">
            <a:off x="1201713" y="4160326"/>
            <a:ext cx="1558310" cy="1584629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93F057AB-AE1B-4838-AE98-D240F939DF87}"/>
              </a:ext>
            </a:extLst>
          </p:cNvPr>
          <p:cNvSpPr/>
          <p:nvPr/>
        </p:nvSpPr>
        <p:spPr>
          <a:xfrm>
            <a:off x="4701761" y="3681700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F106550-6239-455D-BEC7-F8616056FD0A}"/>
              </a:ext>
            </a:extLst>
          </p:cNvPr>
          <p:cNvSpPr/>
          <p:nvPr/>
        </p:nvSpPr>
        <p:spPr>
          <a:xfrm>
            <a:off x="5082103" y="3895309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FDFE71D-2C66-45C3-9AC6-2267FBEF85D2}"/>
              </a:ext>
            </a:extLst>
          </p:cNvPr>
          <p:cNvCxnSpPr>
            <a:cxnSpLocks/>
          </p:cNvCxnSpPr>
          <p:nvPr/>
        </p:nvCxnSpPr>
        <p:spPr>
          <a:xfrm flipV="1">
            <a:off x="6527993" y="3860413"/>
            <a:ext cx="2224703" cy="560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418C963-931B-4BE4-8402-35A46E0D919D}"/>
              </a:ext>
            </a:extLst>
          </p:cNvPr>
          <p:cNvCxnSpPr>
            <a:cxnSpLocks/>
          </p:cNvCxnSpPr>
          <p:nvPr/>
        </p:nvCxnSpPr>
        <p:spPr>
          <a:xfrm flipV="1">
            <a:off x="7365887" y="2515266"/>
            <a:ext cx="0" cy="13932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B8B979B-9F4C-44BC-B756-052CEFC26CE2}"/>
              </a:ext>
            </a:extLst>
          </p:cNvPr>
          <p:cNvSpPr/>
          <p:nvPr/>
        </p:nvSpPr>
        <p:spPr>
          <a:xfrm>
            <a:off x="6866015" y="2474164"/>
            <a:ext cx="999744" cy="1414285"/>
          </a:xfrm>
          <a:custGeom>
            <a:avLst/>
            <a:gdLst>
              <a:gd name="connsiteX0" fmla="*/ 999744 w 999744"/>
              <a:gd name="connsiteY0" fmla="*/ 0 h 1414285"/>
              <a:gd name="connsiteX1" fmla="*/ 877824 w 999744"/>
              <a:gd name="connsiteY1" fmla="*/ 950976 h 1414285"/>
              <a:gd name="connsiteX2" fmla="*/ 548640 w 999744"/>
              <a:gd name="connsiteY2" fmla="*/ 1414272 h 1414285"/>
              <a:gd name="connsiteX3" fmla="*/ 170688 w 999744"/>
              <a:gd name="connsiteY3" fmla="*/ 938784 h 1414285"/>
              <a:gd name="connsiteX4" fmla="*/ 0 w 999744"/>
              <a:gd name="connsiteY4" fmla="*/ 12192 h 141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9744" h="1414285">
                <a:moveTo>
                  <a:pt x="999744" y="0"/>
                </a:moveTo>
                <a:cubicBezTo>
                  <a:pt x="976376" y="357632"/>
                  <a:pt x="953008" y="715264"/>
                  <a:pt x="877824" y="950976"/>
                </a:cubicBezTo>
                <a:cubicBezTo>
                  <a:pt x="802640" y="1186688"/>
                  <a:pt x="666496" y="1416304"/>
                  <a:pt x="548640" y="1414272"/>
                </a:cubicBezTo>
                <a:cubicBezTo>
                  <a:pt x="430784" y="1412240"/>
                  <a:pt x="262128" y="1172464"/>
                  <a:pt x="170688" y="938784"/>
                </a:cubicBezTo>
                <a:cubicBezTo>
                  <a:pt x="79248" y="705104"/>
                  <a:pt x="39624" y="358648"/>
                  <a:pt x="0" y="12192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FC861E7-3077-4BD5-B02F-05C50C33EACA}"/>
              </a:ext>
            </a:extLst>
          </p:cNvPr>
          <p:cNvSpPr txBox="1"/>
          <p:nvPr/>
        </p:nvSpPr>
        <p:spPr>
          <a:xfrm>
            <a:off x="6682701" y="1944635"/>
            <a:ext cx="2224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y = Residual</a:t>
            </a:r>
            <a:r>
              <a:rPr lang="en-US" sz="1400" b="1" baseline="30000" dirty="0"/>
              <a:t>2</a:t>
            </a:r>
            <a:r>
              <a:rPr lang="en-US" sz="1400" b="1" dirty="0"/>
              <a:t> </a:t>
            </a:r>
          </a:p>
          <a:p>
            <a:r>
              <a:rPr lang="en-US" sz="1400" b="1" dirty="0"/>
              <a:t>= (Observed – Predicted)</a:t>
            </a:r>
            <a:r>
              <a:rPr lang="en-US" sz="1400" b="1" baseline="30000" dirty="0"/>
              <a:t>2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AA7FF22-E677-48DE-BE1D-9202CAD83154}"/>
              </a:ext>
            </a:extLst>
          </p:cNvPr>
          <p:cNvSpPr/>
          <p:nvPr/>
        </p:nvSpPr>
        <p:spPr>
          <a:xfrm>
            <a:off x="7729731" y="2474164"/>
            <a:ext cx="247382" cy="27250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45B6BB8-DE19-4A18-8803-CB2B560DF704}"/>
              </a:ext>
            </a:extLst>
          </p:cNvPr>
          <p:cNvSpPr/>
          <p:nvPr/>
        </p:nvSpPr>
        <p:spPr>
          <a:xfrm>
            <a:off x="7961376" y="2694432"/>
            <a:ext cx="454577" cy="2060448"/>
          </a:xfrm>
          <a:custGeom>
            <a:avLst/>
            <a:gdLst>
              <a:gd name="connsiteX0" fmla="*/ 377952 w 454577"/>
              <a:gd name="connsiteY0" fmla="*/ 2060448 h 2060448"/>
              <a:gd name="connsiteX1" fmla="*/ 426720 w 454577"/>
              <a:gd name="connsiteY1" fmla="*/ 548640 h 2060448"/>
              <a:gd name="connsiteX2" fmla="*/ 0 w 454577"/>
              <a:gd name="connsiteY2" fmla="*/ 0 h 206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4577" h="2060448">
                <a:moveTo>
                  <a:pt x="377952" y="2060448"/>
                </a:moveTo>
                <a:cubicBezTo>
                  <a:pt x="433832" y="1476248"/>
                  <a:pt x="489712" y="892048"/>
                  <a:pt x="426720" y="548640"/>
                </a:cubicBezTo>
                <a:cubicBezTo>
                  <a:pt x="363728" y="205232"/>
                  <a:pt x="181864" y="102616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副標題 2">
            <a:extLst>
              <a:ext uri="{FF2B5EF4-FFF2-40B4-BE49-F238E27FC236}">
                <a16:creationId xmlns:a16="http://schemas.microsoft.com/office/drawing/2014/main" id="{FAF4326F-99BF-4E7D-8209-214F3FC61FEA}"/>
              </a:ext>
            </a:extLst>
          </p:cNvPr>
          <p:cNvSpPr txBox="1">
            <a:spLocks/>
          </p:cNvSpPr>
          <p:nvPr/>
        </p:nvSpPr>
        <p:spPr>
          <a:xfrm>
            <a:off x="6063103" y="4727881"/>
            <a:ext cx="2686129" cy="68228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>
                <a:solidFill>
                  <a:schemeClr val="tx1"/>
                </a:solidFill>
              </a:rPr>
              <a:t>We plot the intercept vs. Squared Residual</a:t>
            </a:r>
            <a:endParaRPr 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715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46.4 Chain Rule to Sum of Squared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70455" y="1305602"/>
            <a:ext cx="7804388" cy="41849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can find the minimum Squared Residual = 0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23</a:t>
            </a:fld>
            <a:endParaRPr lang="zh-TW" alt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6142A1-D8D8-448A-907F-F0400D6321E6}"/>
              </a:ext>
            </a:extLst>
          </p:cNvPr>
          <p:cNvCxnSpPr>
            <a:cxnSpLocks/>
          </p:cNvCxnSpPr>
          <p:nvPr/>
        </p:nvCxnSpPr>
        <p:spPr>
          <a:xfrm flipV="1">
            <a:off x="3744888" y="3820788"/>
            <a:ext cx="2051248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9CA4F2D-ECDF-45FA-B996-966688C782D1}"/>
              </a:ext>
            </a:extLst>
          </p:cNvPr>
          <p:cNvCxnSpPr>
            <a:cxnSpLocks/>
          </p:cNvCxnSpPr>
          <p:nvPr/>
        </p:nvCxnSpPr>
        <p:spPr>
          <a:xfrm flipV="1">
            <a:off x="3744888" y="3124173"/>
            <a:ext cx="0" cy="13932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77889D8-8EEC-4B84-90A0-B6E1AB9ADF31}"/>
              </a:ext>
            </a:extLst>
          </p:cNvPr>
          <p:cNvSpPr txBox="1"/>
          <p:nvPr/>
        </p:nvSpPr>
        <p:spPr>
          <a:xfrm>
            <a:off x="3868579" y="4008880"/>
            <a:ext cx="1244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intercept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3155E4-47A1-4B8E-9D4A-1C9C8EA21AEC}"/>
              </a:ext>
            </a:extLst>
          </p:cNvPr>
          <p:cNvSpPr txBox="1"/>
          <p:nvPr/>
        </p:nvSpPr>
        <p:spPr>
          <a:xfrm>
            <a:off x="3259343" y="2615881"/>
            <a:ext cx="276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Residual = (Observed – Predicted)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33D93AC-ADFF-4809-AEF9-A4E1A0002CB4}"/>
              </a:ext>
            </a:extLst>
          </p:cNvPr>
          <p:cNvSpPr/>
          <p:nvPr/>
        </p:nvSpPr>
        <p:spPr>
          <a:xfrm>
            <a:off x="3621197" y="3037885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0591481-8D63-42A7-991A-82B4845F9B83}"/>
              </a:ext>
            </a:extLst>
          </p:cNvPr>
          <p:cNvCxnSpPr>
            <a:cxnSpLocks/>
          </p:cNvCxnSpPr>
          <p:nvPr/>
        </p:nvCxnSpPr>
        <p:spPr>
          <a:xfrm flipH="1" flipV="1">
            <a:off x="3491880" y="3037740"/>
            <a:ext cx="2304256" cy="137676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789539ED-6276-4FE5-AE23-04D3CC92D873}"/>
              </a:ext>
            </a:extLst>
          </p:cNvPr>
          <p:cNvSpPr/>
          <p:nvPr/>
        </p:nvSpPr>
        <p:spPr>
          <a:xfrm>
            <a:off x="3886769" y="3255946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21384A-A65A-4F8B-B137-8CC04AB5D281}"/>
              </a:ext>
            </a:extLst>
          </p:cNvPr>
          <p:cNvSpPr/>
          <p:nvPr/>
        </p:nvSpPr>
        <p:spPr>
          <a:xfrm>
            <a:off x="4288169" y="3456252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1CD887F-334F-4E23-9604-C0E52752D6C9}"/>
              </a:ext>
            </a:extLst>
          </p:cNvPr>
          <p:cNvSpPr/>
          <p:nvPr/>
        </p:nvSpPr>
        <p:spPr>
          <a:xfrm>
            <a:off x="4680240" y="3679192"/>
            <a:ext cx="247382" cy="27250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3F057AB-AE1B-4838-AE98-D240F939DF87}"/>
              </a:ext>
            </a:extLst>
          </p:cNvPr>
          <p:cNvSpPr/>
          <p:nvPr/>
        </p:nvSpPr>
        <p:spPr>
          <a:xfrm>
            <a:off x="5400548" y="4113124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F106550-6239-455D-BEC7-F8616056FD0A}"/>
              </a:ext>
            </a:extLst>
          </p:cNvPr>
          <p:cNvSpPr/>
          <p:nvPr/>
        </p:nvSpPr>
        <p:spPr>
          <a:xfrm>
            <a:off x="5082103" y="3895309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FDFE71D-2C66-45C3-9AC6-2267FBEF85D2}"/>
              </a:ext>
            </a:extLst>
          </p:cNvPr>
          <p:cNvCxnSpPr>
            <a:cxnSpLocks/>
          </p:cNvCxnSpPr>
          <p:nvPr/>
        </p:nvCxnSpPr>
        <p:spPr>
          <a:xfrm flipV="1">
            <a:off x="6527993" y="3860413"/>
            <a:ext cx="2224703" cy="560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418C963-931B-4BE4-8402-35A46E0D919D}"/>
              </a:ext>
            </a:extLst>
          </p:cNvPr>
          <p:cNvCxnSpPr>
            <a:cxnSpLocks/>
          </p:cNvCxnSpPr>
          <p:nvPr/>
        </p:nvCxnSpPr>
        <p:spPr>
          <a:xfrm flipV="1">
            <a:off x="7365887" y="2515266"/>
            <a:ext cx="0" cy="13932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B8B979B-9F4C-44BC-B756-052CEFC26CE2}"/>
              </a:ext>
            </a:extLst>
          </p:cNvPr>
          <p:cNvSpPr/>
          <p:nvPr/>
        </p:nvSpPr>
        <p:spPr>
          <a:xfrm>
            <a:off x="6866015" y="2474164"/>
            <a:ext cx="999744" cy="1414285"/>
          </a:xfrm>
          <a:custGeom>
            <a:avLst/>
            <a:gdLst>
              <a:gd name="connsiteX0" fmla="*/ 999744 w 999744"/>
              <a:gd name="connsiteY0" fmla="*/ 0 h 1414285"/>
              <a:gd name="connsiteX1" fmla="*/ 877824 w 999744"/>
              <a:gd name="connsiteY1" fmla="*/ 950976 h 1414285"/>
              <a:gd name="connsiteX2" fmla="*/ 548640 w 999744"/>
              <a:gd name="connsiteY2" fmla="*/ 1414272 h 1414285"/>
              <a:gd name="connsiteX3" fmla="*/ 170688 w 999744"/>
              <a:gd name="connsiteY3" fmla="*/ 938784 h 1414285"/>
              <a:gd name="connsiteX4" fmla="*/ 0 w 999744"/>
              <a:gd name="connsiteY4" fmla="*/ 12192 h 141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9744" h="1414285">
                <a:moveTo>
                  <a:pt x="999744" y="0"/>
                </a:moveTo>
                <a:cubicBezTo>
                  <a:pt x="976376" y="357632"/>
                  <a:pt x="953008" y="715264"/>
                  <a:pt x="877824" y="950976"/>
                </a:cubicBezTo>
                <a:cubicBezTo>
                  <a:pt x="802640" y="1186688"/>
                  <a:pt x="666496" y="1416304"/>
                  <a:pt x="548640" y="1414272"/>
                </a:cubicBezTo>
                <a:cubicBezTo>
                  <a:pt x="430784" y="1412240"/>
                  <a:pt x="262128" y="1172464"/>
                  <a:pt x="170688" y="938784"/>
                </a:cubicBezTo>
                <a:cubicBezTo>
                  <a:pt x="79248" y="705104"/>
                  <a:pt x="39624" y="358648"/>
                  <a:pt x="0" y="12192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FC861E7-3077-4BD5-B02F-05C50C33EACA}"/>
              </a:ext>
            </a:extLst>
          </p:cNvPr>
          <p:cNvSpPr txBox="1"/>
          <p:nvPr/>
        </p:nvSpPr>
        <p:spPr>
          <a:xfrm>
            <a:off x="6682701" y="1944635"/>
            <a:ext cx="2224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y = Residual</a:t>
            </a:r>
            <a:r>
              <a:rPr lang="en-US" sz="1400" b="1" baseline="30000" dirty="0"/>
              <a:t>2</a:t>
            </a:r>
            <a:r>
              <a:rPr lang="en-US" sz="1400" b="1" dirty="0"/>
              <a:t> </a:t>
            </a:r>
          </a:p>
          <a:p>
            <a:r>
              <a:rPr lang="en-US" sz="1400" b="1" dirty="0"/>
              <a:t>= (Observed – Predicted)</a:t>
            </a:r>
            <a:r>
              <a:rPr lang="en-US" sz="1400" b="1" baseline="30000" dirty="0"/>
              <a:t>2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AA7FF22-E677-48DE-BE1D-9202CAD83154}"/>
              </a:ext>
            </a:extLst>
          </p:cNvPr>
          <p:cNvSpPr/>
          <p:nvPr/>
        </p:nvSpPr>
        <p:spPr>
          <a:xfrm>
            <a:off x="7282476" y="3724656"/>
            <a:ext cx="247382" cy="27250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45B6BB8-DE19-4A18-8803-CB2B560DF704}"/>
              </a:ext>
            </a:extLst>
          </p:cNvPr>
          <p:cNvSpPr/>
          <p:nvPr/>
        </p:nvSpPr>
        <p:spPr>
          <a:xfrm>
            <a:off x="7529858" y="3860412"/>
            <a:ext cx="886095" cy="894468"/>
          </a:xfrm>
          <a:custGeom>
            <a:avLst/>
            <a:gdLst>
              <a:gd name="connsiteX0" fmla="*/ 377952 w 454577"/>
              <a:gd name="connsiteY0" fmla="*/ 2060448 h 2060448"/>
              <a:gd name="connsiteX1" fmla="*/ 426720 w 454577"/>
              <a:gd name="connsiteY1" fmla="*/ 548640 h 2060448"/>
              <a:gd name="connsiteX2" fmla="*/ 0 w 454577"/>
              <a:gd name="connsiteY2" fmla="*/ 0 h 206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4577" h="2060448">
                <a:moveTo>
                  <a:pt x="377952" y="2060448"/>
                </a:moveTo>
                <a:cubicBezTo>
                  <a:pt x="433832" y="1476248"/>
                  <a:pt x="489712" y="892048"/>
                  <a:pt x="426720" y="548640"/>
                </a:cubicBezTo>
                <a:cubicBezTo>
                  <a:pt x="363728" y="205232"/>
                  <a:pt x="181864" y="102616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副標題 2">
            <a:extLst>
              <a:ext uri="{FF2B5EF4-FFF2-40B4-BE49-F238E27FC236}">
                <a16:creationId xmlns:a16="http://schemas.microsoft.com/office/drawing/2014/main" id="{FAF4326F-99BF-4E7D-8209-214F3FC61FEA}"/>
              </a:ext>
            </a:extLst>
          </p:cNvPr>
          <p:cNvSpPr txBox="1">
            <a:spLocks/>
          </p:cNvSpPr>
          <p:nvPr/>
        </p:nvSpPr>
        <p:spPr>
          <a:xfrm>
            <a:off x="6063103" y="4727881"/>
            <a:ext cx="2686129" cy="66631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Minimum Squared Residual = 0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7BAAA3F-D861-4AC9-BF8B-5A7AB85F33E4}"/>
              </a:ext>
            </a:extLst>
          </p:cNvPr>
          <p:cNvCxnSpPr>
            <a:cxnSpLocks/>
          </p:cNvCxnSpPr>
          <p:nvPr/>
        </p:nvCxnSpPr>
        <p:spPr>
          <a:xfrm flipV="1">
            <a:off x="1186644" y="5388062"/>
            <a:ext cx="1657164" cy="61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B67061D-29D4-4DD4-A9C6-7908FA4150FE}"/>
              </a:ext>
            </a:extLst>
          </p:cNvPr>
          <p:cNvCxnSpPr>
            <a:cxnSpLocks/>
          </p:cNvCxnSpPr>
          <p:nvPr/>
        </p:nvCxnSpPr>
        <p:spPr>
          <a:xfrm flipV="1">
            <a:off x="1186644" y="3362604"/>
            <a:ext cx="0" cy="20315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5E8FB23-CBDD-41EF-A208-4B284A604435}"/>
              </a:ext>
            </a:extLst>
          </p:cNvPr>
          <p:cNvCxnSpPr>
            <a:cxnSpLocks/>
          </p:cNvCxnSpPr>
          <p:nvPr/>
        </p:nvCxnSpPr>
        <p:spPr>
          <a:xfrm>
            <a:off x="2122748" y="525018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02FBFC4-97F8-463C-A66B-CBFD9C4506AD}"/>
              </a:ext>
            </a:extLst>
          </p:cNvPr>
          <p:cNvCxnSpPr>
            <a:cxnSpLocks/>
          </p:cNvCxnSpPr>
          <p:nvPr/>
        </p:nvCxnSpPr>
        <p:spPr>
          <a:xfrm>
            <a:off x="1055948" y="4465216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34787EC-BF38-4E86-884A-90B4704296C6}"/>
              </a:ext>
            </a:extLst>
          </p:cNvPr>
          <p:cNvCxnSpPr>
            <a:cxnSpLocks/>
          </p:cNvCxnSpPr>
          <p:nvPr/>
        </p:nvCxnSpPr>
        <p:spPr>
          <a:xfrm>
            <a:off x="1055948" y="3528453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794123F-920B-460B-A68F-D02C56396C21}"/>
              </a:ext>
            </a:extLst>
          </p:cNvPr>
          <p:cNvSpPr txBox="1"/>
          <p:nvPr/>
        </p:nvSpPr>
        <p:spPr>
          <a:xfrm>
            <a:off x="1580038" y="5608231"/>
            <a:ext cx="101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Weight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3C8267-905B-4D6C-99D0-B1CE11E3F139}"/>
              </a:ext>
            </a:extLst>
          </p:cNvPr>
          <p:cNvSpPr txBox="1"/>
          <p:nvPr/>
        </p:nvSpPr>
        <p:spPr>
          <a:xfrm>
            <a:off x="63895" y="3491080"/>
            <a:ext cx="1008101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Height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32A7CAB-C733-4033-A833-B6DF6929D64F}"/>
              </a:ext>
            </a:extLst>
          </p:cNvPr>
          <p:cNvSpPr/>
          <p:nvPr/>
        </p:nvSpPr>
        <p:spPr>
          <a:xfrm>
            <a:off x="2003638" y="3319664"/>
            <a:ext cx="247382" cy="27250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B12510B-FBDB-48A7-958F-3CC3CBDFA36C}"/>
              </a:ext>
            </a:extLst>
          </p:cNvPr>
          <p:cNvCxnSpPr>
            <a:cxnSpLocks/>
          </p:cNvCxnSpPr>
          <p:nvPr/>
        </p:nvCxnSpPr>
        <p:spPr>
          <a:xfrm flipH="1">
            <a:off x="1199334" y="3973941"/>
            <a:ext cx="1326656" cy="1414121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C4CC16B-D3A0-4087-969A-840246E09C28}"/>
              </a:ext>
            </a:extLst>
          </p:cNvPr>
          <p:cNvCxnSpPr>
            <a:cxnSpLocks/>
          </p:cNvCxnSpPr>
          <p:nvPr/>
        </p:nvCxnSpPr>
        <p:spPr>
          <a:xfrm flipH="1">
            <a:off x="1201713" y="3592171"/>
            <a:ext cx="1154748" cy="1236640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D98500D-2156-4B96-ABE4-C56D6E814FF3}"/>
              </a:ext>
            </a:extLst>
          </p:cNvPr>
          <p:cNvCxnSpPr>
            <a:cxnSpLocks/>
          </p:cNvCxnSpPr>
          <p:nvPr/>
        </p:nvCxnSpPr>
        <p:spPr>
          <a:xfrm flipH="1">
            <a:off x="1186641" y="2996952"/>
            <a:ext cx="936107" cy="1043655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CA44F5F-15BE-4367-BDD4-4E1ABCBF65C7}"/>
              </a:ext>
            </a:extLst>
          </p:cNvPr>
          <p:cNvCxnSpPr>
            <a:cxnSpLocks/>
          </p:cNvCxnSpPr>
          <p:nvPr/>
        </p:nvCxnSpPr>
        <p:spPr>
          <a:xfrm flipH="1">
            <a:off x="1186641" y="3128035"/>
            <a:ext cx="1169820" cy="133581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Multiplication Sign 64">
            <a:extLst>
              <a:ext uri="{FF2B5EF4-FFF2-40B4-BE49-F238E27FC236}">
                <a16:creationId xmlns:a16="http://schemas.microsoft.com/office/drawing/2014/main" id="{B7A98AF5-578D-4A5E-B45E-7A6A63CC33E9}"/>
              </a:ext>
            </a:extLst>
          </p:cNvPr>
          <p:cNvSpPr/>
          <p:nvPr/>
        </p:nvSpPr>
        <p:spPr>
          <a:xfrm>
            <a:off x="1907704" y="3247410"/>
            <a:ext cx="448756" cy="37074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8879F16-60A5-4763-B423-189821F23012}"/>
              </a:ext>
            </a:extLst>
          </p:cNvPr>
          <p:cNvCxnSpPr>
            <a:cxnSpLocks/>
          </p:cNvCxnSpPr>
          <p:nvPr/>
        </p:nvCxnSpPr>
        <p:spPr>
          <a:xfrm flipH="1">
            <a:off x="1217089" y="4342423"/>
            <a:ext cx="1347728" cy="1396535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219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46.4 Chain Rule to Sum of Squared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70454" y="1305601"/>
                <a:ext cx="7945483" cy="1241912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In order to find the minimum Squared Residual = 0, we take derivative of Squared Residuals with respect to intercept  to 0. </a:t>
                </a:r>
                <a:endParaRPr lang="en-US" sz="18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Residual</m:t>
                        </m:r>
                        <m:r>
                          <m:rPr>
                            <m:nor/>
                          </m:rPr>
                          <a:rPr lang="en-US" sz="1800" b="1" baseline="30000" dirty="0">
                            <a:solidFill>
                              <a:schemeClr val="tx1"/>
                            </a:solidFill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intercept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0.</a:t>
                </a:r>
              </a:p>
            </p:txBody>
          </p:sp>
        </mc:Choice>
        <mc:Fallback xmlns=""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70454" y="1305601"/>
                <a:ext cx="7945483" cy="1241912"/>
              </a:xfrm>
              <a:blipFill>
                <a:blip r:embed="rId2"/>
                <a:stretch>
                  <a:fillRect l="-77" t="-19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24</a:t>
            </a:fld>
            <a:endParaRPr lang="zh-TW" alt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FB68EAA-2393-49B0-8EA2-FB94CF20D814}"/>
              </a:ext>
            </a:extLst>
          </p:cNvPr>
          <p:cNvCxnSpPr>
            <a:cxnSpLocks/>
          </p:cNvCxnSpPr>
          <p:nvPr/>
        </p:nvCxnSpPr>
        <p:spPr>
          <a:xfrm flipV="1">
            <a:off x="1186644" y="5388062"/>
            <a:ext cx="1657164" cy="61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0A2B63B-B1F5-4E4A-8F12-3D712032D19E}"/>
              </a:ext>
            </a:extLst>
          </p:cNvPr>
          <p:cNvCxnSpPr>
            <a:cxnSpLocks/>
          </p:cNvCxnSpPr>
          <p:nvPr/>
        </p:nvCxnSpPr>
        <p:spPr>
          <a:xfrm flipV="1">
            <a:off x="1186644" y="3362604"/>
            <a:ext cx="0" cy="20315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5A51FF8-811E-4695-864D-55227BAEA1A8}"/>
              </a:ext>
            </a:extLst>
          </p:cNvPr>
          <p:cNvCxnSpPr>
            <a:cxnSpLocks/>
          </p:cNvCxnSpPr>
          <p:nvPr/>
        </p:nvCxnSpPr>
        <p:spPr>
          <a:xfrm>
            <a:off x="2122748" y="5250181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C3A41F0-B1C4-4D4B-A2A7-68F95074DB6C}"/>
              </a:ext>
            </a:extLst>
          </p:cNvPr>
          <p:cNvCxnSpPr>
            <a:cxnSpLocks/>
          </p:cNvCxnSpPr>
          <p:nvPr/>
        </p:nvCxnSpPr>
        <p:spPr>
          <a:xfrm>
            <a:off x="1055948" y="4465216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52B94C6-76AF-43AF-94D4-7B84DE4C121B}"/>
              </a:ext>
            </a:extLst>
          </p:cNvPr>
          <p:cNvCxnSpPr>
            <a:cxnSpLocks/>
          </p:cNvCxnSpPr>
          <p:nvPr/>
        </p:nvCxnSpPr>
        <p:spPr>
          <a:xfrm>
            <a:off x="1055948" y="3528453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4BEB149-3F18-4A3B-A8C0-04660BBD592C}"/>
              </a:ext>
            </a:extLst>
          </p:cNvPr>
          <p:cNvSpPr txBox="1"/>
          <p:nvPr/>
        </p:nvSpPr>
        <p:spPr>
          <a:xfrm>
            <a:off x="1580038" y="5608231"/>
            <a:ext cx="101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Weight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594DC44-F1EF-44A3-B262-9814D14F6039}"/>
              </a:ext>
            </a:extLst>
          </p:cNvPr>
          <p:cNvSpPr txBox="1"/>
          <p:nvPr/>
        </p:nvSpPr>
        <p:spPr>
          <a:xfrm>
            <a:off x="63895" y="3491080"/>
            <a:ext cx="1008101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Height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05BD34D3-9B9D-4530-91D9-6E4A182B186C}"/>
              </a:ext>
            </a:extLst>
          </p:cNvPr>
          <p:cNvSpPr/>
          <p:nvPr/>
        </p:nvSpPr>
        <p:spPr>
          <a:xfrm>
            <a:off x="2003638" y="3319664"/>
            <a:ext cx="247382" cy="27250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FD617F-3AEE-4B4B-ACBB-6C804D7944E7}"/>
              </a:ext>
            </a:extLst>
          </p:cNvPr>
          <p:cNvCxnSpPr>
            <a:cxnSpLocks/>
          </p:cNvCxnSpPr>
          <p:nvPr/>
        </p:nvCxnSpPr>
        <p:spPr>
          <a:xfrm flipH="1">
            <a:off x="1199334" y="3973941"/>
            <a:ext cx="1326656" cy="1414121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427F446-0D74-4FB6-AD96-DC4A22606528}"/>
              </a:ext>
            </a:extLst>
          </p:cNvPr>
          <p:cNvCxnSpPr>
            <a:cxnSpLocks/>
          </p:cNvCxnSpPr>
          <p:nvPr/>
        </p:nvCxnSpPr>
        <p:spPr>
          <a:xfrm flipH="1">
            <a:off x="1201713" y="3592171"/>
            <a:ext cx="1154748" cy="1236640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C6A301D-C990-4565-84DF-4027B487B18D}"/>
              </a:ext>
            </a:extLst>
          </p:cNvPr>
          <p:cNvCxnSpPr>
            <a:cxnSpLocks/>
          </p:cNvCxnSpPr>
          <p:nvPr/>
        </p:nvCxnSpPr>
        <p:spPr>
          <a:xfrm flipH="1">
            <a:off x="1186641" y="2996952"/>
            <a:ext cx="936107" cy="1043655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6D8F7F0-A16D-4696-B435-F5E01500491D}"/>
              </a:ext>
            </a:extLst>
          </p:cNvPr>
          <p:cNvCxnSpPr>
            <a:cxnSpLocks/>
          </p:cNvCxnSpPr>
          <p:nvPr/>
        </p:nvCxnSpPr>
        <p:spPr>
          <a:xfrm flipH="1">
            <a:off x="1186641" y="3128035"/>
            <a:ext cx="1169820" cy="133581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B7A805C9-99DC-4A88-9D73-15ABD3CF839B}"/>
              </a:ext>
            </a:extLst>
          </p:cNvPr>
          <p:cNvSpPr/>
          <p:nvPr/>
        </p:nvSpPr>
        <p:spPr>
          <a:xfrm>
            <a:off x="1907704" y="3247410"/>
            <a:ext cx="448756" cy="37074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6142A1-D8D8-448A-907F-F0400D6321E6}"/>
              </a:ext>
            </a:extLst>
          </p:cNvPr>
          <p:cNvCxnSpPr>
            <a:cxnSpLocks/>
          </p:cNvCxnSpPr>
          <p:nvPr/>
        </p:nvCxnSpPr>
        <p:spPr>
          <a:xfrm flipV="1">
            <a:off x="3686817" y="4332942"/>
            <a:ext cx="2051248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9CA4F2D-ECDF-45FA-B996-966688C782D1}"/>
              </a:ext>
            </a:extLst>
          </p:cNvPr>
          <p:cNvCxnSpPr>
            <a:cxnSpLocks/>
          </p:cNvCxnSpPr>
          <p:nvPr/>
        </p:nvCxnSpPr>
        <p:spPr>
          <a:xfrm flipV="1">
            <a:off x="3686817" y="3636327"/>
            <a:ext cx="0" cy="13932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77889D8-8EEC-4B84-90A0-B6E1AB9ADF31}"/>
              </a:ext>
            </a:extLst>
          </p:cNvPr>
          <p:cNvSpPr txBox="1"/>
          <p:nvPr/>
        </p:nvSpPr>
        <p:spPr>
          <a:xfrm>
            <a:off x="3810508" y="4521034"/>
            <a:ext cx="1244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intercept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3155E4-47A1-4B8E-9D4A-1C9C8EA21AEC}"/>
              </a:ext>
            </a:extLst>
          </p:cNvPr>
          <p:cNvSpPr txBox="1"/>
          <p:nvPr/>
        </p:nvSpPr>
        <p:spPr>
          <a:xfrm>
            <a:off x="3201272" y="3128035"/>
            <a:ext cx="276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Residual = (Observed – Predicted)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33D93AC-ADFF-4809-AEF9-A4E1A0002CB4}"/>
              </a:ext>
            </a:extLst>
          </p:cNvPr>
          <p:cNvSpPr/>
          <p:nvPr/>
        </p:nvSpPr>
        <p:spPr>
          <a:xfrm>
            <a:off x="3563126" y="3550039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0591481-8D63-42A7-991A-82B4845F9B83}"/>
              </a:ext>
            </a:extLst>
          </p:cNvPr>
          <p:cNvCxnSpPr>
            <a:cxnSpLocks/>
          </p:cNvCxnSpPr>
          <p:nvPr/>
        </p:nvCxnSpPr>
        <p:spPr>
          <a:xfrm flipH="1" flipV="1">
            <a:off x="3433809" y="3549894"/>
            <a:ext cx="2304256" cy="137676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789539ED-6276-4FE5-AE23-04D3CC92D873}"/>
              </a:ext>
            </a:extLst>
          </p:cNvPr>
          <p:cNvSpPr/>
          <p:nvPr/>
        </p:nvSpPr>
        <p:spPr>
          <a:xfrm>
            <a:off x="3828698" y="3768100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21384A-A65A-4F8B-B137-8CC04AB5D281}"/>
              </a:ext>
            </a:extLst>
          </p:cNvPr>
          <p:cNvSpPr/>
          <p:nvPr/>
        </p:nvSpPr>
        <p:spPr>
          <a:xfrm>
            <a:off x="4230098" y="3968406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1CD887F-334F-4E23-9604-C0E52752D6C9}"/>
              </a:ext>
            </a:extLst>
          </p:cNvPr>
          <p:cNvSpPr/>
          <p:nvPr/>
        </p:nvSpPr>
        <p:spPr>
          <a:xfrm>
            <a:off x="4622169" y="4191346"/>
            <a:ext cx="247382" cy="27250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4CD3784-6D8E-4AB2-8A1D-21B3994D735E}"/>
              </a:ext>
            </a:extLst>
          </p:cNvPr>
          <p:cNvCxnSpPr>
            <a:cxnSpLocks/>
          </p:cNvCxnSpPr>
          <p:nvPr/>
        </p:nvCxnSpPr>
        <p:spPr>
          <a:xfrm flipH="1">
            <a:off x="1217089" y="4342423"/>
            <a:ext cx="1347728" cy="1396535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93F057AB-AE1B-4838-AE98-D240F939DF87}"/>
              </a:ext>
            </a:extLst>
          </p:cNvPr>
          <p:cNvSpPr/>
          <p:nvPr/>
        </p:nvSpPr>
        <p:spPr>
          <a:xfrm>
            <a:off x="5342477" y="4625278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F106550-6239-455D-BEC7-F8616056FD0A}"/>
              </a:ext>
            </a:extLst>
          </p:cNvPr>
          <p:cNvSpPr/>
          <p:nvPr/>
        </p:nvSpPr>
        <p:spPr>
          <a:xfrm>
            <a:off x="5024032" y="4407463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FDFE71D-2C66-45C3-9AC6-2267FBEF85D2}"/>
              </a:ext>
            </a:extLst>
          </p:cNvPr>
          <p:cNvCxnSpPr>
            <a:cxnSpLocks/>
          </p:cNvCxnSpPr>
          <p:nvPr/>
        </p:nvCxnSpPr>
        <p:spPr>
          <a:xfrm flipV="1">
            <a:off x="6456085" y="4520593"/>
            <a:ext cx="2224703" cy="560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418C963-931B-4BE4-8402-35A46E0D919D}"/>
              </a:ext>
            </a:extLst>
          </p:cNvPr>
          <p:cNvCxnSpPr>
            <a:cxnSpLocks/>
          </p:cNvCxnSpPr>
          <p:nvPr/>
        </p:nvCxnSpPr>
        <p:spPr>
          <a:xfrm flipV="1">
            <a:off x="7293979" y="3175446"/>
            <a:ext cx="0" cy="13932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B8B979B-9F4C-44BC-B756-052CEFC26CE2}"/>
              </a:ext>
            </a:extLst>
          </p:cNvPr>
          <p:cNvSpPr/>
          <p:nvPr/>
        </p:nvSpPr>
        <p:spPr>
          <a:xfrm>
            <a:off x="6794107" y="3134344"/>
            <a:ext cx="999744" cy="1414285"/>
          </a:xfrm>
          <a:custGeom>
            <a:avLst/>
            <a:gdLst>
              <a:gd name="connsiteX0" fmla="*/ 999744 w 999744"/>
              <a:gd name="connsiteY0" fmla="*/ 0 h 1414285"/>
              <a:gd name="connsiteX1" fmla="*/ 877824 w 999744"/>
              <a:gd name="connsiteY1" fmla="*/ 950976 h 1414285"/>
              <a:gd name="connsiteX2" fmla="*/ 548640 w 999744"/>
              <a:gd name="connsiteY2" fmla="*/ 1414272 h 1414285"/>
              <a:gd name="connsiteX3" fmla="*/ 170688 w 999744"/>
              <a:gd name="connsiteY3" fmla="*/ 938784 h 1414285"/>
              <a:gd name="connsiteX4" fmla="*/ 0 w 999744"/>
              <a:gd name="connsiteY4" fmla="*/ 12192 h 141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9744" h="1414285">
                <a:moveTo>
                  <a:pt x="999744" y="0"/>
                </a:moveTo>
                <a:cubicBezTo>
                  <a:pt x="976376" y="357632"/>
                  <a:pt x="953008" y="715264"/>
                  <a:pt x="877824" y="950976"/>
                </a:cubicBezTo>
                <a:cubicBezTo>
                  <a:pt x="802640" y="1186688"/>
                  <a:pt x="666496" y="1416304"/>
                  <a:pt x="548640" y="1414272"/>
                </a:cubicBezTo>
                <a:cubicBezTo>
                  <a:pt x="430784" y="1412240"/>
                  <a:pt x="262128" y="1172464"/>
                  <a:pt x="170688" y="938784"/>
                </a:cubicBezTo>
                <a:cubicBezTo>
                  <a:pt x="79248" y="705104"/>
                  <a:pt x="39624" y="358648"/>
                  <a:pt x="0" y="12192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FC861E7-3077-4BD5-B02F-05C50C33EACA}"/>
              </a:ext>
            </a:extLst>
          </p:cNvPr>
          <p:cNvSpPr txBox="1"/>
          <p:nvPr/>
        </p:nvSpPr>
        <p:spPr>
          <a:xfrm>
            <a:off x="6610793" y="2604815"/>
            <a:ext cx="2224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y = Residual</a:t>
            </a:r>
            <a:r>
              <a:rPr lang="en-US" sz="1400" b="1" baseline="30000" dirty="0"/>
              <a:t>2</a:t>
            </a:r>
            <a:r>
              <a:rPr lang="en-US" sz="1400" b="1" dirty="0"/>
              <a:t> </a:t>
            </a:r>
          </a:p>
          <a:p>
            <a:r>
              <a:rPr lang="en-US" sz="1400" b="1" dirty="0"/>
              <a:t>= (Observed – Predicted)</a:t>
            </a:r>
            <a:r>
              <a:rPr lang="en-US" sz="1400" b="1" baseline="30000" dirty="0"/>
              <a:t>2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AA7FF22-E677-48DE-BE1D-9202CAD83154}"/>
              </a:ext>
            </a:extLst>
          </p:cNvPr>
          <p:cNvSpPr/>
          <p:nvPr/>
        </p:nvSpPr>
        <p:spPr>
          <a:xfrm>
            <a:off x="7210568" y="4384836"/>
            <a:ext cx="247382" cy="27250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45B6BB8-DE19-4A18-8803-CB2B560DF704}"/>
              </a:ext>
            </a:extLst>
          </p:cNvPr>
          <p:cNvSpPr/>
          <p:nvPr/>
        </p:nvSpPr>
        <p:spPr>
          <a:xfrm>
            <a:off x="7457950" y="4520592"/>
            <a:ext cx="886095" cy="894468"/>
          </a:xfrm>
          <a:custGeom>
            <a:avLst/>
            <a:gdLst>
              <a:gd name="connsiteX0" fmla="*/ 377952 w 454577"/>
              <a:gd name="connsiteY0" fmla="*/ 2060448 h 2060448"/>
              <a:gd name="connsiteX1" fmla="*/ 426720 w 454577"/>
              <a:gd name="connsiteY1" fmla="*/ 548640 h 2060448"/>
              <a:gd name="connsiteX2" fmla="*/ 0 w 454577"/>
              <a:gd name="connsiteY2" fmla="*/ 0 h 206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4577" h="2060448">
                <a:moveTo>
                  <a:pt x="377952" y="2060448"/>
                </a:moveTo>
                <a:cubicBezTo>
                  <a:pt x="433832" y="1476248"/>
                  <a:pt x="489712" y="892048"/>
                  <a:pt x="426720" y="548640"/>
                </a:cubicBezTo>
                <a:cubicBezTo>
                  <a:pt x="363728" y="205232"/>
                  <a:pt x="181864" y="102616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副標題 2">
                <a:extLst>
                  <a:ext uri="{FF2B5EF4-FFF2-40B4-BE49-F238E27FC236}">
                    <a16:creationId xmlns:a16="http://schemas.microsoft.com/office/drawing/2014/main" id="{FAF4326F-99BF-4E7D-8209-214F3FC61F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91195" y="5388062"/>
                <a:ext cx="2686129" cy="655530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Residual</m:t>
                        </m:r>
                        <m:r>
                          <m:rPr>
                            <m:nor/>
                          </m:rPr>
                          <a:rPr lang="en-US" sz="1800" b="1" baseline="30000" dirty="0">
                            <a:solidFill>
                              <a:schemeClr val="tx1"/>
                            </a:solidFill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intercept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0</a:t>
                </a:r>
              </a:p>
            </p:txBody>
          </p:sp>
        </mc:Choice>
        <mc:Fallback>
          <p:sp>
            <p:nvSpPr>
              <p:cNvPr id="50" name="副標題 2">
                <a:extLst>
                  <a:ext uri="{FF2B5EF4-FFF2-40B4-BE49-F238E27FC236}">
                    <a16:creationId xmlns:a16="http://schemas.microsoft.com/office/drawing/2014/main" id="{FAF4326F-99BF-4E7D-8209-214F3FC61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195" y="5388062"/>
                <a:ext cx="2686129" cy="6555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38004985-D9BA-4D23-A2CF-5751DC0E238C}"/>
              </a:ext>
            </a:extLst>
          </p:cNvPr>
          <p:cNvSpPr txBox="1"/>
          <p:nvPr/>
        </p:nvSpPr>
        <p:spPr>
          <a:xfrm>
            <a:off x="7263242" y="4773304"/>
            <a:ext cx="1244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intercept</a:t>
            </a:r>
          </a:p>
        </p:txBody>
      </p:sp>
    </p:spTree>
    <p:extLst>
      <p:ext uri="{BB962C8B-B14F-4D97-AF65-F5344CB8AC3E}">
        <p14:creationId xmlns:p14="http://schemas.microsoft.com/office/powerpoint/2010/main" val="470661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46.4 Chain Rule to Sum of Squared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70454" y="1305600"/>
                <a:ext cx="7945483" cy="4499664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The chain rule said. (2 x Residual)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B0F0"/>
                            </a:solidFill>
                          </a:rPr>
                          <m:t>Residual</m:t>
                        </m:r>
                        <m:r>
                          <m:rPr>
                            <m:nor/>
                          </m:rPr>
                          <a:rPr lang="en-US" sz="1800" b="1" baseline="30000" dirty="0" smtClean="0">
                            <a:solidFill>
                              <a:srgbClr val="00B0F0"/>
                            </a:solidFill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B050"/>
                            </a:solidFill>
                          </a:rPr>
                          <m:t>intercept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rgbClr val="00B0F0"/>
                            </a:solidFill>
                          </a:rPr>
                          <m:t>Residual</m:t>
                        </m:r>
                        <m:r>
                          <m:rPr>
                            <m:nor/>
                          </m:rPr>
                          <a:rPr lang="en-US" sz="1800" b="1" baseline="30000" dirty="0">
                            <a:solidFill>
                              <a:srgbClr val="00B0F0"/>
                            </a:solidFill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accent6"/>
                            </a:solidFill>
                          </a:rPr>
                          <m:t>Residual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6"/>
                            </a:solidFill>
                          </a:rPr>
                          <m:t>Residual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rgbClr val="00B050"/>
                            </a:solidFill>
                          </a:rPr>
                          <m:t>intercept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den>
                    </m:f>
                  </m:oMath>
                </a14:m>
                <a:endParaRPr lang="en-US" sz="18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B0F0"/>
                            </a:solidFill>
                          </a:rPr>
                          <m:t>Residual</m:t>
                        </m:r>
                        <m:r>
                          <m:rPr>
                            <m:nor/>
                          </m:rPr>
                          <a:rPr lang="en-US" sz="1800" b="1" baseline="30000" dirty="0" smtClean="0">
                            <a:solidFill>
                              <a:srgbClr val="00B0F0"/>
                            </a:solidFill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B050"/>
                            </a:solidFill>
                          </a:rPr>
                          <m:t>intercept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(2 x Residual)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6"/>
                            </a:solidFill>
                          </a:rPr>
                          <m:t>Observed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6"/>
                            </a:solidFill>
                          </a:rPr>
                          <m:t> – 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6"/>
                            </a:solidFill>
                          </a:rPr>
                          <m:t>Predicted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rgbClr val="00B050"/>
                            </a:solidFill>
                          </a:rPr>
                          <m:t>intercept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den>
                    </m:f>
                  </m:oMath>
                </a14:m>
                <a:endParaRPr lang="en-US" sz="18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B0F0"/>
                            </a:solidFill>
                          </a:rPr>
                          <m:t>Residual</m:t>
                        </m:r>
                        <m:r>
                          <m:rPr>
                            <m:nor/>
                          </m:rPr>
                          <a:rPr lang="en-US" sz="1800" b="1" baseline="30000" dirty="0" smtClean="0">
                            <a:solidFill>
                              <a:srgbClr val="00B0F0"/>
                            </a:solidFill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B050"/>
                            </a:solidFill>
                          </a:rPr>
                          <m:t>intercept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(2 x Residual)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6"/>
                            </a:solidFill>
                          </a:rPr>
                          <m:t>Observed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chemeClr val="accent6"/>
                            </a:solidFill>
                          </a:rPr>
                          <m:t> – (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accent6"/>
                            </a:solidFill>
                          </a:rPr>
                          <m:t>Intercept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accent6"/>
                            </a:solidFill>
                          </a:rPr>
                          <m:t> + (1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accent6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accent6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accent6"/>
                            </a:solidFill>
                          </a:rPr>
                          <m:t>Weight</m:t>
                        </m:r>
                        <m:r>
                          <m:rPr>
                            <m:nor/>
                          </m:rPr>
                          <a:rPr lang="en-US" sz="1800" b="1" i="0" dirty="0" smtClean="0">
                            <a:solidFill>
                              <a:schemeClr val="accent6"/>
                            </a:solidFill>
                          </a:rPr>
                          <m:t>))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rgbClr val="00B050"/>
                            </a:solidFill>
                          </a:rPr>
                          <m:t>intercept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den>
                    </m:f>
                  </m:oMath>
                </a14:m>
                <a:endParaRPr lang="en-US" sz="18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B0F0"/>
                            </a:solidFill>
                          </a:rPr>
                          <m:t>Residual</m:t>
                        </m:r>
                        <m:r>
                          <m:rPr>
                            <m:nor/>
                          </m:rPr>
                          <a:rPr lang="en-US" sz="1800" b="1" baseline="30000" dirty="0" smtClean="0">
                            <a:solidFill>
                              <a:srgbClr val="00B0F0"/>
                            </a:solidFill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B050"/>
                            </a:solidFill>
                          </a:rPr>
                          <m:t>intercept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(2 x Residual) x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b="1" i="0" dirty="0" smtClean="0">
                        <a:solidFill>
                          <a:schemeClr val="tx1"/>
                        </a:solidFill>
                      </a:rPr>
                      <m:t>(0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tx1"/>
                        </a:solidFill>
                      </a:rPr>
                      <m:t> – (1 + 0))</m:t>
                    </m:r>
                  </m:oMath>
                </a14:m>
                <a:endParaRPr lang="en-US" sz="18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B0F0"/>
                            </a:solidFill>
                          </a:rPr>
                          <m:t>Residual</m:t>
                        </m:r>
                        <m:r>
                          <m:rPr>
                            <m:nor/>
                          </m:rPr>
                          <a:rPr lang="en-US" sz="1800" b="1" baseline="30000" dirty="0" smtClean="0">
                            <a:solidFill>
                              <a:srgbClr val="00B0F0"/>
                            </a:solidFill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B050"/>
                            </a:solidFill>
                          </a:rPr>
                          <m:t>intercept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-2 x Residual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B0F0"/>
                            </a:solidFill>
                          </a:rPr>
                          <m:t>Residual</m:t>
                        </m:r>
                        <m:r>
                          <m:rPr>
                            <m:nor/>
                          </m:rPr>
                          <a:rPr lang="en-US" sz="1800" b="1" baseline="30000" dirty="0" smtClean="0">
                            <a:solidFill>
                              <a:srgbClr val="00B0F0"/>
                            </a:solidFill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B050"/>
                            </a:solidFill>
                          </a:rPr>
                          <m:t>intercept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-2 x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1" dirty="0">
                        <a:solidFill>
                          <a:schemeClr val="tx1"/>
                        </a:solidFill>
                      </a:rPr>
                      <m:t>Observed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tx1"/>
                        </a:solidFill>
                      </a:rPr>
                      <m:t> – 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tx1"/>
                        </a:solidFill>
                      </a:rPr>
                      <m:t>Predicted</m:t>
                    </m:r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B0F0"/>
                            </a:solidFill>
                          </a:rPr>
                          <m:t>Residual</m:t>
                        </m:r>
                        <m:r>
                          <m:rPr>
                            <m:nor/>
                          </m:rPr>
                          <a:rPr lang="en-US" sz="1800" b="1" baseline="30000" dirty="0" smtClean="0">
                            <a:solidFill>
                              <a:srgbClr val="00B0F0"/>
                            </a:solidFill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 smtClean="0">
                            <a:solidFill>
                              <a:srgbClr val="00B050"/>
                            </a:solidFill>
                          </a:rPr>
                          <m:t>intercept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chemeClr val="tx1"/>
                    </a:solidFill>
                  </a:rPr>
                  <a:t> = -2 x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1" dirty="0">
                        <a:solidFill>
                          <a:schemeClr val="tx1"/>
                        </a:solidFill>
                      </a:rPr>
                      <m:t>Observed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tx1"/>
                        </a:solidFill>
                      </a:rPr>
                      <m:t> - (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tx1"/>
                        </a:solidFill>
                      </a:rPr>
                      <m:t>Intercept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tx1"/>
                        </a:solidFill>
                      </a:rPr>
                      <m:t> + (1 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tx1"/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tx1"/>
                        </a:solidFill>
                      </a:rPr>
                      <m:t>Weight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tx1"/>
                        </a:solidFill>
                      </a:rPr>
                      <m:t>))</m:t>
                    </m:r>
                  </m:oMath>
                </a14:m>
                <a:endParaRPr lang="en-US" sz="1800" b="1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8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70454" y="1305600"/>
                <a:ext cx="7945483" cy="4499664"/>
              </a:xfrm>
              <a:blipFill>
                <a:blip r:embed="rId2"/>
                <a:stretch>
                  <a:fillRect l="-77" t="-541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EBF5711-0A99-4EEE-8070-839BAF989F9A}"/>
              </a:ext>
            </a:extLst>
          </p:cNvPr>
          <p:cNvSpPr/>
          <p:nvPr/>
        </p:nvSpPr>
        <p:spPr>
          <a:xfrm>
            <a:off x="3910263" y="4223084"/>
            <a:ext cx="1677003" cy="589548"/>
          </a:xfrm>
          <a:custGeom>
            <a:avLst/>
            <a:gdLst>
              <a:gd name="connsiteX0" fmla="*/ 0 w 1677003"/>
              <a:gd name="connsiteY0" fmla="*/ 0 h 589548"/>
              <a:gd name="connsiteX1" fmla="*/ 1588169 w 1677003"/>
              <a:gd name="connsiteY1" fmla="*/ 108284 h 589548"/>
              <a:gd name="connsiteX2" fmla="*/ 1335505 w 1677003"/>
              <a:gd name="connsiteY2" fmla="*/ 589548 h 58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7003" h="589548">
                <a:moveTo>
                  <a:pt x="0" y="0"/>
                </a:moveTo>
                <a:cubicBezTo>
                  <a:pt x="682792" y="5013"/>
                  <a:pt x="1365585" y="10026"/>
                  <a:pt x="1588169" y="108284"/>
                </a:cubicBezTo>
                <a:cubicBezTo>
                  <a:pt x="1810753" y="206542"/>
                  <a:pt x="1573129" y="398045"/>
                  <a:pt x="1335505" y="589548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47E46-9DD4-46AE-806D-766E8BCD5B2C}"/>
              </a:ext>
            </a:extLst>
          </p:cNvPr>
          <p:cNvSpPr txBox="1"/>
          <p:nvPr/>
        </p:nvSpPr>
        <p:spPr>
          <a:xfrm>
            <a:off x="5652120" y="4078323"/>
            <a:ext cx="2448272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Plug in equation for residual</a:t>
            </a:r>
          </a:p>
        </p:txBody>
      </p:sp>
    </p:spTree>
    <p:extLst>
      <p:ext uri="{BB962C8B-B14F-4D97-AF65-F5344CB8AC3E}">
        <p14:creationId xmlns:p14="http://schemas.microsoft.com/office/powerpoint/2010/main" val="3662849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46.4 Chain Rule to Sum of Squared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標題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70454" y="1305600"/>
                <a:ext cx="7945483" cy="2044534"/>
              </a:xfrm>
              <a:ln>
                <a:solidFill>
                  <a:srgbClr val="C00000"/>
                </a:solidFill>
              </a:ln>
            </p:spPr>
            <p:txBody>
              <a:bodyPr>
                <a:noAutofit/>
              </a:bodyPr>
              <a:lstStyle/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dirty="0">
                    <a:solidFill>
                      <a:schemeClr val="tx1"/>
                    </a:solidFill>
                  </a:rPr>
                  <a:t>Now we can find intercept by plug in the Observed value (1,2) at minimum Squared Residuals, i.e., we plug in the Observed value = (1, 2)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dirty="0" smtClean="0">
                            <a:solidFill>
                              <a:srgbClr val="00B0F0"/>
                            </a:solidFill>
                          </a:rPr>
                          <m:t>Residual</m:t>
                        </m:r>
                        <m:r>
                          <m:rPr>
                            <m:nor/>
                          </m:rPr>
                          <a:rPr lang="en-US" sz="1800" baseline="30000" dirty="0" smtClean="0">
                            <a:solidFill>
                              <a:srgbClr val="00B0F0"/>
                            </a:solidFill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dirty="0" smtClean="0">
                            <a:solidFill>
                              <a:srgbClr val="00B050"/>
                            </a:solidFill>
                          </a:rPr>
                          <m:t>intercept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= 0.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:r>
                  <a:rPr lang="en-US" sz="1800" dirty="0">
                    <a:solidFill>
                      <a:schemeClr val="tx1"/>
                    </a:solidFill>
                  </a:rPr>
                  <a:t>-2 x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</a:rPr>
                      <m:t> –</m:t>
                    </m:r>
                    <m:r>
                      <m:rPr>
                        <m:nor/>
                      </m:rPr>
                      <a:rPr lang="en-US" sz="1800" i="0" dirty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</a:rPr>
                      <m:t>Intercept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</a:rPr>
                      <m:t> + (1 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sz="1800" i="0" dirty="0" smtClean="0">
                        <a:solidFill>
                          <a:schemeClr val="tx1"/>
                        </a:solidFill>
                      </a:rPr>
                      <m:t> 1</m:t>
                    </m:r>
                    <m:r>
                      <m:rPr>
                        <m:nor/>
                      </m:rPr>
                      <a:rPr lang="en-US" sz="1800" dirty="0">
                        <a:solidFill>
                          <a:schemeClr val="tx1"/>
                        </a:solidFill>
                      </a:rPr>
                      <m:t>))</m:t>
                    </m:r>
                    <m:r>
                      <m:rPr>
                        <m:nor/>
                      </m:rPr>
                      <a:rPr lang="en-US" sz="1800" i="0" dirty="0" smtClean="0">
                        <a:solidFill>
                          <a:schemeClr val="tx1"/>
                        </a:solidFill>
                      </a:rPr>
                      <m:t> = 0</m:t>
                    </m:r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dirty="0" smtClean="0">
                        <a:solidFill>
                          <a:schemeClr val="tx1"/>
                        </a:solidFill>
                      </a:rPr>
                      <m:t>Intercept</m:t>
                    </m:r>
                    <m:r>
                      <m:rPr>
                        <m:nor/>
                      </m:rPr>
                      <a:rPr lang="en-US" sz="1800" dirty="0" smtClean="0">
                        <a:solidFill>
                          <a:schemeClr val="tx1"/>
                        </a:solidFill>
                      </a:rPr>
                      <m:t> + 1 = 2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dirty="0" smtClean="0">
                        <a:solidFill>
                          <a:schemeClr val="tx1"/>
                        </a:solidFill>
                      </a:rPr>
                      <m:t>Intercept</m:t>
                    </m:r>
                    <m:r>
                      <m:rPr>
                        <m:nor/>
                      </m:rPr>
                      <a:rPr lang="en-US" sz="1800" dirty="0" smtClean="0">
                        <a:solidFill>
                          <a:schemeClr val="tx1"/>
                        </a:solidFill>
                      </a:rPr>
                      <m:t> = 1.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8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8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副標題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70454" y="1305600"/>
                <a:ext cx="7945483" cy="2044534"/>
              </a:xfrm>
              <a:blipFill>
                <a:blip r:embed="rId2"/>
                <a:stretch>
                  <a:fillRect l="-77" t="-1183" b="-7396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26</a:t>
            </a:fld>
            <a:endParaRPr lang="zh-TW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6DBF3F-B1C5-4F36-A1D9-DFD054F54452}"/>
              </a:ext>
            </a:extLst>
          </p:cNvPr>
          <p:cNvCxnSpPr>
            <a:cxnSpLocks/>
          </p:cNvCxnSpPr>
          <p:nvPr/>
        </p:nvCxnSpPr>
        <p:spPr>
          <a:xfrm flipV="1">
            <a:off x="921793" y="6024661"/>
            <a:ext cx="1657164" cy="61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0E8795-7316-49C8-9D8D-B83CCFE16517}"/>
              </a:ext>
            </a:extLst>
          </p:cNvPr>
          <p:cNvCxnSpPr>
            <a:cxnSpLocks/>
          </p:cNvCxnSpPr>
          <p:nvPr/>
        </p:nvCxnSpPr>
        <p:spPr>
          <a:xfrm flipV="1">
            <a:off x="921793" y="3999203"/>
            <a:ext cx="0" cy="20315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E1EBBE-FC84-4886-B248-E425EAD1E78C}"/>
              </a:ext>
            </a:extLst>
          </p:cNvPr>
          <p:cNvCxnSpPr>
            <a:cxnSpLocks/>
          </p:cNvCxnSpPr>
          <p:nvPr/>
        </p:nvCxnSpPr>
        <p:spPr>
          <a:xfrm>
            <a:off x="1857897" y="588678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5942F3-A8AC-455E-8B64-A3C3A30F589C}"/>
              </a:ext>
            </a:extLst>
          </p:cNvPr>
          <p:cNvCxnSpPr>
            <a:cxnSpLocks/>
          </p:cNvCxnSpPr>
          <p:nvPr/>
        </p:nvCxnSpPr>
        <p:spPr>
          <a:xfrm>
            <a:off x="791097" y="5101815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473EDA-96C6-419C-9360-F0B736F90886}"/>
              </a:ext>
            </a:extLst>
          </p:cNvPr>
          <p:cNvCxnSpPr>
            <a:cxnSpLocks/>
          </p:cNvCxnSpPr>
          <p:nvPr/>
        </p:nvCxnSpPr>
        <p:spPr>
          <a:xfrm>
            <a:off x="821542" y="4093992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64AFBF9-3084-44CA-BAF9-486FC3766828}"/>
              </a:ext>
            </a:extLst>
          </p:cNvPr>
          <p:cNvSpPr txBox="1"/>
          <p:nvPr/>
        </p:nvSpPr>
        <p:spPr>
          <a:xfrm>
            <a:off x="1315187" y="6244830"/>
            <a:ext cx="101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Weight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DDC3D5-01FD-45CA-8645-26A30AD55E1D}"/>
              </a:ext>
            </a:extLst>
          </p:cNvPr>
          <p:cNvSpPr/>
          <p:nvPr/>
        </p:nvSpPr>
        <p:spPr>
          <a:xfrm>
            <a:off x="1738787" y="3956263"/>
            <a:ext cx="247382" cy="27250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99A49C-3CDB-49A9-AD10-7CC457FDBDE2}"/>
              </a:ext>
            </a:extLst>
          </p:cNvPr>
          <p:cNvCxnSpPr>
            <a:cxnSpLocks/>
          </p:cNvCxnSpPr>
          <p:nvPr/>
        </p:nvCxnSpPr>
        <p:spPr>
          <a:xfrm flipH="1">
            <a:off x="934483" y="4610540"/>
            <a:ext cx="1326656" cy="1414121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C6B06B-B69B-431D-88F8-246A0DF3FE5A}"/>
              </a:ext>
            </a:extLst>
          </p:cNvPr>
          <p:cNvCxnSpPr>
            <a:cxnSpLocks/>
          </p:cNvCxnSpPr>
          <p:nvPr/>
        </p:nvCxnSpPr>
        <p:spPr>
          <a:xfrm flipH="1">
            <a:off x="936862" y="4228770"/>
            <a:ext cx="1154748" cy="1236640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E459E3-3D58-498E-A5C8-291C68491FEF}"/>
              </a:ext>
            </a:extLst>
          </p:cNvPr>
          <p:cNvCxnSpPr>
            <a:cxnSpLocks/>
          </p:cNvCxnSpPr>
          <p:nvPr/>
        </p:nvCxnSpPr>
        <p:spPr>
          <a:xfrm flipH="1">
            <a:off x="921790" y="3633551"/>
            <a:ext cx="936107" cy="1043655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90D868-994E-424F-8550-7DDA0EFA6411}"/>
              </a:ext>
            </a:extLst>
          </p:cNvPr>
          <p:cNvCxnSpPr>
            <a:cxnSpLocks/>
          </p:cNvCxnSpPr>
          <p:nvPr/>
        </p:nvCxnSpPr>
        <p:spPr>
          <a:xfrm flipH="1">
            <a:off x="921790" y="3764634"/>
            <a:ext cx="1169820" cy="133581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25BE8074-A608-495D-818C-B0249988A7C6}"/>
              </a:ext>
            </a:extLst>
          </p:cNvPr>
          <p:cNvSpPr/>
          <p:nvPr/>
        </p:nvSpPr>
        <p:spPr>
          <a:xfrm>
            <a:off x="1642853" y="3884009"/>
            <a:ext cx="448756" cy="37074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4A59EC-3073-4860-886A-5C53E3EDB779}"/>
              </a:ext>
            </a:extLst>
          </p:cNvPr>
          <p:cNvCxnSpPr>
            <a:cxnSpLocks/>
          </p:cNvCxnSpPr>
          <p:nvPr/>
        </p:nvCxnSpPr>
        <p:spPr>
          <a:xfrm flipV="1">
            <a:off x="3421966" y="4969541"/>
            <a:ext cx="2051248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51C7F49-2159-40D4-A29C-A79EED94D51F}"/>
              </a:ext>
            </a:extLst>
          </p:cNvPr>
          <p:cNvCxnSpPr>
            <a:cxnSpLocks/>
          </p:cNvCxnSpPr>
          <p:nvPr/>
        </p:nvCxnSpPr>
        <p:spPr>
          <a:xfrm flipV="1">
            <a:off x="3421966" y="4272926"/>
            <a:ext cx="0" cy="13932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632930D-13E0-4481-9ABA-B92AA765581A}"/>
              </a:ext>
            </a:extLst>
          </p:cNvPr>
          <p:cNvSpPr txBox="1"/>
          <p:nvPr/>
        </p:nvSpPr>
        <p:spPr>
          <a:xfrm>
            <a:off x="3545657" y="5157633"/>
            <a:ext cx="1244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intercept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C91CA2-69DB-4F24-9FBC-2BD81287E73F}"/>
              </a:ext>
            </a:extLst>
          </p:cNvPr>
          <p:cNvSpPr txBox="1"/>
          <p:nvPr/>
        </p:nvSpPr>
        <p:spPr>
          <a:xfrm>
            <a:off x="2936421" y="3764634"/>
            <a:ext cx="276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Residual = (Observed – Predicted)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BED8B8A-C1E3-4A0A-9F51-15C9FC851064}"/>
              </a:ext>
            </a:extLst>
          </p:cNvPr>
          <p:cNvSpPr/>
          <p:nvPr/>
        </p:nvSpPr>
        <p:spPr>
          <a:xfrm>
            <a:off x="3298275" y="4186638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19C4F32-3EFB-4978-8786-F68F449AF23F}"/>
              </a:ext>
            </a:extLst>
          </p:cNvPr>
          <p:cNvCxnSpPr>
            <a:cxnSpLocks/>
          </p:cNvCxnSpPr>
          <p:nvPr/>
        </p:nvCxnSpPr>
        <p:spPr>
          <a:xfrm flipH="1" flipV="1">
            <a:off x="3168958" y="4186493"/>
            <a:ext cx="2304256" cy="137676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5378F8C5-5427-4170-BEE4-F27CC24FFA5B}"/>
              </a:ext>
            </a:extLst>
          </p:cNvPr>
          <p:cNvSpPr/>
          <p:nvPr/>
        </p:nvSpPr>
        <p:spPr>
          <a:xfrm>
            <a:off x="3563847" y="4404699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0A790C7-EC73-4474-A16D-1C31A8A65C2E}"/>
              </a:ext>
            </a:extLst>
          </p:cNvPr>
          <p:cNvSpPr/>
          <p:nvPr/>
        </p:nvSpPr>
        <p:spPr>
          <a:xfrm>
            <a:off x="3965247" y="4605005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50E8C10-7B6C-4A1D-B79A-E3D0C41A63D0}"/>
              </a:ext>
            </a:extLst>
          </p:cNvPr>
          <p:cNvSpPr/>
          <p:nvPr/>
        </p:nvSpPr>
        <p:spPr>
          <a:xfrm>
            <a:off x="4357318" y="4827945"/>
            <a:ext cx="247382" cy="27250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B4786AF-420A-487B-B3D8-BECAE62938F3}"/>
              </a:ext>
            </a:extLst>
          </p:cNvPr>
          <p:cNvCxnSpPr>
            <a:cxnSpLocks/>
          </p:cNvCxnSpPr>
          <p:nvPr/>
        </p:nvCxnSpPr>
        <p:spPr>
          <a:xfrm flipH="1">
            <a:off x="952238" y="4979022"/>
            <a:ext cx="1347728" cy="1396535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103E109B-E3C3-4252-8B10-E33B4839C020}"/>
              </a:ext>
            </a:extLst>
          </p:cNvPr>
          <p:cNvSpPr/>
          <p:nvPr/>
        </p:nvSpPr>
        <p:spPr>
          <a:xfrm>
            <a:off x="5077626" y="5261877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5BE6A5-5031-476D-A5B1-4D4AD47DCFA4}"/>
              </a:ext>
            </a:extLst>
          </p:cNvPr>
          <p:cNvSpPr/>
          <p:nvPr/>
        </p:nvSpPr>
        <p:spPr>
          <a:xfrm>
            <a:off x="4759181" y="5044062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4DAFA4-F914-4A33-BE5C-96FF73B4378F}"/>
              </a:ext>
            </a:extLst>
          </p:cNvPr>
          <p:cNvCxnSpPr>
            <a:cxnSpLocks/>
          </p:cNvCxnSpPr>
          <p:nvPr/>
        </p:nvCxnSpPr>
        <p:spPr>
          <a:xfrm flipV="1">
            <a:off x="6191234" y="5157192"/>
            <a:ext cx="2224703" cy="560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BA826C-2DF4-42B4-A03E-AE15F8494859}"/>
              </a:ext>
            </a:extLst>
          </p:cNvPr>
          <p:cNvCxnSpPr>
            <a:cxnSpLocks/>
          </p:cNvCxnSpPr>
          <p:nvPr/>
        </p:nvCxnSpPr>
        <p:spPr>
          <a:xfrm flipV="1">
            <a:off x="7029128" y="3812045"/>
            <a:ext cx="0" cy="13932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04B0281-FC4E-4AC0-894D-2EBEF6AD4B71}"/>
              </a:ext>
            </a:extLst>
          </p:cNvPr>
          <p:cNvSpPr/>
          <p:nvPr/>
        </p:nvSpPr>
        <p:spPr>
          <a:xfrm>
            <a:off x="6529256" y="3770943"/>
            <a:ext cx="999744" cy="1414285"/>
          </a:xfrm>
          <a:custGeom>
            <a:avLst/>
            <a:gdLst>
              <a:gd name="connsiteX0" fmla="*/ 999744 w 999744"/>
              <a:gd name="connsiteY0" fmla="*/ 0 h 1414285"/>
              <a:gd name="connsiteX1" fmla="*/ 877824 w 999744"/>
              <a:gd name="connsiteY1" fmla="*/ 950976 h 1414285"/>
              <a:gd name="connsiteX2" fmla="*/ 548640 w 999744"/>
              <a:gd name="connsiteY2" fmla="*/ 1414272 h 1414285"/>
              <a:gd name="connsiteX3" fmla="*/ 170688 w 999744"/>
              <a:gd name="connsiteY3" fmla="*/ 938784 h 1414285"/>
              <a:gd name="connsiteX4" fmla="*/ 0 w 999744"/>
              <a:gd name="connsiteY4" fmla="*/ 12192 h 141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9744" h="1414285">
                <a:moveTo>
                  <a:pt x="999744" y="0"/>
                </a:moveTo>
                <a:cubicBezTo>
                  <a:pt x="976376" y="357632"/>
                  <a:pt x="953008" y="715264"/>
                  <a:pt x="877824" y="950976"/>
                </a:cubicBezTo>
                <a:cubicBezTo>
                  <a:pt x="802640" y="1186688"/>
                  <a:pt x="666496" y="1416304"/>
                  <a:pt x="548640" y="1414272"/>
                </a:cubicBezTo>
                <a:cubicBezTo>
                  <a:pt x="430784" y="1412240"/>
                  <a:pt x="262128" y="1172464"/>
                  <a:pt x="170688" y="938784"/>
                </a:cubicBezTo>
                <a:cubicBezTo>
                  <a:pt x="79248" y="705104"/>
                  <a:pt x="39624" y="358648"/>
                  <a:pt x="0" y="12192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2857436-552B-43C8-A67F-32B2D8B54D21}"/>
              </a:ext>
            </a:extLst>
          </p:cNvPr>
          <p:cNvSpPr/>
          <p:nvPr/>
        </p:nvSpPr>
        <p:spPr>
          <a:xfrm>
            <a:off x="6945717" y="5021435"/>
            <a:ext cx="247382" cy="27250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FDAA8F-D4DD-4602-B7BF-A04212B291DB}"/>
              </a:ext>
            </a:extLst>
          </p:cNvPr>
          <p:cNvSpPr txBox="1"/>
          <p:nvPr/>
        </p:nvSpPr>
        <p:spPr>
          <a:xfrm>
            <a:off x="6998391" y="5409903"/>
            <a:ext cx="1244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intercept</a:t>
            </a:r>
          </a:p>
        </p:txBody>
      </p:sp>
    </p:spTree>
    <p:extLst>
      <p:ext uri="{BB962C8B-B14F-4D97-AF65-F5344CB8AC3E}">
        <p14:creationId xmlns:p14="http://schemas.microsoft.com/office/powerpoint/2010/main" val="16141200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46.4 Chain Rule to Sum of Squared 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70454" y="1305600"/>
            <a:ext cx="7945483" cy="79209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When intercept = 1, we minimize the Squared Residual = 0.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Ans we have the best fitting line.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27</a:t>
            </a:fld>
            <a:endParaRPr lang="zh-TW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6DBF3F-B1C5-4F36-A1D9-DFD054F54452}"/>
              </a:ext>
            </a:extLst>
          </p:cNvPr>
          <p:cNvCxnSpPr>
            <a:cxnSpLocks/>
          </p:cNvCxnSpPr>
          <p:nvPr/>
        </p:nvCxnSpPr>
        <p:spPr>
          <a:xfrm flipV="1">
            <a:off x="775561" y="4760304"/>
            <a:ext cx="1657164" cy="61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0E8795-7316-49C8-9D8D-B83CCFE16517}"/>
              </a:ext>
            </a:extLst>
          </p:cNvPr>
          <p:cNvCxnSpPr>
            <a:cxnSpLocks/>
          </p:cNvCxnSpPr>
          <p:nvPr/>
        </p:nvCxnSpPr>
        <p:spPr>
          <a:xfrm flipV="1">
            <a:off x="775561" y="2734846"/>
            <a:ext cx="0" cy="20315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E1EBBE-FC84-4886-B248-E425EAD1E78C}"/>
              </a:ext>
            </a:extLst>
          </p:cNvPr>
          <p:cNvCxnSpPr>
            <a:cxnSpLocks/>
          </p:cNvCxnSpPr>
          <p:nvPr/>
        </p:nvCxnSpPr>
        <p:spPr>
          <a:xfrm>
            <a:off x="1711665" y="4622423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5942F3-A8AC-455E-8B64-A3C3A30F589C}"/>
              </a:ext>
            </a:extLst>
          </p:cNvPr>
          <p:cNvCxnSpPr>
            <a:cxnSpLocks/>
          </p:cNvCxnSpPr>
          <p:nvPr/>
        </p:nvCxnSpPr>
        <p:spPr>
          <a:xfrm>
            <a:off x="644865" y="3837458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473EDA-96C6-419C-9360-F0B736F90886}"/>
              </a:ext>
            </a:extLst>
          </p:cNvPr>
          <p:cNvCxnSpPr>
            <a:cxnSpLocks/>
          </p:cNvCxnSpPr>
          <p:nvPr/>
        </p:nvCxnSpPr>
        <p:spPr>
          <a:xfrm>
            <a:off x="675310" y="2829635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64AFBF9-3084-44CA-BAF9-486FC3766828}"/>
              </a:ext>
            </a:extLst>
          </p:cNvPr>
          <p:cNvSpPr txBox="1"/>
          <p:nvPr/>
        </p:nvSpPr>
        <p:spPr>
          <a:xfrm>
            <a:off x="1168955" y="4980473"/>
            <a:ext cx="101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Weight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DDC3D5-01FD-45CA-8645-26A30AD55E1D}"/>
              </a:ext>
            </a:extLst>
          </p:cNvPr>
          <p:cNvSpPr/>
          <p:nvPr/>
        </p:nvSpPr>
        <p:spPr>
          <a:xfrm>
            <a:off x="1592555" y="2691906"/>
            <a:ext cx="247382" cy="27250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99A49C-3CDB-49A9-AD10-7CC457FDBDE2}"/>
              </a:ext>
            </a:extLst>
          </p:cNvPr>
          <p:cNvCxnSpPr>
            <a:cxnSpLocks/>
          </p:cNvCxnSpPr>
          <p:nvPr/>
        </p:nvCxnSpPr>
        <p:spPr>
          <a:xfrm flipH="1">
            <a:off x="788251" y="3346183"/>
            <a:ext cx="1326656" cy="1414121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C6B06B-B69B-431D-88F8-246A0DF3FE5A}"/>
              </a:ext>
            </a:extLst>
          </p:cNvPr>
          <p:cNvCxnSpPr>
            <a:cxnSpLocks/>
          </p:cNvCxnSpPr>
          <p:nvPr/>
        </p:nvCxnSpPr>
        <p:spPr>
          <a:xfrm flipH="1">
            <a:off x="790630" y="2964413"/>
            <a:ext cx="1154748" cy="1236640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E459E3-3D58-498E-A5C8-291C68491FEF}"/>
              </a:ext>
            </a:extLst>
          </p:cNvPr>
          <p:cNvCxnSpPr>
            <a:cxnSpLocks/>
          </p:cNvCxnSpPr>
          <p:nvPr/>
        </p:nvCxnSpPr>
        <p:spPr>
          <a:xfrm flipH="1">
            <a:off x="775558" y="2369194"/>
            <a:ext cx="936107" cy="1043655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90D868-994E-424F-8550-7DDA0EFA6411}"/>
              </a:ext>
            </a:extLst>
          </p:cNvPr>
          <p:cNvCxnSpPr>
            <a:cxnSpLocks/>
          </p:cNvCxnSpPr>
          <p:nvPr/>
        </p:nvCxnSpPr>
        <p:spPr>
          <a:xfrm flipH="1">
            <a:off x="775558" y="2500277"/>
            <a:ext cx="1169820" cy="133581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25BE8074-A608-495D-818C-B0249988A7C6}"/>
              </a:ext>
            </a:extLst>
          </p:cNvPr>
          <p:cNvSpPr/>
          <p:nvPr/>
        </p:nvSpPr>
        <p:spPr>
          <a:xfrm>
            <a:off x="1496621" y="2619652"/>
            <a:ext cx="448756" cy="37074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4A59EC-3073-4860-886A-5C53E3EDB779}"/>
              </a:ext>
            </a:extLst>
          </p:cNvPr>
          <p:cNvCxnSpPr>
            <a:cxnSpLocks/>
          </p:cNvCxnSpPr>
          <p:nvPr/>
        </p:nvCxnSpPr>
        <p:spPr>
          <a:xfrm flipV="1">
            <a:off x="3275734" y="3705184"/>
            <a:ext cx="2051248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51C7F49-2159-40D4-A29C-A79EED94D51F}"/>
              </a:ext>
            </a:extLst>
          </p:cNvPr>
          <p:cNvCxnSpPr>
            <a:cxnSpLocks/>
          </p:cNvCxnSpPr>
          <p:nvPr/>
        </p:nvCxnSpPr>
        <p:spPr>
          <a:xfrm flipV="1">
            <a:off x="3275734" y="3008569"/>
            <a:ext cx="0" cy="13932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632930D-13E0-4481-9ABA-B92AA765581A}"/>
              </a:ext>
            </a:extLst>
          </p:cNvPr>
          <p:cNvSpPr txBox="1"/>
          <p:nvPr/>
        </p:nvSpPr>
        <p:spPr>
          <a:xfrm>
            <a:off x="3399425" y="3893276"/>
            <a:ext cx="1244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intercept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C91CA2-69DB-4F24-9FBC-2BD81287E73F}"/>
              </a:ext>
            </a:extLst>
          </p:cNvPr>
          <p:cNvSpPr txBox="1"/>
          <p:nvPr/>
        </p:nvSpPr>
        <p:spPr>
          <a:xfrm>
            <a:off x="2790189" y="2500277"/>
            <a:ext cx="276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Residual = (Observed – Predicted)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BED8B8A-C1E3-4A0A-9F51-15C9FC851064}"/>
              </a:ext>
            </a:extLst>
          </p:cNvPr>
          <p:cNvSpPr/>
          <p:nvPr/>
        </p:nvSpPr>
        <p:spPr>
          <a:xfrm>
            <a:off x="3152043" y="2922281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19C4F32-3EFB-4978-8786-F68F449AF23F}"/>
              </a:ext>
            </a:extLst>
          </p:cNvPr>
          <p:cNvCxnSpPr>
            <a:cxnSpLocks/>
          </p:cNvCxnSpPr>
          <p:nvPr/>
        </p:nvCxnSpPr>
        <p:spPr>
          <a:xfrm flipH="1" flipV="1">
            <a:off x="3022726" y="2922136"/>
            <a:ext cx="2304256" cy="137676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5378F8C5-5427-4170-BEE4-F27CC24FFA5B}"/>
              </a:ext>
            </a:extLst>
          </p:cNvPr>
          <p:cNvSpPr/>
          <p:nvPr/>
        </p:nvSpPr>
        <p:spPr>
          <a:xfrm>
            <a:off x="3417615" y="3140342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0A790C7-EC73-4474-A16D-1C31A8A65C2E}"/>
              </a:ext>
            </a:extLst>
          </p:cNvPr>
          <p:cNvSpPr/>
          <p:nvPr/>
        </p:nvSpPr>
        <p:spPr>
          <a:xfrm>
            <a:off x="3819015" y="3340648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50E8C10-7B6C-4A1D-B79A-E3D0C41A63D0}"/>
              </a:ext>
            </a:extLst>
          </p:cNvPr>
          <p:cNvSpPr/>
          <p:nvPr/>
        </p:nvSpPr>
        <p:spPr>
          <a:xfrm>
            <a:off x="4211086" y="3563588"/>
            <a:ext cx="247382" cy="27250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B4786AF-420A-487B-B3D8-BECAE62938F3}"/>
              </a:ext>
            </a:extLst>
          </p:cNvPr>
          <p:cNvCxnSpPr>
            <a:cxnSpLocks/>
          </p:cNvCxnSpPr>
          <p:nvPr/>
        </p:nvCxnSpPr>
        <p:spPr>
          <a:xfrm flipH="1">
            <a:off x="806006" y="3714665"/>
            <a:ext cx="1347728" cy="1396535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103E109B-E3C3-4252-8B10-E33B4839C020}"/>
              </a:ext>
            </a:extLst>
          </p:cNvPr>
          <p:cNvSpPr/>
          <p:nvPr/>
        </p:nvSpPr>
        <p:spPr>
          <a:xfrm>
            <a:off x="4931394" y="3997520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5BE6A5-5031-476D-A5B1-4D4AD47DCFA4}"/>
              </a:ext>
            </a:extLst>
          </p:cNvPr>
          <p:cNvSpPr/>
          <p:nvPr/>
        </p:nvSpPr>
        <p:spPr>
          <a:xfrm>
            <a:off x="4612949" y="3779705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4DAFA4-F914-4A33-BE5C-96FF73B4378F}"/>
              </a:ext>
            </a:extLst>
          </p:cNvPr>
          <p:cNvCxnSpPr>
            <a:cxnSpLocks/>
          </p:cNvCxnSpPr>
          <p:nvPr/>
        </p:nvCxnSpPr>
        <p:spPr>
          <a:xfrm flipV="1">
            <a:off x="6045002" y="3892835"/>
            <a:ext cx="2224703" cy="560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BA826C-2DF4-42B4-A03E-AE15F8494859}"/>
              </a:ext>
            </a:extLst>
          </p:cNvPr>
          <p:cNvCxnSpPr>
            <a:cxnSpLocks/>
          </p:cNvCxnSpPr>
          <p:nvPr/>
        </p:nvCxnSpPr>
        <p:spPr>
          <a:xfrm flipV="1">
            <a:off x="6882896" y="2547688"/>
            <a:ext cx="0" cy="13932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04B0281-FC4E-4AC0-894D-2EBEF6AD4B71}"/>
              </a:ext>
            </a:extLst>
          </p:cNvPr>
          <p:cNvSpPr/>
          <p:nvPr/>
        </p:nvSpPr>
        <p:spPr>
          <a:xfrm>
            <a:off x="6383024" y="2506586"/>
            <a:ext cx="999744" cy="1414285"/>
          </a:xfrm>
          <a:custGeom>
            <a:avLst/>
            <a:gdLst>
              <a:gd name="connsiteX0" fmla="*/ 999744 w 999744"/>
              <a:gd name="connsiteY0" fmla="*/ 0 h 1414285"/>
              <a:gd name="connsiteX1" fmla="*/ 877824 w 999744"/>
              <a:gd name="connsiteY1" fmla="*/ 950976 h 1414285"/>
              <a:gd name="connsiteX2" fmla="*/ 548640 w 999744"/>
              <a:gd name="connsiteY2" fmla="*/ 1414272 h 1414285"/>
              <a:gd name="connsiteX3" fmla="*/ 170688 w 999744"/>
              <a:gd name="connsiteY3" fmla="*/ 938784 h 1414285"/>
              <a:gd name="connsiteX4" fmla="*/ 0 w 999744"/>
              <a:gd name="connsiteY4" fmla="*/ 12192 h 141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9744" h="1414285">
                <a:moveTo>
                  <a:pt x="999744" y="0"/>
                </a:moveTo>
                <a:cubicBezTo>
                  <a:pt x="976376" y="357632"/>
                  <a:pt x="953008" y="715264"/>
                  <a:pt x="877824" y="950976"/>
                </a:cubicBezTo>
                <a:cubicBezTo>
                  <a:pt x="802640" y="1186688"/>
                  <a:pt x="666496" y="1416304"/>
                  <a:pt x="548640" y="1414272"/>
                </a:cubicBezTo>
                <a:cubicBezTo>
                  <a:pt x="430784" y="1412240"/>
                  <a:pt x="262128" y="1172464"/>
                  <a:pt x="170688" y="938784"/>
                </a:cubicBezTo>
                <a:cubicBezTo>
                  <a:pt x="79248" y="705104"/>
                  <a:pt x="39624" y="358648"/>
                  <a:pt x="0" y="12192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2857436-552B-43C8-A67F-32B2D8B54D21}"/>
              </a:ext>
            </a:extLst>
          </p:cNvPr>
          <p:cNvSpPr/>
          <p:nvPr/>
        </p:nvSpPr>
        <p:spPr>
          <a:xfrm>
            <a:off x="6799485" y="3757078"/>
            <a:ext cx="247382" cy="27250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2A81A9C-74C4-49EB-8B39-3A1A04C39FBC}"/>
              </a:ext>
            </a:extLst>
          </p:cNvPr>
          <p:cNvSpPr/>
          <p:nvPr/>
        </p:nvSpPr>
        <p:spPr>
          <a:xfrm>
            <a:off x="7046867" y="3892834"/>
            <a:ext cx="886095" cy="894468"/>
          </a:xfrm>
          <a:custGeom>
            <a:avLst/>
            <a:gdLst>
              <a:gd name="connsiteX0" fmla="*/ 377952 w 454577"/>
              <a:gd name="connsiteY0" fmla="*/ 2060448 h 2060448"/>
              <a:gd name="connsiteX1" fmla="*/ 426720 w 454577"/>
              <a:gd name="connsiteY1" fmla="*/ 548640 h 2060448"/>
              <a:gd name="connsiteX2" fmla="*/ 0 w 454577"/>
              <a:gd name="connsiteY2" fmla="*/ 0 h 206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4577" h="2060448">
                <a:moveTo>
                  <a:pt x="377952" y="2060448"/>
                </a:moveTo>
                <a:cubicBezTo>
                  <a:pt x="433832" y="1476248"/>
                  <a:pt x="489712" y="892048"/>
                  <a:pt x="426720" y="548640"/>
                </a:cubicBezTo>
                <a:cubicBezTo>
                  <a:pt x="363728" y="205232"/>
                  <a:pt x="181864" y="102616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副標題 2">
            <a:extLst>
              <a:ext uri="{FF2B5EF4-FFF2-40B4-BE49-F238E27FC236}">
                <a16:creationId xmlns:a16="http://schemas.microsoft.com/office/drawing/2014/main" id="{8CB9BBC9-619B-4D4C-879D-2B21A825C8DF}"/>
              </a:ext>
            </a:extLst>
          </p:cNvPr>
          <p:cNvSpPr txBox="1">
            <a:spLocks/>
          </p:cNvSpPr>
          <p:nvPr/>
        </p:nvSpPr>
        <p:spPr>
          <a:xfrm>
            <a:off x="5580112" y="4760304"/>
            <a:ext cx="2686129" cy="54681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Minimum Squared Residual = 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FDAA8F-D4DD-4602-B7BF-A04212B291DB}"/>
              </a:ext>
            </a:extLst>
          </p:cNvPr>
          <p:cNvSpPr txBox="1"/>
          <p:nvPr/>
        </p:nvSpPr>
        <p:spPr>
          <a:xfrm>
            <a:off x="6852159" y="4145546"/>
            <a:ext cx="1244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intercept</a:t>
            </a:r>
          </a:p>
        </p:txBody>
      </p:sp>
    </p:spTree>
    <p:extLst>
      <p:ext uri="{BB962C8B-B14F-4D97-AF65-F5344CB8AC3E}">
        <p14:creationId xmlns:p14="http://schemas.microsoft.com/office/powerpoint/2010/main" val="2663243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46.5 Summary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28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075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46.5 Summary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40766"/>
            <a:ext cx="8352928" cy="237626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Summary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We discuss Chain Rule and Partial Derivative (Power Rule) for variable relationship.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1) Partial Derivative of variable relation.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2) Loss function Use Chain Rule in Machine Learning.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3) Overall derivative can be split into several individual partial derivative by chain rule.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4) Apply power rule for each individual partial derivative.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4773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46.5 Summary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57200" y="1340766"/>
            <a:ext cx="8352928" cy="113249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Summary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5) Assume the measurement point to Residual  (= Observed – predicted value) = 0.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6) The Overall partial Derivative = 0 at the minimum point.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925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https://www.youtube.com/watch?v=wl1myxrtQHQ&amp;list=PLblh5JKOoLUICTaGLRoHQDuF_7q2GfuJF&amp;index=49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30</a:t>
            </a:fld>
            <a:endParaRPr lang="zh-TW" alt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E5146B0-B28B-4741-9D9C-91ADA7ED1B07}"/>
              </a:ext>
            </a:extLst>
          </p:cNvPr>
          <p:cNvCxnSpPr>
            <a:cxnSpLocks/>
          </p:cNvCxnSpPr>
          <p:nvPr/>
        </p:nvCxnSpPr>
        <p:spPr>
          <a:xfrm flipV="1">
            <a:off x="696913" y="5247216"/>
            <a:ext cx="1657164" cy="61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E278DF1-ECCD-4D94-ADF4-8E914BE404CF}"/>
              </a:ext>
            </a:extLst>
          </p:cNvPr>
          <p:cNvCxnSpPr>
            <a:cxnSpLocks/>
          </p:cNvCxnSpPr>
          <p:nvPr/>
        </p:nvCxnSpPr>
        <p:spPr>
          <a:xfrm flipV="1">
            <a:off x="696913" y="3221758"/>
            <a:ext cx="0" cy="20315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387FEE7-49C0-4C33-AA4B-985077088F7B}"/>
              </a:ext>
            </a:extLst>
          </p:cNvPr>
          <p:cNvCxnSpPr>
            <a:cxnSpLocks/>
          </p:cNvCxnSpPr>
          <p:nvPr/>
        </p:nvCxnSpPr>
        <p:spPr>
          <a:xfrm>
            <a:off x="1633017" y="5109335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84A28C9-2CFC-467E-93C1-D9E3CA7881EF}"/>
              </a:ext>
            </a:extLst>
          </p:cNvPr>
          <p:cNvCxnSpPr>
            <a:cxnSpLocks/>
          </p:cNvCxnSpPr>
          <p:nvPr/>
        </p:nvCxnSpPr>
        <p:spPr>
          <a:xfrm>
            <a:off x="566217" y="4324370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1D35C50-82DB-4286-997C-35484B20AB24}"/>
              </a:ext>
            </a:extLst>
          </p:cNvPr>
          <p:cNvCxnSpPr>
            <a:cxnSpLocks/>
          </p:cNvCxnSpPr>
          <p:nvPr/>
        </p:nvCxnSpPr>
        <p:spPr>
          <a:xfrm>
            <a:off x="596662" y="3316547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82354E9-3FEB-412A-A9EC-471D1C7FE4A0}"/>
              </a:ext>
            </a:extLst>
          </p:cNvPr>
          <p:cNvSpPr txBox="1"/>
          <p:nvPr/>
        </p:nvSpPr>
        <p:spPr>
          <a:xfrm>
            <a:off x="1090307" y="5467385"/>
            <a:ext cx="101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Weight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1B5843D-ED49-4B84-BF69-45E4CD34298C}"/>
              </a:ext>
            </a:extLst>
          </p:cNvPr>
          <p:cNvSpPr/>
          <p:nvPr/>
        </p:nvSpPr>
        <p:spPr>
          <a:xfrm>
            <a:off x="1513907" y="3178818"/>
            <a:ext cx="247382" cy="272507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177E292-966F-4340-BEA7-2338DCB4B673}"/>
              </a:ext>
            </a:extLst>
          </p:cNvPr>
          <p:cNvCxnSpPr>
            <a:cxnSpLocks/>
          </p:cNvCxnSpPr>
          <p:nvPr/>
        </p:nvCxnSpPr>
        <p:spPr>
          <a:xfrm flipH="1">
            <a:off x="709603" y="3833095"/>
            <a:ext cx="1326656" cy="1414121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0C4526A-7F4F-48C9-94E3-8931F9C2D866}"/>
              </a:ext>
            </a:extLst>
          </p:cNvPr>
          <p:cNvCxnSpPr>
            <a:cxnSpLocks/>
          </p:cNvCxnSpPr>
          <p:nvPr/>
        </p:nvCxnSpPr>
        <p:spPr>
          <a:xfrm flipH="1">
            <a:off x="711982" y="3451325"/>
            <a:ext cx="1154748" cy="1236640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37B21E3-7E03-4913-ACE5-61C3BFE8525F}"/>
              </a:ext>
            </a:extLst>
          </p:cNvPr>
          <p:cNvCxnSpPr>
            <a:cxnSpLocks/>
          </p:cNvCxnSpPr>
          <p:nvPr/>
        </p:nvCxnSpPr>
        <p:spPr>
          <a:xfrm flipH="1">
            <a:off x="696910" y="2856106"/>
            <a:ext cx="936107" cy="1043655"/>
          </a:xfrm>
          <a:prstGeom prst="line">
            <a:avLst/>
          </a:prstGeom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286DD2C-CEC5-4950-A524-3C56EB7826B6}"/>
              </a:ext>
            </a:extLst>
          </p:cNvPr>
          <p:cNvCxnSpPr>
            <a:cxnSpLocks/>
          </p:cNvCxnSpPr>
          <p:nvPr/>
        </p:nvCxnSpPr>
        <p:spPr>
          <a:xfrm flipH="1">
            <a:off x="696910" y="2987189"/>
            <a:ext cx="1169820" cy="133581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Multiplication Sign 43">
            <a:extLst>
              <a:ext uri="{FF2B5EF4-FFF2-40B4-BE49-F238E27FC236}">
                <a16:creationId xmlns:a16="http://schemas.microsoft.com/office/drawing/2014/main" id="{32376552-4A14-4917-A79F-D40D8797F084}"/>
              </a:ext>
            </a:extLst>
          </p:cNvPr>
          <p:cNvSpPr/>
          <p:nvPr/>
        </p:nvSpPr>
        <p:spPr>
          <a:xfrm>
            <a:off x="1417973" y="3106564"/>
            <a:ext cx="448756" cy="370747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E9F36A8-8B4F-40D6-A6AC-2A515618F19B}"/>
              </a:ext>
            </a:extLst>
          </p:cNvPr>
          <p:cNvCxnSpPr>
            <a:cxnSpLocks/>
          </p:cNvCxnSpPr>
          <p:nvPr/>
        </p:nvCxnSpPr>
        <p:spPr>
          <a:xfrm flipV="1">
            <a:off x="3197086" y="4192096"/>
            <a:ext cx="2051248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A988351-7AF6-4B50-8F75-1CD3870CABA7}"/>
              </a:ext>
            </a:extLst>
          </p:cNvPr>
          <p:cNvCxnSpPr>
            <a:cxnSpLocks/>
          </p:cNvCxnSpPr>
          <p:nvPr/>
        </p:nvCxnSpPr>
        <p:spPr>
          <a:xfrm flipV="1">
            <a:off x="3197086" y="3495481"/>
            <a:ext cx="0" cy="13932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7E3A7D0-3230-4477-B222-A925BDAF3BA5}"/>
              </a:ext>
            </a:extLst>
          </p:cNvPr>
          <p:cNvSpPr txBox="1"/>
          <p:nvPr/>
        </p:nvSpPr>
        <p:spPr>
          <a:xfrm>
            <a:off x="3320777" y="4380188"/>
            <a:ext cx="1244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intercept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DD5CB7-E306-48EC-88E4-5351283E7573}"/>
              </a:ext>
            </a:extLst>
          </p:cNvPr>
          <p:cNvSpPr txBox="1"/>
          <p:nvPr/>
        </p:nvSpPr>
        <p:spPr>
          <a:xfrm>
            <a:off x="2711541" y="2987189"/>
            <a:ext cx="276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Residual = (Observed – Predicted)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E6C12D8-A1B2-4301-AA29-FDE84FCE4F57}"/>
              </a:ext>
            </a:extLst>
          </p:cNvPr>
          <p:cNvSpPr/>
          <p:nvPr/>
        </p:nvSpPr>
        <p:spPr>
          <a:xfrm>
            <a:off x="3073395" y="3409193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C18DC10-BA8C-4C0F-8642-61C5F1A67B49}"/>
              </a:ext>
            </a:extLst>
          </p:cNvPr>
          <p:cNvCxnSpPr>
            <a:cxnSpLocks/>
          </p:cNvCxnSpPr>
          <p:nvPr/>
        </p:nvCxnSpPr>
        <p:spPr>
          <a:xfrm flipH="1" flipV="1">
            <a:off x="2944078" y="3409048"/>
            <a:ext cx="2304256" cy="137676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14C185F0-BBF0-431F-A10D-D5CF24EBD170}"/>
              </a:ext>
            </a:extLst>
          </p:cNvPr>
          <p:cNvSpPr/>
          <p:nvPr/>
        </p:nvSpPr>
        <p:spPr>
          <a:xfrm>
            <a:off x="3338967" y="3627254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89BA4D4-AC20-414C-9D06-FA340FC3272D}"/>
              </a:ext>
            </a:extLst>
          </p:cNvPr>
          <p:cNvSpPr/>
          <p:nvPr/>
        </p:nvSpPr>
        <p:spPr>
          <a:xfrm>
            <a:off x="3740367" y="3827560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60DE2E5-4A02-41EC-9DB7-E8AF00B439EF}"/>
              </a:ext>
            </a:extLst>
          </p:cNvPr>
          <p:cNvSpPr/>
          <p:nvPr/>
        </p:nvSpPr>
        <p:spPr>
          <a:xfrm>
            <a:off x="4132438" y="4050500"/>
            <a:ext cx="247382" cy="27250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222F90D-EE15-47FD-B2D6-9E04F5C72FE4}"/>
              </a:ext>
            </a:extLst>
          </p:cNvPr>
          <p:cNvCxnSpPr>
            <a:cxnSpLocks/>
          </p:cNvCxnSpPr>
          <p:nvPr/>
        </p:nvCxnSpPr>
        <p:spPr>
          <a:xfrm flipH="1">
            <a:off x="727358" y="4201577"/>
            <a:ext cx="1347728" cy="1396535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D63F39C0-6A66-4B20-9632-3B95626E6E5B}"/>
              </a:ext>
            </a:extLst>
          </p:cNvPr>
          <p:cNvSpPr/>
          <p:nvPr/>
        </p:nvSpPr>
        <p:spPr>
          <a:xfrm>
            <a:off x="4852746" y="4484432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837BEA4-783A-4F7B-ABA8-1BDDF44A406E}"/>
              </a:ext>
            </a:extLst>
          </p:cNvPr>
          <p:cNvSpPr/>
          <p:nvPr/>
        </p:nvSpPr>
        <p:spPr>
          <a:xfrm>
            <a:off x="4534301" y="4266617"/>
            <a:ext cx="247382" cy="27250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BD37B8F-5154-4C73-B94C-BE53054A0C3D}"/>
              </a:ext>
            </a:extLst>
          </p:cNvPr>
          <p:cNvCxnSpPr>
            <a:cxnSpLocks/>
          </p:cNvCxnSpPr>
          <p:nvPr/>
        </p:nvCxnSpPr>
        <p:spPr>
          <a:xfrm flipV="1">
            <a:off x="5966354" y="4379747"/>
            <a:ext cx="2224703" cy="560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BED8CAA-855C-45E0-95F5-395EE0DE1A1C}"/>
              </a:ext>
            </a:extLst>
          </p:cNvPr>
          <p:cNvCxnSpPr>
            <a:cxnSpLocks/>
          </p:cNvCxnSpPr>
          <p:nvPr/>
        </p:nvCxnSpPr>
        <p:spPr>
          <a:xfrm flipV="1">
            <a:off x="6804248" y="3034600"/>
            <a:ext cx="0" cy="13932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8F2CC7A-D9A0-45D3-AA0D-A860B5AEC430}"/>
              </a:ext>
            </a:extLst>
          </p:cNvPr>
          <p:cNvSpPr/>
          <p:nvPr/>
        </p:nvSpPr>
        <p:spPr>
          <a:xfrm>
            <a:off x="6304376" y="2993498"/>
            <a:ext cx="999744" cy="1414285"/>
          </a:xfrm>
          <a:custGeom>
            <a:avLst/>
            <a:gdLst>
              <a:gd name="connsiteX0" fmla="*/ 999744 w 999744"/>
              <a:gd name="connsiteY0" fmla="*/ 0 h 1414285"/>
              <a:gd name="connsiteX1" fmla="*/ 877824 w 999744"/>
              <a:gd name="connsiteY1" fmla="*/ 950976 h 1414285"/>
              <a:gd name="connsiteX2" fmla="*/ 548640 w 999744"/>
              <a:gd name="connsiteY2" fmla="*/ 1414272 h 1414285"/>
              <a:gd name="connsiteX3" fmla="*/ 170688 w 999744"/>
              <a:gd name="connsiteY3" fmla="*/ 938784 h 1414285"/>
              <a:gd name="connsiteX4" fmla="*/ 0 w 999744"/>
              <a:gd name="connsiteY4" fmla="*/ 12192 h 141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9744" h="1414285">
                <a:moveTo>
                  <a:pt x="999744" y="0"/>
                </a:moveTo>
                <a:cubicBezTo>
                  <a:pt x="976376" y="357632"/>
                  <a:pt x="953008" y="715264"/>
                  <a:pt x="877824" y="950976"/>
                </a:cubicBezTo>
                <a:cubicBezTo>
                  <a:pt x="802640" y="1186688"/>
                  <a:pt x="666496" y="1416304"/>
                  <a:pt x="548640" y="1414272"/>
                </a:cubicBezTo>
                <a:cubicBezTo>
                  <a:pt x="430784" y="1412240"/>
                  <a:pt x="262128" y="1172464"/>
                  <a:pt x="170688" y="938784"/>
                </a:cubicBezTo>
                <a:cubicBezTo>
                  <a:pt x="79248" y="705104"/>
                  <a:pt x="39624" y="358648"/>
                  <a:pt x="0" y="12192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70D0ACE-4D3C-437F-8F19-5E66C3CDE7E0}"/>
              </a:ext>
            </a:extLst>
          </p:cNvPr>
          <p:cNvSpPr/>
          <p:nvPr/>
        </p:nvSpPr>
        <p:spPr>
          <a:xfrm>
            <a:off x="6720837" y="4243990"/>
            <a:ext cx="247382" cy="27250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42BC0892-CDCE-46E8-AAD4-896AECBDBE8B}"/>
              </a:ext>
            </a:extLst>
          </p:cNvPr>
          <p:cNvSpPr/>
          <p:nvPr/>
        </p:nvSpPr>
        <p:spPr>
          <a:xfrm>
            <a:off x="6968219" y="4379746"/>
            <a:ext cx="886095" cy="894468"/>
          </a:xfrm>
          <a:custGeom>
            <a:avLst/>
            <a:gdLst>
              <a:gd name="connsiteX0" fmla="*/ 377952 w 454577"/>
              <a:gd name="connsiteY0" fmla="*/ 2060448 h 2060448"/>
              <a:gd name="connsiteX1" fmla="*/ 426720 w 454577"/>
              <a:gd name="connsiteY1" fmla="*/ 548640 h 2060448"/>
              <a:gd name="connsiteX2" fmla="*/ 0 w 454577"/>
              <a:gd name="connsiteY2" fmla="*/ 0 h 2060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4577" h="2060448">
                <a:moveTo>
                  <a:pt x="377952" y="2060448"/>
                </a:moveTo>
                <a:cubicBezTo>
                  <a:pt x="433832" y="1476248"/>
                  <a:pt x="489712" y="892048"/>
                  <a:pt x="426720" y="548640"/>
                </a:cubicBezTo>
                <a:cubicBezTo>
                  <a:pt x="363728" y="205232"/>
                  <a:pt x="181864" y="102616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副標題 2">
            <a:extLst>
              <a:ext uri="{FF2B5EF4-FFF2-40B4-BE49-F238E27FC236}">
                <a16:creationId xmlns:a16="http://schemas.microsoft.com/office/drawing/2014/main" id="{23C96AFA-72BA-4D6A-97C7-80E675978CF0}"/>
              </a:ext>
            </a:extLst>
          </p:cNvPr>
          <p:cNvSpPr txBox="1">
            <a:spLocks/>
          </p:cNvSpPr>
          <p:nvPr/>
        </p:nvSpPr>
        <p:spPr>
          <a:xfrm>
            <a:off x="5501464" y="5247216"/>
            <a:ext cx="2686129" cy="54681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Minimum Squared Residual = 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D21081-994F-4E87-9B22-581B0C04C07E}"/>
              </a:ext>
            </a:extLst>
          </p:cNvPr>
          <p:cNvSpPr txBox="1"/>
          <p:nvPr/>
        </p:nvSpPr>
        <p:spPr>
          <a:xfrm>
            <a:off x="6773511" y="4632458"/>
            <a:ext cx="1244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intercept</a:t>
            </a:r>
          </a:p>
        </p:txBody>
      </p:sp>
    </p:spTree>
    <p:extLst>
      <p:ext uri="{BB962C8B-B14F-4D97-AF65-F5344CB8AC3E}">
        <p14:creationId xmlns:p14="http://schemas.microsoft.com/office/powerpoint/2010/main" val="1795389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2021/2/6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6451</TotalTime>
  <Words>2113</Words>
  <Application>Microsoft Office PowerPoint</Application>
  <PresentationFormat>On-screen Show (4:3)</PresentationFormat>
  <Paragraphs>299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 Math</vt:lpstr>
      <vt:lpstr>Wingdings</vt:lpstr>
      <vt:lpstr>Office 佈景主題</vt:lpstr>
      <vt:lpstr>46 Chain Rule</vt:lpstr>
      <vt:lpstr>46 Chain Rule</vt:lpstr>
      <vt:lpstr>46 Chain Rule</vt:lpstr>
      <vt:lpstr>46 Chain Rule</vt:lpstr>
      <vt:lpstr>46.1 Relation From Weight to Size</vt:lpstr>
      <vt:lpstr>46.1 Relation From Weight to Size</vt:lpstr>
      <vt:lpstr>46.1 Relation From Weight to Size</vt:lpstr>
      <vt:lpstr>46.2 Chain Rule Relation </vt:lpstr>
      <vt:lpstr>46.2 Chain Rule Relation </vt:lpstr>
      <vt:lpstr>46.2 Chain Rule Relation </vt:lpstr>
      <vt:lpstr>46.2 Chain Rule Relation </vt:lpstr>
      <vt:lpstr>46.3 Complicate Chain Rule Relation </vt:lpstr>
      <vt:lpstr>46.3 Complicate Chain Rule Relation </vt:lpstr>
      <vt:lpstr>46.3 Complicate Chain Rule Relation </vt:lpstr>
      <vt:lpstr>46.3 Complicate Chain Rule Relation </vt:lpstr>
      <vt:lpstr>46.3 Complicate Chain Rule Relation </vt:lpstr>
      <vt:lpstr>46.4 Chain Rule to Sum of Squared </vt:lpstr>
      <vt:lpstr>46.4 Chain Rule to Sum of Squared </vt:lpstr>
      <vt:lpstr>46.4 Chain Rule to Sum of Squared </vt:lpstr>
      <vt:lpstr>46.4 Chain Rule to Sum of Squared </vt:lpstr>
      <vt:lpstr>46.4 Chain Rule to Sum of Squared </vt:lpstr>
      <vt:lpstr>46.4 Chain Rule to Sum of Squared </vt:lpstr>
      <vt:lpstr>46.4 Chain Rule to Sum of Squared </vt:lpstr>
      <vt:lpstr>46.4 Chain Rule to Sum of Squared </vt:lpstr>
      <vt:lpstr>46.4 Chain Rule to Sum of Squared </vt:lpstr>
      <vt:lpstr>46.4 Chain Rule to Sum of Squared </vt:lpstr>
      <vt:lpstr>46.4 Chain Rule to Sum of Squared </vt:lpstr>
      <vt:lpstr>46.5 Summary</vt:lpstr>
      <vt:lpstr>46.5 Summary</vt:lpstr>
      <vt:lpstr>46.5 Summary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2355</cp:revision>
  <dcterms:created xsi:type="dcterms:W3CDTF">2018-09-28T16:40:41Z</dcterms:created>
  <dcterms:modified xsi:type="dcterms:W3CDTF">2021-02-07T06:13:58Z</dcterms:modified>
</cp:coreProperties>
</file>