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73" r:id="rId4"/>
    <p:sldId id="274" r:id="rId5"/>
    <p:sldId id="264" r:id="rId6"/>
    <p:sldId id="263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62" r:id="rId15"/>
    <p:sldId id="275" r:id="rId16"/>
    <p:sldId id="276" r:id="rId17"/>
    <p:sldId id="277" r:id="rId18"/>
    <p:sldId id="280" r:id="rId19"/>
    <p:sldId id="279" r:id="rId20"/>
    <p:sldId id="278" r:id="rId21"/>
    <p:sldId id="281" r:id="rId22"/>
    <p:sldId id="284" r:id="rId23"/>
    <p:sldId id="283" r:id="rId24"/>
    <p:sldId id="282" r:id="rId25"/>
    <p:sldId id="285" r:id="rId26"/>
    <p:sldId id="286" r:id="rId27"/>
    <p:sldId id="290" r:id="rId28"/>
    <p:sldId id="287" r:id="rId29"/>
    <p:sldId id="288" r:id="rId30"/>
    <p:sldId id="289" r:id="rId31"/>
    <p:sldId id="291" r:id="rId32"/>
    <p:sldId id="292" r:id="rId33"/>
    <p:sldId id="293" r:id="rId34"/>
    <p:sldId id="294" r:id="rId35"/>
    <p:sldId id="295" r:id="rId36"/>
    <p:sldId id="296" r:id="rId37"/>
    <p:sldId id="298" r:id="rId38"/>
    <p:sldId id="297" r:id="rId39"/>
    <p:sldId id="299" r:id="rId40"/>
    <p:sldId id="259" r:id="rId4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4088587657" initials="1" lastIdx="2" clrIdx="0">
    <p:extLst>
      <p:ext uri="{19B8F6BF-5375-455C-9EA6-DF929625EA0E}">
        <p15:presenceInfo xmlns:p15="http://schemas.microsoft.com/office/powerpoint/2012/main" userId="46f8387d243dde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7" autoAdjust="0"/>
    <p:restoredTop sz="96806" autoAdjust="0"/>
  </p:normalViewPr>
  <p:slideViewPr>
    <p:cSldViewPr>
      <p:cViewPr varScale="1">
        <p:scale>
          <a:sx n="87" d="100"/>
          <a:sy n="87" d="100"/>
        </p:scale>
        <p:origin x="10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 Stochastic Gradient Descent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 Stochastic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352928" cy="72008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discuss the Stochastic Gradient Descent.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First, we review the Gradient Descent.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48.1 Gradient Descent Example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6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145321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Gradient Descent, we have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Predicted Height = intercept + slope x Weight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Our goal is to find the optimal value for intercept and slope.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For example, If we start with intercept = 0 and slope = 1, then we can use weight to predict height.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1828058" y="5996311"/>
            <a:ext cx="266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1828058" y="3764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2548138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4204322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3412234" y="5964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1630526" y="4268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1630526" y="534823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1630526" y="477217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1630526" y="3909275"/>
            <a:ext cx="2359732" cy="1799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2945389" y="5057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3441843" y="369932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2302397" y="44224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A2BC2-AE58-427B-89F0-7CCC7DED53AE}"/>
              </a:ext>
            </a:extLst>
          </p:cNvPr>
          <p:cNvSpPr txBox="1"/>
          <p:nvPr/>
        </p:nvSpPr>
        <p:spPr>
          <a:xfrm>
            <a:off x="3593457" y="4892669"/>
            <a:ext cx="46805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Predicted Height  = Intercept + slope x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3994424" y="623828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842653" y="4288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DA0EB-2D6E-4D8D-ADC3-0205ECDEFE8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828058" y="5057344"/>
            <a:ext cx="3637607" cy="76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D0C29-9EFD-4A62-8FAC-9D24170D470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3844282" y="4031764"/>
            <a:ext cx="2953527" cy="88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6910D-C8CF-41ED-8D92-113430AC5FB6}"/>
              </a:ext>
            </a:extLst>
          </p:cNvPr>
          <p:cNvSpPr/>
          <p:nvPr/>
        </p:nvSpPr>
        <p:spPr>
          <a:xfrm>
            <a:off x="5465665" y="4888043"/>
            <a:ext cx="93610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C90DAD-0C15-4EB3-95AE-7F3F7771241E}"/>
              </a:ext>
            </a:extLst>
          </p:cNvPr>
          <p:cNvSpPr/>
          <p:nvPr/>
        </p:nvSpPr>
        <p:spPr>
          <a:xfrm>
            <a:off x="6545777" y="4914107"/>
            <a:ext cx="50406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6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169804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Then we can use </a:t>
            </a:r>
            <a:r>
              <a:rPr lang="en-US" sz="1600" b="1" dirty="0">
                <a:solidFill>
                  <a:schemeClr val="tx1"/>
                </a:solidFill>
              </a:rPr>
              <a:t>sum of the squared residuals </a:t>
            </a:r>
            <a:r>
              <a:rPr lang="en-US" sz="1600" dirty="0">
                <a:solidFill>
                  <a:schemeClr val="tx1"/>
                </a:solidFill>
              </a:rPr>
              <a:t>as the </a:t>
            </a:r>
            <a:r>
              <a:rPr lang="en-US" sz="1600" b="1" dirty="0">
                <a:solidFill>
                  <a:srgbClr val="C00000"/>
                </a:solidFill>
              </a:rPr>
              <a:t>Loss Function </a:t>
            </a:r>
            <a:r>
              <a:rPr lang="en-US" sz="1600" dirty="0">
                <a:solidFill>
                  <a:schemeClr val="tx1"/>
                </a:solidFill>
              </a:rPr>
              <a:t>to determine how well of the initial line fit the data.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Machine Learning lingo, </a:t>
            </a:r>
            <a:r>
              <a:rPr lang="en-US" sz="1600" b="1" dirty="0">
                <a:solidFill>
                  <a:srgbClr val="C00000"/>
                </a:solidFill>
              </a:rPr>
              <a:t>SSR (Sum of Squared Residual) </a:t>
            </a:r>
            <a:r>
              <a:rPr lang="en-US" sz="1600" dirty="0">
                <a:solidFill>
                  <a:schemeClr val="tx1"/>
                </a:solidFill>
              </a:rPr>
              <a:t>means </a:t>
            </a:r>
            <a:r>
              <a:rPr lang="en-US" sz="1600" b="1" dirty="0">
                <a:solidFill>
                  <a:srgbClr val="C00000"/>
                </a:solidFill>
              </a:rPr>
              <a:t>Loss Function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SSR (Sum of the squared residuals) </a:t>
            </a:r>
            <a:r>
              <a:rPr lang="en-US" sz="1600" dirty="0">
                <a:solidFill>
                  <a:schemeClr val="tx1"/>
                </a:solidFill>
              </a:rPr>
              <a:t>= </a:t>
            </a:r>
            <a:r>
              <a:rPr lang="en-US" sz="1600" b="1" dirty="0">
                <a:solidFill>
                  <a:schemeClr val="tx1"/>
                </a:solidFill>
              </a:rPr>
              <a:t>(Observed Height – Predicted Height)</a:t>
            </a:r>
            <a:r>
              <a:rPr lang="en-US" sz="1600" b="1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To find the optimal value, we plug in the equation for the prediction.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SSR (Sum of the squared residuals) = (Observed Height – (Intercept + slope x Weight))</a:t>
            </a:r>
            <a:r>
              <a:rPr lang="en-US" sz="1600" b="1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1828058" y="5996311"/>
            <a:ext cx="266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1828058" y="3764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2548138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4204322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3412234" y="5964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1630526" y="4268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1630526" y="534823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1630526" y="477217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1630526" y="3909275"/>
            <a:ext cx="2359732" cy="1799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2945389" y="5057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3441843" y="369932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2302397" y="44224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A2BC2-AE58-427B-89F0-7CCC7DED53AE}"/>
              </a:ext>
            </a:extLst>
          </p:cNvPr>
          <p:cNvSpPr txBox="1"/>
          <p:nvPr/>
        </p:nvSpPr>
        <p:spPr>
          <a:xfrm>
            <a:off x="3593457" y="4892669"/>
            <a:ext cx="46805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Predicted Height  = Intercept + slope x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3994424" y="623828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842653" y="4288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DA0EB-2D6E-4D8D-ADC3-0205ECDEFE8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828058" y="5057344"/>
            <a:ext cx="3637607" cy="76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D0C29-9EFD-4A62-8FAC-9D24170D470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3844282" y="4031764"/>
            <a:ext cx="2953527" cy="88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6910D-C8CF-41ED-8D92-113430AC5FB6}"/>
              </a:ext>
            </a:extLst>
          </p:cNvPr>
          <p:cNvSpPr/>
          <p:nvPr/>
        </p:nvSpPr>
        <p:spPr>
          <a:xfrm>
            <a:off x="5465665" y="4888043"/>
            <a:ext cx="93610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C90DAD-0C15-4EB3-95AE-7F3F7771241E}"/>
              </a:ext>
            </a:extLst>
          </p:cNvPr>
          <p:cNvSpPr/>
          <p:nvPr/>
        </p:nvSpPr>
        <p:spPr>
          <a:xfrm>
            <a:off x="6545777" y="4914107"/>
            <a:ext cx="50406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8BE1F0-D2FA-4118-BB88-068762E62629}"/>
              </a:ext>
            </a:extLst>
          </p:cNvPr>
          <p:cNvCxnSpPr>
            <a:cxnSpLocks/>
          </p:cNvCxnSpPr>
          <p:nvPr/>
        </p:nvCxnSpPr>
        <p:spPr>
          <a:xfrm>
            <a:off x="2428256" y="4657815"/>
            <a:ext cx="0" cy="49384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D220F4-7897-4899-9705-D7BDA5C7C50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053401" y="4657601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300E58-F0AA-4693-ABF3-B8EBF28D605C}"/>
              </a:ext>
            </a:extLst>
          </p:cNvPr>
          <p:cNvCxnSpPr>
            <a:cxnSpLocks/>
          </p:cNvCxnSpPr>
          <p:nvPr/>
        </p:nvCxnSpPr>
        <p:spPr>
          <a:xfrm>
            <a:off x="3575613" y="3909275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224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346627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Sum of the squared residuals = (Observed Height – (Intercept + slope x Weight))</a:t>
                </a:r>
                <a:r>
                  <a:rPr lang="en-US" sz="1600" baseline="30000" dirty="0">
                    <a:solidFill>
                      <a:schemeClr val="tx1"/>
                    </a:solidFill>
                  </a:rPr>
                  <a:t>2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Then, we take the derivate of the sum of the residuals with respect to intercept.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(Observed Height – (Intercept + slope x Weight))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346627"/>
              </a:xfrm>
              <a:blipFill>
                <a:blip r:embed="rId2"/>
                <a:stretch>
                  <a:fillRect t="-897" b="-762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1828058" y="5996311"/>
            <a:ext cx="266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1828058" y="3764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2548138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4204322" y="5923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3412234" y="5964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1630526" y="4268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1630526" y="534823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1630526" y="477217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1630526" y="3909275"/>
            <a:ext cx="2359732" cy="1799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2945389" y="5057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3441843" y="369932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2302397" y="442246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8A2BC2-AE58-427B-89F0-7CCC7DED53AE}"/>
              </a:ext>
            </a:extLst>
          </p:cNvPr>
          <p:cNvSpPr txBox="1"/>
          <p:nvPr/>
        </p:nvSpPr>
        <p:spPr>
          <a:xfrm>
            <a:off x="3593457" y="4892669"/>
            <a:ext cx="468050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Predicted Height  = Intercept + slope x 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3994424" y="6238284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842653" y="4288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DA0EB-2D6E-4D8D-ADC3-0205ECDEFE8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828058" y="5057344"/>
            <a:ext cx="3637607" cy="76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D0C29-9EFD-4A62-8FAC-9D24170D4709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3844282" y="4031764"/>
            <a:ext cx="2953527" cy="88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966910D-C8CF-41ED-8D92-113430AC5FB6}"/>
              </a:ext>
            </a:extLst>
          </p:cNvPr>
          <p:cNvSpPr/>
          <p:nvPr/>
        </p:nvSpPr>
        <p:spPr>
          <a:xfrm>
            <a:off x="5465665" y="4888043"/>
            <a:ext cx="93610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C90DAD-0C15-4EB3-95AE-7F3F7771241E}"/>
              </a:ext>
            </a:extLst>
          </p:cNvPr>
          <p:cNvSpPr/>
          <p:nvPr/>
        </p:nvSpPr>
        <p:spPr>
          <a:xfrm>
            <a:off x="6545777" y="4914107"/>
            <a:ext cx="504064" cy="338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8BE1F0-D2FA-4118-BB88-068762E62629}"/>
              </a:ext>
            </a:extLst>
          </p:cNvPr>
          <p:cNvCxnSpPr>
            <a:cxnSpLocks/>
          </p:cNvCxnSpPr>
          <p:nvPr/>
        </p:nvCxnSpPr>
        <p:spPr>
          <a:xfrm>
            <a:off x="2428256" y="4657815"/>
            <a:ext cx="0" cy="49384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D220F4-7897-4899-9705-D7BDA5C7C50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053401" y="4657601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300E58-F0AA-4693-ABF3-B8EBF28D605C}"/>
              </a:ext>
            </a:extLst>
          </p:cNvPr>
          <p:cNvCxnSpPr>
            <a:cxnSpLocks/>
          </p:cNvCxnSpPr>
          <p:nvPr/>
        </p:nvCxnSpPr>
        <p:spPr>
          <a:xfrm>
            <a:off x="3575613" y="3909275"/>
            <a:ext cx="0" cy="39974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541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258259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(Observed Height – (Intercept + slope x Weight))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For the above equation, plug in the data in the below diagram with initial intercept = 0 and slope = 1: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258259"/>
              </a:xfrm>
              <a:blipFill>
                <a:blip r:embed="rId2"/>
                <a:stretch>
                  <a:fillRect t="-80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983656" y="6356350"/>
            <a:ext cx="703144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67411-432F-48F2-9BDA-628CD9F400F8}"/>
              </a:ext>
            </a:extLst>
          </p:cNvPr>
          <p:cNvCxnSpPr>
            <a:cxnSpLocks/>
          </p:cNvCxnSpPr>
          <p:nvPr/>
        </p:nvCxnSpPr>
        <p:spPr>
          <a:xfrm>
            <a:off x="2699792" y="6332717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5DB7EE-4883-4459-9817-EF52644849AF}"/>
              </a:ext>
            </a:extLst>
          </p:cNvPr>
          <p:cNvCxnSpPr>
            <a:cxnSpLocks/>
          </p:cNvCxnSpPr>
          <p:nvPr/>
        </p:nvCxnSpPr>
        <p:spPr>
          <a:xfrm flipV="1">
            <a:off x="2699792" y="4100447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7EB611-F7B1-444F-A1CB-25EB3613E670}"/>
              </a:ext>
            </a:extLst>
          </p:cNvPr>
          <p:cNvCxnSpPr/>
          <p:nvPr/>
        </p:nvCxnSpPr>
        <p:spPr>
          <a:xfrm>
            <a:off x="3715542" y="63011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21BD6-21B7-4ABA-A86B-D9F0D95C50D1}"/>
              </a:ext>
            </a:extLst>
          </p:cNvPr>
          <p:cNvCxnSpPr/>
          <p:nvPr/>
        </p:nvCxnSpPr>
        <p:spPr>
          <a:xfrm>
            <a:off x="5346902" y="624194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F755CB-E43C-47E7-B6DA-8DBFE3A93CAF}"/>
              </a:ext>
            </a:extLst>
          </p:cNvPr>
          <p:cNvCxnSpPr/>
          <p:nvPr/>
        </p:nvCxnSpPr>
        <p:spPr>
          <a:xfrm>
            <a:off x="4518266" y="63011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7C220-32E9-4DDC-9E7C-3DBD1D4074C3}"/>
              </a:ext>
            </a:extLst>
          </p:cNvPr>
          <p:cNvCxnSpPr>
            <a:cxnSpLocks/>
          </p:cNvCxnSpPr>
          <p:nvPr/>
        </p:nvCxnSpPr>
        <p:spPr>
          <a:xfrm>
            <a:off x="2502260" y="460452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2B6E92-51F0-4D73-B3DC-3198E91ED3EB}"/>
              </a:ext>
            </a:extLst>
          </p:cNvPr>
          <p:cNvCxnSpPr>
            <a:cxnSpLocks/>
          </p:cNvCxnSpPr>
          <p:nvPr/>
        </p:nvCxnSpPr>
        <p:spPr>
          <a:xfrm>
            <a:off x="2502260" y="583730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D18E3-A5A8-421F-A0B6-3AB72B67C4F8}"/>
              </a:ext>
            </a:extLst>
          </p:cNvPr>
          <p:cNvCxnSpPr>
            <a:cxnSpLocks/>
          </p:cNvCxnSpPr>
          <p:nvPr/>
        </p:nvCxnSpPr>
        <p:spPr>
          <a:xfrm>
            <a:off x="2502260" y="519734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F0EE7-55F7-44AE-8F65-24483ED2EA6A}"/>
              </a:ext>
            </a:extLst>
          </p:cNvPr>
          <p:cNvCxnSpPr>
            <a:cxnSpLocks/>
          </p:cNvCxnSpPr>
          <p:nvPr/>
        </p:nvCxnSpPr>
        <p:spPr>
          <a:xfrm flipH="1">
            <a:off x="2699792" y="3976234"/>
            <a:ext cx="3100163" cy="23249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0B4E20-0B2C-4446-8EEB-DFDB9BA8DF04}"/>
              </a:ext>
            </a:extLst>
          </p:cNvPr>
          <p:cNvSpPr/>
          <p:nvPr/>
        </p:nvSpPr>
        <p:spPr>
          <a:xfrm>
            <a:off x="4536110" y="501767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8034C-9910-42B5-926A-5DCEF182A86E}"/>
              </a:ext>
            </a:extLst>
          </p:cNvPr>
          <p:cNvSpPr/>
          <p:nvPr/>
        </p:nvSpPr>
        <p:spPr>
          <a:xfrm>
            <a:off x="5011686" y="410044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901A95-0CD4-4651-8B53-18B3006C7DA0}"/>
              </a:ext>
            </a:extLst>
          </p:cNvPr>
          <p:cNvSpPr/>
          <p:nvPr/>
        </p:nvSpPr>
        <p:spPr>
          <a:xfrm>
            <a:off x="3225272" y="559741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F7DD9-AFA8-4E59-88C8-D39C6192A475}"/>
              </a:ext>
            </a:extLst>
          </p:cNvPr>
          <p:cNvSpPr txBox="1"/>
          <p:nvPr/>
        </p:nvSpPr>
        <p:spPr>
          <a:xfrm>
            <a:off x="5671484" y="6481785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E0BCC4-1A64-4273-93F5-63D1B9CCCD9E}"/>
              </a:ext>
            </a:extLst>
          </p:cNvPr>
          <p:cNvSpPr txBox="1"/>
          <p:nvPr/>
        </p:nvSpPr>
        <p:spPr>
          <a:xfrm>
            <a:off x="1524000" y="3882751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8BE1F0-D2FA-4118-BB88-068762E62629}"/>
              </a:ext>
            </a:extLst>
          </p:cNvPr>
          <p:cNvCxnSpPr>
            <a:cxnSpLocks/>
          </p:cNvCxnSpPr>
          <p:nvPr/>
        </p:nvCxnSpPr>
        <p:spPr>
          <a:xfrm flipV="1">
            <a:off x="3333284" y="5688359"/>
            <a:ext cx="0" cy="232091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D220F4-7897-4899-9705-D7BDA5C7C503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644122" y="4831218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300E58-F0AA-4693-ABF3-B8EBF28D605C}"/>
              </a:ext>
            </a:extLst>
          </p:cNvPr>
          <p:cNvCxnSpPr>
            <a:cxnSpLocks/>
          </p:cNvCxnSpPr>
          <p:nvPr/>
        </p:nvCxnSpPr>
        <p:spPr>
          <a:xfrm>
            <a:off x="5145456" y="4310400"/>
            <a:ext cx="0" cy="12671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25D1AC-DD42-487D-A390-E182DC473BA6}"/>
              </a:ext>
            </a:extLst>
          </p:cNvPr>
          <p:cNvSpPr txBox="1"/>
          <p:nvPr/>
        </p:nvSpPr>
        <p:spPr>
          <a:xfrm>
            <a:off x="2088683" y="5520748"/>
            <a:ext cx="48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1.4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A821A7F-C7C3-4FC9-9E73-3DCA6D897EB4}"/>
              </a:ext>
            </a:extLst>
          </p:cNvPr>
          <p:cNvSpPr/>
          <p:nvPr/>
        </p:nvSpPr>
        <p:spPr>
          <a:xfrm>
            <a:off x="2610998" y="3084723"/>
            <a:ext cx="2688115" cy="2544896"/>
          </a:xfrm>
          <a:custGeom>
            <a:avLst/>
            <a:gdLst>
              <a:gd name="connsiteX0" fmla="*/ 0 w 2688115"/>
              <a:gd name="connsiteY0" fmla="*/ 2544896 h 2544896"/>
              <a:gd name="connsiteX1" fmla="*/ 1894901 w 2688115"/>
              <a:gd name="connsiteY1" fmla="*/ 1178805 h 2544896"/>
              <a:gd name="connsiteX2" fmla="*/ 2688115 w 2688115"/>
              <a:gd name="connsiteY2" fmla="*/ 0 h 2544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8115" h="2544896">
                <a:moveTo>
                  <a:pt x="0" y="2544896"/>
                </a:moveTo>
                <a:cubicBezTo>
                  <a:pt x="723441" y="2073925"/>
                  <a:pt x="1446882" y="1602954"/>
                  <a:pt x="1894901" y="1178805"/>
                </a:cubicBezTo>
                <a:cubicBezTo>
                  <a:pt x="2342920" y="754656"/>
                  <a:pt x="2515517" y="377328"/>
                  <a:pt x="2688115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106A1C9-A888-46BD-9A0C-44B82817381E}"/>
              </a:ext>
            </a:extLst>
          </p:cNvPr>
          <p:cNvSpPr/>
          <p:nvPr/>
        </p:nvSpPr>
        <p:spPr>
          <a:xfrm>
            <a:off x="2710149" y="3084723"/>
            <a:ext cx="4018037" cy="3216925"/>
          </a:xfrm>
          <a:custGeom>
            <a:avLst/>
            <a:gdLst>
              <a:gd name="connsiteX0" fmla="*/ 0 w 4018037"/>
              <a:gd name="connsiteY0" fmla="*/ 3216925 h 3216925"/>
              <a:gd name="connsiteX1" fmla="*/ 110169 w 4018037"/>
              <a:gd name="connsiteY1" fmla="*/ 3216925 h 3216925"/>
              <a:gd name="connsiteX2" fmla="*/ 3844887 w 4018037"/>
              <a:gd name="connsiteY2" fmla="*/ 2313542 h 3216925"/>
              <a:gd name="connsiteX3" fmla="*/ 3051673 w 4018037"/>
              <a:gd name="connsiteY3" fmla="*/ 0 h 321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8037" h="3216925">
                <a:moveTo>
                  <a:pt x="0" y="3216925"/>
                </a:moveTo>
                <a:lnTo>
                  <a:pt x="110169" y="3216925"/>
                </a:lnTo>
                <a:cubicBezTo>
                  <a:pt x="750984" y="3066361"/>
                  <a:pt x="3354636" y="2849696"/>
                  <a:pt x="3844887" y="2313542"/>
                </a:cubicBezTo>
                <a:cubicBezTo>
                  <a:pt x="4335138" y="1777388"/>
                  <a:pt x="3693405" y="888694"/>
                  <a:pt x="3051673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B2353D-29DC-42C9-BB2F-E1EB5166D0C2}"/>
              </a:ext>
            </a:extLst>
          </p:cNvPr>
          <p:cNvSpPr txBox="1"/>
          <p:nvPr/>
        </p:nvSpPr>
        <p:spPr>
          <a:xfrm>
            <a:off x="3038171" y="6356350"/>
            <a:ext cx="48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0.5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C64D6A-329F-447A-BE37-2902646AF55D}"/>
              </a:ext>
            </a:extLst>
          </p:cNvPr>
          <p:cNvSpPr txBox="1"/>
          <p:nvPr/>
        </p:nvSpPr>
        <p:spPr>
          <a:xfrm>
            <a:off x="2119280" y="5189772"/>
            <a:ext cx="48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E714E7-3FCF-4C3A-B6E8-840F64573F79}"/>
              </a:ext>
            </a:extLst>
          </p:cNvPr>
          <p:cNvSpPr txBox="1"/>
          <p:nvPr/>
        </p:nvSpPr>
        <p:spPr>
          <a:xfrm>
            <a:off x="2119280" y="4229976"/>
            <a:ext cx="48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3AFFA5-914C-4656-8A21-FFAB9AEEB6C8}"/>
              </a:ext>
            </a:extLst>
          </p:cNvPr>
          <p:cNvSpPr txBox="1"/>
          <p:nvPr/>
        </p:nvSpPr>
        <p:spPr>
          <a:xfrm>
            <a:off x="4475897" y="6363787"/>
            <a:ext cx="48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03191D-511D-40C6-BE28-88CDDD3E1AAF}"/>
              </a:ext>
            </a:extLst>
          </p:cNvPr>
          <p:cNvSpPr txBox="1"/>
          <p:nvPr/>
        </p:nvSpPr>
        <p:spPr>
          <a:xfrm>
            <a:off x="4890214" y="6363787"/>
            <a:ext cx="486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2.9</a:t>
            </a:r>
          </a:p>
        </p:txBody>
      </p:sp>
    </p:spTree>
    <p:extLst>
      <p:ext uri="{BB962C8B-B14F-4D97-AF65-F5344CB8AC3E}">
        <p14:creationId xmlns:p14="http://schemas.microsoft.com/office/powerpoint/2010/main" val="344123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477588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Sum of the squared residuals = (Observed Height – (Intercept + slope x Weight))</a:t>
                </a:r>
                <a:r>
                  <a:rPr lang="en-US" sz="1600" baseline="30000" dirty="0">
                    <a:solidFill>
                      <a:schemeClr val="tx1"/>
                    </a:solidFill>
                  </a:rPr>
                  <a:t>2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Take Derivative for the slope: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𝑠𝑞𝑢𝑎𝑟𝑒𝑑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𝑟𝑒𝑠𝑖𝑑𝑢𝑎𝑙𝑠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Weight x (Observed Height – (Intercept + slope x Weight))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477588"/>
              </a:xfrm>
              <a:blipFill>
                <a:blip r:embed="rId2"/>
                <a:stretch>
                  <a:fillRect t="-82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7A94B-43C3-4D73-A45C-1C6AD7C612A5}"/>
              </a:ext>
            </a:extLst>
          </p:cNvPr>
          <p:cNvCxnSpPr>
            <a:cxnSpLocks/>
          </p:cNvCxnSpPr>
          <p:nvPr/>
        </p:nvCxnSpPr>
        <p:spPr>
          <a:xfrm>
            <a:off x="3012561" y="5581354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13C76-F18A-4E9F-BE51-78781B13505A}"/>
              </a:ext>
            </a:extLst>
          </p:cNvPr>
          <p:cNvCxnSpPr>
            <a:cxnSpLocks/>
          </p:cNvCxnSpPr>
          <p:nvPr/>
        </p:nvCxnSpPr>
        <p:spPr>
          <a:xfrm flipV="1">
            <a:off x="3012561" y="3349084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7D55C8-B996-4684-8240-833E9BF66927}"/>
              </a:ext>
            </a:extLst>
          </p:cNvPr>
          <p:cNvCxnSpPr/>
          <p:nvPr/>
        </p:nvCxnSpPr>
        <p:spPr>
          <a:xfrm>
            <a:off x="4028311" y="554983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708923-3375-4BE4-8DF4-F1530554AA73}"/>
              </a:ext>
            </a:extLst>
          </p:cNvPr>
          <p:cNvCxnSpPr/>
          <p:nvPr/>
        </p:nvCxnSpPr>
        <p:spPr>
          <a:xfrm>
            <a:off x="5659671" y="54905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80C794-7C17-46F2-A05F-87B56E85D607}"/>
              </a:ext>
            </a:extLst>
          </p:cNvPr>
          <p:cNvCxnSpPr/>
          <p:nvPr/>
        </p:nvCxnSpPr>
        <p:spPr>
          <a:xfrm>
            <a:off x="4831035" y="554983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9CCAE1-B1D8-4B2D-99D2-9031C573D463}"/>
              </a:ext>
            </a:extLst>
          </p:cNvPr>
          <p:cNvCxnSpPr>
            <a:cxnSpLocks/>
          </p:cNvCxnSpPr>
          <p:nvPr/>
        </p:nvCxnSpPr>
        <p:spPr>
          <a:xfrm>
            <a:off x="2815029" y="385316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FCEBDF-B157-4B48-8837-5A3F6194BE09}"/>
              </a:ext>
            </a:extLst>
          </p:cNvPr>
          <p:cNvCxnSpPr>
            <a:cxnSpLocks/>
          </p:cNvCxnSpPr>
          <p:nvPr/>
        </p:nvCxnSpPr>
        <p:spPr>
          <a:xfrm>
            <a:off x="2815029" y="50859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4D4D24-05AA-4148-8EB1-ECEAADFA4C79}"/>
              </a:ext>
            </a:extLst>
          </p:cNvPr>
          <p:cNvCxnSpPr>
            <a:cxnSpLocks/>
          </p:cNvCxnSpPr>
          <p:nvPr/>
        </p:nvCxnSpPr>
        <p:spPr>
          <a:xfrm>
            <a:off x="2815029" y="444598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EB2308-8630-466F-841A-E52281419958}"/>
              </a:ext>
            </a:extLst>
          </p:cNvPr>
          <p:cNvCxnSpPr>
            <a:cxnSpLocks/>
          </p:cNvCxnSpPr>
          <p:nvPr/>
        </p:nvCxnSpPr>
        <p:spPr>
          <a:xfrm flipH="1">
            <a:off x="3012561" y="3210051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233967D-24FA-4BED-9179-05E1BB8C158F}"/>
              </a:ext>
            </a:extLst>
          </p:cNvPr>
          <p:cNvSpPr/>
          <p:nvPr/>
        </p:nvSpPr>
        <p:spPr>
          <a:xfrm>
            <a:off x="4848879" y="426631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11215F-F709-450D-A0CD-08711FC78795}"/>
              </a:ext>
            </a:extLst>
          </p:cNvPr>
          <p:cNvSpPr/>
          <p:nvPr/>
        </p:nvSpPr>
        <p:spPr>
          <a:xfrm>
            <a:off x="5324455" y="334908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ED7DF1-A149-47B6-85AE-CF872D95A8CE}"/>
              </a:ext>
            </a:extLst>
          </p:cNvPr>
          <p:cNvSpPr/>
          <p:nvPr/>
        </p:nvSpPr>
        <p:spPr>
          <a:xfrm>
            <a:off x="3538041" y="484605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480A85-65B7-4225-8845-7E10C0A42BD5}"/>
              </a:ext>
            </a:extLst>
          </p:cNvPr>
          <p:cNvSpPr txBox="1"/>
          <p:nvPr/>
        </p:nvSpPr>
        <p:spPr>
          <a:xfrm>
            <a:off x="5984253" y="5730422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421777-52AE-4D79-AE2C-AC0BF47005B7}"/>
              </a:ext>
            </a:extLst>
          </p:cNvPr>
          <p:cNvSpPr txBox="1"/>
          <p:nvPr/>
        </p:nvSpPr>
        <p:spPr>
          <a:xfrm>
            <a:off x="2027156" y="3873312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47CB3B-DE52-4E8A-B908-161A3868F62F}"/>
              </a:ext>
            </a:extLst>
          </p:cNvPr>
          <p:cNvCxnSpPr>
            <a:cxnSpLocks/>
          </p:cNvCxnSpPr>
          <p:nvPr/>
        </p:nvCxnSpPr>
        <p:spPr>
          <a:xfrm flipV="1">
            <a:off x="3646053" y="4936996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B35B3A-83E2-4BC6-B413-0DFB449D180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956891" y="4079855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4D1253-AAEB-401F-B931-91E8D37FFBB7}"/>
              </a:ext>
            </a:extLst>
          </p:cNvPr>
          <p:cNvCxnSpPr>
            <a:cxnSpLocks/>
          </p:cNvCxnSpPr>
          <p:nvPr/>
        </p:nvCxnSpPr>
        <p:spPr>
          <a:xfrm>
            <a:off x="5458225" y="3559037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22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421033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Weight x (Observed Height – (Intercept + slope x Weight))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For the above equation, plug in the data in the below diagram with initial slope = 1: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2.9 x (3.2 – (0 + 1 x 2.9))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421033"/>
              </a:xfrm>
              <a:blipFill>
                <a:blip r:embed="rId2"/>
                <a:stretch>
                  <a:fillRect t="-752" r="-7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7A94B-43C3-4D73-A45C-1C6AD7C612A5}"/>
              </a:ext>
            </a:extLst>
          </p:cNvPr>
          <p:cNvCxnSpPr>
            <a:cxnSpLocks/>
          </p:cNvCxnSpPr>
          <p:nvPr/>
        </p:nvCxnSpPr>
        <p:spPr>
          <a:xfrm>
            <a:off x="3109306" y="6314113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13C76-F18A-4E9F-BE51-78781B13505A}"/>
              </a:ext>
            </a:extLst>
          </p:cNvPr>
          <p:cNvCxnSpPr>
            <a:cxnSpLocks/>
          </p:cNvCxnSpPr>
          <p:nvPr/>
        </p:nvCxnSpPr>
        <p:spPr>
          <a:xfrm flipV="1">
            <a:off x="3109306" y="4081843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7D55C8-B996-4684-8240-833E9BF66927}"/>
              </a:ext>
            </a:extLst>
          </p:cNvPr>
          <p:cNvCxnSpPr/>
          <p:nvPr/>
        </p:nvCxnSpPr>
        <p:spPr>
          <a:xfrm>
            <a:off x="4125056" y="628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708923-3375-4BE4-8DF4-F1530554AA73}"/>
              </a:ext>
            </a:extLst>
          </p:cNvPr>
          <p:cNvCxnSpPr/>
          <p:nvPr/>
        </p:nvCxnSpPr>
        <p:spPr>
          <a:xfrm>
            <a:off x="5756416" y="622334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80C794-7C17-46F2-A05F-87B56E85D607}"/>
              </a:ext>
            </a:extLst>
          </p:cNvPr>
          <p:cNvCxnSpPr/>
          <p:nvPr/>
        </p:nvCxnSpPr>
        <p:spPr>
          <a:xfrm>
            <a:off x="4927780" y="628259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9CCAE1-B1D8-4B2D-99D2-9031C573D463}"/>
              </a:ext>
            </a:extLst>
          </p:cNvPr>
          <p:cNvCxnSpPr>
            <a:cxnSpLocks/>
          </p:cNvCxnSpPr>
          <p:nvPr/>
        </p:nvCxnSpPr>
        <p:spPr>
          <a:xfrm>
            <a:off x="2911774" y="450912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FCEBDF-B157-4B48-8837-5A3F6194BE09}"/>
              </a:ext>
            </a:extLst>
          </p:cNvPr>
          <p:cNvCxnSpPr>
            <a:cxnSpLocks/>
          </p:cNvCxnSpPr>
          <p:nvPr/>
        </p:nvCxnSpPr>
        <p:spPr>
          <a:xfrm>
            <a:off x="2911774" y="581869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4D4D24-05AA-4148-8EB1-ECEAADFA4C79}"/>
              </a:ext>
            </a:extLst>
          </p:cNvPr>
          <p:cNvCxnSpPr>
            <a:cxnSpLocks/>
          </p:cNvCxnSpPr>
          <p:nvPr/>
        </p:nvCxnSpPr>
        <p:spPr>
          <a:xfrm>
            <a:off x="2911774" y="508518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EB2308-8630-466F-841A-E52281419958}"/>
              </a:ext>
            </a:extLst>
          </p:cNvPr>
          <p:cNvCxnSpPr>
            <a:cxnSpLocks/>
          </p:cNvCxnSpPr>
          <p:nvPr/>
        </p:nvCxnSpPr>
        <p:spPr>
          <a:xfrm flipH="1">
            <a:off x="3143216" y="3942810"/>
            <a:ext cx="3084968" cy="23713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233967D-24FA-4BED-9179-05E1BB8C158F}"/>
              </a:ext>
            </a:extLst>
          </p:cNvPr>
          <p:cNvSpPr/>
          <p:nvPr/>
        </p:nvSpPr>
        <p:spPr>
          <a:xfrm>
            <a:off x="4945624" y="499906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11215F-F709-450D-A0CD-08711FC78795}"/>
              </a:ext>
            </a:extLst>
          </p:cNvPr>
          <p:cNvSpPr/>
          <p:nvPr/>
        </p:nvSpPr>
        <p:spPr>
          <a:xfrm>
            <a:off x="5421200" y="408184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ED7DF1-A149-47B6-85AE-CF872D95A8CE}"/>
              </a:ext>
            </a:extLst>
          </p:cNvPr>
          <p:cNvSpPr/>
          <p:nvPr/>
        </p:nvSpPr>
        <p:spPr>
          <a:xfrm>
            <a:off x="3634786" y="557880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480A85-65B7-4225-8845-7E10C0A42BD5}"/>
              </a:ext>
            </a:extLst>
          </p:cNvPr>
          <p:cNvSpPr txBox="1"/>
          <p:nvPr/>
        </p:nvSpPr>
        <p:spPr>
          <a:xfrm>
            <a:off x="6080998" y="6463181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421777-52AE-4D79-AE2C-AC0BF47005B7}"/>
              </a:ext>
            </a:extLst>
          </p:cNvPr>
          <p:cNvSpPr txBox="1"/>
          <p:nvPr/>
        </p:nvSpPr>
        <p:spPr>
          <a:xfrm>
            <a:off x="2123901" y="4606071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47CB3B-DE52-4E8A-B908-161A3868F62F}"/>
              </a:ext>
            </a:extLst>
          </p:cNvPr>
          <p:cNvCxnSpPr>
            <a:cxnSpLocks/>
          </p:cNvCxnSpPr>
          <p:nvPr/>
        </p:nvCxnSpPr>
        <p:spPr>
          <a:xfrm flipV="1">
            <a:off x="3742798" y="5669756"/>
            <a:ext cx="0" cy="2795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B35B3A-83E2-4BC6-B413-0DFB449D180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5053636" y="4812614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4D1253-AAEB-401F-B931-91E8D37FFBB7}"/>
              </a:ext>
            </a:extLst>
          </p:cNvPr>
          <p:cNvCxnSpPr>
            <a:cxnSpLocks/>
          </p:cNvCxnSpPr>
          <p:nvPr/>
        </p:nvCxnSpPr>
        <p:spPr>
          <a:xfrm>
            <a:off x="5554970" y="4291796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97BFDE-839F-4FA1-BD79-3522E246CFFE}"/>
              </a:ext>
            </a:extLst>
          </p:cNvPr>
          <p:cNvSpPr txBox="1"/>
          <p:nvPr/>
        </p:nvSpPr>
        <p:spPr>
          <a:xfrm>
            <a:off x="5289352" y="6280048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B29E9C-8C96-432D-A173-164EB7C70E0B}"/>
              </a:ext>
            </a:extLst>
          </p:cNvPr>
          <p:cNvSpPr txBox="1"/>
          <p:nvPr/>
        </p:nvSpPr>
        <p:spPr>
          <a:xfrm>
            <a:off x="4921788" y="6292251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2.3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4A4757-3A33-4636-A152-E39873EDAAF5}"/>
              </a:ext>
            </a:extLst>
          </p:cNvPr>
          <p:cNvSpPr txBox="1"/>
          <p:nvPr/>
        </p:nvSpPr>
        <p:spPr>
          <a:xfrm>
            <a:off x="2635960" y="4062261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6C4143-21AF-4032-AE13-D6ECF80F114A}"/>
              </a:ext>
            </a:extLst>
          </p:cNvPr>
          <p:cNvSpPr txBox="1"/>
          <p:nvPr/>
        </p:nvSpPr>
        <p:spPr>
          <a:xfrm>
            <a:off x="2635960" y="5144589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2C268F-9205-471A-BE7E-BEFCB355DD51}"/>
              </a:ext>
            </a:extLst>
          </p:cNvPr>
          <p:cNvSpPr txBox="1"/>
          <p:nvPr/>
        </p:nvSpPr>
        <p:spPr>
          <a:xfrm>
            <a:off x="2608423" y="5445818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9E99AE-0F6E-4900-8EC5-63A4913771DC}"/>
              </a:ext>
            </a:extLst>
          </p:cNvPr>
          <p:cNvSpPr txBox="1"/>
          <p:nvPr/>
        </p:nvSpPr>
        <p:spPr>
          <a:xfrm>
            <a:off x="3477557" y="6278821"/>
            <a:ext cx="479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0.5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813A289-1A94-4B76-95BC-309F4A93D826}"/>
              </a:ext>
            </a:extLst>
          </p:cNvPr>
          <p:cNvSpPr/>
          <p:nvPr/>
        </p:nvSpPr>
        <p:spPr>
          <a:xfrm>
            <a:off x="3018622" y="2875402"/>
            <a:ext cx="2346592" cy="2743200"/>
          </a:xfrm>
          <a:custGeom>
            <a:avLst/>
            <a:gdLst>
              <a:gd name="connsiteX0" fmla="*/ 0 w 2346592"/>
              <a:gd name="connsiteY0" fmla="*/ 2743200 h 2743200"/>
              <a:gd name="connsiteX1" fmla="*/ 1355074 w 2346592"/>
              <a:gd name="connsiteY1" fmla="*/ 1773716 h 2743200"/>
              <a:gd name="connsiteX2" fmla="*/ 2346592 w 2346592"/>
              <a:gd name="connsiteY2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6592" h="2743200">
                <a:moveTo>
                  <a:pt x="0" y="2743200"/>
                </a:moveTo>
                <a:cubicBezTo>
                  <a:pt x="481987" y="2487058"/>
                  <a:pt x="963975" y="2230916"/>
                  <a:pt x="1355074" y="1773716"/>
                </a:cubicBezTo>
                <a:cubicBezTo>
                  <a:pt x="1746173" y="1316516"/>
                  <a:pt x="2046382" y="658258"/>
                  <a:pt x="2346592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EDC3A6-AA96-4220-AEC8-AFCE249FB842}"/>
              </a:ext>
            </a:extLst>
          </p:cNvPr>
          <p:cNvSpPr/>
          <p:nvPr/>
        </p:nvSpPr>
        <p:spPr>
          <a:xfrm>
            <a:off x="3558779" y="2897436"/>
            <a:ext cx="3419183" cy="3522964"/>
          </a:xfrm>
          <a:custGeom>
            <a:avLst/>
            <a:gdLst>
              <a:gd name="connsiteX0" fmla="*/ 164922 w 3419183"/>
              <a:gd name="connsiteY0" fmla="*/ 3426246 h 3522964"/>
              <a:gd name="connsiteX1" fmla="*/ 341192 w 3419183"/>
              <a:gd name="connsiteY1" fmla="*/ 3404212 h 3522964"/>
              <a:gd name="connsiteX2" fmla="*/ 3216594 w 3419183"/>
              <a:gd name="connsiteY2" fmla="*/ 2247441 h 3522964"/>
              <a:gd name="connsiteX3" fmla="*/ 2952190 w 3419183"/>
              <a:gd name="connsiteY3" fmla="*/ 0 h 352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9183" h="3522964">
                <a:moveTo>
                  <a:pt x="164922" y="3426246"/>
                </a:moveTo>
                <a:cubicBezTo>
                  <a:pt x="-1249" y="3513462"/>
                  <a:pt x="-167420" y="3600679"/>
                  <a:pt x="341192" y="3404212"/>
                </a:cubicBezTo>
                <a:cubicBezTo>
                  <a:pt x="849804" y="3207745"/>
                  <a:pt x="2781428" y="2814810"/>
                  <a:pt x="3216594" y="2247441"/>
                </a:cubicBezTo>
                <a:cubicBezTo>
                  <a:pt x="3651760" y="1680072"/>
                  <a:pt x="3301975" y="840036"/>
                  <a:pt x="295219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2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991400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We have the derivatives for intercept and slope: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 = -1.6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+ -2 x 2.9 x (3.2 – (0 + 1 x 2.9))  = -0.8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8"/>
                <a:ext cx="8352928" cy="1991400"/>
              </a:xfrm>
              <a:blipFill>
                <a:blip r:embed="rId2"/>
                <a:stretch>
                  <a:fillRect t="-610" b="-91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3C40E-D8BB-40AE-B730-ADB58805024A}"/>
              </a:ext>
            </a:extLst>
          </p:cNvPr>
          <p:cNvSpPr/>
          <p:nvPr/>
        </p:nvSpPr>
        <p:spPr>
          <a:xfrm>
            <a:off x="4808021" y="2177903"/>
            <a:ext cx="484059" cy="3667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02FEDA-3F58-4FDE-8953-55B7893D603D}"/>
              </a:ext>
            </a:extLst>
          </p:cNvPr>
          <p:cNvSpPr/>
          <p:nvPr/>
        </p:nvSpPr>
        <p:spPr>
          <a:xfrm>
            <a:off x="6032158" y="2953591"/>
            <a:ext cx="521042" cy="36483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98D36A3-54A5-4376-8FFC-95FAC2511E85}"/>
              </a:ext>
            </a:extLst>
          </p:cNvPr>
          <p:cNvCxnSpPr>
            <a:cxnSpLocks/>
          </p:cNvCxnSpPr>
          <p:nvPr/>
        </p:nvCxnSpPr>
        <p:spPr>
          <a:xfrm>
            <a:off x="1187254" y="5914582"/>
            <a:ext cx="22880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DCB832C-D48B-4B75-93B9-C49EA9BD1C22}"/>
              </a:ext>
            </a:extLst>
          </p:cNvPr>
          <p:cNvCxnSpPr>
            <a:cxnSpLocks/>
          </p:cNvCxnSpPr>
          <p:nvPr/>
        </p:nvCxnSpPr>
        <p:spPr>
          <a:xfrm flipV="1">
            <a:off x="1187254" y="3682312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AE9A23B-3770-4D3D-A789-B62ADB233CB1}"/>
              </a:ext>
            </a:extLst>
          </p:cNvPr>
          <p:cNvCxnSpPr/>
          <p:nvPr/>
        </p:nvCxnSpPr>
        <p:spPr>
          <a:xfrm>
            <a:off x="1820746" y="580824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9B87774-CAA5-4F00-A64A-5EF3C5C7E461}"/>
              </a:ext>
            </a:extLst>
          </p:cNvPr>
          <p:cNvCxnSpPr/>
          <p:nvPr/>
        </p:nvCxnSpPr>
        <p:spPr>
          <a:xfrm>
            <a:off x="2873431" y="57946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7DE90B8-94AC-4991-9B0F-D711CE1AADD2}"/>
              </a:ext>
            </a:extLst>
          </p:cNvPr>
          <p:cNvCxnSpPr/>
          <p:nvPr/>
        </p:nvCxnSpPr>
        <p:spPr>
          <a:xfrm>
            <a:off x="2331283" y="582123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7E921B5-874A-4ECB-94FD-7023B1AA530E}"/>
              </a:ext>
            </a:extLst>
          </p:cNvPr>
          <p:cNvCxnSpPr>
            <a:cxnSpLocks/>
          </p:cNvCxnSpPr>
          <p:nvPr/>
        </p:nvCxnSpPr>
        <p:spPr>
          <a:xfrm>
            <a:off x="989722" y="410958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73E9C65-1FF6-47C0-885D-1FC474087A7A}"/>
              </a:ext>
            </a:extLst>
          </p:cNvPr>
          <p:cNvCxnSpPr>
            <a:cxnSpLocks/>
          </p:cNvCxnSpPr>
          <p:nvPr/>
        </p:nvCxnSpPr>
        <p:spPr>
          <a:xfrm>
            <a:off x="989722" y="541916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9EFE521-0AE3-44ED-9CE1-30213B08FAC4}"/>
              </a:ext>
            </a:extLst>
          </p:cNvPr>
          <p:cNvCxnSpPr>
            <a:cxnSpLocks/>
          </p:cNvCxnSpPr>
          <p:nvPr/>
        </p:nvCxnSpPr>
        <p:spPr>
          <a:xfrm>
            <a:off x="989722" y="468565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53C4937-6BBC-416A-A0CD-C4793413FA81}"/>
              </a:ext>
            </a:extLst>
          </p:cNvPr>
          <p:cNvCxnSpPr>
            <a:cxnSpLocks/>
          </p:cNvCxnSpPr>
          <p:nvPr/>
        </p:nvCxnSpPr>
        <p:spPr>
          <a:xfrm flipH="1">
            <a:off x="1187254" y="3840944"/>
            <a:ext cx="1981393" cy="21158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115C0191-0FBC-4A37-B5A8-FFAB662A7198}"/>
              </a:ext>
            </a:extLst>
          </p:cNvPr>
          <p:cNvSpPr/>
          <p:nvPr/>
        </p:nvSpPr>
        <p:spPr>
          <a:xfrm>
            <a:off x="2278504" y="481908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C3F46A7-AD4D-4E25-82B7-97753F626719}"/>
              </a:ext>
            </a:extLst>
          </p:cNvPr>
          <p:cNvSpPr/>
          <p:nvPr/>
        </p:nvSpPr>
        <p:spPr>
          <a:xfrm>
            <a:off x="2754080" y="381572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7525D934-7940-43B3-AB1C-0048F5AB1C55}"/>
              </a:ext>
            </a:extLst>
          </p:cNvPr>
          <p:cNvSpPr/>
          <p:nvPr/>
        </p:nvSpPr>
        <p:spPr>
          <a:xfrm>
            <a:off x="1547664" y="5362785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17D5DAD-212E-4E85-B8F9-F32BC5881D93}"/>
              </a:ext>
            </a:extLst>
          </p:cNvPr>
          <p:cNvSpPr txBox="1"/>
          <p:nvPr/>
        </p:nvSpPr>
        <p:spPr>
          <a:xfrm>
            <a:off x="201849" y="4206540"/>
            <a:ext cx="901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Height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0DB2F7E-780B-4EA6-B385-EF1714A52277}"/>
              </a:ext>
            </a:extLst>
          </p:cNvPr>
          <p:cNvCxnSpPr>
            <a:cxnSpLocks/>
          </p:cNvCxnSpPr>
          <p:nvPr/>
        </p:nvCxnSpPr>
        <p:spPr>
          <a:xfrm flipV="1">
            <a:off x="1655676" y="5453731"/>
            <a:ext cx="0" cy="279525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796C1D5-921A-470B-B0D9-16CA59E9556D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2386516" y="4632633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44E0A35-67D3-4908-8B5D-E92C030A654C}"/>
              </a:ext>
            </a:extLst>
          </p:cNvPr>
          <p:cNvCxnSpPr>
            <a:cxnSpLocks/>
          </p:cNvCxnSpPr>
          <p:nvPr/>
        </p:nvCxnSpPr>
        <p:spPr>
          <a:xfrm>
            <a:off x="2887850" y="402567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04045E0D-F152-48C6-A41A-82850F5588BF}"/>
              </a:ext>
            </a:extLst>
          </p:cNvPr>
          <p:cNvSpPr txBox="1"/>
          <p:nvPr/>
        </p:nvSpPr>
        <p:spPr>
          <a:xfrm>
            <a:off x="2687864" y="5991772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D58C522-B0DD-4665-A82B-827766E36A63}"/>
              </a:ext>
            </a:extLst>
          </p:cNvPr>
          <p:cNvSpPr txBox="1"/>
          <p:nvPr/>
        </p:nvSpPr>
        <p:spPr>
          <a:xfrm>
            <a:off x="2265379" y="5902815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A2764EE-8829-488C-BB04-5D874791C8DE}"/>
              </a:ext>
            </a:extLst>
          </p:cNvPr>
          <p:cNvSpPr txBox="1"/>
          <p:nvPr/>
        </p:nvSpPr>
        <p:spPr>
          <a:xfrm>
            <a:off x="701986" y="3696061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8FE5E70-0E6F-4F35-A97C-9F27133AD6F9}"/>
              </a:ext>
            </a:extLst>
          </p:cNvPr>
          <p:cNvSpPr txBox="1"/>
          <p:nvPr/>
        </p:nvSpPr>
        <p:spPr>
          <a:xfrm>
            <a:off x="760385" y="4755959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1.9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6304675-AA7A-43E7-BC3E-D4E04C7C93E8}"/>
              </a:ext>
            </a:extLst>
          </p:cNvPr>
          <p:cNvSpPr txBox="1"/>
          <p:nvPr/>
        </p:nvSpPr>
        <p:spPr>
          <a:xfrm>
            <a:off x="760385" y="5069473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1.4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729CCD8-B63C-430B-81D4-BE80362DED0F}"/>
              </a:ext>
            </a:extLst>
          </p:cNvPr>
          <p:cNvSpPr txBox="1"/>
          <p:nvPr/>
        </p:nvSpPr>
        <p:spPr>
          <a:xfrm>
            <a:off x="1444448" y="5949313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DEA75D65-C0A8-4336-95F5-C45C5C7EF7C7}"/>
              </a:ext>
            </a:extLst>
          </p:cNvPr>
          <p:cNvCxnSpPr>
            <a:cxnSpLocks/>
          </p:cNvCxnSpPr>
          <p:nvPr/>
        </p:nvCxnSpPr>
        <p:spPr>
          <a:xfrm flipV="1">
            <a:off x="4157160" y="5770811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1B350AF-FD81-490E-8E11-27513587E47C}"/>
              </a:ext>
            </a:extLst>
          </p:cNvPr>
          <p:cNvCxnSpPr>
            <a:cxnSpLocks/>
          </p:cNvCxnSpPr>
          <p:nvPr/>
        </p:nvCxnSpPr>
        <p:spPr>
          <a:xfrm flipH="1" flipV="1">
            <a:off x="4139382" y="3501008"/>
            <a:ext cx="17783" cy="2281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413F39E-9A8A-47CF-89C5-75C8926272C1}"/>
              </a:ext>
            </a:extLst>
          </p:cNvPr>
          <p:cNvCxnSpPr>
            <a:cxnSpLocks/>
          </p:cNvCxnSpPr>
          <p:nvPr/>
        </p:nvCxnSpPr>
        <p:spPr>
          <a:xfrm>
            <a:off x="3894533" y="385778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A323147-719C-4CE2-9C60-F63AB8AC0B50}"/>
              </a:ext>
            </a:extLst>
          </p:cNvPr>
          <p:cNvCxnSpPr/>
          <p:nvPr/>
        </p:nvCxnSpPr>
        <p:spPr>
          <a:xfrm>
            <a:off x="5795670" y="570374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964DF7E-BBFE-41AA-8FAA-D4E851B91122}"/>
              </a:ext>
            </a:extLst>
          </p:cNvPr>
          <p:cNvCxnSpPr/>
          <p:nvPr/>
        </p:nvCxnSpPr>
        <p:spPr>
          <a:xfrm>
            <a:off x="5031972" y="566671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344CEB9-BCFC-46B8-8437-73DD4362B151}"/>
              </a:ext>
            </a:extLst>
          </p:cNvPr>
          <p:cNvCxnSpPr>
            <a:cxnSpLocks/>
          </p:cNvCxnSpPr>
          <p:nvPr/>
        </p:nvCxnSpPr>
        <p:spPr>
          <a:xfrm>
            <a:off x="3913586" y="474211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9E119172-824F-4755-9ACA-62824015A1B0}"/>
              </a:ext>
            </a:extLst>
          </p:cNvPr>
          <p:cNvSpPr/>
          <p:nvPr/>
        </p:nvSpPr>
        <p:spPr>
          <a:xfrm>
            <a:off x="5714335" y="401034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5D3D1E4B-FE7E-48B6-897E-FA7B5E4662A1}"/>
              </a:ext>
            </a:extLst>
          </p:cNvPr>
          <p:cNvSpPr/>
          <p:nvPr/>
        </p:nvSpPr>
        <p:spPr>
          <a:xfrm>
            <a:off x="4218314" y="4108913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3BEFF75-315A-42B0-B790-DB5F19AC5029}"/>
              </a:ext>
            </a:extLst>
          </p:cNvPr>
          <p:cNvSpPr txBox="1"/>
          <p:nvPr/>
        </p:nvSpPr>
        <p:spPr>
          <a:xfrm>
            <a:off x="3583733" y="5038696"/>
            <a:ext cx="517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SSR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EE4C430-83F0-435B-B6FC-B0F95E22CE20}"/>
              </a:ext>
            </a:extLst>
          </p:cNvPr>
          <p:cNvSpPr txBox="1"/>
          <p:nvPr/>
        </p:nvSpPr>
        <p:spPr>
          <a:xfrm>
            <a:off x="4937660" y="6135146"/>
            <a:ext cx="1031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Intercept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FFE794C-1F24-44AB-A584-10F04A840359}"/>
              </a:ext>
            </a:extLst>
          </p:cNvPr>
          <p:cNvSpPr txBox="1"/>
          <p:nvPr/>
        </p:nvSpPr>
        <p:spPr>
          <a:xfrm>
            <a:off x="4006754" y="5830210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BB6A3C9-BB8E-4977-856B-424EF4BE4330}"/>
              </a:ext>
            </a:extLst>
          </p:cNvPr>
          <p:cNvSpPr txBox="1"/>
          <p:nvPr/>
        </p:nvSpPr>
        <p:spPr>
          <a:xfrm>
            <a:off x="4969612" y="5867170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0CAA970-882F-491F-94A4-B52627A68E90}"/>
              </a:ext>
            </a:extLst>
          </p:cNvPr>
          <p:cNvSpPr txBox="1"/>
          <p:nvPr/>
        </p:nvSpPr>
        <p:spPr>
          <a:xfrm flipH="1">
            <a:off x="5787546" y="5894153"/>
            <a:ext cx="51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D9A2745C-228B-4395-9842-D0F1FDA87D22}"/>
              </a:ext>
            </a:extLst>
          </p:cNvPr>
          <p:cNvSpPr/>
          <p:nvPr/>
        </p:nvSpPr>
        <p:spPr>
          <a:xfrm>
            <a:off x="4420913" y="437093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871EF701-4479-4AFD-85D9-2CF76114E9C6}"/>
              </a:ext>
            </a:extLst>
          </p:cNvPr>
          <p:cNvSpPr/>
          <p:nvPr/>
        </p:nvSpPr>
        <p:spPr>
          <a:xfrm>
            <a:off x="4680741" y="465761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29857321-88E2-430E-B764-D9963A1E0848}"/>
              </a:ext>
            </a:extLst>
          </p:cNvPr>
          <p:cNvSpPr/>
          <p:nvPr/>
        </p:nvSpPr>
        <p:spPr>
          <a:xfrm>
            <a:off x="4997182" y="492632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50BAE74-169F-4C94-B265-3CFB14A91A96}"/>
              </a:ext>
            </a:extLst>
          </p:cNvPr>
          <p:cNvSpPr/>
          <p:nvPr/>
        </p:nvSpPr>
        <p:spPr>
          <a:xfrm>
            <a:off x="5316483" y="467309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568470CC-7747-4BF1-A553-869C241F660B}"/>
              </a:ext>
            </a:extLst>
          </p:cNvPr>
          <p:cNvSpPr/>
          <p:nvPr/>
        </p:nvSpPr>
        <p:spPr>
          <a:xfrm>
            <a:off x="5524004" y="434505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9FECC00-613E-4F18-B333-11C36ADBD7B3}"/>
              </a:ext>
            </a:extLst>
          </p:cNvPr>
          <p:cNvCxnSpPr>
            <a:cxnSpLocks/>
          </p:cNvCxnSpPr>
          <p:nvPr/>
        </p:nvCxnSpPr>
        <p:spPr>
          <a:xfrm>
            <a:off x="4139382" y="3784780"/>
            <a:ext cx="132332" cy="74948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BB6C4B68-4349-4FBF-8C73-52DBB46DB43E}"/>
              </a:ext>
            </a:extLst>
          </p:cNvPr>
          <p:cNvSpPr/>
          <p:nvPr/>
        </p:nvSpPr>
        <p:spPr>
          <a:xfrm>
            <a:off x="4073573" y="5668879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3835089-BAD4-4169-82EB-BBABF872EBA2}"/>
              </a:ext>
            </a:extLst>
          </p:cNvPr>
          <p:cNvSpPr txBox="1"/>
          <p:nvPr/>
        </p:nvSpPr>
        <p:spPr>
          <a:xfrm>
            <a:off x="4495611" y="5880002"/>
            <a:ext cx="476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34D7698-8F91-456F-A3A1-4D09E44C1303}"/>
              </a:ext>
            </a:extLst>
          </p:cNvPr>
          <p:cNvSpPr/>
          <p:nvPr/>
        </p:nvSpPr>
        <p:spPr>
          <a:xfrm>
            <a:off x="4040210" y="387525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9D7FD16-CEC5-4A82-AC41-89C93BCB0C93}"/>
                  </a:ext>
                </a:extLst>
              </p:cNvPr>
              <p:cNvSpPr txBox="1"/>
              <p:nvPr/>
            </p:nvSpPr>
            <p:spPr>
              <a:xfrm>
                <a:off x="3001940" y="4274350"/>
                <a:ext cx="1319801" cy="592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𝐼𝑛𝑡𝑒𝑟𝑐𝑒𝑝𝑡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= -1.6 </a:t>
                </a:r>
                <a:endParaRPr lang="en-US" sz="1200" dirty="0"/>
              </a:p>
            </p:txBody>
          </p:sp>
        </mc:Choice>
        <mc:Fallback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9D7FD16-CEC5-4A82-AC41-89C93BCB0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940" y="4274350"/>
                <a:ext cx="1319801" cy="592791"/>
              </a:xfrm>
              <a:prstGeom prst="rect">
                <a:avLst/>
              </a:prstGeom>
              <a:blipFill>
                <a:blip r:embed="rId3"/>
                <a:stretch>
                  <a:fillRect t="-2062" b="-8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C3D7626-A3BC-4FD3-B3F2-566F1F54CE11}"/>
              </a:ext>
            </a:extLst>
          </p:cNvPr>
          <p:cNvCxnSpPr>
            <a:cxnSpLocks/>
          </p:cNvCxnSpPr>
          <p:nvPr/>
        </p:nvCxnSpPr>
        <p:spPr>
          <a:xfrm flipV="1">
            <a:off x="6829244" y="5798748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FAB1CC4-CD30-4832-AABC-0570381715FD}"/>
              </a:ext>
            </a:extLst>
          </p:cNvPr>
          <p:cNvCxnSpPr>
            <a:cxnSpLocks/>
          </p:cNvCxnSpPr>
          <p:nvPr/>
        </p:nvCxnSpPr>
        <p:spPr>
          <a:xfrm flipH="1" flipV="1">
            <a:off x="6822702" y="3857787"/>
            <a:ext cx="6547" cy="19529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0CD9888-910E-4CD1-904C-AE276AD96175}"/>
              </a:ext>
            </a:extLst>
          </p:cNvPr>
          <p:cNvCxnSpPr/>
          <p:nvPr/>
        </p:nvCxnSpPr>
        <p:spPr>
          <a:xfrm>
            <a:off x="8686800" y="57099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C5C1B7A-3A41-4AEB-9527-F1587C427A4C}"/>
              </a:ext>
            </a:extLst>
          </p:cNvPr>
          <p:cNvCxnSpPr/>
          <p:nvPr/>
        </p:nvCxnSpPr>
        <p:spPr>
          <a:xfrm>
            <a:off x="7819682" y="571996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FBD23CA-E974-4873-B89A-E5EC7AD1F920}"/>
              </a:ext>
            </a:extLst>
          </p:cNvPr>
          <p:cNvCxnSpPr>
            <a:cxnSpLocks/>
          </p:cNvCxnSpPr>
          <p:nvPr/>
        </p:nvCxnSpPr>
        <p:spPr>
          <a:xfrm>
            <a:off x="6585670" y="4770052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CBE28599-624B-4112-A7E6-6C980377EFC5}"/>
              </a:ext>
            </a:extLst>
          </p:cNvPr>
          <p:cNvSpPr txBox="1"/>
          <p:nvPr/>
        </p:nvSpPr>
        <p:spPr>
          <a:xfrm>
            <a:off x="6257601" y="4983492"/>
            <a:ext cx="517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SSR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44ED5FD-6CFD-4E9C-8DDB-76DD5BA1B523}"/>
              </a:ext>
            </a:extLst>
          </p:cNvPr>
          <p:cNvSpPr txBox="1"/>
          <p:nvPr/>
        </p:nvSpPr>
        <p:spPr>
          <a:xfrm>
            <a:off x="7569005" y="6043387"/>
            <a:ext cx="70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Slope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6D527DD-0D9C-471F-BDE4-8097C586B02B}"/>
              </a:ext>
            </a:extLst>
          </p:cNvPr>
          <p:cNvSpPr txBox="1"/>
          <p:nvPr/>
        </p:nvSpPr>
        <p:spPr>
          <a:xfrm>
            <a:off x="6678838" y="5858147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D4677CB-A000-4540-A682-9DA91ABA1585}"/>
              </a:ext>
            </a:extLst>
          </p:cNvPr>
          <p:cNvSpPr txBox="1"/>
          <p:nvPr/>
        </p:nvSpPr>
        <p:spPr>
          <a:xfrm>
            <a:off x="7535338" y="5869773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9D82CE0-46C5-443B-AA77-1D1A9E38EA54}"/>
              </a:ext>
            </a:extLst>
          </p:cNvPr>
          <p:cNvSpPr txBox="1"/>
          <p:nvPr/>
        </p:nvSpPr>
        <p:spPr>
          <a:xfrm flipH="1">
            <a:off x="8540323" y="5875654"/>
            <a:ext cx="518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AFA502F-878D-479F-B12A-FAD092CEF99D}"/>
              </a:ext>
            </a:extLst>
          </p:cNvPr>
          <p:cNvSpPr/>
          <p:nvPr/>
        </p:nvSpPr>
        <p:spPr>
          <a:xfrm>
            <a:off x="6984301" y="4477233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95FA923-A4BC-467C-AD34-E60D3FFA976D}"/>
              </a:ext>
            </a:extLst>
          </p:cNvPr>
          <p:cNvSpPr/>
          <p:nvPr/>
        </p:nvSpPr>
        <p:spPr>
          <a:xfrm>
            <a:off x="7352981" y="4753561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1AE3CCC-2350-4F8F-ACFF-FA777DFC3A7C}"/>
              </a:ext>
            </a:extLst>
          </p:cNvPr>
          <p:cNvSpPr/>
          <p:nvPr/>
        </p:nvSpPr>
        <p:spPr>
          <a:xfrm>
            <a:off x="7669266" y="4954261"/>
            <a:ext cx="216024" cy="216002"/>
          </a:xfrm>
          <a:prstGeom prst="ellipse">
            <a:avLst/>
          </a:prstGeom>
          <a:solidFill>
            <a:schemeClr val="tx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E34660CC-E832-4C8F-A6CF-7FD42DAFA959}"/>
              </a:ext>
            </a:extLst>
          </p:cNvPr>
          <p:cNvSpPr/>
          <p:nvPr/>
        </p:nvSpPr>
        <p:spPr>
          <a:xfrm>
            <a:off x="8034562" y="4802549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B2143EA3-D5CE-4975-9E59-B5043AD0EE9E}"/>
              </a:ext>
            </a:extLst>
          </p:cNvPr>
          <p:cNvSpPr/>
          <p:nvPr/>
        </p:nvSpPr>
        <p:spPr>
          <a:xfrm>
            <a:off x="8351687" y="4552424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3A4648E-7296-4EA1-BA69-7FA33A335FDF}"/>
              </a:ext>
            </a:extLst>
          </p:cNvPr>
          <p:cNvCxnSpPr>
            <a:cxnSpLocks/>
            <a:stCxn id="175" idx="1"/>
          </p:cNvCxnSpPr>
          <p:nvPr/>
        </p:nvCxnSpPr>
        <p:spPr>
          <a:xfrm>
            <a:off x="6752868" y="4266549"/>
            <a:ext cx="342829" cy="75656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BCA0D808-8511-4DFC-BA13-31CA7907F7FF}"/>
              </a:ext>
            </a:extLst>
          </p:cNvPr>
          <p:cNvSpPr/>
          <p:nvPr/>
        </p:nvSpPr>
        <p:spPr>
          <a:xfrm>
            <a:off x="6745657" y="5696816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BA3214B0-D5B7-4A76-83DC-1A424FE557FB}"/>
              </a:ext>
            </a:extLst>
          </p:cNvPr>
          <p:cNvSpPr/>
          <p:nvPr/>
        </p:nvSpPr>
        <p:spPr>
          <a:xfrm>
            <a:off x="6721232" y="4234916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431B130-088F-4565-89BC-09F7CB562A8C}"/>
                  </a:ext>
                </a:extLst>
              </p:cNvPr>
              <p:cNvSpPr txBox="1"/>
              <p:nvPr/>
            </p:nvSpPr>
            <p:spPr>
              <a:xfrm>
                <a:off x="7250749" y="3987570"/>
                <a:ext cx="1101304" cy="592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i="1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𝑆𝑜𝑝𝑒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= -0.8 </a:t>
                </a:r>
                <a:endParaRPr lang="en-US" sz="1200" dirty="0"/>
              </a:p>
            </p:txBody>
          </p:sp>
        </mc:Choice>
        <mc:Fallback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431B130-088F-4565-89BC-09F7CB562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749" y="3987570"/>
                <a:ext cx="1101304" cy="592791"/>
              </a:xfrm>
              <a:prstGeom prst="rect">
                <a:avLst/>
              </a:prstGeom>
              <a:blipFill>
                <a:blip r:embed="rId4"/>
                <a:stretch>
                  <a:fillRect t="-2062" b="-8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821C878-EAE9-4373-AC7E-0C833431BBBE}"/>
              </a:ext>
            </a:extLst>
          </p:cNvPr>
          <p:cNvSpPr/>
          <p:nvPr/>
        </p:nvSpPr>
        <p:spPr>
          <a:xfrm>
            <a:off x="6290631" y="3249976"/>
            <a:ext cx="627962" cy="1421176"/>
          </a:xfrm>
          <a:custGeom>
            <a:avLst/>
            <a:gdLst>
              <a:gd name="connsiteX0" fmla="*/ 0 w 627962"/>
              <a:gd name="connsiteY0" fmla="*/ 0 h 1421176"/>
              <a:gd name="connsiteX1" fmla="*/ 143220 w 627962"/>
              <a:gd name="connsiteY1" fmla="*/ 1090670 h 1421176"/>
              <a:gd name="connsiteX2" fmla="*/ 627962 w 627962"/>
              <a:gd name="connsiteY2" fmla="*/ 1421176 h 142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7962" h="1421176">
                <a:moveTo>
                  <a:pt x="0" y="0"/>
                </a:moveTo>
                <a:cubicBezTo>
                  <a:pt x="19280" y="426903"/>
                  <a:pt x="38560" y="853807"/>
                  <a:pt x="143220" y="1090670"/>
                </a:cubicBezTo>
                <a:cubicBezTo>
                  <a:pt x="247880" y="1327533"/>
                  <a:pt x="437921" y="1374354"/>
                  <a:pt x="627962" y="1421176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F932E40-C5A1-40E3-A0CE-E83F7B3AE9B9}"/>
              </a:ext>
            </a:extLst>
          </p:cNvPr>
          <p:cNvSpPr/>
          <p:nvPr/>
        </p:nvSpPr>
        <p:spPr>
          <a:xfrm>
            <a:off x="4197427" y="2544896"/>
            <a:ext cx="721666" cy="1586429"/>
          </a:xfrm>
          <a:custGeom>
            <a:avLst/>
            <a:gdLst>
              <a:gd name="connsiteX0" fmla="*/ 694062 w 721666"/>
              <a:gd name="connsiteY0" fmla="*/ 0 h 1586429"/>
              <a:gd name="connsiteX1" fmla="*/ 638978 w 721666"/>
              <a:gd name="connsiteY1" fmla="*/ 1156771 h 1586429"/>
              <a:gd name="connsiteX2" fmla="*/ 0 w 721666"/>
              <a:gd name="connsiteY2" fmla="*/ 1586429 h 15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1666" h="1586429">
                <a:moveTo>
                  <a:pt x="694062" y="0"/>
                </a:moveTo>
                <a:cubicBezTo>
                  <a:pt x="724358" y="446183"/>
                  <a:pt x="754655" y="892366"/>
                  <a:pt x="638978" y="1156771"/>
                </a:cubicBezTo>
                <a:cubicBezTo>
                  <a:pt x="523301" y="1421176"/>
                  <a:pt x="261650" y="1503802"/>
                  <a:pt x="0" y="1586429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84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2557709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We have the Step Size by Gradient multiplied by Learning Rate (0.01):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 = -1.6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Intercept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-1.6 x Learning Rate = -1.6 x 0.01 = -0.016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+ -2 x 2.9 x (3.2 – (0 + 1 x 2.9))  = -0.8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-0.89 x Learning Rate = -8.0x 001 = -0.008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2557709"/>
              </a:xfrm>
              <a:blipFill>
                <a:blip r:embed="rId2"/>
                <a:stretch>
                  <a:fillRect t="-475" b="-166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3C40E-D8BB-40AE-B730-ADB58805024A}"/>
              </a:ext>
            </a:extLst>
          </p:cNvPr>
          <p:cNvSpPr/>
          <p:nvPr/>
        </p:nvSpPr>
        <p:spPr>
          <a:xfrm>
            <a:off x="5076056" y="2475059"/>
            <a:ext cx="829202" cy="2875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02FEDA-3F58-4FDE-8953-55B7893D603D}"/>
              </a:ext>
            </a:extLst>
          </p:cNvPr>
          <p:cNvSpPr/>
          <p:nvPr/>
        </p:nvSpPr>
        <p:spPr>
          <a:xfrm>
            <a:off x="4894796" y="3527399"/>
            <a:ext cx="829202" cy="28759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A5908C-B9DC-4470-99E1-84F9C53B8358}"/>
              </a:ext>
            </a:extLst>
          </p:cNvPr>
          <p:cNvCxnSpPr>
            <a:cxnSpLocks/>
          </p:cNvCxnSpPr>
          <p:nvPr/>
        </p:nvCxnSpPr>
        <p:spPr>
          <a:xfrm flipV="1">
            <a:off x="3962160" y="6164327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1F6802-95DD-4FE6-8535-1F469BF584D3}"/>
              </a:ext>
            </a:extLst>
          </p:cNvPr>
          <p:cNvCxnSpPr>
            <a:cxnSpLocks/>
          </p:cNvCxnSpPr>
          <p:nvPr/>
        </p:nvCxnSpPr>
        <p:spPr>
          <a:xfrm flipH="1" flipV="1">
            <a:off x="3927260" y="4025825"/>
            <a:ext cx="34906" cy="21504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9A40FC-18FA-4B16-B86D-9C2779FE894A}"/>
              </a:ext>
            </a:extLst>
          </p:cNvPr>
          <p:cNvCxnSpPr>
            <a:cxnSpLocks/>
          </p:cNvCxnSpPr>
          <p:nvPr/>
        </p:nvCxnSpPr>
        <p:spPr>
          <a:xfrm>
            <a:off x="3699533" y="425130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653D8E-CEEC-499C-90F5-2CCEBCEDB652}"/>
              </a:ext>
            </a:extLst>
          </p:cNvPr>
          <p:cNvCxnSpPr/>
          <p:nvPr/>
        </p:nvCxnSpPr>
        <p:spPr>
          <a:xfrm>
            <a:off x="5423947" y="60322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BC8C48-20BC-4D94-BA15-6253D840C395}"/>
              </a:ext>
            </a:extLst>
          </p:cNvPr>
          <p:cNvCxnSpPr/>
          <p:nvPr/>
        </p:nvCxnSpPr>
        <p:spPr>
          <a:xfrm>
            <a:off x="4593753" y="60322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A47997-8574-4D22-8EE2-2EE2082E646B}"/>
              </a:ext>
            </a:extLst>
          </p:cNvPr>
          <p:cNvCxnSpPr>
            <a:cxnSpLocks/>
          </p:cNvCxnSpPr>
          <p:nvPr/>
        </p:nvCxnSpPr>
        <p:spPr>
          <a:xfrm>
            <a:off x="3718586" y="513563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539A98B-5423-4392-BF01-6F2A017793A6}"/>
              </a:ext>
            </a:extLst>
          </p:cNvPr>
          <p:cNvSpPr/>
          <p:nvPr/>
        </p:nvSpPr>
        <p:spPr>
          <a:xfrm>
            <a:off x="5492873" y="456853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572EB8-5538-4651-AB30-4AF48802D992}"/>
              </a:ext>
            </a:extLst>
          </p:cNvPr>
          <p:cNvSpPr/>
          <p:nvPr/>
        </p:nvSpPr>
        <p:spPr>
          <a:xfrm>
            <a:off x="4058138" y="473683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16363-4E4E-446A-8FE8-30404B041085}"/>
              </a:ext>
            </a:extLst>
          </p:cNvPr>
          <p:cNvSpPr txBox="1"/>
          <p:nvPr/>
        </p:nvSpPr>
        <p:spPr>
          <a:xfrm>
            <a:off x="3390517" y="5349071"/>
            <a:ext cx="517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SSR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AE8DE9-735C-4E21-A29B-812A60622FDF}"/>
              </a:ext>
            </a:extLst>
          </p:cNvPr>
          <p:cNvSpPr txBox="1"/>
          <p:nvPr/>
        </p:nvSpPr>
        <p:spPr>
          <a:xfrm>
            <a:off x="3811754" y="6223726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584A5C-15B3-4EC3-92D1-F3A513D56DD3}"/>
              </a:ext>
            </a:extLst>
          </p:cNvPr>
          <p:cNvSpPr txBox="1"/>
          <p:nvPr/>
        </p:nvSpPr>
        <p:spPr>
          <a:xfrm>
            <a:off x="4576489" y="6218408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A319C-198F-4F7C-A96A-8E0B7AA9FA3D}"/>
              </a:ext>
            </a:extLst>
          </p:cNvPr>
          <p:cNvSpPr txBox="1"/>
          <p:nvPr/>
        </p:nvSpPr>
        <p:spPr>
          <a:xfrm flipH="1">
            <a:off x="5503094" y="6230353"/>
            <a:ext cx="365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BDB5DB-3CA2-40B9-822C-9C324697FF8F}"/>
              </a:ext>
            </a:extLst>
          </p:cNvPr>
          <p:cNvSpPr/>
          <p:nvPr/>
        </p:nvSpPr>
        <p:spPr>
          <a:xfrm>
            <a:off x="4245714" y="5011774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7B6048-34FF-46AB-828B-9E750F70B9F3}"/>
              </a:ext>
            </a:extLst>
          </p:cNvPr>
          <p:cNvSpPr/>
          <p:nvPr/>
        </p:nvSpPr>
        <p:spPr>
          <a:xfrm>
            <a:off x="4496764" y="5171727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B45EC1-BAEC-4DF8-82EF-64D5A81B988D}"/>
              </a:ext>
            </a:extLst>
          </p:cNvPr>
          <p:cNvSpPr/>
          <p:nvPr/>
        </p:nvSpPr>
        <p:spPr>
          <a:xfrm>
            <a:off x="4802182" y="53198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868EF0-CB47-4978-83E6-A28FD3D89321}"/>
              </a:ext>
            </a:extLst>
          </p:cNvPr>
          <p:cNvSpPr/>
          <p:nvPr/>
        </p:nvSpPr>
        <p:spPr>
          <a:xfrm>
            <a:off x="5098714" y="508675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620F1A5-3CA9-404A-B1B7-77A85A0A6056}"/>
              </a:ext>
            </a:extLst>
          </p:cNvPr>
          <p:cNvSpPr/>
          <p:nvPr/>
        </p:nvSpPr>
        <p:spPr>
          <a:xfrm>
            <a:off x="5301126" y="48410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A0A8B1-C144-4174-9621-F29B3C5D3443}"/>
              </a:ext>
            </a:extLst>
          </p:cNvPr>
          <p:cNvCxnSpPr>
            <a:cxnSpLocks/>
          </p:cNvCxnSpPr>
          <p:nvPr/>
        </p:nvCxnSpPr>
        <p:spPr>
          <a:xfrm flipV="1">
            <a:off x="3959919" y="5624384"/>
            <a:ext cx="357242" cy="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5087FC2-DC01-4CB4-A316-B2029A9D41CF}"/>
              </a:ext>
            </a:extLst>
          </p:cNvPr>
          <p:cNvSpPr/>
          <p:nvPr/>
        </p:nvSpPr>
        <p:spPr>
          <a:xfrm>
            <a:off x="3878573" y="6062395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E32F2F-DE8C-4883-952C-070DD82DC230}"/>
              </a:ext>
            </a:extLst>
          </p:cNvPr>
          <p:cNvCxnSpPr>
            <a:cxnSpLocks/>
          </p:cNvCxnSpPr>
          <p:nvPr/>
        </p:nvCxnSpPr>
        <p:spPr>
          <a:xfrm flipV="1">
            <a:off x="6634244" y="6192264"/>
            <a:ext cx="2036025" cy="11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D1E44E-E510-4E96-9FF5-6BBA4AD36FB4}"/>
              </a:ext>
            </a:extLst>
          </p:cNvPr>
          <p:cNvCxnSpPr>
            <a:cxnSpLocks/>
          </p:cNvCxnSpPr>
          <p:nvPr/>
        </p:nvCxnSpPr>
        <p:spPr>
          <a:xfrm flipH="1" flipV="1">
            <a:off x="6627702" y="4251303"/>
            <a:ext cx="6547" cy="19529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8D1610-5F31-4EC4-891E-9571BA1382BC}"/>
              </a:ext>
            </a:extLst>
          </p:cNvPr>
          <p:cNvCxnSpPr/>
          <p:nvPr/>
        </p:nvCxnSpPr>
        <p:spPr>
          <a:xfrm>
            <a:off x="8272754" y="612519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4E0DD7-F7AA-450B-A99B-AC35E346D796}"/>
              </a:ext>
            </a:extLst>
          </p:cNvPr>
          <p:cNvCxnSpPr/>
          <p:nvPr/>
        </p:nvCxnSpPr>
        <p:spPr>
          <a:xfrm>
            <a:off x="7431618" y="611347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9F4801-A7C9-4C93-8DCD-3F074DBA5C01}"/>
              </a:ext>
            </a:extLst>
          </p:cNvPr>
          <p:cNvCxnSpPr>
            <a:cxnSpLocks/>
          </p:cNvCxnSpPr>
          <p:nvPr/>
        </p:nvCxnSpPr>
        <p:spPr>
          <a:xfrm>
            <a:off x="6390670" y="516356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5DA8752-B279-4D0A-A16F-22F23B66E6F0}"/>
              </a:ext>
            </a:extLst>
          </p:cNvPr>
          <p:cNvSpPr txBox="1"/>
          <p:nvPr/>
        </p:nvSpPr>
        <p:spPr>
          <a:xfrm>
            <a:off x="6062601" y="5377008"/>
            <a:ext cx="517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SSR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0DA036-5837-4289-82AC-8ACB98E848D4}"/>
              </a:ext>
            </a:extLst>
          </p:cNvPr>
          <p:cNvSpPr txBox="1"/>
          <p:nvPr/>
        </p:nvSpPr>
        <p:spPr>
          <a:xfrm>
            <a:off x="6483838" y="6251663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C86F-4EB7-4B30-A57F-69D0E7DD19D4}"/>
              </a:ext>
            </a:extLst>
          </p:cNvPr>
          <p:cNvSpPr txBox="1"/>
          <p:nvPr/>
        </p:nvSpPr>
        <p:spPr>
          <a:xfrm>
            <a:off x="7556755" y="6241020"/>
            <a:ext cx="416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93E3A0-5727-4E73-8A16-931E3B1C0C55}"/>
              </a:ext>
            </a:extLst>
          </p:cNvPr>
          <p:cNvSpPr txBox="1"/>
          <p:nvPr/>
        </p:nvSpPr>
        <p:spPr>
          <a:xfrm flipH="1">
            <a:off x="8253365" y="6249635"/>
            <a:ext cx="401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13F0CA-8AD4-453D-A4E2-48BC875FF432}"/>
              </a:ext>
            </a:extLst>
          </p:cNvPr>
          <p:cNvSpPr/>
          <p:nvPr/>
        </p:nvSpPr>
        <p:spPr>
          <a:xfrm>
            <a:off x="6789301" y="4870749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5B25254-DEEB-40B8-873B-3C320FF86CF4}"/>
              </a:ext>
            </a:extLst>
          </p:cNvPr>
          <p:cNvSpPr/>
          <p:nvPr/>
        </p:nvSpPr>
        <p:spPr>
          <a:xfrm>
            <a:off x="7157981" y="5147077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56C10B-5489-4AA6-A9BA-D07CD590873B}"/>
              </a:ext>
            </a:extLst>
          </p:cNvPr>
          <p:cNvSpPr/>
          <p:nvPr/>
        </p:nvSpPr>
        <p:spPr>
          <a:xfrm>
            <a:off x="7474266" y="5347777"/>
            <a:ext cx="216024" cy="216002"/>
          </a:xfrm>
          <a:prstGeom prst="ellipse">
            <a:avLst/>
          </a:prstGeom>
          <a:solidFill>
            <a:schemeClr val="tx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4EB8DAF-E432-433D-8B96-F31C2AA263DB}"/>
              </a:ext>
            </a:extLst>
          </p:cNvPr>
          <p:cNvSpPr/>
          <p:nvPr/>
        </p:nvSpPr>
        <p:spPr>
          <a:xfrm>
            <a:off x="7839562" y="5196065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6CEA3EE-5A82-4616-83E3-C3C195AC4429}"/>
              </a:ext>
            </a:extLst>
          </p:cNvPr>
          <p:cNvSpPr/>
          <p:nvPr/>
        </p:nvSpPr>
        <p:spPr>
          <a:xfrm>
            <a:off x="8156687" y="4945940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6E02EC2-F960-432D-9725-AFCA040C9852}"/>
              </a:ext>
            </a:extLst>
          </p:cNvPr>
          <p:cNvSpPr/>
          <p:nvPr/>
        </p:nvSpPr>
        <p:spPr>
          <a:xfrm>
            <a:off x="6550657" y="6090332"/>
            <a:ext cx="216024" cy="216002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C4DA97-9BF5-47DF-BB8D-E0A402FA1715}"/>
              </a:ext>
            </a:extLst>
          </p:cNvPr>
          <p:cNvSpPr/>
          <p:nvPr/>
        </p:nvSpPr>
        <p:spPr>
          <a:xfrm>
            <a:off x="6526232" y="4628432"/>
            <a:ext cx="216024" cy="216002"/>
          </a:xfrm>
          <a:prstGeom prst="ellipse">
            <a:avLst/>
          </a:prstGeom>
          <a:solidFill>
            <a:schemeClr val="accent6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7B3B7BB-FE0A-41F7-A536-49FEA5C14F45}"/>
              </a:ext>
            </a:extLst>
          </p:cNvPr>
          <p:cNvSpPr/>
          <p:nvPr/>
        </p:nvSpPr>
        <p:spPr>
          <a:xfrm>
            <a:off x="3810516" y="446709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512297-1AAF-4B61-8182-442F0CF568E4}"/>
              </a:ext>
            </a:extLst>
          </p:cNvPr>
          <p:cNvSpPr txBox="1"/>
          <p:nvPr/>
        </p:nvSpPr>
        <p:spPr>
          <a:xfrm>
            <a:off x="3920440" y="5710813"/>
            <a:ext cx="85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Size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F8D6C9-DCE4-424D-BC51-C13B7F56470C}"/>
              </a:ext>
            </a:extLst>
          </p:cNvPr>
          <p:cNvSpPr txBox="1"/>
          <p:nvPr/>
        </p:nvSpPr>
        <p:spPr>
          <a:xfrm>
            <a:off x="6580328" y="5740922"/>
            <a:ext cx="85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Step Size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C21AA9-6F9B-4619-831C-4D349D7E952C}"/>
              </a:ext>
            </a:extLst>
          </p:cNvPr>
          <p:cNvCxnSpPr>
            <a:cxnSpLocks/>
          </p:cNvCxnSpPr>
          <p:nvPr/>
        </p:nvCxnSpPr>
        <p:spPr>
          <a:xfrm flipV="1">
            <a:off x="6598414" y="5620582"/>
            <a:ext cx="357242" cy="1"/>
          </a:xfrm>
          <a:prstGeom prst="line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5793D9B-AD06-4117-A262-4E5B103DC690}"/>
              </a:ext>
            </a:extLst>
          </p:cNvPr>
          <p:cNvCxnSpPr>
            <a:cxnSpLocks/>
          </p:cNvCxnSpPr>
          <p:nvPr/>
        </p:nvCxnSpPr>
        <p:spPr>
          <a:xfrm>
            <a:off x="729436" y="6230353"/>
            <a:ext cx="22880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22D51B-413B-409F-91A4-404E4BCD9BA7}"/>
              </a:ext>
            </a:extLst>
          </p:cNvPr>
          <p:cNvCxnSpPr>
            <a:cxnSpLocks/>
          </p:cNvCxnSpPr>
          <p:nvPr/>
        </p:nvCxnSpPr>
        <p:spPr>
          <a:xfrm flipV="1">
            <a:off x="729436" y="3998083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F7A874-845E-4554-B0F6-857446BD6766}"/>
              </a:ext>
            </a:extLst>
          </p:cNvPr>
          <p:cNvCxnSpPr/>
          <p:nvPr/>
        </p:nvCxnSpPr>
        <p:spPr>
          <a:xfrm>
            <a:off x="1362928" y="612401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A74B924-3A4E-4195-B3AC-A5FB383C1461}"/>
              </a:ext>
            </a:extLst>
          </p:cNvPr>
          <p:cNvCxnSpPr/>
          <p:nvPr/>
        </p:nvCxnSpPr>
        <p:spPr>
          <a:xfrm>
            <a:off x="2710829" y="613807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765A475-95E4-4C6C-A4EB-B282616BC89B}"/>
              </a:ext>
            </a:extLst>
          </p:cNvPr>
          <p:cNvCxnSpPr/>
          <p:nvPr/>
        </p:nvCxnSpPr>
        <p:spPr>
          <a:xfrm>
            <a:off x="1979712" y="613700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590BC08-9D87-47A3-8794-B1A0B3F814CC}"/>
              </a:ext>
            </a:extLst>
          </p:cNvPr>
          <p:cNvCxnSpPr>
            <a:cxnSpLocks/>
          </p:cNvCxnSpPr>
          <p:nvPr/>
        </p:nvCxnSpPr>
        <p:spPr>
          <a:xfrm>
            <a:off x="531904" y="442536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06F9C9B-F0D8-4B80-BC92-616389438BA8}"/>
              </a:ext>
            </a:extLst>
          </p:cNvPr>
          <p:cNvCxnSpPr>
            <a:cxnSpLocks/>
          </p:cNvCxnSpPr>
          <p:nvPr/>
        </p:nvCxnSpPr>
        <p:spPr>
          <a:xfrm>
            <a:off x="531904" y="573493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1D61B7A-D690-432C-AE36-ABE64774BBEF}"/>
              </a:ext>
            </a:extLst>
          </p:cNvPr>
          <p:cNvCxnSpPr>
            <a:cxnSpLocks/>
          </p:cNvCxnSpPr>
          <p:nvPr/>
        </p:nvCxnSpPr>
        <p:spPr>
          <a:xfrm>
            <a:off x="531904" y="500142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9E4DE4A-7ACE-4F3E-A91E-08615EDB2CEB}"/>
              </a:ext>
            </a:extLst>
          </p:cNvPr>
          <p:cNvCxnSpPr>
            <a:cxnSpLocks/>
          </p:cNvCxnSpPr>
          <p:nvPr/>
        </p:nvCxnSpPr>
        <p:spPr>
          <a:xfrm flipH="1">
            <a:off x="729436" y="4156715"/>
            <a:ext cx="1981393" cy="21158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EC602441-ED08-4BC4-9181-B25F64E95F76}"/>
              </a:ext>
            </a:extLst>
          </p:cNvPr>
          <p:cNvSpPr/>
          <p:nvPr/>
        </p:nvSpPr>
        <p:spPr>
          <a:xfrm>
            <a:off x="1820686" y="5134859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15992A9-D270-45B1-A983-F142C8AFFD59}"/>
              </a:ext>
            </a:extLst>
          </p:cNvPr>
          <p:cNvSpPr/>
          <p:nvPr/>
        </p:nvSpPr>
        <p:spPr>
          <a:xfrm>
            <a:off x="2296262" y="413149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8A469EA-1762-4120-B77E-57A706886718}"/>
              </a:ext>
            </a:extLst>
          </p:cNvPr>
          <p:cNvSpPr/>
          <p:nvPr/>
        </p:nvSpPr>
        <p:spPr>
          <a:xfrm>
            <a:off x="1029384" y="54948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61F7C3-BCCD-4354-9EC8-2120645DC7FA}"/>
              </a:ext>
            </a:extLst>
          </p:cNvPr>
          <p:cNvSpPr txBox="1"/>
          <p:nvPr/>
        </p:nvSpPr>
        <p:spPr>
          <a:xfrm>
            <a:off x="195736" y="4678513"/>
            <a:ext cx="633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Height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A1B16C9-7081-4053-A647-D7C32B52E85A}"/>
              </a:ext>
            </a:extLst>
          </p:cNvPr>
          <p:cNvCxnSpPr>
            <a:cxnSpLocks/>
          </p:cNvCxnSpPr>
          <p:nvPr/>
        </p:nvCxnSpPr>
        <p:spPr>
          <a:xfrm flipV="1">
            <a:off x="1137396" y="5618718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D426853-9F4B-4DC6-B475-B68D583FF876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928698" y="4948404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EEDBC4A-373C-461A-BBD7-FA8DA9C454CD}"/>
              </a:ext>
            </a:extLst>
          </p:cNvPr>
          <p:cNvSpPr txBox="1"/>
          <p:nvPr/>
        </p:nvSpPr>
        <p:spPr>
          <a:xfrm>
            <a:off x="2291356" y="6265338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7B2A30-1E1E-44AF-96D8-20D653D84DC7}"/>
              </a:ext>
            </a:extLst>
          </p:cNvPr>
          <p:cNvSpPr txBox="1"/>
          <p:nvPr/>
        </p:nvSpPr>
        <p:spPr>
          <a:xfrm>
            <a:off x="1893194" y="6236006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E4CE5D-9D3B-4E25-BFE2-D2C5AFFB8CAB}"/>
              </a:ext>
            </a:extLst>
          </p:cNvPr>
          <p:cNvSpPr txBox="1"/>
          <p:nvPr/>
        </p:nvSpPr>
        <p:spPr>
          <a:xfrm>
            <a:off x="371061" y="399119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8E1415-0BE8-4B36-B0A1-48B78654D03C}"/>
              </a:ext>
            </a:extLst>
          </p:cNvPr>
          <p:cNvSpPr txBox="1"/>
          <p:nvPr/>
        </p:nvSpPr>
        <p:spPr>
          <a:xfrm>
            <a:off x="432005" y="5083947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1B556B-7B89-4733-A232-64E484B812A3}"/>
              </a:ext>
            </a:extLst>
          </p:cNvPr>
          <p:cNvSpPr txBox="1"/>
          <p:nvPr/>
        </p:nvSpPr>
        <p:spPr>
          <a:xfrm>
            <a:off x="411484" y="534298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806499-B2B1-40E6-B791-159230A25E05}"/>
              </a:ext>
            </a:extLst>
          </p:cNvPr>
          <p:cNvSpPr txBox="1"/>
          <p:nvPr/>
        </p:nvSpPr>
        <p:spPr>
          <a:xfrm>
            <a:off x="1010556" y="6249634"/>
            <a:ext cx="479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0.5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6CA65A59-48ED-4E4E-968C-77EAC625BDAE}"/>
              </a:ext>
            </a:extLst>
          </p:cNvPr>
          <p:cNvSpPr/>
          <p:nvPr/>
        </p:nvSpPr>
        <p:spPr>
          <a:xfrm>
            <a:off x="5430681" y="3792976"/>
            <a:ext cx="1349259" cy="1827240"/>
          </a:xfrm>
          <a:custGeom>
            <a:avLst/>
            <a:gdLst>
              <a:gd name="connsiteX0" fmla="*/ 0 w 1505414"/>
              <a:gd name="connsiteY0" fmla="*/ 0 h 1728439"/>
              <a:gd name="connsiteX1" fmla="*/ 1048214 w 1505414"/>
              <a:gd name="connsiteY1" fmla="*/ 613317 h 1728439"/>
              <a:gd name="connsiteX2" fmla="*/ 1505414 w 1505414"/>
              <a:gd name="connsiteY2" fmla="*/ 1728439 h 17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5414" h="1728439">
                <a:moveTo>
                  <a:pt x="0" y="0"/>
                </a:moveTo>
                <a:cubicBezTo>
                  <a:pt x="398656" y="162622"/>
                  <a:pt x="797312" y="325244"/>
                  <a:pt x="1048214" y="613317"/>
                </a:cubicBezTo>
                <a:cubicBezTo>
                  <a:pt x="1299116" y="901390"/>
                  <a:pt x="1402265" y="1314914"/>
                  <a:pt x="1505414" y="1728439"/>
                </a:cubicBezTo>
              </a:path>
            </a:pathLst>
          </a:custGeom>
          <a:noFill/>
          <a:ln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51B0A29-FD76-4731-B1E5-168ADD34FA26}"/>
              </a:ext>
            </a:extLst>
          </p:cNvPr>
          <p:cNvSpPr/>
          <p:nvPr/>
        </p:nvSpPr>
        <p:spPr>
          <a:xfrm>
            <a:off x="4114988" y="2732183"/>
            <a:ext cx="1095990" cy="2930487"/>
          </a:xfrm>
          <a:custGeom>
            <a:avLst/>
            <a:gdLst>
              <a:gd name="connsiteX0" fmla="*/ 1095990 w 1095990"/>
              <a:gd name="connsiteY0" fmla="*/ 0 h 2930487"/>
              <a:gd name="connsiteX1" fmla="*/ 148540 w 1095990"/>
              <a:gd name="connsiteY1" fmla="*/ 1476260 h 2930487"/>
              <a:gd name="connsiteX2" fmla="*/ 16337 w 1095990"/>
              <a:gd name="connsiteY2" fmla="*/ 2930487 h 293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5990" h="2930487">
                <a:moveTo>
                  <a:pt x="1095990" y="0"/>
                </a:moveTo>
                <a:cubicBezTo>
                  <a:pt x="712236" y="493923"/>
                  <a:pt x="328482" y="987846"/>
                  <a:pt x="148540" y="1476260"/>
                </a:cubicBezTo>
                <a:cubicBezTo>
                  <a:pt x="-31402" y="1964674"/>
                  <a:pt x="-7533" y="2447580"/>
                  <a:pt x="16337" y="293048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1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3133773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Update the new Intercept and new Slope: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(1.4– (0 + 1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(0 + 1 x 2.3)) + -2 (3.2– (0 + 1 x 2.9)) = -1.6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Intercept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-1.6 x Learning Rate = -1.6 x 0.01 = -0.016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New Intercept = 0 – Step Size = 0 – (-0.016) = 0.016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-2 x 0.5 x (1.4 – (0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(0 +1 x 2.3)) + -2 x 2.9 x (3.2 – (0 + 1 x 2.9))  = -0.8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-0.89 x Learning Rate = -8.0x 001 = -0.008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New Slope = 1 – Step Size = 1 – (-0.008) = 1.008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3133773"/>
              </a:xfrm>
              <a:blipFill>
                <a:blip r:embed="rId2"/>
                <a:stretch>
                  <a:fillRect t="-388" b="-15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3C40E-D8BB-40AE-B730-ADB58805024A}"/>
              </a:ext>
            </a:extLst>
          </p:cNvPr>
          <p:cNvSpPr/>
          <p:nvPr/>
        </p:nvSpPr>
        <p:spPr>
          <a:xfrm>
            <a:off x="4601204" y="2762433"/>
            <a:ext cx="618868" cy="2875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02FEDA-3F58-4FDE-8953-55B7893D603D}"/>
              </a:ext>
            </a:extLst>
          </p:cNvPr>
          <p:cNvSpPr/>
          <p:nvPr/>
        </p:nvSpPr>
        <p:spPr>
          <a:xfrm>
            <a:off x="4283968" y="4149080"/>
            <a:ext cx="618868" cy="2875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2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48.1 Gradient Descent Example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3421806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Then, we go back the derivative and repeat the process a lot of time with new intercept and new slope until we reach maximum number of steps or the step size is very small.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-2 (1.4– (intercept + slope x 0.5)) 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(intercept + slope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(3.2– (intercept + slope x 2.9)) </a:t>
                </a:r>
                <a:endParaRPr lang="en-US" sz="1600" baseline="30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-2 x 0.5 x (1.4 – (intercept + slope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(1.9 – (intercept + slope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2.9 x (3.2 – (intercept + slope x 2.9))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3421806"/>
              </a:xfrm>
              <a:blipFill>
                <a:blip r:embed="rId2"/>
                <a:stretch>
                  <a:fillRect t="-35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14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48.2 Stochastic Gradient Descent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21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48.2 Stochastic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5"/>
            <a:ext cx="8352928" cy="80565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  <a:latin typeface="Cambria Math" panose="02040503050406030204" pitchFamily="18" charset="0"/>
              </a:rPr>
              <a:t>In this example, we use two parameters: intercept and slope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</a:rPr>
              <a:t>Predicted Height = intercept + slope x weight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15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2958173" y="5034532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2958173" y="2802262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3973923" y="500301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605283" y="494376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4776647" y="500301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2760641" y="3306340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2760641" y="453911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2760641" y="389916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2958173" y="2663229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4794491" y="371948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270067" y="2802262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483653" y="4299228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929865" y="5183600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1972768" y="3326490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3591665" y="4390174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902503" y="3533033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403837" y="3012215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760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48.2 Stochastic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4"/>
                <a:ext cx="8352928" cy="4501927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We only have three data points.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We only have three step to compute for intercept.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-2 (1.4– (intercept + slope x 0.5))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(1.9– (intercept + slope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(3.2– (intercept + slope x 2.9))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We only have three step to compute for slope.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-2 x 0.5 x (intercept – (slope + 1 x 0.5))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2.3 x (intercept – (slope +1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+ -2 x 2.9 x (intercept – (slope + 1 x 2.9))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4"/>
                <a:ext cx="8352928" cy="4501927"/>
              </a:xfrm>
              <a:blipFill>
                <a:blip r:embed="rId2"/>
                <a:stretch>
                  <a:fillRect t="-27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904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48.2 Stochastic Gradient Descent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4"/>
                <a:ext cx="8352928" cy="4501927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What if we have a more complicated model, like a logistic Regression with 23,000 of genes for disease prediction?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Then, we will have 23,000 of derivatives.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gene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Loss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()]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gene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Loss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()]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If we have 1 millions of samples, then we have 1 millions of terms for the above 23,000 derivatives.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We have to calculate 23,000,000,000 (23 billions) terms for each steps.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If we have 1000 steps, then we have 23,000,000,000,000 (23 trillions) terms.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For big data, Gradient Descent is slow.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This is why Stochastic Gradient Descent comes into the picture.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4"/>
                <a:ext cx="8352928" cy="4501927"/>
              </a:xfrm>
              <a:blipFill>
                <a:blip r:embed="rId2"/>
                <a:stretch>
                  <a:fillRect t="-27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83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48.3 Random Select Data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13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5"/>
            <a:ext cx="8352928" cy="80565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Stochastic Gradient Descent will randomly pick </a:t>
            </a:r>
            <a:r>
              <a:rPr lang="en-US" sz="1600" b="1" dirty="0">
                <a:solidFill>
                  <a:srgbClr val="C00000"/>
                </a:solidFill>
              </a:rPr>
              <a:t>one sample for each step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Just use that sample to calculate the derivatives.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19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5128472" y="494005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5128472" y="270778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6144222" y="490853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7775582" y="484928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6946946" y="490853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4930940" y="321186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4930940" y="444463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4930940" y="380468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5128472" y="2568752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6964790" y="36250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7440366" y="270778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5653952" y="420475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8100164" y="5089123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4968895" y="2364365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5761964" y="4295697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072802" y="3438556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7574136" y="291773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副標題 2">
                <a:extLst>
                  <a:ext uri="{FF2B5EF4-FFF2-40B4-BE49-F238E27FC236}">
                    <a16:creationId xmlns:a16="http://schemas.microsoft.com/office/drawing/2014/main" id="{8F0F065D-580C-4BA0-B80F-C8378A9911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9866" y="2193674"/>
                <a:ext cx="4346691" cy="16473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+ -2 (1.9– (intercept + slope x 2.3))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x 2.3 x (1.9 - (intercept + slope +1 x 2.3)) </a:t>
                </a:r>
              </a:p>
            </p:txBody>
          </p:sp>
        </mc:Choice>
        <mc:Fallback>
          <p:sp>
            <p:nvSpPr>
              <p:cNvPr id="24" name="副標題 2">
                <a:extLst>
                  <a:ext uri="{FF2B5EF4-FFF2-40B4-BE49-F238E27FC236}">
                    <a16:creationId xmlns:a16="http://schemas.microsoft.com/office/drawing/2014/main" id="{8F0F065D-580C-4BA0-B80F-C8378A99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66" y="2193674"/>
                <a:ext cx="4346691" cy="1647339"/>
              </a:xfrm>
              <a:prstGeom prst="rect">
                <a:avLst/>
              </a:prstGeom>
              <a:blipFill>
                <a:blip r:embed="rId2"/>
                <a:stretch>
                  <a:fillRect t="-1103" b="-220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副標題 2">
            <a:extLst>
              <a:ext uri="{FF2B5EF4-FFF2-40B4-BE49-F238E27FC236}">
                <a16:creationId xmlns:a16="http://schemas.microsoft.com/office/drawing/2014/main" id="{0995A65D-2E73-4CEA-90F8-45944327D10F}"/>
              </a:ext>
            </a:extLst>
          </p:cNvPr>
          <p:cNvSpPr txBox="1">
            <a:spLocks/>
          </p:cNvSpPr>
          <p:nvPr/>
        </p:nvSpPr>
        <p:spPr>
          <a:xfrm>
            <a:off x="397553" y="4127503"/>
            <a:ext cx="4491068" cy="163432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In this simple example, we have three sample, the Stochastic Gradient Descent will reduce the number of terms by a factor of 3.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If we have 1,000,000 samples, we will reduce a factor of 1,000,000.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…so Stochastic Gradient is pretty cool.</a:t>
            </a:r>
          </a:p>
        </p:txBody>
      </p:sp>
    </p:spTree>
    <p:extLst>
      <p:ext uri="{BB962C8B-B14F-4D97-AF65-F5344CB8AC3E}">
        <p14:creationId xmlns:p14="http://schemas.microsoft.com/office/powerpoint/2010/main" val="3275023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6"/>
            <a:ext cx="8352928" cy="72532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Stochastic Gradient Descent is especially useful when there are </a:t>
            </a:r>
            <a:r>
              <a:rPr lang="en-US" sz="1600" b="1" dirty="0">
                <a:solidFill>
                  <a:srgbClr val="C00000"/>
                </a:solidFill>
              </a:rPr>
              <a:t>redundancies in the data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For example, we have 12 data, but there is a lot of redundancies in the three clusters.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20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2915816" y="548265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2915816" y="325038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3931566" y="545113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562926" y="539188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4734290" y="545113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2718284" y="375446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2718284" y="498723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2718284" y="434728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2915816" y="3111352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4752134" y="416761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227710" y="325038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441296" y="474735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4791843" y="578345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1930411" y="377461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3549308" y="4838297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860146" y="3981156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361480" y="346033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380110" y="340278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126827" y="344915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665536" y="482133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405198" y="496249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4937333" y="425597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633664" y="434728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567216" y="499641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575819" y="402501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339763" y="358830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11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5"/>
                <a:ext cx="8352928" cy="2232270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We randomly pick up the data and calculate with intercept = 0 and slope = 1.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We do the same thing before: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 -2 (3.3– (0 + 1 x 3))  = -0.6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Intercept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-0.6 x Learning Rate </a:t>
                </a:r>
                <a:endParaRPr lang="en-US" sz="1600" baseline="30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chemeClr val="tx1"/>
                            </a:solidFill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residuals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=  -2 x 3 x (0 – (0 +1 x 3)) = -1.8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-1.8 x Learning Rate</a:t>
                </a:r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5"/>
                <a:ext cx="8352928" cy="2232270"/>
              </a:xfrm>
              <a:blipFill>
                <a:blip r:embed="rId2"/>
                <a:stretch>
                  <a:fillRect t="-815" b="-3261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21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3203848" y="3629102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3837340" y="5356047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148178" y="4498906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7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6"/>
            <a:ext cx="8352928" cy="160053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Step Size</a:t>
            </a:r>
            <a:r>
              <a:rPr lang="en-US" sz="1600" b="1" baseline="-25000" dirty="0">
                <a:solidFill>
                  <a:schemeClr val="tx1"/>
                </a:solidFill>
              </a:rPr>
              <a:t>Intercept</a:t>
            </a:r>
            <a:r>
              <a:rPr lang="en-US" sz="1600" b="1" dirty="0">
                <a:solidFill>
                  <a:schemeClr val="tx1"/>
                </a:solidFill>
              </a:rPr>
              <a:t> = -0.6 x Learning Rate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Step Size</a:t>
            </a:r>
            <a:r>
              <a:rPr lang="en-US" sz="1600" b="1" baseline="-25000" dirty="0">
                <a:solidFill>
                  <a:schemeClr val="tx1"/>
                </a:solidFill>
              </a:rPr>
              <a:t>Slope</a:t>
            </a:r>
            <a:r>
              <a:rPr lang="en-US" sz="1600" b="1" dirty="0">
                <a:solidFill>
                  <a:schemeClr val="tx1"/>
                </a:solidFill>
              </a:rPr>
              <a:t> = -1.8 x Learning Rate</a:t>
            </a:r>
            <a:endParaRPr lang="en-US" sz="160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</a:rPr>
              <a:t>Just like the Regular Gradient Descent, for the general strategy, the </a:t>
            </a:r>
            <a:r>
              <a:rPr lang="en-US" sz="1600" b="1" dirty="0">
                <a:solidFill>
                  <a:srgbClr val="C00000"/>
                </a:solidFill>
                <a:latin typeface="Cambria Math" panose="02040503050406030204" pitchFamily="18" charset="0"/>
              </a:rPr>
              <a:t>Learning Rate is to start with relative large and make smaller with each step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</a:rPr>
              <a:t>. 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</a:rPr>
              <a:t>The Stochastic Gradient Descent will take care of the Learning Rate for you by default.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22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3203848" y="3629102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3837340" y="5356047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148178" y="4498906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23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147758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Terminology: Schedule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What is Schedule?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The ways the </a:t>
            </a:r>
            <a:r>
              <a:rPr lang="en-US" sz="1600" b="1" dirty="0">
                <a:solidFill>
                  <a:srgbClr val="C00000"/>
                </a:solidFill>
              </a:rPr>
              <a:t>Learning Rate started from relatively </a:t>
            </a:r>
            <a:r>
              <a:rPr lang="en-US" sz="1600" b="1" i="1" dirty="0">
                <a:solidFill>
                  <a:srgbClr val="C00000"/>
                </a:solidFill>
              </a:rPr>
              <a:t>large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and end with </a:t>
            </a:r>
            <a:r>
              <a:rPr lang="en-US" sz="1600" b="1" dirty="0">
                <a:solidFill>
                  <a:srgbClr val="C00000"/>
                </a:solidFill>
              </a:rPr>
              <a:t>relatively </a:t>
            </a:r>
            <a:r>
              <a:rPr lang="en-US" sz="1600" b="1" i="1" dirty="0">
                <a:solidFill>
                  <a:srgbClr val="C00000"/>
                </a:solidFill>
              </a:rPr>
              <a:t>small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is called </a:t>
            </a:r>
            <a:r>
              <a:rPr lang="en-US" sz="1600" b="1" dirty="0">
                <a:solidFill>
                  <a:schemeClr val="tx1"/>
                </a:solidFill>
              </a:rPr>
              <a:t>schedule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If you fail to converge in the Stochastic Gradient Descent, try set the </a:t>
            </a:r>
            <a:r>
              <a:rPr lang="en-US" sz="1600" b="1" dirty="0">
                <a:solidFill>
                  <a:schemeClr val="tx1"/>
                </a:solidFill>
              </a:rPr>
              <a:t>Learning Rate </a:t>
            </a:r>
            <a:r>
              <a:rPr lang="en-US" sz="1600" dirty="0">
                <a:solidFill>
                  <a:schemeClr val="tx1"/>
                </a:solidFill>
              </a:rPr>
              <a:t>to </a:t>
            </a:r>
            <a:r>
              <a:rPr lang="en-US" sz="1600" b="1" dirty="0">
                <a:solidFill>
                  <a:schemeClr val="tx1"/>
                </a:solidFill>
              </a:rPr>
              <a:t>0.01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23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2915816" y="5390311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2915816" y="315804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3931566" y="5358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562926" y="529954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4734290" y="535879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2718284" y="366211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2718284" y="489489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2718284" y="425494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2915816" y="3019008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4752134" y="407526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227710" y="315804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441296" y="465500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4791843" y="5691113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1930411" y="368226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3549308" y="4745953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860146" y="3888812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361480" y="3367994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380110" y="331044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126827" y="335681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665536" y="4728989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405198" y="4870146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4937333" y="4163626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633664" y="425494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567216" y="490407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575819" y="393266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339763" y="349595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36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6"/>
            <a:ext cx="8352928" cy="179782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Step Size</a:t>
            </a:r>
            <a:r>
              <a:rPr lang="en-US" sz="1800" b="1" baseline="-25000" dirty="0">
                <a:solidFill>
                  <a:schemeClr val="tx1"/>
                </a:solidFill>
              </a:rPr>
              <a:t>Intercept</a:t>
            </a:r>
            <a:r>
              <a:rPr lang="en-US" sz="1800" b="1" dirty="0">
                <a:solidFill>
                  <a:schemeClr val="tx1"/>
                </a:solidFill>
              </a:rPr>
              <a:t> = -0.6 x Learning Rate = -0.6 x 0.01 = -0.006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Step Size</a:t>
            </a:r>
            <a:r>
              <a:rPr lang="en-US" sz="1800" b="1" baseline="-25000" dirty="0">
                <a:solidFill>
                  <a:schemeClr val="tx1"/>
                </a:solidFill>
              </a:rPr>
              <a:t>Slope</a:t>
            </a:r>
            <a:r>
              <a:rPr lang="en-US" sz="1800" b="1" dirty="0">
                <a:solidFill>
                  <a:schemeClr val="tx1"/>
                </a:solidFill>
              </a:rPr>
              <a:t> = -1.8 x Learning Rate = -1.8 x 0.01 = -0.018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New Intercept = 0 - Step Size</a:t>
            </a:r>
            <a:r>
              <a:rPr lang="en-US" sz="1800" b="1" baseline="-25000" dirty="0">
                <a:solidFill>
                  <a:schemeClr val="tx1"/>
                </a:solidFill>
              </a:rPr>
              <a:t>Intercept </a:t>
            </a:r>
            <a:r>
              <a:rPr lang="en-US" sz="1800" b="1" dirty="0">
                <a:solidFill>
                  <a:schemeClr val="tx1"/>
                </a:solidFill>
              </a:rPr>
              <a:t> = 0 - -0.006 = 0.006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New Slope = 1 - Step Size</a:t>
            </a:r>
            <a:r>
              <a:rPr lang="en-US" sz="1800" b="1" baseline="-25000" dirty="0">
                <a:solidFill>
                  <a:schemeClr val="tx1"/>
                </a:solidFill>
              </a:rPr>
              <a:t>Intercept</a:t>
            </a:r>
            <a:r>
              <a:rPr lang="en-US" sz="1800" b="1" dirty="0">
                <a:solidFill>
                  <a:schemeClr val="tx1"/>
                </a:solidFill>
              </a:rPr>
              <a:t> = 1 - -0.018</a:t>
            </a:r>
            <a:r>
              <a:rPr lang="en-US" sz="1800" b="1" dirty="0">
                <a:solidFill>
                  <a:schemeClr val="tx1"/>
                </a:solidFill>
                <a:latin typeface="Cambria Math" panose="02040503050406030204" pitchFamily="18" charset="0"/>
              </a:rPr>
              <a:t> = 1.018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24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3203848" y="3629102"/>
            <a:ext cx="3118878" cy="2413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473691-DFA4-4BD9-A61E-DBC63A912C02}"/>
              </a:ext>
            </a:extLst>
          </p:cNvPr>
          <p:cNvCxnSpPr>
            <a:cxnSpLocks/>
          </p:cNvCxnSpPr>
          <p:nvPr/>
        </p:nvCxnSpPr>
        <p:spPr>
          <a:xfrm flipV="1">
            <a:off x="3837340" y="5356047"/>
            <a:ext cx="0" cy="2795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DBFBB7-BCAE-44B5-87C1-CC60945FCE7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148178" y="4498906"/>
            <a:ext cx="0" cy="18645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64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150930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New Parameter give us the new line.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Then, we randomly pick up another point.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Then, we repeat a bunch of time with different intercept and slope.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25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6EDF2-BE93-4705-A45F-7F1116851F0E}"/>
              </a:ext>
            </a:extLst>
          </p:cNvPr>
          <p:cNvCxnSpPr>
            <a:cxnSpLocks/>
          </p:cNvCxnSpPr>
          <p:nvPr/>
        </p:nvCxnSpPr>
        <p:spPr>
          <a:xfrm flipH="1">
            <a:off x="3203848" y="3629102"/>
            <a:ext cx="3118878" cy="22805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3203848" y="3781502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A2CEE9-C43F-4E0F-B081-B2CD1119DE6C}"/>
              </a:ext>
            </a:extLst>
          </p:cNvPr>
          <p:cNvCxnSpPr>
            <a:cxnSpLocks/>
          </p:cNvCxnSpPr>
          <p:nvPr/>
        </p:nvCxnSpPr>
        <p:spPr>
          <a:xfrm flipH="1">
            <a:off x="3203848" y="3951978"/>
            <a:ext cx="3271278" cy="15092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861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48.3 Random Select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51065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Finally, we get intercept 0.85 and slope = 0.67.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26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3203848" y="3781502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181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48.4 Mini-Batch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88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48.4 Mini-Batch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6"/>
            <a:ext cx="8352928" cy="108809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What is Mini-Batch?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rgbClr val="C00000"/>
                </a:solidFill>
              </a:rPr>
              <a:t>strict definition of Stochastic Gradient Descent </a:t>
            </a:r>
            <a:r>
              <a:rPr lang="en-US" sz="1800" dirty="0">
                <a:solidFill>
                  <a:schemeClr val="tx1"/>
                </a:solidFill>
              </a:rPr>
              <a:t>is to only use </a:t>
            </a:r>
            <a:r>
              <a:rPr lang="en-US" sz="1800" b="1" dirty="0">
                <a:solidFill>
                  <a:srgbClr val="C00000"/>
                </a:solidFill>
              </a:rPr>
              <a:t>1 sample per step</a:t>
            </a:r>
            <a:r>
              <a:rPr lang="en-US" sz="18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28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3203848" y="3781502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8A201E-A412-4E91-881A-BE2722B9B3FD}"/>
              </a:ext>
            </a:extLst>
          </p:cNvPr>
          <p:cNvSpPr txBox="1"/>
          <p:nvPr/>
        </p:nvSpPr>
        <p:spPr>
          <a:xfrm>
            <a:off x="2771800" y="3089865"/>
            <a:ext cx="460850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Stochastic Gradient Descent: 1 point per step</a:t>
            </a:r>
          </a:p>
        </p:txBody>
      </p:sp>
    </p:spTree>
    <p:extLst>
      <p:ext uri="{BB962C8B-B14F-4D97-AF65-F5344CB8AC3E}">
        <p14:creationId xmlns:p14="http://schemas.microsoft.com/office/powerpoint/2010/main" val="502549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48.4 Mini-Batch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13565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Note: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However, it is more common to select a small subset of data or </a:t>
            </a:r>
            <a:r>
              <a:rPr lang="en-US" sz="1600" b="1" dirty="0">
                <a:solidFill>
                  <a:srgbClr val="C00000"/>
                </a:solidFill>
              </a:rPr>
              <a:t>mini-batch</a:t>
            </a:r>
            <a:r>
              <a:rPr lang="en-US" sz="1600" dirty="0">
                <a:solidFill>
                  <a:schemeClr val="tx1"/>
                </a:solidFill>
              </a:rPr>
              <a:t> for each step.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For example, </a:t>
            </a:r>
            <a:r>
              <a:rPr lang="en-US" sz="1600" b="1" dirty="0">
                <a:solidFill>
                  <a:srgbClr val="C00000"/>
                </a:solidFill>
              </a:rPr>
              <a:t>we can use three samples per step instead of just one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Using </a:t>
            </a:r>
            <a:r>
              <a:rPr lang="en-US" sz="1600" b="1" dirty="0">
                <a:solidFill>
                  <a:srgbClr val="C00000"/>
                </a:solidFill>
              </a:rPr>
              <a:t>min-batch</a:t>
            </a:r>
            <a:r>
              <a:rPr lang="en-US" sz="1600" dirty="0">
                <a:solidFill>
                  <a:schemeClr val="tx1"/>
                </a:solidFill>
              </a:rPr>
              <a:t>, we </a:t>
            </a:r>
            <a:r>
              <a:rPr lang="en-US" sz="1600" b="1" dirty="0">
                <a:solidFill>
                  <a:srgbClr val="C00000"/>
                </a:solidFill>
              </a:rPr>
              <a:t>pass in the number of the parameter </a:t>
            </a:r>
            <a:r>
              <a:rPr lang="en-US" sz="1600" b="1" dirty="0">
                <a:solidFill>
                  <a:schemeClr val="tx1"/>
                </a:solidFill>
              </a:rPr>
              <a:t>for each step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rgbClr val="C00000"/>
              </a:solidFill>
            </a:endParaRP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29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4914310" y="450568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649512" y="3978088"/>
            <a:ext cx="0" cy="2173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414859" y="396690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855248" y="5514164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5877930" y="3990506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3203848" y="3781502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F1D7934-4983-47F0-87F7-BE0C44988EEB}"/>
              </a:ext>
            </a:extLst>
          </p:cNvPr>
          <p:cNvSpPr txBox="1"/>
          <p:nvPr/>
        </p:nvSpPr>
        <p:spPr>
          <a:xfrm>
            <a:off x="2771800" y="3089865"/>
            <a:ext cx="5400598" cy="646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Mini-Batch Stochastic Gradient Descent: several points (specify in passing parameters) per step</a:t>
            </a:r>
          </a:p>
        </p:txBody>
      </p:sp>
    </p:spTree>
    <p:extLst>
      <p:ext uri="{BB962C8B-B14F-4D97-AF65-F5344CB8AC3E}">
        <p14:creationId xmlns:p14="http://schemas.microsoft.com/office/powerpoint/2010/main" val="41526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48.4 Mini-Batch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135650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Accuracy comparison of </a:t>
            </a:r>
            <a:r>
              <a:rPr lang="en-US" sz="1600" b="1" dirty="0">
                <a:solidFill>
                  <a:srgbClr val="C00000"/>
                </a:solidFill>
              </a:rPr>
              <a:t>one point (Stochastic Gradient Descent) </a:t>
            </a:r>
            <a:r>
              <a:rPr lang="en-US" sz="1600" dirty="0">
                <a:solidFill>
                  <a:schemeClr val="tx1"/>
                </a:solidFill>
              </a:rPr>
              <a:t>and </a:t>
            </a:r>
            <a:r>
              <a:rPr lang="en-US" sz="1600" b="1" dirty="0">
                <a:solidFill>
                  <a:srgbClr val="C00000"/>
                </a:solidFill>
              </a:rPr>
              <a:t>3 points (mini-batch Stochastic Gradient Descent) </a:t>
            </a:r>
            <a:r>
              <a:rPr lang="en-US" sz="1600" dirty="0">
                <a:solidFill>
                  <a:schemeClr val="tx1"/>
                </a:solidFill>
              </a:rPr>
              <a:t>of In this example,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The least square estimates, give up the gold standard intercept = 0.87 and slope = 0.69.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If we </a:t>
            </a:r>
            <a:r>
              <a:rPr lang="en-US" sz="1600" b="1" dirty="0">
                <a:solidFill>
                  <a:srgbClr val="C00000"/>
                </a:solidFill>
              </a:rPr>
              <a:t>use 3 samples per step </a:t>
            </a:r>
            <a:r>
              <a:rPr lang="en-US" sz="1600" dirty="0">
                <a:solidFill>
                  <a:schemeClr val="tx1"/>
                </a:solidFill>
              </a:rPr>
              <a:t>and ended up with the </a:t>
            </a:r>
            <a:r>
              <a:rPr lang="en-US" sz="1600" b="1" dirty="0">
                <a:solidFill>
                  <a:srgbClr val="C00000"/>
                </a:solidFill>
              </a:rPr>
              <a:t>intercept = 0.85 and slope = 0.68.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If we </a:t>
            </a:r>
            <a:r>
              <a:rPr lang="en-US" sz="1600" b="1" dirty="0">
                <a:solidFill>
                  <a:srgbClr val="C00000"/>
                </a:solidFill>
              </a:rPr>
              <a:t>use 1 sample per step</a:t>
            </a:r>
            <a:r>
              <a:rPr lang="en-US" sz="1600" dirty="0">
                <a:solidFill>
                  <a:schemeClr val="tx1"/>
                </a:solidFill>
              </a:rPr>
              <a:t>, we get the answer </a:t>
            </a:r>
            <a:r>
              <a:rPr lang="en-US" sz="1600" b="1" dirty="0">
                <a:solidFill>
                  <a:srgbClr val="C00000"/>
                </a:solidFill>
              </a:rPr>
              <a:t>intercept = 0.85 and slope = 0.67.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30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203848" y="6000405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203848" y="3768135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219598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850958" y="590963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022322" y="59688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006316" y="427221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006316" y="550498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006316" y="4865037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040166" y="468536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515742" y="376813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729328" y="526510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218443" y="4292363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668142" y="392053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3837515" y="541718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953568" y="533908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693230" y="548024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225365" y="477372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921696" y="486503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5441389" y="4042126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863851" y="454276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627795" y="410605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3203848" y="3781502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856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48.5 New Data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78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48.5 New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6"/>
            <a:ext cx="8352928" cy="239940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For the New Arrival Data, the Stochastic Gradient Descent can easily adjust for the parameter estimates without having to start over from the scratch.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other words, we do not need to go back to initial guess for intercept = 0 and slope = 1 and redo everything.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rgbClr val="C00000"/>
                </a:solidFill>
              </a:rPr>
              <a:t>Note: For new point, we start from intercept = 0 and slope = 1. For all old points, we do not re-start again.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In stead, we pick up the right where we leave off and continue to take one more step using the new sample.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32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3563888" y="6243401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3563888" y="401113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4579638" y="62118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6210998" y="615263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5382362" y="62118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3366356" y="451520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3366356" y="574798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3366356" y="510803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5400206" y="492835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5875782" y="401113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4089368" y="550809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5079875" y="6301207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2578483" y="4535359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6009552" y="4221084"/>
            <a:ext cx="0" cy="2173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6028182" y="416353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5774899" y="420990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4313608" y="5582079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4053270" y="572323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5585405" y="501671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5281736" y="510803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4215288" y="5757160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5223891" y="4785757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5987835" y="434904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3563888" y="4024498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71889D2-BE5A-4DA8-AF5C-ADCBD0669E50}"/>
              </a:ext>
            </a:extLst>
          </p:cNvPr>
          <p:cNvSpPr/>
          <p:nvPr/>
        </p:nvSpPr>
        <p:spPr>
          <a:xfrm>
            <a:off x="4431312" y="4979699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3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48.5 New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030798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(Height – (0 + 1 x Weight)) = -2 (2 – (0 + 1 x 1.1)) = -1.8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x Weight x (Height -  (0 + 1 x Weight)) =  -2 x 1.1 x (2 -  (0 + 1 x 1.1)) = -1.98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030798"/>
              </a:xfrm>
              <a:blipFill>
                <a:blip r:embed="rId2"/>
                <a:stretch>
                  <a:fillRect t="-89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33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5148064" y="5786816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5148064" y="3554546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6163814" y="575529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7795174" y="569604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6966538" y="575529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4950532" y="405862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4950532" y="529139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4950532" y="465144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6984382" y="447177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7459958" y="355454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5673544" y="505151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7024091" y="6087618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4162659" y="4078774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7593728" y="3764499"/>
            <a:ext cx="0" cy="2173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7612358" y="370694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7359075" y="375331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5897784" y="5125494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5637446" y="526665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7169581" y="456013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6865912" y="4651448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5799464" y="530057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6808067" y="432917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7572011" y="389246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5148064" y="3567913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71889D2-BE5A-4DA8-AF5C-ADCBD0669E50}"/>
              </a:ext>
            </a:extLst>
          </p:cNvPr>
          <p:cNvSpPr/>
          <p:nvPr/>
        </p:nvSpPr>
        <p:spPr>
          <a:xfrm>
            <a:off x="6087987" y="456013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0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48.5 New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030798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(Height – (0 + 1 x Weight)) = -2 (2 – (0 + 1 x 1.1)) = -1.8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x Weight x (Height -  (0 + 1 x Weight)) =  -2 x 1.1 x (2 -  (0 + 1 x 1.1)) = -1.98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7"/>
                <a:ext cx="8352928" cy="2030798"/>
              </a:xfrm>
              <a:blipFill>
                <a:blip r:embed="rId2"/>
                <a:stretch>
                  <a:fillRect t="-89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34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5148064" y="5786816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5148064" y="3554546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6163814" y="575529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7795174" y="569604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6966538" y="575529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4950532" y="405862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4950532" y="529139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4950532" y="4651448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6984382" y="447177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7459958" y="355454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5673544" y="505151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7024091" y="6087618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4162659" y="4078774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7593728" y="3764499"/>
            <a:ext cx="0" cy="2173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7612358" y="370694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7359075" y="3753316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5897784" y="5125494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5637446" y="526665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7169581" y="456013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6865912" y="4651448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5799464" y="530057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6808067" y="432917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7572011" y="389246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5148064" y="3567913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71889D2-BE5A-4DA8-AF5C-ADCBD0669E50}"/>
              </a:ext>
            </a:extLst>
          </p:cNvPr>
          <p:cNvSpPr/>
          <p:nvPr/>
        </p:nvSpPr>
        <p:spPr>
          <a:xfrm>
            <a:off x="6087987" y="4560131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04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48.5 New Data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2701726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(Height – (0 + 1 x Weight)) = -2 (2 – (0 + 1 x 1.1)) = -1.8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Intercept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-1.8 x Learning Rate = -1.8 x 0.01 = -0.018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New Intercept =  0.86 - Step Size = 0.86 – (-0.018) = 0.86 + 0.018 = 0.878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Slope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0">
                        <a:solidFill>
                          <a:schemeClr val="tx1"/>
                        </a:solidFill>
                      </a:rPr>
                      <m:t>[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Sum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of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the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squared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>
                        <a:solidFill>
                          <a:schemeClr val="tx1"/>
                        </a:solidFill>
                      </a:rPr>
                      <m:t>residuals</m:t>
                    </m:r>
                    <m:r>
                      <a:rPr lang="en-US" sz="1600" b="0" i="0">
                        <a:solidFill>
                          <a:schemeClr val="tx1"/>
                        </a:solidFill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=  -2 x Weight x (Height -  (0 + 1 x Weight)) =  -2 x 1.1 x (2 -  (0 + 1 x 1.1)) = -1.98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Step Size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slope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-1.98 x Learning Rate = -1.98 x 0.01 = -0.02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New Slope = </a:t>
                </a:r>
                <a:r>
                  <a:rPr lang="en-US" sz="1600" dirty="0">
                    <a:solidFill>
                      <a:srgbClr val="C00000"/>
                    </a:solidFill>
                  </a:rPr>
                  <a:t>0.68 </a:t>
                </a:r>
                <a:r>
                  <a:rPr lang="en-US" sz="1600" dirty="0">
                    <a:solidFill>
                      <a:schemeClr val="tx1"/>
                    </a:solidFill>
                  </a:rPr>
                  <a:t>– -0.02 = 0.68 + -0.02 = 0.70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2701726"/>
              </a:xfrm>
              <a:blipFill>
                <a:blip r:embed="rId2"/>
                <a:stretch>
                  <a:fillRect t="-674" b="-561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7885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48.7 Summary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36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546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48.6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1456092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Summary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Stochastic Gradient Descent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just like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regular Gradient Descent </a:t>
                </a:r>
                <a:r>
                  <a:rPr lang="en-US" sz="1600" dirty="0">
                    <a:solidFill>
                      <a:schemeClr val="tx1"/>
                    </a:solidFill>
                  </a:rPr>
                  <a:t>except it only looks at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One Sample per Step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Stochastic Gradient Descent may use a small subset,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Mini-Batch (with multiple sample per step)</a:t>
                </a:r>
                <a:r>
                  <a:rPr lang="en-US" sz="1600" dirty="0">
                    <a:solidFill>
                      <a:schemeClr val="tx1"/>
                    </a:solidFill>
                  </a:rPr>
                  <a:t>, for each step.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1456092"/>
              </a:xfrm>
              <a:blipFill>
                <a:blip r:embed="rId2"/>
                <a:stretch>
                  <a:fillRect b="-208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37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CB44FB-DF1B-415F-8CD1-CCC786978773}"/>
              </a:ext>
            </a:extLst>
          </p:cNvPr>
          <p:cNvCxnSpPr>
            <a:cxnSpLocks/>
          </p:cNvCxnSpPr>
          <p:nvPr/>
        </p:nvCxnSpPr>
        <p:spPr>
          <a:xfrm>
            <a:off x="1159326" y="5658821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C8B7F9-992F-4FBA-AAD8-44CF38F06BF9}"/>
              </a:ext>
            </a:extLst>
          </p:cNvPr>
          <p:cNvCxnSpPr>
            <a:cxnSpLocks/>
          </p:cNvCxnSpPr>
          <p:nvPr/>
        </p:nvCxnSpPr>
        <p:spPr>
          <a:xfrm flipV="1">
            <a:off x="1146156" y="3426551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55817C-6F7C-4094-B2E8-DA011362AC49}"/>
              </a:ext>
            </a:extLst>
          </p:cNvPr>
          <p:cNvCxnSpPr/>
          <p:nvPr/>
        </p:nvCxnSpPr>
        <p:spPr>
          <a:xfrm>
            <a:off x="1906676" y="562485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2C50F4-517E-4F12-966E-25ED0D5B1D4A}"/>
              </a:ext>
            </a:extLst>
          </p:cNvPr>
          <p:cNvCxnSpPr/>
          <p:nvPr/>
        </p:nvCxnSpPr>
        <p:spPr>
          <a:xfrm>
            <a:off x="3538036" y="556560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A6BB97-8566-4D07-9FBB-C40285F88067}"/>
              </a:ext>
            </a:extLst>
          </p:cNvPr>
          <p:cNvCxnSpPr/>
          <p:nvPr/>
        </p:nvCxnSpPr>
        <p:spPr>
          <a:xfrm>
            <a:off x="2709400" y="562485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FB2688-CDF1-4B01-887A-73E47F07AD2E}"/>
              </a:ext>
            </a:extLst>
          </p:cNvPr>
          <p:cNvCxnSpPr>
            <a:cxnSpLocks/>
          </p:cNvCxnSpPr>
          <p:nvPr/>
        </p:nvCxnSpPr>
        <p:spPr>
          <a:xfrm>
            <a:off x="948624" y="3930629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30F5CA-CD0F-493B-BE2E-4E636CA0BBC7}"/>
              </a:ext>
            </a:extLst>
          </p:cNvPr>
          <p:cNvCxnSpPr>
            <a:cxnSpLocks/>
          </p:cNvCxnSpPr>
          <p:nvPr/>
        </p:nvCxnSpPr>
        <p:spPr>
          <a:xfrm>
            <a:off x="948624" y="5163404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0C1D67-6562-499A-AC26-027BF2377FCF}"/>
              </a:ext>
            </a:extLst>
          </p:cNvPr>
          <p:cNvCxnSpPr>
            <a:cxnSpLocks/>
          </p:cNvCxnSpPr>
          <p:nvPr/>
        </p:nvCxnSpPr>
        <p:spPr>
          <a:xfrm>
            <a:off x="948624" y="4523453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F7D114-9C66-431D-A703-29FE13D4EE3B}"/>
              </a:ext>
            </a:extLst>
          </p:cNvPr>
          <p:cNvSpPr/>
          <p:nvPr/>
        </p:nvSpPr>
        <p:spPr>
          <a:xfrm>
            <a:off x="2982474" y="434377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20E6DF-31A1-44E5-927A-5558D9237F4A}"/>
              </a:ext>
            </a:extLst>
          </p:cNvPr>
          <p:cNvSpPr/>
          <p:nvPr/>
        </p:nvSpPr>
        <p:spPr>
          <a:xfrm>
            <a:off x="3458050" y="342655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A92E96-E82F-47EF-8D3B-1F18D9249FA3}"/>
              </a:ext>
            </a:extLst>
          </p:cNvPr>
          <p:cNvSpPr/>
          <p:nvPr/>
        </p:nvSpPr>
        <p:spPr>
          <a:xfrm>
            <a:off x="1671636" y="492351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DC0AC1-B88C-4156-B299-E5BAA6BFFB71}"/>
              </a:ext>
            </a:extLst>
          </p:cNvPr>
          <p:cNvSpPr txBox="1"/>
          <p:nvPr/>
        </p:nvSpPr>
        <p:spPr>
          <a:xfrm>
            <a:off x="2766953" y="5957174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258B6-E890-472A-AB99-618BD9AF23C7}"/>
              </a:ext>
            </a:extLst>
          </p:cNvPr>
          <p:cNvSpPr txBox="1"/>
          <p:nvPr/>
        </p:nvSpPr>
        <p:spPr>
          <a:xfrm>
            <a:off x="438501" y="3068539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710DF7-AC8B-46EA-AB04-0A7A1CC9A14E}"/>
              </a:ext>
            </a:extLst>
          </p:cNvPr>
          <p:cNvCxnSpPr>
            <a:cxnSpLocks/>
          </p:cNvCxnSpPr>
          <p:nvPr/>
        </p:nvCxnSpPr>
        <p:spPr>
          <a:xfrm>
            <a:off x="3591820" y="3636504"/>
            <a:ext cx="0" cy="21732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71535B8-78E5-4DBB-8A34-C0876F571185}"/>
              </a:ext>
            </a:extLst>
          </p:cNvPr>
          <p:cNvSpPr/>
          <p:nvPr/>
        </p:nvSpPr>
        <p:spPr>
          <a:xfrm>
            <a:off x="3610450" y="357895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2BBD6B-E0E1-477B-BAD5-59B79CDDB072}"/>
              </a:ext>
            </a:extLst>
          </p:cNvPr>
          <p:cNvSpPr/>
          <p:nvPr/>
        </p:nvSpPr>
        <p:spPr>
          <a:xfrm>
            <a:off x="3357167" y="3625321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095CCB-C90C-4422-9C39-0767452962B1}"/>
              </a:ext>
            </a:extLst>
          </p:cNvPr>
          <p:cNvSpPr/>
          <p:nvPr/>
        </p:nvSpPr>
        <p:spPr>
          <a:xfrm>
            <a:off x="1895876" y="4997499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ED6C9B-D42D-4E32-8DAF-45CEA8497EDC}"/>
              </a:ext>
            </a:extLst>
          </p:cNvPr>
          <p:cNvSpPr/>
          <p:nvPr/>
        </p:nvSpPr>
        <p:spPr>
          <a:xfrm>
            <a:off x="1635538" y="5138656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7DC2837-71C5-416E-B90E-CA0250EAE974}"/>
              </a:ext>
            </a:extLst>
          </p:cNvPr>
          <p:cNvSpPr/>
          <p:nvPr/>
        </p:nvSpPr>
        <p:spPr>
          <a:xfrm>
            <a:off x="3167673" y="4432136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7412C9-E563-41E5-9A04-6539226CC27D}"/>
              </a:ext>
            </a:extLst>
          </p:cNvPr>
          <p:cNvSpPr/>
          <p:nvPr/>
        </p:nvSpPr>
        <p:spPr>
          <a:xfrm>
            <a:off x="2864004" y="4523453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2D84BBE-A926-41B0-994D-F69755A96EC1}"/>
              </a:ext>
            </a:extLst>
          </p:cNvPr>
          <p:cNvSpPr/>
          <p:nvPr/>
        </p:nvSpPr>
        <p:spPr>
          <a:xfrm>
            <a:off x="1797556" y="5172580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2A518A-EA17-4318-B8FF-CE8048CDFE37}"/>
              </a:ext>
            </a:extLst>
          </p:cNvPr>
          <p:cNvSpPr/>
          <p:nvPr/>
        </p:nvSpPr>
        <p:spPr>
          <a:xfrm>
            <a:off x="2806159" y="4201177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D10E59-2527-4C92-B0F1-3AD3A3F066E1}"/>
              </a:ext>
            </a:extLst>
          </p:cNvPr>
          <p:cNvSpPr/>
          <p:nvPr/>
        </p:nvSpPr>
        <p:spPr>
          <a:xfrm>
            <a:off x="3570103" y="3764466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6B70DF-5973-45B9-BC25-FEB0E507F5F2}"/>
              </a:ext>
            </a:extLst>
          </p:cNvPr>
          <p:cNvCxnSpPr>
            <a:cxnSpLocks/>
          </p:cNvCxnSpPr>
          <p:nvPr/>
        </p:nvCxnSpPr>
        <p:spPr>
          <a:xfrm flipH="1">
            <a:off x="1146156" y="3439918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A5DA73B-37AA-42A4-80FB-CAB46FD82058}"/>
              </a:ext>
            </a:extLst>
          </p:cNvPr>
          <p:cNvCxnSpPr>
            <a:cxnSpLocks/>
          </p:cNvCxnSpPr>
          <p:nvPr/>
        </p:nvCxnSpPr>
        <p:spPr>
          <a:xfrm>
            <a:off x="5066275" y="5623973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790EE8F-56C5-44F0-B7D6-B0EAE2266641}"/>
              </a:ext>
            </a:extLst>
          </p:cNvPr>
          <p:cNvCxnSpPr>
            <a:cxnSpLocks/>
          </p:cNvCxnSpPr>
          <p:nvPr/>
        </p:nvCxnSpPr>
        <p:spPr>
          <a:xfrm flipV="1">
            <a:off x="5066275" y="3391703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718D7B3-C0ED-4C6B-AF19-56D1E74FBC29}"/>
              </a:ext>
            </a:extLst>
          </p:cNvPr>
          <p:cNvCxnSpPr/>
          <p:nvPr/>
        </p:nvCxnSpPr>
        <p:spPr>
          <a:xfrm>
            <a:off x="6082025" y="559245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77840C9-8FC3-4AFA-8824-322BE7D82278}"/>
              </a:ext>
            </a:extLst>
          </p:cNvPr>
          <p:cNvCxnSpPr/>
          <p:nvPr/>
        </p:nvCxnSpPr>
        <p:spPr>
          <a:xfrm>
            <a:off x="7713385" y="553320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03EA632-F34B-4B69-8C16-F082A887A88E}"/>
              </a:ext>
            </a:extLst>
          </p:cNvPr>
          <p:cNvCxnSpPr/>
          <p:nvPr/>
        </p:nvCxnSpPr>
        <p:spPr>
          <a:xfrm>
            <a:off x="6884749" y="559245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473668C-B429-4F04-B69E-368742F70F1A}"/>
              </a:ext>
            </a:extLst>
          </p:cNvPr>
          <p:cNvCxnSpPr>
            <a:cxnSpLocks/>
          </p:cNvCxnSpPr>
          <p:nvPr/>
        </p:nvCxnSpPr>
        <p:spPr>
          <a:xfrm>
            <a:off x="4868743" y="389578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8EEF2F-93C5-47DC-95EE-50A2BB0C06BA}"/>
              </a:ext>
            </a:extLst>
          </p:cNvPr>
          <p:cNvCxnSpPr>
            <a:cxnSpLocks/>
          </p:cNvCxnSpPr>
          <p:nvPr/>
        </p:nvCxnSpPr>
        <p:spPr>
          <a:xfrm>
            <a:off x="4868743" y="512855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E43ADB2-2548-4F6D-A966-CADFC0CF1321}"/>
              </a:ext>
            </a:extLst>
          </p:cNvPr>
          <p:cNvCxnSpPr>
            <a:cxnSpLocks/>
          </p:cNvCxnSpPr>
          <p:nvPr/>
        </p:nvCxnSpPr>
        <p:spPr>
          <a:xfrm>
            <a:off x="4868743" y="448860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3CBFC8A5-A800-4B42-BA35-9C268C969E05}"/>
              </a:ext>
            </a:extLst>
          </p:cNvPr>
          <p:cNvSpPr/>
          <p:nvPr/>
        </p:nvSpPr>
        <p:spPr>
          <a:xfrm>
            <a:off x="6902593" y="4308929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504FB2D-80F8-499D-96FC-470477DE9A7E}"/>
              </a:ext>
            </a:extLst>
          </p:cNvPr>
          <p:cNvSpPr/>
          <p:nvPr/>
        </p:nvSpPr>
        <p:spPr>
          <a:xfrm>
            <a:off x="6618265" y="434145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8E5ACBF-5095-456F-B5AC-01E35E475CB5}"/>
              </a:ext>
            </a:extLst>
          </p:cNvPr>
          <p:cNvSpPr/>
          <p:nvPr/>
        </p:nvSpPr>
        <p:spPr>
          <a:xfrm>
            <a:off x="5591755" y="4888669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B5890-6234-4D56-B4B2-19C377E1F50A}"/>
              </a:ext>
            </a:extLst>
          </p:cNvPr>
          <p:cNvSpPr txBox="1"/>
          <p:nvPr/>
        </p:nvSpPr>
        <p:spPr>
          <a:xfrm>
            <a:off x="6942302" y="5924775"/>
            <a:ext cx="1008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Weight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063C7E-FD18-4F14-A704-63855D19BCE1}"/>
              </a:ext>
            </a:extLst>
          </p:cNvPr>
          <p:cNvSpPr txBox="1"/>
          <p:nvPr/>
        </p:nvSpPr>
        <p:spPr>
          <a:xfrm>
            <a:off x="5222772" y="3267961"/>
            <a:ext cx="9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Height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355A101-387A-4AD3-8831-27D2F4F6FE04}"/>
              </a:ext>
            </a:extLst>
          </p:cNvPr>
          <p:cNvSpPr/>
          <p:nvPr/>
        </p:nvSpPr>
        <p:spPr>
          <a:xfrm>
            <a:off x="7589587" y="3513616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62EA9D6-A2EA-4EF0-9072-FA0304BD8980}"/>
              </a:ext>
            </a:extLst>
          </p:cNvPr>
          <p:cNvSpPr/>
          <p:nvPr/>
        </p:nvSpPr>
        <p:spPr>
          <a:xfrm>
            <a:off x="7360887" y="3612366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D52A916-D50B-4498-8FE4-E10635D6F8BA}"/>
              </a:ext>
            </a:extLst>
          </p:cNvPr>
          <p:cNvSpPr/>
          <p:nvPr/>
        </p:nvSpPr>
        <p:spPr>
          <a:xfrm>
            <a:off x="5815995" y="4962651"/>
            <a:ext cx="216024" cy="216002"/>
          </a:xfrm>
          <a:prstGeom prst="ellipse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7523D13-8865-491A-A797-4AC42BF34AC8}"/>
              </a:ext>
            </a:extLst>
          </p:cNvPr>
          <p:cNvSpPr/>
          <p:nvPr/>
        </p:nvSpPr>
        <p:spPr>
          <a:xfrm>
            <a:off x="5555657" y="5103808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DA556CD-A356-4F64-8F66-7B748F389869}"/>
              </a:ext>
            </a:extLst>
          </p:cNvPr>
          <p:cNvSpPr/>
          <p:nvPr/>
        </p:nvSpPr>
        <p:spPr>
          <a:xfrm>
            <a:off x="7676276" y="3695694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3971D2A-248D-4BB1-8DF9-6022EF971B04}"/>
              </a:ext>
            </a:extLst>
          </p:cNvPr>
          <p:cNvSpPr/>
          <p:nvPr/>
        </p:nvSpPr>
        <p:spPr>
          <a:xfrm>
            <a:off x="6784123" y="4488605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98A36E3-3D08-4A29-A363-895DBAA8F264}"/>
              </a:ext>
            </a:extLst>
          </p:cNvPr>
          <p:cNvSpPr/>
          <p:nvPr/>
        </p:nvSpPr>
        <p:spPr>
          <a:xfrm>
            <a:off x="5717675" y="5137732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D652460-F22B-44B3-8229-DB653E052232}"/>
              </a:ext>
            </a:extLst>
          </p:cNvPr>
          <p:cNvSpPr/>
          <p:nvPr/>
        </p:nvSpPr>
        <p:spPr>
          <a:xfrm>
            <a:off x="6726278" y="4166329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C198186-BC22-4F1C-BD32-813E6A22DB65}"/>
              </a:ext>
            </a:extLst>
          </p:cNvPr>
          <p:cNvSpPr/>
          <p:nvPr/>
        </p:nvSpPr>
        <p:spPr>
          <a:xfrm>
            <a:off x="7490222" y="3729618"/>
            <a:ext cx="216024" cy="216002"/>
          </a:xfrm>
          <a:prstGeom prst="ellipse">
            <a:avLst/>
          </a:prstGeom>
          <a:solidFill>
            <a:srgbClr val="00B05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5BE41DD-FC13-4EF3-B3A5-AC8F8860391B}"/>
              </a:ext>
            </a:extLst>
          </p:cNvPr>
          <p:cNvCxnSpPr>
            <a:cxnSpLocks/>
          </p:cNvCxnSpPr>
          <p:nvPr/>
        </p:nvCxnSpPr>
        <p:spPr>
          <a:xfrm flipH="1">
            <a:off x="5066275" y="3405070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5B6DE36-EB04-42BE-A81B-32D0DC6EC16E}"/>
              </a:ext>
            </a:extLst>
          </p:cNvPr>
          <p:cNvSpPr txBox="1"/>
          <p:nvPr/>
        </p:nvSpPr>
        <p:spPr>
          <a:xfrm>
            <a:off x="1618918" y="3026855"/>
            <a:ext cx="2349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One Sample per Step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7331A92-6B06-4616-8892-4760111DAF58}"/>
              </a:ext>
            </a:extLst>
          </p:cNvPr>
          <p:cNvSpPr txBox="1"/>
          <p:nvPr/>
        </p:nvSpPr>
        <p:spPr>
          <a:xfrm>
            <a:off x="5835836" y="2905947"/>
            <a:ext cx="2349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Mini-Batch per Step</a:t>
            </a:r>
          </a:p>
        </p:txBody>
      </p:sp>
    </p:spTree>
    <p:extLst>
      <p:ext uri="{BB962C8B-B14F-4D97-AF65-F5344CB8AC3E}">
        <p14:creationId xmlns:p14="http://schemas.microsoft.com/office/powerpoint/2010/main" val="2250535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48.6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2413694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chemeClr val="tx1"/>
                        </a:solidFill>
                      </a:rPr>
                      <m:t>𝐒𝐮𝐦𝐦𝐚𝐫𝐲</m:t>
                    </m:r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Stochastic is great when we have tons of data and lots of parameters.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This is situations, regular Gradient Descent may not be computation feasible.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𝑔𝑒𝑛𝑒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chemeClr val="tx1"/>
                        </a:solidFill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𝐿𝑜𝑠𝑠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𝐹𝑢𝑛𝑐𝑡𝑖𝑜𝑛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()]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baseline="30000" smtClean="0">
                            <a:solidFill>
                              <a:schemeClr val="tx1"/>
                            </a:solidFill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𝑔𝑒𝑛𝑒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>
                        <a:solidFill>
                          <a:schemeClr val="tx1"/>
                        </a:solidFill>
                      </a:rPr>
                      <m:t>[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𝐿𝑜𝑠𝑠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𝐹𝑢𝑛𝑐𝑡𝑖𝑜𝑛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</a:rPr>
                      <m:t>()]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600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57200" y="1375346"/>
                <a:ext cx="8352928" cy="2413694"/>
              </a:xfr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227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48.7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75347"/>
            <a:ext cx="8352928" cy="3893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Stochastic is update the parameters when the new data shows up.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https://www.youtube.com/watch?v=vMh0zPT0tLI&amp;list=PLblh5JKOoLUICTaGLRoHQDuF_7q2GfuJF&amp;index=51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054410" cy="365125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39</a:t>
            </a:fld>
            <a:endParaRPr lang="zh-TW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43936C-5ED5-4125-82DD-6286FA6E59D0}"/>
              </a:ext>
            </a:extLst>
          </p:cNvPr>
          <p:cNvCxnSpPr>
            <a:cxnSpLocks/>
          </p:cNvCxnSpPr>
          <p:nvPr/>
        </p:nvCxnSpPr>
        <p:spPr>
          <a:xfrm>
            <a:off x="2555776" y="4828223"/>
            <a:ext cx="37520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6FF59-74C5-4304-9A01-F6389B358067}"/>
              </a:ext>
            </a:extLst>
          </p:cNvPr>
          <p:cNvCxnSpPr>
            <a:cxnSpLocks/>
          </p:cNvCxnSpPr>
          <p:nvPr/>
        </p:nvCxnSpPr>
        <p:spPr>
          <a:xfrm flipV="1">
            <a:off x="2555776" y="2595953"/>
            <a:ext cx="0" cy="2232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BCFD1-D98A-40DA-A67E-4F9EE5F2A1AA}"/>
              </a:ext>
            </a:extLst>
          </p:cNvPr>
          <p:cNvCxnSpPr/>
          <p:nvPr/>
        </p:nvCxnSpPr>
        <p:spPr>
          <a:xfrm>
            <a:off x="3571526" y="479670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5AE2AA-A741-407E-8428-D87CE9786368}"/>
              </a:ext>
            </a:extLst>
          </p:cNvPr>
          <p:cNvCxnSpPr/>
          <p:nvPr/>
        </p:nvCxnSpPr>
        <p:spPr>
          <a:xfrm>
            <a:off x="5202886" y="473745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7F4C6-3A72-46B1-BF04-A31A3F8F2DA3}"/>
              </a:ext>
            </a:extLst>
          </p:cNvPr>
          <p:cNvCxnSpPr/>
          <p:nvPr/>
        </p:nvCxnSpPr>
        <p:spPr>
          <a:xfrm>
            <a:off x="4374250" y="479670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85FAA7-34D8-4FE8-8463-78D48CDE25DF}"/>
              </a:ext>
            </a:extLst>
          </p:cNvPr>
          <p:cNvCxnSpPr>
            <a:cxnSpLocks/>
          </p:cNvCxnSpPr>
          <p:nvPr/>
        </p:nvCxnSpPr>
        <p:spPr>
          <a:xfrm>
            <a:off x="2358244" y="3100031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A43A31-6F10-42EF-B130-C9BE6657BD85}"/>
              </a:ext>
            </a:extLst>
          </p:cNvPr>
          <p:cNvCxnSpPr>
            <a:cxnSpLocks/>
          </p:cNvCxnSpPr>
          <p:nvPr/>
        </p:nvCxnSpPr>
        <p:spPr>
          <a:xfrm>
            <a:off x="2358244" y="4332806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6F47F-8A34-404B-897C-98428373E896}"/>
              </a:ext>
            </a:extLst>
          </p:cNvPr>
          <p:cNvCxnSpPr>
            <a:cxnSpLocks/>
          </p:cNvCxnSpPr>
          <p:nvPr/>
        </p:nvCxnSpPr>
        <p:spPr>
          <a:xfrm>
            <a:off x="2358244" y="3692855"/>
            <a:ext cx="395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485284-3DCC-42D9-BD10-A19D65577B15}"/>
              </a:ext>
            </a:extLst>
          </p:cNvPr>
          <p:cNvSpPr/>
          <p:nvPr/>
        </p:nvSpPr>
        <p:spPr>
          <a:xfrm>
            <a:off x="4392094" y="3513179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92F71-E203-41D6-8920-BA2226343397}"/>
              </a:ext>
            </a:extLst>
          </p:cNvPr>
          <p:cNvSpPr/>
          <p:nvPr/>
        </p:nvSpPr>
        <p:spPr>
          <a:xfrm>
            <a:off x="4867670" y="259595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F15A75-1374-49DB-B5DD-60505503D8F6}"/>
              </a:ext>
            </a:extLst>
          </p:cNvPr>
          <p:cNvSpPr/>
          <p:nvPr/>
        </p:nvSpPr>
        <p:spPr>
          <a:xfrm>
            <a:off x="3081256" y="4092919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6C2C4-3EAE-4FF1-BC6D-7228AF723856}"/>
              </a:ext>
            </a:extLst>
          </p:cNvPr>
          <p:cNvSpPr txBox="1"/>
          <p:nvPr/>
        </p:nvSpPr>
        <p:spPr>
          <a:xfrm>
            <a:off x="4431803" y="5129025"/>
            <a:ext cx="100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6D48A-AD8E-4B32-B473-C46A80AF4CBD}"/>
              </a:ext>
            </a:extLst>
          </p:cNvPr>
          <p:cNvSpPr txBox="1"/>
          <p:nvPr/>
        </p:nvSpPr>
        <p:spPr>
          <a:xfrm>
            <a:off x="1570371" y="3120181"/>
            <a:ext cx="90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0F9A00-7CA9-4F3B-8F98-012850F22EF3}"/>
              </a:ext>
            </a:extLst>
          </p:cNvPr>
          <p:cNvCxnSpPr>
            <a:cxnSpLocks/>
          </p:cNvCxnSpPr>
          <p:nvPr/>
        </p:nvCxnSpPr>
        <p:spPr>
          <a:xfrm>
            <a:off x="5001440" y="2805906"/>
            <a:ext cx="0" cy="2173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AF505D9-CC6C-4430-81A0-3A7F6DFCC0E6}"/>
              </a:ext>
            </a:extLst>
          </p:cNvPr>
          <p:cNvSpPr/>
          <p:nvPr/>
        </p:nvSpPr>
        <p:spPr>
          <a:xfrm>
            <a:off x="5020070" y="274835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8CB342-490D-4718-94BB-7D8E035D7F47}"/>
              </a:ext>
            </a:extLst>
          </p:cNvPr>
          <p:cNvSpPr/>
          <p:nvPr/>
        </p:nvSpPr>
        <p:spPr>
          <a:xfrm>
            <a:off x="4766787" y="2794723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C7F302-53C0-482E-8056-7D2E1485F7E5}"/>
              </a:ext>
            </a:extLst>
          </p:cNvPr>
          <p:cNvSpPr/>
          <p:nvPr/>
        </p:nvSpPr>
        <p:spPr>
          <a:xfrm>
            <a:off x="3305496" y="4166901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059874-346D-4E76-9F43-1FD0BB4E8227}"/>
              </a:ext>
            </a:extLst>
          </p:cNvPr>
          <p:cNvSpPr/>
          <p:nvPr/>
        </p:nvSpPr>
        <p:spPr>
          <a:xfrm>
            <a:off x="3045158" y="4308058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F3C6E0-F47F-4C8A-A5E5-84BA0EB49964}"/>
              </a:ext>
            </a:extLst>
          </p:cNvPr>
          <p:cNvSpPr/>
          <p:nvPr/>
        </p:nvSpPr>
        <p:spPr>
          <a:xfrm>
            <a:off x="4577293" y="3601538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50691A-545B-4801-9EA4-53311AF22504}"/>
              </a:ext>
            </a:extLst>
          </p:cNvPr>
          <p:cNvSpPr/>
          <p:nvPr/>
        </p:nvSpPr>
        <p:spPr>
          <a:xfrm>
            <a:off x="4273624" y="3692855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1685242-6223-49D9-8A5A-C22A104AFA8A}"/>
              </a:ext>
            </a:extLst>
          </p:cNvPr>
          <p:cNvSpPr/>
          <p:nvPr/>
        </p:nvSpPr>
        <p:spPr>
          <a:xfrm>
            <a:off x="3207176" y="4341982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EF5BF9-AEF1-4CED-B955-6D10E0A0931A}"/>
              </a:ext>
            </a:extLst>
          </p:cNvPr>
          <p:cNvSpPr/>
          <p:nvPr/>
        </p:nvSpPr>
        <p:spPr>
          <a:xfrm>
            <a:off x="4215779" y="3370579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C3808E-FB92-4F6C-8893-9D434D4E2E86}"/>
              </a:ext>
            </a:extLst>
          </p:cNvPr>
          <p:cNvSpPr/>
          <p:nvPr/>
        </p:nvSpPr>
        <p:spPr>
          <a:xfrm>
            <a:off x="4979723" y="2933868"/>
            <a:ext cx="216024" cy="216002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43CE99-E5B8-4CB2-913C-92C8C8EDB943}"/>
              </a:ext>
            </a:extLst>
          </p:cNvPr>
          <p:cNvCxnSpPr>
            <a:cxnSpLocks/>
          </p:cNvCxnSpPr>
          <p:nvPr/>
        </p:nvCxnSpPr>
        <p:spPr>
          <a:xfrm flipH="1">
            <a:off x="2555776" y="2609320"/>
            <a:ext cx="3271278" cy="19147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71889D2-BE5A-4DA8-AF5C-ADCBD0669E50}"/>
              </a:ext>
            </a:extLst>
          </p:cNvPr>
          <p:cNvSpPr/>
          <p:nvPr/>
        </p:nvSpPr>
        <p:spPr>
          <a:xfrm>
            <a:off x="3495699" y="3601538"/>
            <a:ext cx="216024" cy="216002"/>
          </a:xfrm>
          <a:prstGeom prst="ellipse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99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2021/2/7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3543</Words>
  <Application>Microsoft Office PowerPoint</Application>
  <PresentationFormat>On-screen Show (4:3)</PresentationFormat>
  <Paragraphs>417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 Math</vt:lpstr>
      <vt:lpstr>Wingdings</vt:lpstr>
      <vt:lpstr>Office 佈景主題</vt:lpstr>
      <vt:lpstr>48 Stochastic Gradient Descent</vt:lpstr>
      <vt:lpstr>48 Stochastic Gradient Descent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48.1 Gradient Descent Example</vt:lpstr>
      <vt:lpstr>48.2 Stochastic Gradient Descent</vt:lpstr>
      <vt:lpstr>48.2 Stochastic Gradient Descent</vt:lpstr>
      <vt:lpstr>48.2 Stochastic Gradient Descent</vt:lpstr>
      <vt:lpstr>48.2 Stochastic Gradient Descent</vt:lpstr>
      <vt:lpstr>48.3 Random Select Data</vt:lpstr>
      <vt:lpstr>48.3 Random Select Data</vt:lpstr>
      <vt:lpstr>48.3 Random Select Data</vt:lpstr>
      <vt:lpstr>48.3 Random Select Data</vt:lpstr>
      <vt:lpstr>48.3 Random Select Data</vt:lpstr>
      <vt:lpstr>48.3 Random Select Data</vt:lpstr>
      <vt:lpstr>48.3 Random Select Data</vt:lpstr>
      <vt:lpstr>48.3 Random Select Data</vt:lpstr>
      <vt:lpstr>48.3 Random Select Data</vt:lpstr>
      <vt:lpstr>48.4 Mini-Batch</vt:lpstr>
      <vt:lpstr>48.4 Mini-Batch</vt:lpstr>
      <vt:lpstr>48.4 Mini-Batch</vt:lpstr>
      <vt:lpstr>48.4 Mini-Batch</vt:lpstr>
      <vt:lpstr>48.5 New Data</vt:lpstr>
      <vt:lpstr>48.5 New Data</vt:lpstr>
      <vt:lpstr>48.5 New Data</vt:lpstr>
      <vt:lpstr>48.5 New Data</vt:lpstr>
      <vt:lpstr>48.5 New Data</vt:lpstr>
      <vt:lpstr>48.7 Summary</vt:lpstr>
      <vt:lpstr>48.6 Summary</vt:lpstr>
      <vt:lpstr>48.6 Summary</vt:lpstr>
      <vt:lpstr>48.7 Summary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1173</cp:revision>
  <dcterms:created xsi:type="dcterms:W3CDTF">2018-09-28T16:40:41Z</dcterms:created>
  <dcterms:modified xsi:type="dcterms:W3CDTF">2021-02-07T20:15:58Z</dcterms:modified>
</cp:coreProperties>
</file>