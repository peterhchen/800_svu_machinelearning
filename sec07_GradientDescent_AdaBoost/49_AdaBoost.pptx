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8" r:id="rId3"/>
    <p:sldId id="273" r:id="rId4"/>
    <p:sldId id="274" r:id="rId5"/>
    <p:sldId id="275" r:id="rId6"/>
    <p:sldId id="277" r:id="rId7"/>
    <p:sldId id="276" r:id="rId8"/>
    <p:sldId id="278" r:id="rId9"/>
    <p:sldId id="279" r:id="rId10"/>
    <p:sldId id="280" r:id="rId11"/>
    <p:sldId id="281" r:id="rId12"/>
    <p:sldId id="283" r:id="rId13"/>
    <p:sldId id="282" r:id="rId14"/>
    <p:sldId id="284" r:id="rId15"/>
    <p:sldId id="289" r:id="rId16"/>
    <p:sldId id="285" r:id="rId17"/>
    <p:sldId id="286" r:id="rId18"/>
    <p:sldId id="288" r:id="rId19"/>
    <p:sldId id="290" r:id="rId20"/>
    <p:sldId id="293" r:id="rId21"/>
    <p:sldId id="292" r:id="rId22"/>
    <p:sldId id="336" r:id="rId23"/>
    <p:sldId id="294" r:id="rId24"/>
    <p:sldId id="295" r:id="rId25"/>
    <p:sldId id="296" r:id="rId26"/>
    <p:sldId id="338" r:id="rId27"/>
    <p:sldId id="297" r:id="rId28"/>
    <p:sldId id="298" r:id="rId29"/>
    <p:sldId id="299" r:id="rId30"/>
    <p:sldId id="337" r:id="rId31"/>
    <p:sldId id="300" r:id="rId32"/>
    <p:sldId id="339" r:id="rId33"/>
    <p:sldId id="301" r:id="rId34"/>
    <p:sldId id="340" r:id="rId35"/>
    <p:sldId id="303" r:id="rId36"/>
    <p:sldId id="341" r:id="rId37"/>
    <p:sldId id="302" r:id="rId38"/>
    <p:sldId id="343" r:id="rId39"/>
    <p:sldId id="342" r:id="rId40"/>
    <p:sldId id="304" r:id="rId41"/>
    <p:sldId id="305" r:id="rId42"/>
    <p:sldId id="344" r:id="rId43"/>
    <p:sldId id="306" r:id="rId44"/>
    <p:sldId id="307" r:id="rId45"/>
    <p:sldId id="309" r:id="rId46"/>
    <p:sldId id="308" r:id="rId47"/>
    <p:sldId id="345" r:id="rId48"/>
    <p:sldId id="310" r:id="rId49"/>
    <p:sldId id="313" r:id="rId50"/>
    <p:sldId id="346" r:id="rId51"/>
    <p:sldId id="312" r:id="rId52"/>
    <p:sldId id="314" r:id="rId53"/>
    <p:sldId id="347" r:id="rId54"/>
    <p:sldId id="315" r:id="rId55"/>
    <p:sldId id="316" r:id="rId56"/>
    <p:sldId id="348" r:id="rId57"/>
    <p:sldId id="317" r:id="rId58"/>
    <p:sldId id="319" r:id="rId59"/>
    <p:sldId id="318" r:id="rId60"/>
    <p:sldId id="320" r:id="rId61"/>
    <p:sldId id="322" r:id="rId62"/>
    <p:sldId id="321" r:id="rId63"/>
    <p:sldId id="324" r:id="rId64"/>
    <p:sldId id="323" r:id="rId65"/>
    <p:sldId id="325" r:id="rId66"/>
    <p:sldId id="349" r:id="rId67"/>
    <p:sldId id="326" r:id="rId68"/>
    <p:sldId id="327" r:id="rId69"/>
    <p:sldId id="328" r:id="rId70"/>
    <p:sldId id="329" r:id="rId71"/>
    <p:sldId id="330" r:id="rId72"/>
    <p:sldId id="332" r:id="rId73"/>
    <p:sldId id="331" r:id="rId74"/>
    <p:sldId id="333" r:id="rId75"/>
    <p:sldId id="335" r:id="rId76"/>
    <p:sldId id="334" r:id="rId77"/>
    <p:sldId id="259" r:id="rId7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4088587657" initials="1" lastIdx="2" clrIdx="0">
    <p:extLst>
      <p:ext uri="{19B8F6BF-5375-455C-9EA6-DF929625EA0E}">
        <p15:presenceInfo xmlns:p15="http://schemas.microsoft.com/office/powerpoint/2012/main" userId="46f8387d243dde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7" autoAdjust="0"/>
    <p:restoredTop sz="96806" autoAdjust="0"/>
  </p:normalViewPr>
  <p:slideViewPr>
    <p:cSldViewPr>
      <p:cViewPr varScale="1">
        <p:scale>
          <a:sx n="87" d="100"/>
          <a:sy n="87" d="100"/>
        </p:scale>
        <p:origin x="10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 AdaBoost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 AdaBoost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8352928" cy="151216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discuss the AdaBoost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AdaBoost is short for Adaptive Boosting, is a machine learning meta algorithm.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AdaBoost is commonly used with Decision Trees and Random Forest.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will use Decision Tree and Random Forest before using AdaBoost.</a:t>
            </a:r>
          </a:p>
          <a:p>
            <a:pPr algn="l">
              <a:buClr>
                <a:srgbClr val="0070C0"/>
              </a:buClr>
              <a:buSzPct val="80000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6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8352928" cy="508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Random Forest, each time you make a tree, you make a full-size tree.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9CA41-5817-419A-AD0D-D33BDDBCCBA0}"/>
              </a:ext>
            </a:extLst>
          </p:cNvPr>
          <p:cNvSpPr/>
          <p:nvPr/>
        </p:nvSpPr>
        <p:spPr>
          <a:xfrm>
            <a:off x="1512791" y="274341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3430E-E8BF-45C0-AB8B-C58FACB0B1A9}"/>
              </a:ext>
            </a:extLst>
          </p:cNvPr>
          <p:cNvSpPr/>
          <p:nvPr/>
        </p:nvSpPr>
        <p:spPr>
          <a:xfrm>
            <a:off x="2002170" y="313606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A5CB2-6D16-444B-BF1E-89C9F2D5B3C7}"/>
              </a:ext>
            </a:extLst>
          </p:cNvPr>
          <p:cNvSpPr/>
          <p:nvPr/>
        </p:nvSpPr>
        <p:spPr>
          <a:xfrm>
            <a:off x="1054455" y="316171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CDD-AFB1-4779-9CE3-BB8FB9390F6E}"/>
              </a:ext>
            </a:extLst>
          </p:cNvPr>
          <p:cNvSpPr/>
          <p:nvPr/>
        </p:nvSpPr>
        <p:spPr>
          <a:xfrm>
            <a:off x="1905182" y="359886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BEF2A-AF31-4CC1-A84F-5E9039E52039}"/>
              </a:ext>
            </a:extLst>
          </p:cNvPr>
          <p:cNvSpPr/>
          <p:nvPr/>
        </p:nvSpPr>
        <p:spPr>
          <a:xfrm>
            <a:off x="2460506" y="357862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55E72-4225-4953-9010-6E12B7CD99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1283623" y="2959439"/>
            <a:ext cx="458336" cy="2022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9861DF-4EB2-4704-B2D3-81E91C40A2A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1741959" y="2959439"/>
            <a:ext cx="489379" cy="176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6A4919-0C54-4839-BD2F-27B8A381DED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2134350" y="3352092"/>
            <a:ext cx="96988" cy="246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864AF-BFE8-4D9B-AFF4-6B46F5B8094E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231338" y="3352092"/>
            <a:ext cx="458336" cy="226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84301-7699-4D52-A25A-D88B3A51A2A6}"/>
              </a:ext>
            </a:extLst>
          </p:cNvPr>
          <p:cNvSpPr/>
          <p:nvPr/>
        </p:nvSpPr>
        <p:spPr>
          <a:xfrm>
            <a:off x="2181523" y="406388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27CBC-A034-4CE3-832F-83FE529DDE4F}"/>
              </a:ext>
            </a:extLst>
          </p:cNvPr>
          <p:cNvSpPr/>
          <p:nvPr/>
        </p:nvSpPr>
        <p:spPr>
          <a:xfrm>
            <a:off x="2705353" y="405793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84614-F7E4-45CD-AC38-8B9FDE6277A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2394084" y="3794644"/>
            <a:ext cx="295590" cy="291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FD0102-75E4-45FA-A66E-F6B0CCA1089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689674" y="3794644"/>
            <a:ext cx="248893" cy="2867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7A821C-E9D0-4120-85AF-7C4AF21E35B6}"/>
              </a:ext>
            </a:extLst>
          </p:cNvPr>
          <p:cNvSpPr/>
          <p:nvPr/>
        </p:nvSpPr>
        <p:spPr>
          <a:xfrm>
            <a:off x="1754790" y="475936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0B656-B9F9-4D20-BD82-65229389E6FA}"/>
              </a:ext>
            </a:extLst>
          </p:cNvPr>
          <p:cNvSpPr/>
          <p:nvPr/>
        </p:nvSpPr>
        <p:spPr>
          <a:xfrm>
            <a:off x="2244169" y="515201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E5670-6520-4D89-889F-528A040A7404}"/>
              </a:ext>
            </a:extLst>
          </p:cNvPr>
          <p:cNvSpPr/>
          <p:nvPr/>
        </p:nvSpPr>
        <p:spPr>
          <a:xfrm>
            <a:off x="1273006" y="517766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D78288-9E3B-4FE9-8DF7-008F234ACCB4}"/>
              </a:ext>
            </a:extLst>
          </p:cNvPr>
          <p:cNvSpPr/>
          <p:nvPr/>
        </p:nvSpPr>
        <p:spPr>
          <a:xfrm>
            <a:off x="2134350" y="566607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E279A6-375A-47E9-9B0F-502A6669BAE5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1502174" y="4975386"/>
            <a:ext cx="481784" cy="2022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BDEF6B-E0FF-48E9-B5AC-0DFD09E9F08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1983958" y="4975386"/>
            <a:ext cx="489379" cy="176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CE31FF-15B7-42FB-9182-20CF783A97E3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flipH="1">
            <a:off x="2363518" y="5368039"/>
            <a:ext cx="109819" cy="2980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9E780-13B1-4413-BA8B-1996ED59E3C4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2473337" y="5368039"/>
            <a:ext cx="416233" cy="2650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0735D-CD39-497A-867D-68874FD92B79}"/>
              </a:ext>
            </a:extLst>
          </p:cNvPr>
          <p:cNvSpPr/>
          <p:nvPr/>
        </p:nvSpPr>
        <p:spPr>
          <a:xfrm>
            <a:off x="2660402" y="563309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9AEFD5-686B-4209-9D3D-977526D60AE4}"/>
              </a:ext>
            </a:extLst>
          </p:cNvPr>
          <p:cNvSpPr/>
          <p:nvPr/>
        </p:nvSpPr>
        <p:spPr>
          <a:xfrm>
            <a:off x="1001792" y="568101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EB79CD-3D0A-4973-80B5-F1F96E672415}"/>
              </a:ext>
            </a:extLst>
          </p:cNvPr>
          <p:cNvSpPr/>
          <p:nvPr/>
        </p:nvSpPr>
        <p:spPr>
          <a:xfrm>
            <a:off x="1525622" y="567506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BF1AAF-3472-46BA-ABC2-8835C1903AF0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214354" y="5393686"/>
            <a:ext cx="287820" cy="3099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A94A5E-09CD-4C77-B23E-FAB22B6438CC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502174" y="5393686"/>
            <a:ext cx="256662" cy="304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副標題 2">
            <a:extLst>
              <a:ext uri="{FF2B5EF4-FFF2-40B4-BE49-F238E27FC236}">
                <a16:creationId xmlns:a16="http://schemas.microsoft.com/office/drawing/2014/main" id="{4E8DACAB-02C6-433A-B054-F2EF3BE2BB46}"/>
              </a:ext>
            </a:extLst>
          </p:cNvPr>
          <p:cNvSpPr txBox="1">
            <a:spLocks/>
          </p:cNvSpPr>
          <p:nvPr/>
        </p:nvSpPr>
        <p:spPr>
          <a:xfrm>
            <a:off x="3923928" y="3429000"/>
            <a:ext cx="2870959" cy="148579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Some trees may be bigger than others, but there is no predetermined maximum depth.</a:t>
            </a:r>
          </a:p>
          <a:p>
            <a:pPr algn="l">
              <a:buClr>
                <a:srgbClr val="0070C0"/>
              </a:buClr>
              <a:buSzPct val="80000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BB28BDE-708E-4BF6-9CC3-544A002A571E}"/>
              </a:ext>
            </a:extLst>
          </p:cNvPr>
          <p:cNvSpPr/>
          <p:nvPr/>
        </p:nvSpPr>
        <p:spPr>
          <a:xfrm>
            <a:off x="2944045" y="3703794"/>
            <a:ext cx="943306" cy="1382181"/>
          </a:xfrm>
          <a:custGeom>
            <a:avLst/>
            <a:gdLst>
              <a:gd name="connsiteX0" fmla="*/ 280416 w 943306"/>
              <a:gd name="connsiteY0" fmla="*/ 41061 h 1382181"/>
              <a:gd name="connsiteX1" fmla="*/ 353568 w 943306"/>
              <a:gd name="connsiteY1" fmla="*/ 41061 h 1382181"/>
              <a:gd name="connsiteX2" fmla="*/ 938784 w 943306"/>
              <a:gd name="connsiteY2" fmla="*/ 467781 h 1382181"/>
              <a:gd name="connsiteX3" fmla="*/ 0 w 943306"/>
              <a:gd name="connsiteY3" fmla="*/ 1382181 h 138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3306" h="1382181">
                <a:moveTo>
                  <a:pt x="280416" y="41061"/>
                </a:moveTo>
                <a:cubicBezTo>
                  <a:pt x="262128" y="5501"/>
                  <a:pt x="243840" y="-30059"/>
                  <a:pt x="353568" y="41061"/>
                </a:cubicBezTo>
                <a:cubicBezTo>
                  <a:pt x="463296" y="112181"/>
                  <a:pt x="997712" y="244261"/>
                  <a:pt x="938784" y="467781"/>
                </a:cubicBezTo>
                <a:cubicBezTo>
                  <a:pt x="879856" y="691301"/>
                  <a:pt x="439928" y="1036741"/>
                  <a:pt x="0" y="1382181"/>
                </a:cubicBezTo>
              </a:path>
            </a:pathLst>
          </a:custGeom>
          <a:noFill/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6C7E319-5B3C-4ED1-B7F9-C8BB10221E1F}"/>
              </a:ext>
            </a:extLst>
          </p:cNvPr>
          <p:cNvSpPr/>
          <p:nvPr/>
        </p:nvSpPr>
        <p:spPr>
          <a:xfrm>
            <a:off x="3194892" y="1564395"/>
            <a:ext cx="3272009" cy="1894901"/>
          </a:xfrm>
          <a:custGeom>
            <a:avLst/>
            <a:gdLst>
              <a:gd name="connsiteX0" fmla="*/ 3272009 w 3272009"/>
              <a:gd name="connsiteY0" fmla="*/ 0 h 1894901"/>
              <a:gd name="connsiteX1" fmla="*/ 1145754 w 3272009"/>
              <a:gd name="connsiteY1" fmla="*/ 1498294 h 1894901"/>
              <a:gd name="connsiteX2" fmla="*/ 0 w 3272009"/>
              <a:gd name="connsiteY2" fmla="*/ 1894901 h 1894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2009" h="1894901">
                <a:moveTo>
                  <a:pt x="3272009" y="0"/>
                </a:moveTo>
                <a:cubicBezTo>
                  <a:pt x="2481549" y="591238"/>
                  <a:pt x="1691089" y="1182477"/>
                  <a:pt x="1145754" y="1498294"/>
                </a:cubicBezTo>
                <a:cubicBezTo>
                  <a:pt x="600419" y="1814111"/>
                  <a:pt x="300209" y="1854506"/>
                  <a:pt x="0" y="1894901"/>
                </a:cubicBezTo>
              </a:path>
            </a:pathLst>
          </a:custGeom>
          <a:noFill/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6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7462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contrast, in a </a:t>
            </a:r>
            <a:r>
              <a:rPr lang="en-US" sz="1800" b="1" dirty="0">
                <a:solidFill>
                  <a:srgbClr val="C00000"/>
                </a:solidFill>
              </a:rPr>
              <a:t>Forest of Trees </a:t>
            </a:r>
            <a:r>
              <a:rPr lang="en-US" sz="1800" b="1" dirty="0">
                <a:solidFill>
                  <a:schemeClr val="tx1"/>
                </a:solidFill>
              </a:rPr>
              <a:t>made with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, the trees are usually just a </a:t>
            </a:r>
            <a:r>
              <a:rPr lang="en-US" sz="1800" b="1" dirty="0">
                <a:solidFill>
                  <a:srgbClr val="C00000"/>
                </a:solidFill>
              </a:rPr>
              <a:t>node</a:t>
            </a:r>
            <a:r>
              <a:rPr lang="en-US" sz="1800" b="1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rgbClr val="C00000"/>
                </a:solidFill>
              </a:rPr>
              <a:t>two leaves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9CA41-5817-419A-AD0D-D33BDDBCCBA0}"/>
              </a:ext>
            </a:extLst>
          </p:cNvPr>
          <p:cNvSpPr/>
          <p:nvPr/>
        </p:nvSpPr>
        <p:spPr>
          <a:xfrm>
            <a:off x="1512791" y="2743415"/>
            <a:ext cx="458336" cy="216024"/>
          </a:xfrm>
          <a:prstGeom prst="rect">
            <a:avLst/>
          </a:prstGeom>
          <a:solidFill>
            <a:srgbClr val="00B0F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3430E-E8BF-45C0-AB8B-C58FACB0B1A9}"/>
              </a:ext>
            </a:extLst>
          </p:cNvPr>
          <p:cNvSpPr/>
          <p:nvPr/>
        </p:nvSpPr>
        <p:spPr>
          <a:xfrm>
            <a:off x="2002170" y="3136068"/>
            <a:ext cx="458336" cy="216024"/>
          </a:xfrm>
          <a:prstGeom prst="rect">
            <a:avLst/>
          </a:prstGeom>
          <a:solidFill>
            <a:srgbClr val="00B0F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A5CB2-6D16-444B-BF1E-89C9F2D5B3C7}"/>
              </a:ext>
            </a:extLst>
          </p:cNvPr>
          <p:cNvSpPr/>
          <p:nvPr/>
        </p:nvSpPr>
        <p:spPr>
          <a:xfrm>
            <a:off x="1054455" y="3161715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CDD-AFB1-4779-9CE3-BB8FB9390F6E}"/>
              </a:ext>
            </a:extLst>
          </p:cNvPr>
          <p:cNvSpPr/>
          <p:nvPr/>
        </p:nvSpPr>
        <p:spPr>
          <a:xfrm>
            <a:off x="1905182" y="3598869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BEF2A-AF31-4CC1-A84F-5E9039E52039}"/>
              </a:ext>
            </a:extLst>
          </p:cNvPr>
          <p:cNvSpPr/>
          <p:nvPr/>
        </p:nvSpPr>
        <p:spPr>
          <a:xfrm>
            <a:off x="2460506" y="3578620"/>
            <a:ext cx="458336" cy="216024"/>
          </a:xfrm>
          <a:prstGeom prst="rect">
            <a:avLst/>
          </a:prstGeom>
          <a:solidFill>
            <a:srgbClr val="00B0F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55E72-4225-4953-9010-6E12B7CD99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1283623" y="2959439"/>
            <a:ext cx="458336" cy="202276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9861DF-4EB2-4704-B2D3-81E91C40A2A2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1741959" y="2959439"/>
            <a:ext cx="489379" cy="17662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6A4919-0C54-4839-BD2F-27B8A381DED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2134350" y="3352092"/>
            <a:ext cx="96988" cy="246777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864AF-BFE8-4D9B-AFF4-6B46F5B8094E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2231338" y="3352092"/>
            <a:ext cx="458336" cy="2265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84301-7699-4D52-A25A-D88B3A51A2A6}"/>
              </a:ext>
            </a:extLst>
          </p:cNvPr>
          <p:cNvSpPr/>
          <p:nvPr/>
        </p:nvSpPr>
        <p:spPr>
          <a:xfrm>
            <a:off x="2181523" y="4063887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27CBC-A034-4CE3-832F-83FE529DDE4F}"/>
              </a:ext>
            </a:extLst>
          </p:cNvPr>
          <p:cNvSpPr/>
          <p:nvPr/>
        </p:nvSpPr>
        <p:spPr>
          <a:xfrm>
            <a:off x="2705353" y="4057935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84614-F7E4-45CD-AC38-8B9FDE6277A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2394084" y="3794644"/>
            <a:ext cx="295590" cy="29184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FD0102-75E4-45FA-A66E-F6B0CCA1089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689674" y="3794644"/>
            <a:ext cx="248893" cy="28675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7A821C-E9D0-4120-85AF-7C4AF21E35B6}"/>
              </a:ext>
            </a:extLst>
          </p:cNvPr>
          <p:cNvSpPr/>
          <p:nvPr/>
        </p:nvSpPr>
        <p:spPr>
          <a:xfrm>
            <a:off x="1754790" y="4759362"/>
            <a:ext cx="458336" cy="216024"/>
          </a:xfrm>
          <a:prstGeom prst="rect">
            <a:avLst/>
          </a:prstGeom>
          <a:solidFill>
            <a:srgbClr val="00B0F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0B656-B9F9-4D20-BD82-65229389E6FA}"/>
              </a:ext>
            </a:extLst>
          </p:cNvPr>
          <p:cNvSpPr/>
          <p:nvPr/>
        </p:nvSpPr>
        <p:spPr>
          <a:xfrm>
            <a:off x="2244169" y="5152015"/>
            <a:ext cx="458336" cy="216024"/>
          </a:xfrm>
          <a:prstGeom prst="rect">
            <a:avLst/>
          </a:prstGeom>
          <a:solidFill>
            <a:srgbClr val="00B0F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E5670-6520-4D89-889F-528A040A7404}"/>
              </a:ext>
            </a:extLst>
          </p:cNvPr>
          <p:cNvSpPr/>
          <p:nvPr/>
        </p:nvSpPr>
        <p:spPr>
          <a:xfrm>
            <a:off x="1273006" y="5177662"/>
            <a:ext cx="458336" cy="216024"/>
          </a:xfrm>
          <a:prstGeom prst="rect">
            <a:avLst/>
          </a:prstGeom>
          <a:solidFill>
            <a:srgbClr val="00B0F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D78288-9E3B-4FE9-8DF7-008F234ACCB4}"/>
              </a:ext>
            </a:extLst>
          </p:cNvPr>
          <p:cNvSpPr/>
          <p:nvPr/>
        </p:nvSpPr>
        <p:spPr>
          <a:xfrm>
            <a:off x="2134350" y="5666077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E279A6-375A-47E9-9B0F-502A6669BAE5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1502174" y="4975386"/>
            <a:ext cx="481784" cy="202276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BDEF6B-E0FF-48E9-B5AC-0DFD09E9F08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1983958" y="4975386"/>
            <a:ext cx="489379" cy="17662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CE31FF-15B7-42FB-9182-20CF783A97E3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flipH="1">
            <a:off x="2363518" y="5368039"/>
            <a:ext cx="109819" cy="29803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9E780-13B1-4413-BA8B-1996ED59E3C4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2473337" y="5368039"/>
            <a:ext cx="416233" cy="26505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0735D-CD39-497A-867D-68874FD92B79}"/>
              </a:ext>
            </a:extLst>
          </p:cNvPr>
          <p:cNvSpPr/>
          <p:nvPr/>
        </p:nvSpPr>
        <p:spPr>
          <a:xfrm>
            <a:off x="2660402" y="5633091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9AEFD5-686B-4209-9D3D-977526D60AE4}"/>
              </a:ext>
            </a:extLst>
          </p:cNvPr>
          <p:cNvSpPr/>
          <p:nvPr/>
        </p:nvSpPr>
        <p:spPr>
          <a:xfrm>
            <a:off x="1001792" y="5681016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EB79CD-3D0A-4973-80B5-F1F96E672415}"/>
              </a:ext>
            </a:extLst>
          </p:cNvPr>
          <p:cNvSpPr/>
          <p:nvPr/>
        </p:nvSpPr>
        <p:spPr>
          <a:xfrm>
            <a:off x="1525622" y="5675064"/>
            <a:ext cx="458336" cy="216024"/>
          </a:xfrm>
          <a:prstGeom prst="rect">
            <a:avLst/>
          </a:prstGeom>
          <a:solidFill>
            <a:srgbClr val="00B050">
              <a:alpha val="42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BF1AAF-3472-46BA-ABC2-8835C1903AF0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214354" y="5393686"/>
            <a:ext cx="287820" cy="30992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A94A5E-09CD-4C77-B23E-FAB22B6438CC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502174" y="5393686"/>
            <a:ext cx="256662" cy="30484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30BDE8A-3D8D-4063-B6CE-3202D2232DCE}"/>
              </a:ext>
            </a:extLst>
          </p:cNvPr>
          <p:cNvSpPr/>
          <p:nvPr/>
        </p:nvSpPr>
        <p:spPr>
          <a:xfrm>
            <a:off x="4499992" y="2528721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E11671-7885-4B7C-9FEC-15C40C1601A1}"/>
              </a:ext>
            </a:extLst>
          </p:cNvPr>
          <p:cNvSpPr/>
          <p:nvPr/>
        </p:nvSpPr>
        <p:spPr>
          <a:xfrm>
            <a:off x="4265445" y="297272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82E0FD-3EAE-45CA-A551-DCF825E4C27B}"/>
              </a:ext>
            </a:extLst>
          </p:cNvPr>
          <p:cNvSpPr/>
          <p:nvPr/>
        </p:nvSpPr>
        <p:spPr>
          <a:xfrm>
            <a:off x="4823830" y="296076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77DECC-2B17-4416-A273-6B0A1C0F93F6}"/>
              </a:ext>
            </a:extLst>
          </p:cNvPr>
          <p:cNvCxnSpPr>
            <a:cxnSpLocks/>
            <a:stCxn id="35" idx="2"/>
            <a:endCxn id="42" idx="0"/>
          </p:cNvCxnSpPr>
          <p:nvPr/>
        </p:nvCxnSpPr>
        <p:spPr>
          <a:xfrm flipH="1">
            <a:off x="4494613" y="2744745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EBA3DF5-88C3-4194-AC1A-1FF8D799D9ED}"/>
              </a:ext>
            </a:extLst>
          </p:cNvPr>
          <p:cNvCxnSpPr>
            <a:cxnSpLocks/>
            <a:stCxn id="35" idx="2"/>
            <a:endCxn id="43" idx="0"/>
          </p:cNvCxnSpPr>
          <p:nvPr/>
        </p:nvCxnSpPr>
        <p:spPr>
          <a:xfrm>
            <a:off x="4729160" y="2744745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646CAB1-521B-4D28-9AFC-64BBAF0C5F23}"/>
              </a:ext>
            </a:extLst>
          </p:cNvPr>
          <p:cNvSpPr/>
          <p:nvPr/>
        </p:nvSpPr>
        <p:spPr>
          <a:xfrm>
            <a:off x="4604559" y="3382367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860515-44AB-4314-B1A4-F280EAFA626F}"/>
              </a:ext>
            </a:extLst>
          </p:cNvPr>
          <p:cNvSpPr/>
          <p:nvPr/>
        </p:nvSpPr>
        <p:spPr>
          <a:xfrm>
            <a:off x="4370012" y="382637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FAFA3E-A69D-42E4-98FA-FEDF5D66F97B}"/>
              </a:ext>
            </a:extLst>
          </p:cNvPr>
          <p:cNvSpPr/>
          <p:nvPr/>
        </p:nvSpPr>
        <p:spPr>
          <a:xfrm>
            <a:off x="4928397" y="381441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98E697-CEB7-44EF-806D-E531903389E9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4599180" y="3598391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23954E8-F61A-4380-80B7-05DED59BEAFF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4833727" y="3598391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164E57CC-8B60-40B3-BA49-7B57B9320C7A}"/>
              </a:ext>
            </a:extLst>
          </p:cNvPr>
          <p:cNvSpPr/>
          <p:nvPr/>
        </p:nvSpPr>
        <p:spPr>
          <a:xfrm>
            <a:off x="4676567" y="424646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7F0ECB1-4E36-4F4A-A68C-4560017A32E1}"/>
              </a:ext>
            </a:extLst>
          </p:cNvPr>
          <p:cNvSpPr/>
          <p:nvPr/>
        </p:nvSpPr>
        <p:spPr>
          <a:xfrm>
            <a:off x="4442020" y="469047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77E343-C981-4C33-BBDE-7C8CB51BD6F9}"/>
              </a:ext>
            </a:extLst>
          </p:cNvPr>
          <p:cNvSpPr/>
          <p:nvPr/>
        </p:nvSpPr>
        <p:spPr>
          <a:xfrm>
            <a:off x="5000405" y="467851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262FE89-DF1A-4E80-B6A3-5202DDCA4D1F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 flipH="1">
            <a:off x="4671188" y="4462487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45BD43-E9B0-4942-8CA0-A65B8B478489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>
            <a:off x="4905735" y="4462487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D8657E8-C76B-458F-88F1-63F653AA0871}"/>
              </a:ext>
            </a:extLst>
          </p:cNvPr>
          <p:cNvSpPr/>
          <p:nvPr/>
        </p:nvSpPr>
        <p:spPr>
          <a:xfrm>
            <a:off x="4748575" y="5182567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5432E6-7398-4DA5-BDA4-7EE265D2F150}"/>
              </a:ext>
            </a:extLst>
          </p:cNvPr>
          <p:cNvSpPr/>
          <p:nvPr/>
        </p:nvSpPr>
        <p:spPr>
          <a:xfrm>
            <a:off x="4514028" y="562657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972CAAC-ADEC-4FA9-B84C-DAD1489B469E}"/>
              </a:ext>
            </a:extLst>
          </p:cNvPr>
          <p:cNvSpPr/>
          <p:nvPr/>
        </p:nvSpPr>
        <p:spPr>
          <a:xfrm>
            <a:off x="5072413" y="561461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7B49916-73B3-4AD2-913C-6E8B5D6EC0E3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flipH="1">
            <a:off x="4743196" y="5398591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5C81A94-CFBD-49C0-824B-FBC798EA54F1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>
            <a:off x="4977743" y="5398591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2027B4-F8D1-43CD-BCD5-EE0696886402}"/>
              </a:ext>
            </a:extLst>
          </p:cNvPr>
          <p:cNvSpPr/>
          <p:nvPr/>
        </p:nvSpPr>
        <p:spPr>
          <a:xfrm>
            <a:off x="5387248" y="1619480"/>
            <a:ext cx="2489812" cy="1433095"/>
          </a:xfrm>
          <a:custGeom>
            <a:avLst/>
            <a:gdLst>
              <a:gd name="connsiteX0" fmla="*/ 2489812 w 2489812"/>
              <a:gd name="connsiteY0" fmla="*/ 0 h 1433095"/>
              <a:gd name="connsiteX1" fmla="*/ 892366 w 2489812"/>
              <a:gd name="connsiteY1" fmla="*/ 1200838 h 1433095"/>
              <a:gd name="connsiteX2" fmla="*/ 0 w 2489812"/>
              <a:gd name="connsiteY2" fmla="*/ 1432192 h 143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9812" h="1433095">
                <a:moveTo>
                  <a:pt x="2489812" y="0"/>
                </a:moveTo>
                <a:cubicBezTo>
                  <a:pt x="1898573" y="481069"/>
                  <a:pt x="1307335" y="962139"/>
                  <a:pt x="892366" y="1200838"/>
                </a:cubicBezTo>
                <a:cubicBezTo>
                  <a:pt x="477397" y="1439537"/>
                  <a:pt x="238698" y="1435864"/>
                  <a:pt x="0" y="1432192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F36E64-34FB-41C0-9197-0EB006398437}"/>
              </a:ext>
            </a:extLst>
          </p:cNvPr>
          <p:cNvSpPr/>
          <p:nvPr/>
        </p:nvSpPr>
        <p:spPr>
          <a:xfrm>
            <a:off x="5497417" y="1586429"/>
            <a:ext cx="2368626" cy="3238959"/>
          </a:xfrm>
          <a:custGeom>
            <a:avLst/>
            <a:gdLst>
              <a:gd name="connsiteX0" fmla="*/ 2368626 w 2368626"/>
              <a:gd name="connsiteY0" fmla="*/ 0 h 3238959"/>
              <a:gd name="connsiteX1" fmla="*/ 1509311 w 2368626"/>
              <a:gd name="connsiteY1" fmla="*/ 2258458 h 3238959"/>
              <a:gd name="connsiteX2" fmla="*/ 0 w 2368626"/>
              <a:gd name="connsiteY2" fmla="*/ 3238959 h 3238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8626" h="3238959">
                <a:moveTo>
                  <a:pt x="2368626" y="0"/>
                </a:moveTo>
                <a:cubicBezTo>
                  <a:pt x="2136354" y="859316"/>
                  <a:pt x="1904082" y="1718632"/>
                  <a:pt x="1509311" y="2258458"/>
                </a:cubicBezTo>
                <a:cubicBezTo>
                  <a:pt x="1114540" y="2798284"/>
                  <a:pt x="557270" y="3018621"/>
                  <a:pt x="0" y="3238959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058620B-1E9A-4418-90FF-BE497AD056E3}"/>
              </a:ext>
            </a:extLst>
          </p:cNvPr>
          <p:cNvSpPr/>
          <p:nvPr/>
        </p:nvSpPr>
        <p:spPr>
          <a:xfrm>
            <a:off x="5574535" y="1619480"/>
            <a:ext cx="2291508" cy="4153359"/>
          </a:xfrm>
          <a:custGeom>
            <a:avLst/>
            <a:gdLst>
              <a:gd name="connsiteX0" fmla="*/ 2291508 w 2291508"/>
              <a:gd name="connsiteY0" fmla="*/ 0 h 4153359"/>
              <a:gd name="connsiteX1" fmla="*/ 1795749 w 2291508"/>
              <a:gd name="connsiteY1" fmla="*/ 3216925 h 4153359"/>
              <a:gd name="connsiteX2" fmla="*/ 0 w 2291508"/>
              <a:gd name="connsiteY2" fmla="*/ 4153359 h 415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1508" h="4153359">
                <a:moveTo>
                  <a:pt x="2291508" y="0"/>
                </a:moveTo>
                <a:cubicBezTo>
                  <a:pt x="2234587" y="1262349"/>
                  <a:pt x="2177667" y="2524699"/>
                  <a:pt x="1795749" y="3216925"/>
                </a:cubicBezTo>
                <a:cubicBezTo>
                  <a:pt x="1413831" y="3909151"/>
                  <a:pt x="706915" y="4031255"/>
                  <a:pt x="0" y="4153359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A1E5D40-569B-472A-96F5-EB03F5EC7BB7}"/>
              </a:ext>
            </a:extLst>
          </p:cNvPr>
          <p:cNvSpPr/>
          <p:nvPr/>
        </p:nvSpPr>
        <p:spPr>
          <a:xfrm>
            <a:off x="5387248" y="1630496"/>
            <a:ext cx="2434728" cy="2331800"/>
          </a:xfrm>
          <a:custGeom>
            <a:avLst/>
            <a:gdLst>
              <a:gd name="connsiteX0" fmla="*/ 2434728 w 2434728"/>
              <a:gd name="connsiteY0" fmla="*/ 0 h 2331800"/>
              <a:gd name="connsiteX1" fmla="*/ 1013552 w 2434728"/>
              <a:gd name="connsiteY1" fmla="*/ 1972020 h 2331800"/>
              <a:gd name="connsiteX2" fmla="*/ 0 w 2434728"/>
              <a:gd name="connsiteY2" fmla="*/ 2324559 h 233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4728" h="2331800">
                <a:moveTo>
                  <a:pt x="2434728" y="0"/>
                </a:moveTo>
                <a:cubicBezTo>
                  <a:pt x="1927034" y="792297"/>
                  <a:pt x="1419340" y="1584594"/>
                  <a:pt x="1013552" y="1972020"/>
                </a:cubicBezTo>
                <a:cubicBezTo>
                  <a:pt x="607764" y="2359446"/>
                  <a:pt x="303882" y="2342002"/>
                  <a:pt x="0" y="2324559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3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7462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 tree with just one node and two leaves is called a </a:t>
            </a:r>
            <a:r>
              <a:rPr lang="en-US" sz="1800" b="1" dirty="0">
                <a:solidFill>
                  <a:srgbClr val="C00000"/>
                </a:solidFill>
              </a:rPr>
              <a:t>stump.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0BDE8A-3D8D-4063-B6CE-3202D2232DCE}"/>
              </a:ext>
            </a:extLst>
          </p:cNvPr>
          <p:cNvSpPr/>
          <p:nvPr/>
        </p:nvSpPr>
        <p:spPr>
          <a:xfrm>
            <a:off x="4499992" y="2528721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E11671-7885-4B7C-9FEC-15C40C1601A1}"/>
              </a:ext>
            </a:extLst>
          </p:cNvPr>
          <p:cNvSpPr/>
          <p:nvPr/>
        </p:nvSpPr>
        <p:spPr>
          <a:xfrm>
            <a:off x="4265445" y="297272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82E0FD-3EAE-45CA-A551-DCF825E4C27B}"/>
              </a:ext>
            </a:extLst>
          </p:cNvPr>
          <p:cNvSpPr/>
          <p:nvPr/>
        </p:nvSpPr>
        <p:spPr>
          <a:xfrm>
            <a:off x="4823830" y="296076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77DECC-2B17-4416-A273-6B0A1C0F93F6}"/>
              </a:ext>
            </a:extLst>
          </p:cNvPr>
          <p:cNvCxnSpPr>
            <a:cxnSpLocks/>
            <a:stCxn id="35" idx="2"/>
            <a:endCxn id="42" idx="0"/>
          </p:cNvCxnSpPr>
          <p:nvPr/>
        </p:nvCxnSpPr>
        <p:spPr>
          <a:xfrm flipH="1">
            <a:off x="4494613" y="2744745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EBA3DF5-88C3-4194-AC1A-1FF8D799D9ED}"/>
              </a:ext>
            </a:extLst>
          </p:cNvPr>
          <p:cNvCxnSpPr>
            <a:cxnSpLocks/>
            <a:stCxn id="35" idx="2"/>
            <a:endCxn id="43" idx="0"/>
          </p:cNvCxnSpPr>
          <p:nvPr/>
        </p:nvCxnSpPr>
        <p:spPr>
          <a:xfrm>
            <a:off x="4729160" y="2744745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646CAB1-521B-4D28-9AFC-64BBAF0C5F23}"/>
              </a:ext>
            </a:extLst>
          </p:cNvPr>
          <p:cNvSpPr/>
          <p:nvPr/>
        </p:nvSpPr>
        <p:spPr>
          <a:xfrm>
            <a:off x="4604559" y="3382367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860515-44AB-4314-B1A4-F280EAFA626F}"/>
              </a:ext>
            </a:extLst>
          </p:cNvPr>
          <p:cNvSpPr/>
          <p:nvPr/>
        </p:nvSpPr>
        <p:spPr>
          <a:xfrm>
            <a:off x="4370012" y="382637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FAFA3E-A69D-42E4-98FA-FEDF5D66F97B}"/>
              </a:ext>
            </a:extLst>
          </p:cNvPr>
          <p:cNvSpPr/>
          <p:nvPr/>
        </p:nvSpPr>
        <p:spPr>
          <a:xfrm>
            <a:off x="4928397" y="381441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98E697-CEB7-44EF-806D-E531903389E9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4599180" y="3598391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23954E8-F61A-4380-80B7-05DED59BEAFF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4833727" y="3598391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164E57CC-8B60-40B3-BA49-7B57B9320C7A}"/>
              </a:ext>
            </a:extLst>
          </p:cNvPr>
          <p:cNvSpPr/>
          <p:nvPr/>
        </p:nvSpPr>
        <p:spPr>
          <a:xfrm>
            <a:off x="4676567" y="424646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7F0ECB1-4E36-4F4A-A68C-4560017A32E1}"/>
              </a:ext>
            </a:extLst>
          </p:cNvPr>
          <p:cNvSpPr/>
          <p:nvPr/>
        </p:nvSpPr>
        <p:spPr>
          <a:xfrm>
            <a:off x="4442020" y="469047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77E343-C981-4C33-BBDE-7C8CB51BD6F9}"/>
              </a:ext>
            </a:extLst>
          </p:cNvPr>
          <p:cNvSpPr/>
          <p:nvPr/>
        </p:nvSpPr>
        <p:spPr>
          <a:xfrm>
            <a:off x="5000405" y="467851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262FE89-DF1A-4E80-B6A3-5202DDCA4D1F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 flipH="1">
            <a:off x="4671188" y="4462487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45BD43-E9B0-4942-8CA0-A65B8B478489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>
            <a:off x="4905735" y="4462487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D8657E8-C76B-458F-88F1-63F653AA0871}"/>
              </a:ext>
            </a:extLst>
          </p:cNvPr>
          <p:cNvSpPr/>
          <p:nvPr/>
        </p:nvSpPr>
        <p:spPr>
          <a:xfrm>
            <a:off x="4748575" y="5182567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5432E6-7398-4DA5-BDA4-7EE265D2F150}"/>
              </a:ext>
            </a:extLst>
          </p:cNvPr>
          <p:cNvSpPr/>
          <p:nvPr/>
        </p:nvSpPr>
        <p:spPr>
          <a:xfrm>
            <a:off x="4514028" y="562657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972CAAC-ADEC-4FA9-B84C-DAD1489B469E}"/>
              </a:ext>
            </a:extLst>
          </p:cNvPr>
          <p:cNvSpPr/>
          <p:nvPr/>
        </p:nvSpPr>
        <p:spPr>
          <a:xfrm>
            <a:off x="5072413" y="561461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7B49916-73B3-4AD2-913C-6E8B5D6EC0E3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flipH="1">
            <a:off x="4743196" y="5398591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5C81A94-CFBD-49C0-824B-FBC798EA54F1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>
            <a:off x="4977743" y="5398591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副標題 2">
            <a:extLst>
              <a:ext uri="{FF2B5EF4-FFF2-40B4-BE49-F238E27FC236}">
                <a16:creationId xmlns:a16="http://schemas.microsoft.com/office/drawing/2014/main" id="{B69BD901-DC9C-41B3-95F7-056F741513AB}"/>
              </a:ext>
            </a:extLst>
          </p:cNvPr>
          <p:cNvSpPr txBox="1">
            <a:spLocks/>
          </p:cNvSpPr>
          <p:nvPr/>
        </p:nvSpPr>
        <p:spPr>
          <a:xfrm>
            <a:off x="672607" y="2653826"/>
            <a:ext cx="2888704" cy="96019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So, this is really </a:t>
            </a:r>
            <a:r>
              <a:rPr lang="en-US" sz="1800" b="1" dirty="0">
                <a:solidFill>
                  <a:srgbClr val="C00000"/>
                </a:solidFill>
              </a:rPr>
              <a:t>Forest of Stumps </a:t>
            </a:r>
            <a:r>
              <a:rPr lang="en-US" sz="1800" b="1" dirty="0">
                <a:solidFill>
                  <a:schemeClr val="tx1"/>
                </a:solidFill>
              </a:rPr>
              <a:t>rather than trees.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449BD3-0D40-4B3C-AF68-8123CA82DD26}"/>
              </a:ext>
            </a:extLst>
          </p:cNvPr>
          <p:cNvCxnSpPr>
            <a:cxnSpLocks/>
          </p:cNvCxnSpPr>
          <p:nvPr/>
        </p:nvCxnSpPr>
        <p:spPr>
          <a:xfrm flipV="1">
            <a:off x="3059832" y="2653826"/>
            <a:ext cx="959402" cy="6311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F823E00-A548-42EC-876C-B9227790931C}"/>
              </a:ext>
            </a:extLst>
          </p:cNvPr>
          <p:cNvCxnSpPr>
            <a:cxnSpLocks/>
          </p:cNvCxnSpPr>
          <p:nvPr/>
        </p:nvCxnSpPr>
        <p:spPr>
          <a:xfrm>
            <a:off x="3059832" y="3284984"/>
            <a:ext cx="1081012" cy="205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F5D94AF-D504-4C17-B115-3651F98C388F}"/>
              </a:ext>
            </a:extLst>
          </p:cNvPr>
          <p:cNvCxnSpPr>
            <a:cxnSpLocks/>
          </p:cNvCxnSpPr>
          <p:nvPr/>
        </p:nvCxnSpPr>
        <p:spPr>
          <a:xfrm>
            <a:off x="3059832" y="3284984"/>
            <a:ext cx="1315559" cy="1110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0E001E6-3C73-4843-AA9F-BEDD459C0DED}"/>
              </a:ext>
            </a:extLst>
          </p:cNvPr>
          <p:cNvCxnSpPr>
            <a:cxnSpLocks/>
          </p:cNvCxnSpPr>
          <p:nvPr/>
        </p:nvCxnSpPr>
        <p:spPr>
          <a:xfrm>
            <a:off x="3084529" y="3284984"/>
            <a:ext cx="1257442" cy="22216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95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7462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Stumps</a:t>
            </a:r>
            <a:r>
              <a:rPr lang="en-US" sz="1800" b="1" dirty="0">
                <a:solidFill>
                  <a:schemeClr val="tx1"/>
                </a:solidFill>
              </a:rPr>
              <a:t> are not great at making accurate classifications.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0BDE8A-3D8D-4063-B6CE-3202D2232DCE}"/>
              </a:ext>
            </a:extLst>
          </p:cNvPr>
          <p:cNvSpPr/>
          <p:nvPr/>
        </p:nvSpPr>
        <p:spPr>
          <a:xfrm>
            <a:off x="4499992" y="2528721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E11671-7885-4B7C-9FEC-15C40C1601A1}"/>
              </a:ext>
            </a:extLst>
          </p:cNvPr>
          <p:cNvSpPr/>
          <p:nvPr/>
        </p:nvSpPr>
        <p:spPr>
          <a:xfrm>
            <a:off x="4265445" y="297272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82E0FD-3EAE-45CA-A551-DCF825E4C27B}"/>
              </a:ext>
            </a:extLst>
          </p:cNvPr>
          <p:cNvSpPr/>
          <p:nvPr/>
        </p:nvSpPr>
        <p:spPr>
          <a:xfrm>
            <a:off x="4823830" y="296076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77DECC-2B17-4416-A273-6B0A1C0F93F6}"/>
              </a:ext>
            </a:extLst>
          </p:cNvPr>
          <p:cNvCxnSpPr>
            <a:cxnSpLocks/>
            <a:stCxn id="35" idx="2"/>
            <a:endCxn id="42" idx="0"/>
          </p:cNvCxnSpPr>
          <p:nvPr/>
        </p:nvCxnSpPr>
        <p:spPr>
          <a:xfrm flipH="1">
            <a:off x="4494613" y="2744745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EBA3DF5-88C3-4194-AC1A-1FF8D799D9ED}"/>
              </a:ext>
            </a:extLst>
          </p:cNvPr>
          <p:cNvCxnSpPr>
            <a:cxnSpLocks/>
            <a:stCxn id="35" idx="2"/>
            <a:endCxn id="43" idx="0"/>
          </p:cNvCxnSpPr>
          <p:nvPr/>
        </p:nvCxnSpPr>
        <p:spPr>
          <a:xfrm>
            <a:off x="4729160" y="2744745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646CAB1-521B-4D28-9AFC-64BBAF0C5F23}"/>
              </a:ext>
            </a:extLst>
          </p:cNvPr>
          <p:cNvSpPr/>
          <p:nvPr/>
        </p:nvSpPr>
        <p:spPr>
          <a:xfrm>
            <a:off x="4604559" y="3382367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860515-44AB-4314-B1A4-F280EAFA626F}"/>
              </a:ext>
            </a:extLst>
          </p:cNvPr>
          <p:cNvSpPr/>
          <p:nvPr/>
        </p:nvSpPr>
        <p:spPr>
          <a:xfrm>
            <a:off x="4370012" y="382637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FAFA3E-A69D-42E4-98FA-FEDF5D66F97B}"/>
              </a:ext>
            </a:extLst>
          </p:cNvPr>
          <p:cNvSpPr/>
          <p:nvPr/>
        </p:nvSpPr>
        <p:spPr>
          <a:xfrm>
            <a:off x="4928397" y="381441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98E697-CEB7-44EF-806D-E531903389E9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4599180" y="3598391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23954E8-F61A-4380-80B7-05DED59BEAFF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4833727" y="3598391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164E57CC-8B60-40B3-BA49-7B57B9320C7A}"/>
              </a:ext>
            </a:extLst>
          </p:cNvPr>
          <p:cNvSpPr/>
          <p:nvPr/>
        </p:nvSpPr>
        <p:spPr>
          <a:xfrm>
            <a:off x="4676567" y="424646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7F0ECB1-4E36-4F4A-A68C-4560017A32E1}"/>
              </a:ext>
            </a:extLst>
          </p:cNvPr>
          <p:cNvSpPr/>
          <p:nvPr/>
        </p:nvSpPr>
        <p:spPr>
          <a:xfrm>
            <a:off x="4442020" y="469047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77E343-C981-4C33-BBDE-7C8CB51BD6F9}"/>
              </a:ext>
            </a:extLst>
          </p:cNvPr>
          <p:cNvSpPr/>
          <p:nvPr/>
        </p:nvSpPr>
        <p:spPr>
          <a:xfrm>
            <a:off x="5000405" y="467851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262FE89-DF1A-4E80-B6A3-5202DDCA4D1F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 flipH="1">
            <a:off x="4671188" y="4462487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45BD43-E9B0-4942-8CA0-A65B8B478489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>
            <a:off x="4905735" y="4462487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D8657E8-C76B-458F-88F1-63F653AA0871}"/>
              </a:ext>
            </a:extLst>
          </p:cNvPr>
          <p:cNvSpPr/>
          <p:nvPr/>
        </p:nvSpPr>
        <p:spPr>
          <a:xfrm>
            <a:off x="4748575" y="5182567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5432E6-7398-4DA5-BDA4-7EE265D2F150}"/>
              </a:ext>
            </a:extLst>
          </p:cNvPr>
          <p:cNvSpPr/>
          <p:nvPr/>
        </p:nvSpPr>
        <p:spPr>
          <a:xfrm>
            <a:off x="4514028" y="562657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972CAAC-ADEC-4FA9-B84C-DAD1489B469E}"/>
              </a:ext>
            </a:extLst>
          </p:cNvPr>
          <p:cNvSpPr/>
          <p:nvPr/>
        </p:nvSpPr>
        <p:spPr>
          <a:xfrm>
            <a:off x="5072413" y="561461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7B49916-73B3-4AD2-913C-6E8B5D6EC0E3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flipH="1">
            <a:off x="4743196" y="5398591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5C81A94-CFBD-49C0-824B-FBC798EA54F1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>
            <a:off x="4977743" y="5398591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14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4608512" cy="36004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For examples, if we have dataset as follow: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013BC585-CCC6-4A14-B029-0BADD3DA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29118"/>
              </p:ext>
            </p:extLst>
          </p:nvPr>
        </p:nvGraphicFramePr>
        <p:xfrm>
          <a:off x="467544" y="1988840"/>
          <a:ext cx="363494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Good</a:t>
                      </a:r>
                    </a:p>
                    <a:p>
                      <a:pPr algn="ctr"/>
                      <a:r>
                        <a:rPr lang="en-US" sz="1200" b="1" dirty="0"/>
                        <a:t>Blood</a:t>
                      </a:r>
                    </a:p>
                    <a:p>
                      <a:pPr algn="ctr"/>
                      <a:r>
                        <a:rPr lang="en-US" sz="1200" b="1" dirty="0"/>
                        <a:t>Circulation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4C3CFF44-8CCF-42E2-B2FD-280514CDB551}"/>
              </a:ext>
            </a:extLst>
          </p:cNvPr>
          <p:cNvSpPr/>
          <p:nvPr/>
        </p:nvSpPr>
        <p:spPr>
          <a:xfrm>
            <a:off x="5652120" y="3570185"/>
            <a:ext cx="1033237" cy="269382"/>
          </a:xfrm>
          <a:prstGeom prst="rect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Blood Circ.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6942A7-F567-443C-87F5-92D4E0F4DEA3}"/>
              </a:ext>
            </a:extLst>
          </p:cNvPr>
          <p:cNvSpPr/>
          <p:nvPr/>
        </p:nvSpPr>
        <p:spPr>
          <a:xfrm>
            <a:off x="6545380" y="4027061"/>
            <a:ext cx="644972" cy="245667"/>
          </a:xfrm>
          <a:prstGeom prst="rect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weight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C06943-9AA6-4933-BC07-47C83A8D8EE3}"/>
              </a:ext>
            </a:extLst>
          </p:cNvPr>
          <p:cNvSpPr/>
          <p:nvPr/>
        </p:nvSpPr>
        <p:spPr>
          <a:xfrm>
            <a:off x="6227021" y="457166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70457F-375E-4437-9D78-EB9B47B9CA5B}"/>
              </a:ext>
            </a:extLst>
          </p:cNvPr>
          <p:cNvSpPr/>
          <p:nvPr/>
        </p:nvSpPr>
        <p:spPr>
          <a:xfrm>
            <a:off x="6961183" y="4511394"/>
            <a:ext cx="779169" cy="245666"/>
          </a:xfrm>
          <a:prstGeom prst="rect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Blocked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2709758-91B5-441C-BAF3-B6149D3602EE}"/>
              </a:ext>
            </a:extLst>
          </p:cNvPr>
          <p:cNvCxnSpPr>
            <a:cxnSpLocks/>
            <a:stCxn id="28" idx="2"/>
            <a:endCxn id="61" idx="0"/>
          </p:cNvCxnSpPr>
          <p:nvPr/>
        </p:nvCxnSpPr>
        <p:spPr>
          <a:xfrm flipH="1">
            <a:off x="5467465" y="3839567"/>
            <a:ext cx="701274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B78E8A-C51D-44C8-86F4-A185B39BE90D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6168739" y="3839567"/>
            <a:ext cx="699127" cy="1874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8B69FE-B511-4C04-8410-EC6A2D1D0624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flipH="1">
            <a:off x="6456189" y="4272728"/>
            <a:ext cx="411677" cy="298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2BCF8E-C1FA-488A-BB68-94D4AAADA8EF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6867866" y="4272728"/>
            <a:ext cx="482902" cy="238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5EF3834-9BBC-4E45-8F84-B22359D463A0}"/>
              </a:ext>
            </a:extLst>
          </p:cNvPr>
          <p:cNvSpPr/>
          <p:nvPr/>
        </p:nvSpPr>
        <p:spPr>
          <a:xfrm>
            <a:off x="6665594" y="502875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174D31-2A40-4713-9812-0E1AA4B9F70B}"/>
              </a:ext>
            </a:extLst>
          </p:cNvPr>
          <p:cNvSpPr/>
          <p:nvPr/>
        </p:nvSpPr>
        <p:spPr>
          <a:xfrm>
            <a:off x="7425391" y="508434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No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B9EFE0-D640-4EF1-82E1-DC2E4A505AD3}"/>
              </a:ext>
            </a:extLst>
          </p:cNvPr>
          <p:cNvCxnSpPr>
            <a:cxnSpLocks/>
            <a:stCxn id="32" idx="2"/>
            <a:endCxn id="38" idx="0"/>
          </p:cNvCxnSpPr>
          <p:nvPr/>
        </p:nvCxnSpPr>
        <p:spPr>
          <a:xfrm flipH="1">
            <a:off x="6894762" y="4757060"/>
            <a:ext cx="456006" cy="2716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7CF2C4A-107B-491D-9112-DF51DDEC2E97}"/>
              </a:ext>
            </a:extLst>
          </p:cNvPr>
          <p:cNvCxnSpPr>
            <a:cxnSpLocks/>
            <a:stCxn id="32" idx="2"/>
            <a:endCxn id="39" idx="0"/>
          </p:cNvCxnSpPr>
          <p:nvPr/>
        </p:nvCxnSpPr>
        <p:spPr>
          <a:xfrm>
            <a:off x="7350768" y="4757060"/>
            <a:ext cx="303791" cy="3272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0FD40A2-9B36-4BE1-A434-BE7A472C50F5}"/>
              </a:ext>
            </a:extLst>
          </p:cNvPr>
          <p:cNvSpPr/>
          <p:nvPr/>
        </p:nvSpPr>
        <p:spPr>
          <a:xfrm>
            <a:off x="5144979" y="4055591"/>
            <a:ext cx="644972" cy="245667"/>
          </a:xfrm>
          <a:prstGeom prst="rect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Pain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E59FF8F-AAF3-42E4-B3FF-FA7CF59A7A83}"/>
              </a:ext>
            </a:extLst>
          </p:cNvPr>
          <p:cNvSpPr/>
          <p:nvPr/>
        </p:nvSpPr>
        <p:spPr>
          <a:xfrm>
            <a:off x="4767450" y="457295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19BF994-AFEB-4273-8C3E-5178E2B304F7}"/>
              </a:ext>
            </a:extLst>
          </p:cNvPr>
          <p:cNvSpPr/>
          <p:nvPr/>
        </p:nvSpPr>
        <p:spPr>
          <a:xfrm>
            <a:off x="5527247" y="462854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No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6C952E6-AC50-4F81-BB5D-BF0D91C6F80E}"/>
              </a:ext>
            </a:extLst>
          </p:cNvPr>
          <p:cNvCxnSpPr>
            <a:cxnSpLocks/>
            <a:stCxn id="61" idx="2"/>
            <a:endCxn id="67" idx="0"/>
          </p:cNvCxnSpPr>
          <p:nvPr/>
        </p:nvCxnSpPr>
        <p:spPr>
          <a:xfrm flipH="1">
            <a:off x="4996618" y="4301258"/>
            <a:ext cx="470847" cy="2716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5AA3116-FC1D-4167-ADB8-64AA4C8BA2AD}"/>
              </a:ext>
            </a:extLst>
          </p:cNvPr>
          <p:cNvCxnSpPr>
            <a:cxnSpLocks/>
            <a:stCxn id="61" idx="2"/>
            <a:endCxn id="78" idx="0"/>
          </p:cNvCxnSpPr>
          <p:nvPr/>
        </p:nvCxnSpPr>
        <p:spPr>
          <a:xfrm>
            <a:off x="5467465" y="4301258"/>
            <a:ext cx="288950" cy="3272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副標題 2">
            <a:extLst>
              <a:ext uri="{FF2B5EF4-FFF2-40B4-BE49-F238E27FC236}">
                <a16:creationId xmlns:a16="http://schemas.microsoft.com/office/drawing/2014/main" id="{6639271C-0F89-4E9E-8AE7-F4CA727D3A03}"/>
              </a:ext>
            </a:extLst>
          </p:cNvPr>
          <p:cNvSpPr txBox="1">
            <a:spLocks/>
          </p:cNvSpPr>
          <p:nvPr/>
        </p:nvSpPr>
        <p:spPr>
          <a:xfrm>
            <a:off x="4313132" y="1835862"/>
            <a:ext cx="4608512" cy="152726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a full-sized </a:t>
            </a:r>
            <a:r>
              <a:rPr lang="en-US" sz="1800" b="1" dirty="0">
                <a:solidFill>
                  <a:srgbClr val="C00000"/>
                </a:solidFill>
              </a:rPr>
              <a:t>Decision Tree </a:t>
            </a:r>
            <a:r>
              <a:rPr lang="en-US" sz="1800" b="1" dirty="0">
                <a:solidFill>
                  <a:schemeClr val="tx1"/>
                </a:solidFill>
              </a:rPr>
              <a:t>will take advantage of all </a:t>
            </a:r>
            <a:r>
              <a:rPr lang="en-US" sz="1800" b="1" dirty="0">
                <a:solidFill>
                  <a:srgbClr val="C00000"/>
                </a:solidFill>
              </a:rPr>
              <a:t>4</a:t>
            </a:r>
            <a:r>
              <a:rPr lang="en-US" sz="1800" b="1" dirty="0">
                <a:solidFill>
                  <a:schemeClr val="tx1"/>
                </a:solidFill>
              </a:rPr>
              <a:t> variables that we measured (</a:t>
            </a:r>
            <a:r>
              <a:rPr lang="en-US" sz="1800" b="1" dirty="0">
                <a:solidFill>
                  <a:srgbClr val="C00000"/>
                </a:solidFill>
              </a:rPr>
              <a:t>Chest Pain, Blood Circulation, Blocked Arteries, </a:t>
            </a:r>
            <a:r>
              <a:rPr lang="en-US" sz="1800" b="1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) to make a decision.</a:t>
            </a:r>
          </a:p>
        </p:txBody>
      </p:sp>
    </p:spTree>
    <p:extLst>
      <p:ext uri="{BB962C8B-B14F-4D97-AF65-F5344CB8AC3E}">
        <p14:creationId xmlns:p14="http://schemas.microsoft.com/office/powerpoint/2010/main" val="198327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355975" y="1526546"/>
            <a:ext cx="3933863" cy="70976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But a</a:t>
            </a:r>
            <a:r>
              <a:rPr lang="en-US" sz="1800" b="1" dirty="0">
                <a:solidFill>
                  <a:srgbClr val="C00000"/>
                </a:solidFill>
              </a:rPr>
              <a:t> Stump </a:t>
            </a:r>
            <a:r>
              <a:rPr lang="en-US" sz="1800" b="1" dirty="0">
                <a:solidFill>
                  <a:schemeClr val="tx1"/>
                </a:solidFill>
              </a:rPr>
              <a:t>can only one variable to make a decision.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013BC585-CCC6-4A14-B029-0BADD3DA5611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1988840"/>
          <a:ext cx="363494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Good</a:t>
                      </a:r>
                    </a:p>
                    <a:p>
                      <a:pPr algn="ctr"/>
                      <a:r>
                        <a:rPr lang="en-US" sz="1200" b="1" dirty="0"/>
                        <a:t>Blood</a:t>
                      </a:r>
                    </a:p>
                    <a:p>
                      <a:pPr algn="ctr"/>
                      <a:r>
                        <a:rPr lang="en-US" sz="1200" b="1" dirty="0"/>
                        <a:t>Circulation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4C3CFF44-8CCF-42E2-B2FD-280514CDB551}"/>
              </a:ext>
            </a:extLst>
          </p:cNvPr>
          <p:cNvSpPr/>
          <p:nvPr/>
        </p:nvSpPr>
        <p:spPr>
          <a:xfrm>
            <a:off x="5796136" y="2503423"/>
            <a:ext cx="1033237" cy="269382"/>
          </a:xfrm>
          <a:prstGeom prst="rect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Chest Pain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EF3834-9BBC-4E45-8F84-B22359D463A0}"/>
              </a:ext>
            </a:extLst>
          </p:cNvPr>
          <p:cNvSpPr/>
          <p:nvPr/>
        </p:nvSpPr>
        <p:spPr>
          <a:xfrm>
            <a:off x="5642064" y="302806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174D31-2A40-4713-9812-0E1AA4B9F70B}"/>
              </a:ext>
            </a:extLst>
          </p:cNvPr>
          <p:cNvSpPr/>
          <p:nvPr/>
        </p:nvSpPr>
        <p:spPr>
          <a:xfrm>
            <a:off x="6401861" y="308364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No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B9EFE0-D640-4EF1-82E1-DC2E4A505AD3}"/>
              </a:ext>
            </a:extLst>
          </p:cNvPr>
          <p:cNvCxnSpPr>
            <a:cxnSpLocks/>
            <a:stCxn id="28" idx="2"/>
            <a:endCxn id="38" idx="0"/>
          </p:cNvCxnSpPr>
          <p:nvPr/>
        </p:nvCxnSpPr>
        <p:spPr>
          <a:xfrm flipH="1">
            <a:off x="5871232" y="2772805"/>
            <a:ext cx="441523" cy="255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7CF2C4A-107B-491D-9112-DF51DDEC2E97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327238" y="2756364"/>
            <a:ext cx="303791" cy="3272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副標題 2">
            <a:extLst>
              <a:ext uri="{FF2B5EF4-FFF2-40B4-BE49-F238E27FC236}">
                <a16:creationId xmlns:a16="http://schemas.microsoft.com/office/drawing/2014/main" id="{7E9EC673-6405-45C6-8232-74CF97BE3BB9}"/>
              </a:ext>
            </a:extLst>
          </p:cNvPr>
          <p:cNvSpPr txBox="1">
            <a:spLocks/>
          </p:cNvSpPr>
          <p:nvPr/>
        </p:nvSpPr>
        <p:spPr>
          <a:xfrm>
            <a:off x="4434929" y="3480870"/>
            <a:ext cx="3933863" cy="176391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Thus, </a:t>
            </a:r>
            <a:r>
              <a:rPr lang="en-US" sz="1800" b="1" dirty="0">
                <a:solidFill>
                  <a:srgbClr val="C00000"/>
                </a:solidFill>
              </a:rPr>
              <a:t>Stumps </a:t>
            </a:r>
            <a:r>
              <a:rPr lang="en-US" sz="1800" b="1" dirty="0">
                <a:solidFill>
                  <a:schemeClr val="tx1"/>
                </a:solidFill>
              </a:rPr>
              <a:t>are technically “Weak Learners”.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However, that is the way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 does.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is very common for AdaBoost for trees combination. </a:t>
            </a:r>
          </a:p>
        </p:txBody>
      </p:sp>
    </p:spTree>
    <p:extLst>
      <p:ext uri="{BB962C8B-B14F-4D97-AF65-F5344CB8AC3E}">
        <p14:creationId xmlns:p14="http://schemas.microsoft.com/office/powerpoint/2010/main" val="2514376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61924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back to the random forest.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a </a:t>
            </a:r>
            <a:r>
              <a:rPr lang="en-US" sz="1800" b="1" dirty="0">
                <a:solidFill>
                  <a:srgbClr val="C00000"/>
                </a:solidFill>
              </a:rPr>
              <a:t>Random Forest</a:t>
            </a:r>
            <a:r>
              <a:rPr lang="en-US" sz="1800" b="1" dirty="0">
                <a:solidFill>
                  <a:schemeClr val="tx1"/>
                </a:solidFill>
              </a:rPr>
              <a:t>, each tree has a equal say (vote) on the final classification.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9CA41-5817-419A-AD0D-D33BDDBCCBA0}"/>
              </a:ext>
            </a:extLst>
          </p:cNvPr>
          <p:cNvSpPr/>
          <p:nvPr/>
        </p:nvSpPr>
        <p:spPr>
          <a:xfrm>
            <a:off x="2701240" y="217878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3430E-E8BF-45C0-AB8B-C58FACB0B1A9}"/>
              </a:ext>
            </a:extLst>
          </p:cNvPr>
          <p:cNvSpPr/>
          <p:nvPr/>
        </p:nvSpPr>
        <p:spPr>
          <a:xfrm>
            <a:off x="3025506" y="249630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A5CB2-6D16-444B-BF1E-89C9F2D5B3C7}"/>
              </a:ext>
            </a:extLst>
          </p:cNvPr>
          <p:cNvSpPr/>
          <p:nvPr/>
        </p:nvSpPr>
        <p:spPr>
          <a:xfrm>
            <a:off x="2459123" y="253719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CDD-AFB1-4779-9CE3-BB8FB9390F6E}"/>
              </a:ext>
            </a:extLst>
          </p:cNvPr>
          <p:cNvSpPr/>
          <p:nvPr/>
        </p:nvSpPr>
        <p:spPr>
          <a:xfrm>
            <a:off x="2928518" y="290339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BEF2A-AF31-4CC1-A84F-5E9039E52039}"/>
              </a:ext>
            </a:extLst>
          </p:cNvPr>
          <p:cNvSpPr/>
          <p:nvPr/>
        </p:nvSpPr>
        <p:spPr>
          <a:xfrm>
            <a:off x="3483842" y="288315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55E72-4225-4953-9010-6E12B7CD99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2688291" y="2394809"/>
            <a:ext cx="242117" cy="1423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9861DF-4EB2-4704-B2D3-81E91C40A2A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930408" y="2394809"/>
            <a:ext cx="324266" cy="101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6A4919-0C54-4839-BD2F-27B8A381DED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157686" y="2712333"/>
            <a:ext cx="96988" cy="191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864AF-BFE8-4D9B-AFF4-6B46F5B8094E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3254674" y="2712333"/>
            <a:ext cx="458336" cy="170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84301-7699-4D52-A25A-D88B3A51A2A6}"/>
              </a:ext>
            </a:extLst>
          </p:cNvPr>
          <p:cNvSpPr/>
          <p:nvPr/>
        </p:nvSpPr>
        <p:spPr>
          <a:xfrm>
            <a:off x="3204859" y="323035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27CBC-A034-4CE3-832F-83FE529DDE4F}"/>
              </a:ext>
            </a:extLst>
          </p:cNvPr>
          <p:cNvSpPr/>
          <p:nvPr/>
        </p:nvSpPr>
        <p:spPr>
          <a:xfrm>
            <a:off x="3728689" y="322440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84614-F7E4-45CD-AC38-8B9FDE6277AC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 flipH="1">
            <a:off x="3434027" y="3099174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FD0102-75E4-45FA-A66E-F6B0CCA10892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3713010" y="3099174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7A821C-E9D0-4120-85AF-7C4AF21E35B6}"/>
              </a:ext>
            </a:extLst>
          </p:cNvPr>
          <p:cNvSpPr/>
          <p:nvPr/>
        </p:nvSpPr>
        <p:spPr>
          <a:xfrm>
            <a:off x="1088469" y="221295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0B656-B9F9-4D20-BD82-65229389E6FA}"/>
              </a:ext>
            </a:extLst>
          </p:cNvPr>
          <p:cNvSpPr/>
          <p:nvPr/>
        </p:nvSpPr>
        <p:spPr>
          <a:xfrm>
            <a:off x="1522354" y="255071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E5670-6520-4D89-889F-528A040A7404}"/>
              </a:ext>
            </a:extLst>
          </p:cNvPr>
          <p:cNvSpPr/>
          <p:nvPr/>
        </p:nvSpPr>
        <p:spPr>
          <a:xfrm>
            <a:off x="606685" y="253882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D78288-9E3B-4FE9-8DF7-008F234ACCB4}"/>
              </a:ext>
            </a:extLst>
          </p:cNvPr>
          <p:cNvSpPr/>
          <p:nvPr/>
        </p:nvSpPr>
        <p:spPr>
          <a:xfrm>
            <a:off x="1390215" y="289267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E279A6-375A-47E9-9B0F-502A6669BAE5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835853" y="2428974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BDEF6B-E0FF-48E9-B5AC-0DFD09E9F08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1317637" y="2428974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CE31FF-15B7-42FB-9182-20CF783A97E3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flipH="1">
            <a:off x="1619383" y="2766743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9E780-13B1-4413-BA8B-1996ED59E3C4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1751522" y="2766743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0735D-CD39-497A-867D-68874FD92B79}"/>
              </a:ext>
            </a:extLst>
          </p:cNvPr>
          <p:cNvSpPr/>
          <p:nvPr/>
        </p:nvSpPr>
        <p:spPr>
          <a:xfrm>
            <a:off x="1892740" y="287844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9AEFD5-686B-4209-9D3D-977526D60AE4}"/>
              </a:ext>
            </a:extLst>
          </p:cNvPr>
          <p:cNvSpPr/>
          <p:nvPr/>
        </p:nvSpPr>
        <p:spPr>
          <a:xfrm>
            <a:off x="335471" y="288440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EB79CD-3D0A-4973-80B5-F1F96E672415}"/>
              </a:ext>
            </a:extLst>
          </p:cNvPr>
          <p:cNvSpPr/>
          <p:nvPr/>
        </p:nvSpPr>
        <p:spPr>
          <a:xfrm>
            <a:off x="859301" y="287844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BF1AAF-3472-46BA-ABC2-8835C1903AF0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flipH="1">
            <a:off x="564639" y="2754849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A94A5E-09CD-4C77-B23E-FAB22B6438CC}"/>
              </a:ext>
            </a:extLst>
          </p:cNvPr>
          <p:cNvCxnSpPr>
            <a:cxnSpLocks/>
            <a:stCxn id="33" idx="2"/>
            <a:endCxn id="45" idx="0"/>
          </p:cNvCxnSpPr>
          <p:nvPr/>
        </p:nvCxnSpPr>
        <p:spPr>
          <a:xfrm>
            <a:off x="835853" y="2754849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6E17D21-6815-4649-BDD7-5C246038920F}"/>
              </a:ext>
            </a:extLst>
          </p:cNvPr>
          <p:cNvSpPr/>
          <p:nvPr/>
        </p:nvSpPr>
        <p:spPr>
          <a:xfrm>
            <a:off x="3069210" y="363145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FC574C-18E9-4643-A8CB-8848C19C02D7}"/>
              </a:ext>
            </a:extLst>
          </p:cNvPr>
          <p:cNvSpPr/>
          <p:nvPr/>
        </p:nvSpPr>
        <p:spPr>
          <a:xfrm>
            <a:off x="3493415" y="394897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4A3A4B-8172-4607-A663-9815B337A23B}"/>
              </a:ext>
            </a:extLst>
          </p:cNvPr>
          <p:cNvSpPr/>
          <p:nvPr/>
        </p:nvSpPr>
        <p:spPr>
          <a:xfrm>
            <a:off x="3396427" y="435606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19C7FD-0AB4-4BCE-B655-4778A5EFA9CC}"/>
              </a:ext>
            </a:extLst>
          </p:cNvPr>
          <p:cNvSpPr/>
          <p:nvPr/>
        </p:nvSpPr>
        <p:spPr>
          <a:xfrm>
            <a:off x="3951751" y="433581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3897DE9-B74F-4EDE-89A5-6EE1F33E27CF}"/>
              </a:ext>
            </a:extLst>
          </p:cNvPr>
          <p:cNvCxnSpPr>
            <a:cxnSpLocks/>
            <a:stCxn id="52" idx="2"/>
            <a:endCxn id="67" idx="0"/>
          </p:cNvCxnSpPr>
          <p:nvPr/>
        </p:nvCxnSpPr>
        <p:spPr>
          <a:xfrm flipH="1">
            <a:off x="2883569" y="3847474"/>
            <a:ext cx="414809" cy="1703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7A2613-A9C0-4CC2-8894-13B52ABB4F25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3298378" y="3847474"/>
            <a:ext cx="424205" cy="101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F5A965-4082-430C-9A91-661A41C52B82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3625595" y="4164998"/>
            <a:ext cx="96988" cy="191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8B8D338-C85A-4BA9-B7BC-19F9BE784328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3722583" y="4164998"/>
            <a:ext cx="458336" cy="170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98D8561-5936-4694-9F8E-0FC2D19FE950}"/>
              </a:ext>
            </a:extLst>
          </p:cNvPr>
          <p:cNvSpPr/>
          <p:nvPr/>
        </p:nvSpPr>
        <p:spPr>
          <a:xfrm>
            <a:off x="3672768" y="468301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1859D5-3BD0-408F-BB77-E2FF695CF008}"/>
              </a:ext>
            </a:extLst>
          </p:cNvPr>
          <p:cNvSpPr/>
          <p:nvPr/>
        </p:nvSpPr>
        <p:spPr>
          <a:xfrm>
            <a:off x="4196598" y="467706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EC3A7E9-D417-4AA3-8AD0-F4CCBDBA0C34}"/>
              </a:ext>
            </a:extLst>
          </p:cNvPr>
          <p:cNvCxnSpPr>
            <a:cxnSpLocks/>
            <a:stCxn id="58" idx="2"/>
            <a:endCxn id="63" idx="0"/>
          </p:cNvCxnSpPr>
          <p:nvPr/>
        </p:nvCxnSpPr>
        <p:spPr>
          <a:xfrm flipH="1">
            <a:off x="3901936" y="4551839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BCCF4A-F3D8-4D3E-A4F9-8D2B194245EA}"/>
              </a:ext>
            </a:extLst>
          </p:cNvPr>
          <p:cNvCxnSpPr>
            <a:cxnSpLocks/>
            <a:stCxn id="58" idx="2"/>
            <a:endCxn id="64" idx="0"/>
          </p:cNvCxnSpPr>
          <p:nvPr/>
        </p:nvCxnSpPr>
        <p:spPr>
          <a:xfrm>
            <a:off x="4180919" y="4551839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BC2F1CB5-92F9-468C-9E2B-6CE9A04B79EB}"/>
              </a:ext>
            </a:extLst>
          </p:cNvPr>
          <p:cNvSpPr/>
          <p:nvPr/>
        </p:nvSpPr>
        <p:spPr>
          <a:xfrm>
            <a:off x="2654401" y="401783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9713BFB-0BBB-407D-A7BB-8F9C23181BA7}"/>
              </a:ext>
            </a:extLst>
          </p:cNvPr>
          <p:cNvSpPr/>
          <p:nvPr/>
        </p:nvSpPr>
        <p:spPr>
          <a:xfrm>
            <a:off x="2375418" y="436504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9B6637-72C9-4B19-B52B-84596F0FD9C9}"/>
              </a:ext>
            </a:extLst>
          </p:cNvPr>
          <p:cNvSpPr/>
          <p:nvPr/>
        </p:nvSpPr>
        <p:spPr>
          <a:xfrm>
            <a:off x="2899248" y="435908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263E15E-A8C9-4DAD-A7E8-B70BE55EF9B8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604586" y="4233862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48EBB8-C5B4-4421-BD8C-F8F3AC020A16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2883569" y="4233862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5826DB0-B060-4154-9637-D4C6C89DFE8F}"/>
              </a:ext>
            </a:extLst>
          </p:cNvPr>
          <p:cNvSpPr/>
          <p:nvPr/>
        </p:nvSpPr>
        <p:spPr>
          <a:xfrm>
            <a:off x="3105894" y="5167636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FFD3B8-8A9E-4C29-BFFD-48B03B4B5E43}"/>
              </a:ext>
            </a:extLst>
          </p:cNvPr>
          <p:cNvSpPr/>
          <p:nvPr/>
        </p:nvSpPr>
        <p:spPr>
          <a:xfrm>
            <a:off x="3539779" y="550540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7269238-905D-4F0B-821E-63CF785E0124}"/>
              </a:ext>
            </a:extLst>
          </p:cNvPr>
          <p:cNvSpPr/>
          <p:nvPr/>
        </p:nvSpPr>
        <p:spPr>
          <a:xfrm>
            <a:off x="3416126" y="584713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6C77469-BB2C-4594-A02D-132BBEE32879}"/>
              </a:ext>
            </a:extLst>
          </p:cNvPr>
          <p:cNvCxnSpPr>
            <a:cxnSpLocks/>
            <a:stCxn id="72" idx="2"/>
            <a:endCxn id="81" idx="0"/>
          </p:cNvCxnSpPr>
          <p:nvPr/>
        </p:nvCxnSpPr>
        <p:spPr>
          <a:xfrm flipH="1">
            <a:off x="2983470" y="5383660"/>
            <a:ext cx="351592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4AFD5C-70A2-44CF-9CE0-864F21C6F679}"/>
              </a:ext>
            </a:extLst>
          </p:cNvPr>
          <p:cNvCxnSpPr>
            <a:stCxn id="72" idx="2"/>
            <a:endCxn id="73" idx="0"/>
          </p:cNvCxnSpPr>
          <p:nvPr/>
        </p:nvCxnSpPr>
        <p:spPr>
          <a:xfrm>
            <a:off x="3335062" y="5383660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BD545C2-1B97-4DBF-A858-74D9ABE83C7A}"/>
              </a:ext>
            </a:extLst>
          </p:cNvPr>
          <p:cNvCxnSpPr>
            <a:stCxn id="73" idx="2"/>
            <a:endCxn id="75" idx="0"/>
          </p:cNvCxnSpPr>
          <p:nvPr/>
        </p:nvCxnSpPr>
        <p:spPr>
          <a:xfrm flipH="1">
            <a:off x="3645294" y="5721429"/>
            <a:ext cx="123653" cy="1257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614650-6821-456D-8585-13E5E78D27E1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3768947" y="5721429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DC2E3F6-97A0-4DA0-A082-AD526E9999D3}"/>
              </a:ext>
            </a:extLst>
          </p:cNvPr>
          <p:cNvSpPr/>
          <p:nvPr/>
        </p:nvSpPr>
        <p:spPr>
          <a:xfrm>
            <a:off x="3910165" y="583313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9193701-9B51-4179-AB6A-0C3423EA4104}"/>
              </a:ext>
            </a:extLst>
          </p:cNvPr>
          <p:cNvSpPr/>
          <p:nvPr/>
        </p:nvSpPr>
        <p:spPr>
          <a:xfrm>
            <a:off x="2754302" y="5505405"/>
            <a:ext cx="458336" cy="20700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2C33AF8-9A15-42F5-8A5E-7FC7131BBD66}"/>
              </a:ext>
            </a:extLst>
          </p:cNvPr>
          <p:cNvSpPr/>
          <p:nvPr/>
        </p:nvSpPr>
        <p:spPr>
          <a:xfrm>
            <a:off x="1408354" y="506048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70A85E3-8573-4E47-9091-F684CDBCD97C}"/>
              </a:ext>
            </a:extLst>
          </p:cNvPr>
          <p:cNvSpPr/>
          <p:nvPr/>
        </p:nvSpPr>
        <p:spPr>
          <a:xfrm>
            <a:off x="1842239" y="539825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074D386-CCE4-44D1-8464-12C04CA6A9D1}"/>
              </a:ext>
            </a:extLst>
          </p:cNvPr>
          <p:cNvSpPr/>
          <p:nvPr/>
        </p:nvSpPr>
        <p:spPr>
          <a:xfrm>
            <a:off x="926570" y="538636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2BB970D-548A-41AA-B433-635CF82AE303}"/>
              </a:ext>
            </a:extLst>
          </p:cNvPr>
          <p:cNvSpPr/>
          <p:nvPr/>
        </p:nvSpPr>
        <p:spPr>
          <a:xfrm>
            <a:off x="1718586" y="573998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A0E4A2D-A29A-40EB-85A2-E1B264D61313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 flipH="1">
            <a:off x="1155738" y="5276513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061C6F-F963-4539-8AE1-5994F8B42EB4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>
            <a:off x="1637522" y="5276513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6D1662C-3E6A-4ADA-B0C0-9CAAF7E72C25}"/>
              </a:ext>
            </a:extLst>
          </p:cNvPr>
          <p:cNvCxnSpPr>
            <a:stCxn id="87" idx="2"/>
            <a:endCxn id="89" idx="0"/>
          </p:cNvCxnSpPr>
          <p:nvPr/>
        </p:nvCxnSpPr>
        <p:spPr>
          <a:xfrm flipH="1">
            <a:off x="1947754" y="5614282"/>
            <a:ext cx="123653" cy="1257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22D7E7C-5CEE-49BE-BC46-BF0AD0AABFD6}"/>
              </a:ext>
            </a:extLst>
          </p:cNvPr>
          <p:cNvCxnSpPr>
            <a:cxnSpLocks/>
            <a:stCxn id="87" idx="2"/>
            <a:endCxn id="94" idx="0"/>
          </p:cNvCxnSpPr>
          <p:nvPr/>
        </p:nvCxnSpPr>
        <p:spPr>
          <a:xfrm>
            <a:off x="2071407" y="5614282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348C1F4-93A4-4D99-B25A-874F138F6EAB}"/>
              </a:ext>
            </a:extLst>
          </p:cNvPr>
          <p:cNvSpPr/>
          <p:nvPr/>
        </p:nvSpPr>
        <p:spPr>
          <a:xfrm>
            <a:off x="2212625" y="572598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2BFE1FD-9605-458D-A8EF-1CD4B404934F}"/>
              </a:ext>
            </a:extLst>
          </p:cNvPr>
          <p:cNvSpPr/>
          <p:nvPr/>
        </p:nvSpPr>
        <p:spPr>
          <a:xfrm>
            <a:off x="1179186" y="572598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8EFD688-A4AB-48F1-9A14-43E468EF387D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1155738" y="5602388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3CAB9A2D-AC32-4474-BEFB-F84E3A0763CA}"/>
              </a:ext>
            </a:extLst>
          </p:cNvPr>
          <p:cNvSpPr/>
          <p:nvPr/>
        </p:nvSpPr>
        <p:spPr>
          <a:xfrm>
            <a:off x="606685" y="5747721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7E9EDAB-3B78-4D08-B021-63F4C6D99AEC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 flipH="1">
            <a:off x="835853" y="5602388"/>
            <a:ext cx="319885" cy="1453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F16850-5516-4765-9011-96226E6EF15D}"/>
              </a:ext>
            </a:extLst>
          </p:cNvPr>
          <p:cNvSpPr/>
          <p:nvPr/>
        </p:nvSpPr>
        <p:spPr>
          <a:xfrm>
            <a:off x="335471" y="609329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086039-7069-4711-AFC5-DF7088C9B4CE}"/>
              </a:ext>
            </a:extLst>
          </p:cNvPr>
          <p:cNvSpPr/>
          <p:nvPr/>
        </p:nvSpPr>
        <p:spPr>
          <a:xfrm>
            <a:off x="859301" y="608734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764A671-33E1-439F-B037-FAC37F697C3A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flipH="1">
            <a:off x="564639" y="5963745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86F66FD-05BA-475F-8DAE-F99D331450E9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835853" y="5963745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883906C-D047-4B68-B298-31CC2C4A1DDB}"/>
              </a:ext>
            </a:extLst>
          </p:cNvPr>
          <p:cNvSpPr/>
          <p:nvPr/>
        </p:nvSpPr>
        <p:spPr>
          <a:xfrm>
            <a:off x="857807" y="363534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CDD84A-7633-432D-8E93-D1FD3B9E7F3C}"/>
              </a:ext>
            </a:extLst>
          </p:cNvPr>
          <p:cNvSpPr/>
          <p:nvPr/>
        </p:nvSpPr>
        <p:spPr>
          <a:xfrm>
            <a:off x="1322249" y="3965021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BBF7B37-4F38-4508-B015-E2ED42ADC138}"/>
              </a:ext>
            </a:extLst>
          </p:cNvPr>
          <p:cNvSpPr/>
          <p:nvPr/>
        </p:nvSpPr>
        <p:spPr>
          <a:xfrm>
            <a:off x="1225261" y="437211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7D14CCD-9264-4A44-BD01-7AA0490301DB}"/>
              </a:ext>
            </a:extLst>
          </p:cNvPr>
          <p:cNvSpPr/>
          <p:nvPr/>
        </p:nvSpPr>
        <p:spPr>
          <a:xfrm>
            <a:off x="1780585" y="435186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E941C92-FDB4-4815-8875-47E64DCFDAC1}"/>
              </a:ext>
            </a:extLst>
          </p:cNvPr>
          <p:cNvCxnSpPr>
            <a:cxnSpLocks/>
            <a:stCxn id="107" idx="2"/>
            <a:endCxn id="122" idx="0"/>
          </p:cNvCxnSpPr>
          <p:nvPr/>
        </p:nvCxnSpPr>
        <p:spPr>
          <a:xfrm flipH="1">
            <a:off x="682280" y="3851372"/>
            <a:ext cx="404695" cy="2281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F30B212-FB66-4772-9789-2D7308EF48AF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>
            <a:off x="1086975" y="3851372"/>
            <a:ext cx="464442" cy="1136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ECAB7B9-ED64-4F16-A5CD-7275B9ECF7FC}"/>
              </a:ext>
            </a:extLst>
          </p:cNvPr>
          <p:cNvCxnSpPr>
            <a:cxnSpLocks/>
            <a:stCxn id="108" idx="2"/>
            <a:endCxn id="110" idx="0"/>
          </p:cNvCxnSpPr>
          <p:nvPr/>
        </p:nvCxnSpPr>
        <p:spPr>
          <a:xfrm flipH="1">
            <a:off x="1454429" y="4181045"/>
            <a:ext cx="96988" cy="191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A29D06D-61B0-4580-A1DD-B033D7238704}"/>
              </a:ext>
            </a:extLst>
          </p:cNvPr>
          <p:cNvCxnSpPr>
            <a:cxnSpLocks/>
            <a:stCxn id="108" idx="2"/>
            <a:endCxn id="111" idx="0"/>
          </p:cNvCxnSpPr>
          <p:nvPr/>
        </p:nvCxnSpPr>
        <p:spPr>
          <a:xfrm>
            <a:off x="1551417" y="4181045"/>
            <a:ext cx="458336" cy="170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5AF8678-F504-4479-94B5-3ABF7C657521}"/>
              </a:ext>
            </a:extLst>
          </p:cNvPr>
          <p:cNvSpPr/>
          <p:nvPr/>
        </p:nvSpPr>
        <p:spPr>
          <a:xfrm>
            <a:off x="1501602" y="469906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3B7B9C9-FCE2-42D4-9675-D5980F46A09A}"/>
              </a:ext>
            </a:extLst>
          </p:cNvPr>
          <p:cNvSpPr/>
          <p:nvPr/>
        </p:nvSpPr>
        <p:spPr>
          <a:xfrm>
            <a:off x="2025432" y="469311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97F236D-0944-4CAE-9E1B-13D52E13410F}"/>
              </a:ext>
            </a:extLst>
          </p:cNvPr>
          <p:cNvCxnSpPr>
            <a:cxnSpLocks/>
            <a:stCxn id="111" idx="2"/>
            <a:endCxn id="116" idx="0"/>
          </p:cNvCxnSpPr>
          <p:nvPr/>
        </p:nvCxnSpPr>
        <p:spPr>
          <a:xfrm flipH="1">
            <a:off x="1730770" y="4567886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B637D9F-97A5-4CC7-BC07-8DD1A03EA221}"/>
              </a:ext>
            </a:extLst>
          </p:cNvPr>
          <p:cNvCxnSpPr>
            <a:cxnSpLocks/>
            <a:stCxn id="111" idx="2"/>
            <a:endCxn id="117" idx="0"/>
          </p:cNvCxnSpPr>
          <p:nvPr/>
        </p:nvCxnSpPr>
        <p:spPr>
          <a:xfrm>
            <a:off x="2009753" y="4567886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7F9344C-9943-4B8A-9D19-7DB7FD620FBD}"/>
              </a:ext>
            </a:extLst>
          </p:cNvPr>
          <p:cNvSpPr/>
          <p:nvPr/>
        </p:nvSpPr>
        <p:spPr>
          <a:xfrm>
            <a:off x="453112" y="407954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814C947-502A-4F5E-9DAF-40CD4815B706}"/>
              </a:ext>
            </a:extLst>
          </p:cNvPr>
          <p:cNvSpPr/>
          <p:nvPr/>
        </p:nvSpPr>
        <p:spPr>
          <a:xfrm>
            <a:off x="181898" y="442512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62B70EC-7103-47F0-AB4C-F730DE6DA449}"/>
              </a:ext>
            </a:extLst>
          </p:cNvPr>
          <p:cNvSpPr/>
          <p:nvPr/>
        </p:nvSpPr>
        <p:spPr>
          <a:xfrm>
            <a:off x="705728" y="441916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95320A-14E9-413D-B39D-BF69885EB5D6}"/>
              </a:ext>
            </a:extLst>
          </p:cNvPr>
          <p:cNvCxnSpPr>
            <a:cxnSpLocks/>
            <a:stCxn id="122" idx="2"/>
            <a:endCxn id="123" idx="0"/>
          </p:cNvCxnSpPr>
          <p:nvPr/>
        </p:nvCxnSpPr>
        <p:spPr>
          <a:xfrm flipH="1">
            <a:off x="411066" y="4295569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C501E86-78E7-4EBF-844D-96C94E6F4C13}"/>
              </a:ext>
            </a:extLst>
          </p:cNvPr>
          <p:cNvCxnSpPr>
            <a:cxnSpLocks/>
            <a:stCxn id="122" idx="2"/>
            <a:endCxn id="124" idx="0"/>
          </p:cNvCxnSpPr>
          <p:nvPr/>
        </p:nvCxnSpPr>
        <p:spPr>
          <a:xfrm>
            <a:off x="682280" y="4295569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36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3376" y="1256724"/>
            <a:ext cx="2005747" cy="58671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tree’s say (vote)…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9CA41-5817-419A-AD0D-D33BDDBCCBA0}"/>
              </a:ext>
            </a:extLst>
          </p:cNvPr>
          <p:cNvSpPr/>
          <p:nvPr/>
        </p:nvSpPr>
        <p:spPr>
          <a:xfrm>
            <a:off x="2701240" y="184482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3430E-E8BF-45C0-AB8B-C58FACB0B1A9}"/>
              </a:ext>
            </a:extLst>
          </p:cNvPr>
          <p:cNvSpPr/>
          <p:nvPr/>
        </p:nvSpPr>
        <p:spPr>
          <a:xfrm>
            <a:off x="3025506" y="216234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A5CB2-6D16-444B-BF1E-89C9F2D5B3C7}"/>
              </a:ext>
            </a:extLst>
          </p:cNvPr>
          <p:cNvSpPr/>
          <p:nvPr/>
        </p:nvSpPr>
        <p:spPr>
          <a:xfrm>
            <a:off x="2459123" y="220322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CDD-AFB1-4779-9CE3-BB8FB9390F6E}"/>
              </a:ext>
            </a:extLst>
          </p:cNvPr>
          <p:cNvSpPr/>
          <p:nvPr/>
        </p:nvSpPr>
        <p:spPr>
          <a:xfrm>
            <a:off x="2928518" y="256943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BEF2A-AF31-4CC1-A84F-5E9039E52039}"/>
              </a:ext>
            </a:extLst>
          </p:cNvPr>
          <p:cNvSpPr/>
          <p:nvPr/>
        </p:nvSpPr>
        <p:spPr>
          <a:xfrm>
            <a:off x="3483842" y="254918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55E72-4225-4953-9010-6E12B7CD99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2688291" y="2060848"/>
            <a:ext cx="242117" cy="1423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9861DF-4EB2-4704-B2D3-81E91C40A2A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930408" y="2060848"/>
            <a:ext cx="324266" cy="101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6A4919-0C54-4839-BD2F-27B8A381DED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157686" y="2378372"/>
            <a:ext cx="96988" cy="191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864AF-BFE8-4D9B-AFF4-6B46F5B8094E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3254674" y="2378372"/>
            <a:ext cx="458336" cy="170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84301-7699-4D52-A25A-D88B3A51A2A6}"/>
              </a:ext>
            </a:extLst>
          </p:cNvPr>
          <p:cNvSpPr/>
          <p:nvPr/>
        </p:nvSpPr>
        <p:spPr>
          <a:xfrm>
            <a:off x="3204859" y="289639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27CBC-A034-4CE3-832F-83FE529DDE4F}"/>
              </a:ext>
            </a:extLst>
          </p:cNvPr>
          <p:cNvSpPr/>
          <p:nvPr/>
        </p:nvSpPr>
        <p:spPr>
          <a:xfrm>
            <a:off x="3728689" y="289044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84614-F7E4-45CD-AC38-8B9FDE6277AC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 flipH="1">
            <a:off x="3434027" y="2765213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FD0102-75E4-45FA-A66E-F6B0CCA10892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3713010" y="2765213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7A821C-E9D0-4120-85AF-7C4AF21E35B6}"/>
              </a:ext>
            </a:extLst>
          </p:cNvPr>
          <p:cNvSpPr/>
          <p:nvPr/>
        </p:nvSpPr>
        <p:spPr>
          <a:xfrm>
            <a:off x="1088469" y="187898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0B656-B9F9-4D20-BD82-65229389E6FA}"/>
              </a:ext>
            </a:extLst>
          </p:cNvPr>
          <p:cNvSpPr/>
          <p:nvPr/>
        </p:nvSpPr>
        <p:spPr>
          <a:xfrm>
            <a:off x="1522354" y="221675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E5670-6520-4D89-889F-528A040A7404}"/>
              </a:ext>
            </a:extLst>
          </p:cNvPr>
          <p:cNvSpPr/>
          <p:nvPr/>
        </p:nvSpPr>
        <p:spPr>
          <a:xfrm>
            <a:off x="606685" y="220486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D78288-9E3B-4FE9-8DF7-008F234ACCB4}"/>
              </a:ext>
            </a:extLst>
          </p:cNvPr>
          <p:cNvSpPr/>
          <p:nvPr/>
        </p:nvSpPr>
        <p:spPr>
          <a:xfrm>
            <a:off x="1390215" y="255871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E279A6-375A-47E9-9B0F-502A6669BAE5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835853" y="2095013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BDEF6B-E0FF-48E9-B5AC-0DFD09E9F08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1317637" y="2095013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CE31FF-15B7-42FB-9182-20CF783A97E3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flipH="1">
            <a:off x="1619383" y="2432782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9E780-13B1-4413-BA8B-1996ED59E3C4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1751522" y="2432782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0735D-CD39-497A-867D-68874FD92B79}"/>
              </a:ext>
            </a:extLst>
          </p:cNvPr>
          <p:cNvSpPr/>
          <p:nvPr/>
        </p:nvSpPr>
        <p:spPr>
          <a:xfrm>
            <a:off x="1892740" y="254448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9AEFD5-686B-4209-9D3D-977526D60AE4}"/>
              </a:ext>
            </a:extLst>
          </p:cNvPr>
          <p:cNvSpPr/>
          <p:nvPr/>
        </p:nvSpPr>
        <p:spPr>
          <a:xfrm>
            <a:off x="335471" y="255043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EB79CD-3D0A-4973-80B5-F1F96E672415}"/>
              </a:ext>
            </a:extLst>
          </p:cNvPr>
          <p:cNvSpPr/>
          <p:nvPr/>
        </p:nvSpPr>
        <p:spPr>
          <a:xfrm>
            <a:off x="859301" y="254448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BF1AAF-3472-46BA-ABC2-8835C1903AF0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flipH="1">
            <a:off x="564639" y="2420888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A94A5E-09CD-4C77-B23E-FAB22B6438CC}"/>
              </a:ext>
            </a:extLst>
          </p:cNvPr>
          <p:cNvCxnSpPr>
            <a:cxnSpLocks/>
            <a:stCxn id="33" idx="2"/>
            <a:endCxn id="45" idx="0"/>
          </p:cNvCxnSpPr>
          <p:nvPr/>
        </p:nvCxnSpPr>
        <p:spPr>
          <a:xfrm>
            <a:off x="835853" y="2420888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6E17D21-6815-4649-BDD7-5C246038920F}"/>
              </a:ext>
            </a:extLst>
          </p:cNvPr>
          <p:cNvSpPr/>
          <p:nvPr/>
        </p:nvSpPr>
        <p:spPr>
          <a:xfrm>
            <a:off x="3069210" y="3297489"/>
            <a:ext cx="458336" cy="216024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FC574C-18E9-4643-A8CB-8848C19C02D7}"/>
              </a:ext>
            </a:extLst>
          </p:cNvPr>
          <p:cNvSpPr/>
          <p:nvPr/>
        </p:nvSpPr>
        <p:spPr>
          <a:xfrm>
            <a:off x="3493415" y="3615013"/>
            <a:ext cx="458336" cy="216024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4A3A4B-8172-4607-A663-9815B337A23B}"/>
              </a:ext>
            </a:extLst>
          </p:cNvPr>
          <p:cNvSpPr/>
          <p:nvPr/>
        </p:nvSpPr>
        <p:spPr>
          <a:xfrm>
            <a:off x="3396427" y="4022103"/>
            <a:ext cx="458336" cy="216024"/>
          </a:xfrm>
          <a:prstGeom prst="rect">
            <a:avLst/>
          </a:prstGeom>
          <a:solidFill>
            <a:srgbClr val="00B05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19C7FD-0AB4-4BCE-B655-4778A5EFA9CC}"/>
              </a:ext>
            </a:extLst>
          </p:cNvPr>
          <p:cNvSpPr/>
          <p:nvPr/>
        </p:nvSpPr>
        <p:spPr>
          <a:xfrm>
            <a:off x="3951751" y="4001854"/>
            <a:ext cx="458336" cy="216024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3897DE9-B74F-4EDE-89A5-6EE1F33E27CF}"/>
              </a:ext>
            </a:extLst>
          </p:cNvPr>
          <p:cNvCxnSpPr>
            <a:cxnSpLocks/>
            <a:stCxn id="52" idx="2"/>
            <a:endCxn id="67" idx="0"/>
          </p:cNvCxnSpPr>
          <p:nvPr/>
        </p:nvCxnSpPr>
        <p:spPr>
          <a:xfrm flipH="1">
            <a:off x="2883569" y="3513513"/>
            <a:ext cx="414809" cy="17036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7A2613-A9C0-4CC2-8894-13B52ABB4F25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3298378" y="3513513"/>
            <a:ext cx="424205" cy="10150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F5A965-4082-430C-9A91-661A41C52B82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3625595" y="3831037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8B8D338-C85A-4BA9-B7BC-19F9BE784328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3722583" y="3831037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98D8561-5936-4694-9F8E-0FC2D19FE950}"/>
              </a:ext>
            </a:extLst>
          </p:cNvPr>
          <p:cNvSpPr/>
          <p:nvPr/>
        </p:nvSpPr>
        <p:spPr>
          <a:xfrm>
            <a:off x="3672768" y="4349057"/>
            <a:ext cx="458336" cy="216024"/>
          </a:xfrm>
          <a:prstGeom prst="rect">
            <a:avLst/>
          </a:prstGeom>
          <a:solidFill>
            <a:srgbClr val="00B05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1859D5-3BD0-408F-BB77-E2FF695CF008}"/>
              </a:ext>
            </a:extLst>
          </p:cNvPr>
          <p:cNvSpPr/>
          <p:nvPr/>
        </p:nvSpPr>
        <p:spPr>
          <a:xfrm>
            <a:off x="4196598" y="4343105"/>
            <a:ext cx="458336" cy="216024"/>
          </a:xfrm>
          <a:prstGeom prst="rect">
            <a:avLst/>
          </a:prstGeom>
          <a:solidFill>
            <a:srgbClr val="00B05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EC3A7E9-D417-4AA3-8AD0-F4CCBDBA0C34}"/>
              </a:ext>
            </a:extLst>
          </p:cNvPr>
          <p:cNvCxnSpPr>
            <a:cxnSpLocks/>
            <a:stCxn id="58" idx="2"/>
            <a:endCxn id="63" idx="0"/>
          </p:cNvCxnSpPr>
          <p:nvPr/>
        </p:nvCxnSpPr>
        <p:spPr>
          <a:xfrm flipH="1">
            <a:off x="3901936" y="4217878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BCCF4A-F3D8-4D3E-A4F9-8D2B194245EA}"/>
              </a:ext>
            </a:extLst>
          </p:cNvPr>
          <p:cNvCxnSpPr>
            <a:cxnSpLocks/>
            <a:stCxn id="58" idx="2"/>
            <a:endCxn id="64" idx="0"/>
          </p:cNvCxnSpPr>
          <p:nvPr/>
        </p:nvCxnSpPr>
        <p:spPr>
          <a:xfrm>
            <a:off x="4180919" y="4217878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BC2F1CB5-92F9-468C-9E2B-6CE9A04B79EB}"/>
              </a:ext>
            </a:extLst>
          </p:cNvPr>
          <p:cNvSpPr/>
          <p:nvPr/>
        </p:nvSpPr>
        <p:spPr>
          <a:xfrm>
            <a:off x="2654401" y="3683877"/>
            <a:ext cx="458336" cy="216024"/>
          </a:xfrm>
          <a:prstGeom prst="rect">
            <a:avLst/>
          </a:prstGeom>
          <a:solidFill>
            <a:srgbClr val="00B0F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9713BFB-0BBB-407D-A7BB-8F9C23181BA7}"/>
              </a:ext>
            </a:extLst>
          </p:cNvPr>
          <p:cNvSpPr/>
          <p:nvPr/>
        </p:nvSpPr>
        <p:spPr>
          <a:xfrm>
            <a:off x="2375418" y="4031080"/>
            <a:ext cx="458336" cy="216024"/>
          </a:xfrm>
          <a:prstGeom prst="rect">
            <a:avLst/>
          </a:prstGeom>
          <a:solidFill>
            <a:srgbClr val="00B05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9B6637-72C9-4B19-B52B-84596F0FD9C9}"/>
              </a:ext>
            </a:extLst>
          </p:cNvPr>
          <p:cNvSpPr/>
          <p:nvPr/>
        </p:nvSpPr>
        <p:spPr>
          <a:xfrm>
            <a:off x="2899248" y="4025128"/>
            <a:ext cx="458336" cy="216024"/>
          </a:xfrm>
          <a:prstGeom prst="rect">
            <a:avLst/>
          </a:prstGeom>
          <a:solidFill>
            <a:srgbClr val="00B050">
              <a:alpha val="48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263E15E-A8C9-4DAD-A7E8-B70BE55EF9B8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604586" y="3899901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48EBB8-C5B4-4421-BD8C-F8F3AC020A16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2883569" y="3899901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5826DB0-B060-4154-9637-D4C6C89DFE8F}"/>
              </a:ext>
            </a:extLst>
          </p:cNvPr>
          <p:cNvSpPr/>
          <p:nvPr/>
        </p:nvSpPr>
        <p:spPr>
          <a:xfrm>
            <a:off x="3105894" y="483367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FFD3B8-8A9E-4C29-BFFD-48B03B4B5E43}"/>
              </a:ext>
            </a:extLst>
          </p:cNvPr>
          <p:cNvSpPr/>
          <p:nvPr/>
        </p:nvSpPr>
        <p:spPr>
          <a:xfrm>
            <a:off x="3539779" y="517144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7269238-905D-4F0B-821E-63CF785E0124}"/>
              </a:ext>
            </a:extLst>
          </p:cNvPr>
          <p:cNvSpPr/>
          <p:nvPr/>
        </p:nvSpPr>
        <p:spPr>
          <a:xfrm>
            <a:off x="3416126" y="551317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6C77469-BB2C-4594-A02D-132BBEE32879}"/>
              </a:ext>
            </a:extLst>
          </p:cNvPr>
          <p:cNvCxnSpPr>
            <a:cxnSpLocks/>
            <a:stCxn id="72" idx="2"/>
            <a:endCxn id="81" idx="0"/>
          </p:cNvCxnSpPr>
          <p:nvPr/>
        </p:nvCxnSpPr>
        <p:spPr>
          <a:xfrm flipH="1">
            <a:off x="2983470" y="5049699"/>
            <a:ext cx="351592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4AFD5C-70A2-44CF-9CE0-864F21C6F679}"/>
              </a:ext>
            </a:extLst>
          </p:cNvPr>
          <p:cNvCxnSpPr>
            <a:stCxn id="72" idx="2"/>
            <a:endCxn id="73" idx="0"/>
          </p:cNvCxnSpPr>
          <p:nvPr/>
        </p:nvCxnSpPr>
        <p:spPr>
          <a:xfrm>
            <a:off x="3335062" y="5049699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BD545C2-1B97-4DBF-A858-74D9ABE83C7A}"/>
              </a:ext>
            </a:extLst>
          </p:cNvPr>
          <p:cNvCxnSpPr>
            <a:stCxn id="73" idx="2"/>
            <a:endCxn id="75" idx="0"/>
          </p:cNvCxnSpPr>
          <p:nvPr/>
        </p:nvCxnSpPr>
        <p:spPr>
          <a:xfrm flipH="1">
            <a:off x="3645294" y="5387468"/>
            <a:ext cx="123653" cy="1257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614650-6821-456D-8585-13E5E78D27E1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3768947" y="5387468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DC2E3F6-97A0-4DA0-A082-AD526E9999D3}"/>
              </a:ext>
            </a:extLst>
          </p:cNvPr>
          <p:cNvSpPr/>
          <p:nvPr/>
        </p:nvSpPr>
        <p:spPr>
          <a:xfrm>
            <a:off x="3910165" y="549917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9193701-9B51-4179-AB6A-0C3423EA4104}"/>
              </a:ext>
            </a:extLst>
          </p:cNvPr>
          <p:cNvSpPr/>
          <p:nvPr/>
        </p:nvSpPr>
        <p:spPr>
          <a:xfrm>
            <a:off x="2754302" y="5171444"/>
            <a:ext cx="458336" cy="20700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2C33AF8-9A15-42F5-8A5E-7FC7131BBD66}"/>
              </a:ext>
            </a:extLst>
          </p:cNvPr>
          <p:cNvSpPr/>
          <p:nvPr/>
        </p:nvSpPr>
        <p:spPr>
          <a:xfrm>
            <a:off x="1408354" y="4726528"/>
            <a:ext cx="458336" cy="216024"/>
          </a:xfrm>
          <a:prstGeom prst="rect">
            <a:avLst/>
          </a:prstGeom>
          <a:solidFill>
            <a:srgbClr val="00B0F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70A85E3-8573-4E47-9091-F684CDBCD97C}"/>
              </a:ext>
            </a:extLst>
          </p:cNvPr>
          <p:cNvSpPr/>
          <p:nvPr/>
        </p:nvSpPr>
        <p:spPr>
          <a:xfrm>
            <a:off x="1842239" y="5064297"/>
            <a:ext cx="458336" cy="216024"/>
          </a:xfrm>
          <a:prstGeom prst="rect">
            <a:avLst/>
          </a:prstGeom>
          <a:solidFill>
            <a:srgbClr val="00B0F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074D386-CCE4-44D1-8464-12C04CA6A9D1}"/>
              </a:ext>
            </a:extLst>
          </p:cNvPr>
          <p:cNvSpPr/>
          <p:nvPr/>
        </p:nvSpPr>
        <p:spPr>
          <a:xfrm>
            <a:off x="926570" y="5052403"/>
            <a:ext cx="458336" cy="216024"/>
          </a:xfrm>
          <a:prstGeom prst="rect">
            <a:avLst/>
          </a:prstGeom>
          <a:solidFill>
            <a:srgbClr val="00B0F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2BB970D-548A-41AA-B433-635CF82AE303}"/>
              </a:ext>
            </a:extLst>
          </p:cNvPr>
          <p:cNvSpPr/>
          <p:nvPr/>
        </p:nvSpPr>
        <p:spPr>
          <a:xfrm>
            <a:off x="1718586" y="5406024"/>
            <a:ext cx="458336" cy="216024"/>
          </a:xfrm>
          <a:prstGeom prst="rect">
            <a:avLst/>
          </a:prstGeom>
          <a:solidFill>
            <a:srgbClr val="00B05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A0E4A2D-A29A-40EB-85A2-E1B264D61313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 flipH="1">
            <a:off x="1155738" y="4942552"/>
            <a:ext cx="481784" cy="1098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061C6F-F963-4539-8AE1-5994F8B42EB4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>
            <a:off x="1637522" y="4942552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6D1662C-3E6A-4ADA-B0C0-9CAAF7E72C25}"/>
              </a:ext>
            </a:extLst>
          </p:cNvPr>
          <p:cNvCxnSpPr>
            <a:stCxn id="87" idx="2"/>
            <a:endCxn id="89" idx="0"/>
          </p:cNvCxnSpPr>
          <p:nvPr/>
        </p:nvCxnSpPr>
        <p:spPr>
          <a:xfrm flipH="1">
            <a:off x="1947754" y="5280321"/>
            <a:ext cx="123653" cy="12570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22D7E7C-5CEE-49BE-BC46-BF0AD0AABFD6}"/>
              </a:ext>
            </a:extLst>
          </p:cNvPr>
          <p:cNvCxnSpPr>
            <a:cxnSpLocks/>
            <a:stCxn id="87" idx="2"/>
            <a:endCxn id="94" idx="0"/>
          </p:cNvCxnSpPr>
          <p:nvPr/>
        </p:nvCxnSpPr>
        <p:spPr>
          <a:xfrm>
            <a:off x="2071407" y="5280321"/>
            <a:ext cx="370386" cy="11170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348C1F4-93A4-4D99-B25A-874F138F6EAB}"/>
              </a:ext>
            </a:extLst>
          </p:cNvPr>
          <p:cNvSpPr/>
          <p:nvPr/>
        </p:nvSpPr>
        <p:spPr>
          <a:xfrm>
            <a:off x="2212625" y="5392026"/>
            <a:ext cx="458336" cy="216024"/>
          </a:xfrm>
          <a:prstGeom prst="rect">
            <a:avLst/>
          </a:prstGeom>
          <a:solidFill>
            <a:srgbClr val="00B05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2BFE1FD-9605-458D-A8EF-1CD4B404934F}"/>
              </a:ext>
            </a:extLst>
          </p:cNvPr>
          <p:cNvSpPr/>
          <p:nvPr/>
        </p:nvSpPr>
        <p:spPr>
          <a:xfrm>
            <a:off x="1179186" y="5392026"/>
            <a:ext cx="458336" cy="216024"/>
          </a:xfrm>
          <a:prstGeom prst="rect">
            <a:avLst/>
          </a:prstGeom>
          <a:solidFill>
            <a:srgbClr val="00B05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8EFD688-A4AB-48F1-9A14-43E468EF387D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1155738" y="5268427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3CAB9A2D-AC32-4474-BEFB-F84E3A0763CA}"/>
              </a:ext>
            </a:extLst>
          </p:cNvPr>
          <p:cNvSpPr/>
          <p:nvPr/>
        </p:nvSpPr>
        <p:spPr>
          <a:xfrm>
            <a:off x="606685" y="5413760"/>
            <a:ext cx="458336" cy="216024"/>
          </a:xfrm>
          <a:prstGeom prst="rect">
            <a:avLst/>
          </a:prstGeom>
          <a:solidFill>
            <a:srgbClr val="00B0F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7E9EDAB-3B78-4D08-B021-63F4C6D99AEC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 flipH="1">
            <a:off x="835853" y="5268427"/>
            <a:ext cx="319885" cy="14533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F16850-5516-4765-9011-96226E6EF15D}"/>
              </a:ext>
            </a:extLst>
          </p:cNvPr>
          <p:cNvSpPr/>
          <p:nvPr/>
        </p:nvSpPr>
        <p:spPr>
          <a:xfrm>
            <a:off x="335471" y="5759335"/>
            <a:ext cx="458336" cy="216024"/>
          </a:xfrm>
          <a:prstGeom prst="rect">
            <a:avLst/>
          </a:prstGeom>
          <a:solidFill>
            <a:srgbClr val="00B05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086039-7069-4711-AFC5-DF7088C9B4CE}"/>
              </a:ext>
            </a:extLst>
          </p:cNvPr>
          <p:cNvSpPr/>
          <p:nvPr/>
        </p:nvSpPr>
        <p:spPr>
          <a:xfrm>
            <a:off x="859301" y="5753383"/>
            <a:ext cx="458336" cy="216024"/>
          </a:xfrm>
          <a:prstGeom prst="rect">
            <a:avLst/>
          </a:prstGeom>
          <a:solidFill>
            <a:srgbClr val="00B050">
              <a:alpha val="44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764A671-33E1-439F-B037-FAC37F697C3A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flipH="1">
            <a:off x="564639" y="5629784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86F66FD-05BA-475F-8DAE-F99D331450E9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835853" y="5629784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883906C-D047-4B68-B298-31CC2C4A1DDB}"/>
              </a:ext>
            </a:extLst>
          </p:cNvPr>
          <p:cNvSpPr/>
          <p:nvPr/>
        </p:nvSpPr>
        <p:spPr>
          <a:xfrm>
            <a:off x="857807" y="3301387"/>
            <a:ext cx="458336" cy="216024"/>
          </a:xfrm>
          <a:prstGeom prst="rect">
            <a:avLst/>
          </a:prstGeom>
          <a:solidFill>
            <a:srgbClr val="00B0F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CDD84A-7633-432D-8E93-D1FD3B9E7F3C}"/>
              </a:ext>
            </a:extLst>
          </p:cNvPr>
          <p:cNvSpPr/>
          <p:nvPr/>
        </p:nvSpPr>
        <p:spPr>
          <a:xfrm>
            <a:off x="1322249" y="3631060"/>
            <a:ext cx="458336" cy="216024"/>
          </a:xfrm>
          <a:prstGeom prst="rect">
            <a:avLst/>
          </a:prstGeom>
          <a:solidFill>
            <a:srgbClr val="00B0F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BBF7B37-4F38-4508-B015-E2ED42ADC138}"/>
              </a:ext>
            </a:extLst>
          </p:cNvPr>
          <p:cNvSpPr/>
          <p:nvPr/>
        </p:nvSpPr>
        <p:spPr>
          <a:xfrm>
            <a:off x="1225261" y="4038150"/>
            <a:ext cx="458336" cy="216024"/>
          </a:xfrm>
          <a:prstGeom prst="rect">
            <a:avLst/>
          </a:prstGeom>
          <a:solidFill>
            <a:srgbClr val="00B05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7D14CCD-9264-4A44-BD01-7AA0490301DB}"/>
              </a:ext>
            </a:extLst>
          </p:cNvPr>
          <p:cNvSpPr/>
          <p:nvPr/>
        </p:nvSpPr>
        <p:spPr>
          <a:xfrm>
            <a:off x="1780585" y="4017901"/>
            <a:ext cx="458336" cy="216024"/>
          </a:xfrm>
          <a:prstGeom prst="rect">
            <a:avLst/>
          </a:prstGeom>
          <a:solidFill>
            <a:srgbClr val="00B0F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E941C92-FDB4-4815-8875-47E64DCFDAC1}"/>
              </a:ext>
            </a:extLst>
          </p:cNvPr>
          <p:cNvCxnSpPr>
            <a:cxnSpLocks/>
            <a:stCxn id="107" idx="2"/>
            <a:endCxn id="122" idx="0"/>
          </p:cNvCxnSpPr>
          <p:nvPr/>
        </p:nvCxnSpPr>
        <p:spPr>
          <a:xfrm flipH="1">
            <a:off x="682280" y="3517411"/>
            <a:ext cx="404695" cy="22817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F30B212-FB66-4772-9789-2D7308EF48AF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>
            <a:off x="1086975" y="3517411"/>
            <a:ext cx="464442" cy="11364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ECAB7B9-ED64-4F16-A5CD-7275B9ECF7FC}"/>
              </a:ext>
            </a:extLst>
          </p:cNvPr>
          <p:cNvCxnSpPr>
            <a:cxnSpLocks/>
            <a:stCxn id="108" idx="2"/>
            <a:endCxn id="110" idx="0"/>
          </p:cNvCxnSpPr>
          <p:nvPr/>
        </p:nvCxnSpPr>
        <p:spPr>
          <a:xfrm flipH="1">
            <a:off x="1454429" y="3847084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A29D06D-61B0-4580-A1DD-B033D7238704}"/>
              </a:ext>
            </a:extLst>
          </p:cNvPr>
          <p:cNvCxnSpPr>
            <a:cxnSpLocks/>
            <a:stCxn id="108" idx="2"/>
            <a:endCxn id="111" idx="0"/>
          </p:cNvCxnSpPr>
          <p:nvPr/>
        </p:nvCxnSpPr>
        <p:spPr>
          <a:xfrm>
            <a:off x="1551417" y="3847084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5AF8678-F504-4479-94B5-3ABF7C657521}"/>
              </a:ext>
            </a:extLst>
          </p:cNvPr>
          <p:cNvSpPr/>
          <p:nvPr/>
        </p:nvSpPr>
        <p:spPr>
          <a:xfrm>
            <a:off x="1501602" y="4365104"/>
            <a:ext cx="458336" cy="216024"/>
          </a:xfrm>
          <a:prstGeom prst="rect">
            <a:avLst/>
          </a:prstGeom>
          <a:solidFill>
            <a:srgbClr val="00B05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3B7B9C9-FCE2-42D4-9675-D5980F46A09A}"/>
              </a:ext>
            </a:extLst>
          </p:cNvPr>
          <p:cNvSpPr/>
          <p:nvPr/>
        </p:nvSpPr>
        <p:spPr>
          <a:xfrm>
            <a:off x="2025432" y="4359152"/>
            <a:ext cx="458336" cy="216024"/>
          </a:xfrm>
          <a:prstGeom prst="rect">
            <a:avLst/>
          </a:prstGeom>
          <a:solidFill>
            <a:srgbClr val="00B05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97F236D-0944-4CAE-9E1B-13D52E13410F}"/>
              </a:ext>
            </a:extLst>
          </p:cNvPr>
          <p:cNvCxnSpPr>
            <a:cxnSpLocks/>
            <a:stCxn id="111" idx="2"/>
            <a:endCxn id="116" idx="0"/>
          </p:cNvCxnSpPr>
          <p:nvPr/>
        </p:nvCxnSpPr>
        <p:spPr>
          <a:xfrm flipH="1">
            <a:off x="1730770" y="4233925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B637D9F-97A5-4CC7-BC07-8DD1A03EA221}"/>
              </a:ext>
            </a:extLst>
          </p:cNvPr>
          <p:cNvCxnSpPr>
            <a:cxnSpLocks/>
            <a:stCxn id="111" idx="2"/>
            <a:endCxn id="117" idx="0"/>
          </p:cNvCxnSpPr>
          <p:nvPr/>
        </p:nvCxnSpPr>
        <p:spPr>
          <a:xfrm>
            <a:off x="2009753" y="4233925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7F9344C-9943-4B8A-9D19-7DB7FD620FBD}"/>
              </a:ext>
            </a:extLst>
          </p:cNvPr>
          <p:cNvSpPr/>
          <p:nvPr/>
        </p:nvSpPr>
        <p:spPr>
          <a:xfrm>
            <a:off x="453112" y="3745584"/>
            <a:ext cx="458336" cy="216024"/>
          </a:xfrm>
          <a:prstGeom prst="rect">
            <a:avLst/>
          </a:prstGeom>
          <a:solidFill>
            <a:srgbClr val="00B0F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814C947-502A-4F5E-9DAF-40CD4815B706}"/>
              </a:ext>
            </a:extLst>
          </p:cNvPr>
          <p:cNvSpPr/>
          <p:nvPr/>
        </p:nvSpPr>
        <p:spPr>
          <a:xfrm>
            <a:off x="181898" y="4091159"/>
            <a:ext cx="458336" cy="216024"/>
          </a:xfrm>
          <a:prstGeom prst="rect">
            <a:avLst/>
          </a:prstGeom>
          <a:solidFill>
            <a:srgbClr val="00B05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62B70EC-7103-47F0-AB4C-F730DE6DA449}"/>
              </a:ext>
            </a:extLst>
          </p:cNvPr>
          <p:cNvSpPr/>
          <p:nvPr/>
        </p:nvSpPr>
        <p:spPr>
          <a:xfrm>
            <a:off x="705728" y="4085207"/>
            <a:ext cx="458336" cy="216024"/>
          </a:xfrm>
          <a:prstGeom prst="rect">
            <a:avLst/>
          </a:prstGeom>
          <a:solidFill>
            <a:srgbClr val="00B050">
              <a:alpha val="39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95320A-14E9-413D-B39D-BF69885EB5D6}"/>
              </a:ext>
            </a:extLst>
          </p:cNvPr>
          <p:cNvCxnSpPr>
            <a:cxnSpLocks/>
            <a:stCxn id="122" idx="2"/>
            <a:endCxn id="123" idx="0"/>
          </p:cNvCxnSpPr>
          <p:nvPr/>
        </p:nvCxnSpPr>
        <p:spPr>
          <a:xfrm flipH="1">
            <a:off x="411066" y="3961608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C501E86-78E7-4EBF-844D-96C94E6F4C13}"/>
              </a:ext>
            </a:extLst>
          </p:cNvPr>
          <p:cNvCxnSpPr>
            <a:cxnSpLocks/>
            <a:stCxn id="122" idx="2"/>
            <a:endCxn id="124" idx="0"/>
          </p:cNvCxnSpPr>
          <p:nvPr/>
        </p:nvCxnSpPr>
        <p:spPr>
          <a:xfrm>
            <a:off x="682280" y="3961608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副標題 2">
            <a:extLst>
              <a:ext uri="{FF2B5EF4-FFF2-40B4-BE49-F238E27FC236}">
                <a16:creationId xmlns:a16="http://schemas.microsoft.com/office/drawing/2014/main" id="{45EB87E9-EFC6-432A-A587-33F89CD95900}"/>
              </a:ext>
            </a:extLst>
          </p:cNvPr>
          <p:cNvSpPr txBox="1">
            <a:spLocks/>
          </p:cNvSpPr>
          <p:nvPr/>
        </p:nvSpPr>
        <p:spPr>
          <a:xfrm>
            <a:off x="3355485" y="1349716"/>
            <a:ext cx="2584667" cy="60068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…is just as much as this tree’s say (vote)…</a:t>
            </a:r>
          </a:p>
        </p:txBody>
      </p:sp>
      <p:sp>
        <p:nvSpPr>
          <p:cNvPr id="97" name="副標題 2">
            <a:extLst>
              <a:ext uri="{FF2B5EF4-FFF2-40B4-BE49-F238E27FC236}">
                <a16:creationId xmlns:a16="http://schemas.microsoft.com/office/drawing/2014/main" id="{3DD141DF-6BD1-4011-916B-C649C2DD13B1}"/>
              </a:ext>
            </a:extLst>
          </p:cNvPr>
          <p:cNvSpPr txBox="1">
            <a:spLocks/>
          </p:cNvSpPr>
          <p:nvPr/>
        </p:nvSpPr>
        <p:spPr>
          <a:xfrm>
            <a:off x="4572000" y="4661757"/>
            <a:ext cx="2584667" cy="94542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…or this tree’s say (vote)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Are all the same</a:t>
            </a:r>
          </a:p>
        </p:txBody>
      </p:sp>
    </p:spTree>
    <p:extLst>
      <p:ext uri="{BB962C8B-B14F-4D97-AF65-F5344CB8AC3E}">
        <p14:creationId xmlns:p14="http://schemas.microsoft.com/office/powerpoint/2010/main" val="644307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2768" y="1242814"/>
            <a:ext cx="4931680" cy="90455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contrast, in a </a:t>
            </a:r>
            <a:r>
              <a:rPr lang="en-US" sz="1800" b="1" dirty="0">
                <a:solidFill>
                  <a:srgbClr val="C00000"/>
                </a:solidFill>
              </a:rPr>
              <a:t>Forest of Stumps </a:t>
            </a:r>
            <a:r>
              <a:rPr lang="en-US" sz="1800" b="1" dirty="0">
                <a:solidFill>
                  <a:schemeClr val="tx1"/>
                </a:solidFill>
              </a:rPr>
              <a:t>made with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, some stumps get more say (vote) in the final classification than others.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9CA41-5817-419A-AD0D-D33BDDBCCBA0}"/>
              </a:ext>
            </a:extLst>
          </p:cNvPr>
          <p:cNvSpPr/>
          <p:nvPr/>
        </p:nvSpPr>
        <p:spPr>
          <a:xfrm>
            <a:off x="2701240" y="184482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3430E-E8BF-45C0-AB8B-C58FACB0B1A9}"/>
              </a:ext>
            </a:extLst>
          </p:cNvPr>
          <p:cNvSpPr/>
          <p:nvPr/>
        </p:nvSpPr>
        <p:spPr>
          <a:xfrm>
            <a:off x="3025506" y="2162348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A5CB2-6D16-444B-BF1E-89C9F2D5B3C7}"/>
              </a:ext>
            </a:extLst>
          </p:cNvPr>
          <p:cNvSpPr/>
          <p:nvPr/>
        </p:nvSpPr>
        <p:spPr>
          <a:xfrm>
            <a:off x="2459123" y="2203229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CDD-AFB1-4779-9CE3-BB8FB9390F6E}"/>
              </a:ext>
            </a:extLst>
          </p:cNvPr>
          <p:cNvSpPr/>
          <p:nvPr/>
        </p:nvSpPr>
        <p:spPr>
          <a:xfrm>
            <a:off x="2928518" y="2569438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BEF2A-AF31-4CC1-A84F-5E9039E52039}"/>
              </a:ext>
            </a:extLst>
          </p:cNvPr>
          <p:cNvSpPr/>
          <p:nvPr/>
        </p:nvSpPr>
        <p:spPr>
          <a:xfrm>
            <a:off x="3483842" y="2549189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55E72-4225-4953-9010-6E12B7CD99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2688291" y="2060848"/>
            <a:ext cx="242117" cy="14238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9861DF-4EB2-4704-B2D3-81E91C40A2A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930408" y="2060848"/>
            <a:ext cx="324266" cy="10150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6A4919-0C54-4839-BD2F-27B8A381DED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157686" y="2378372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864AF-BFE8-4D9B-AFF4-6B46F5B8094E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3254674" y="2378372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84301-7699-4D52-A25A-D88B3A51A2A6}"/>
              </a:ext>
            </a:extLst>
          </p:cNvPr>
          <p:cNvSpPr/>
          <p:nvPr/>
        </p:nvSpPr>
        <p:spPr>
          <a:xfrm>
            <a:off x="3204859" y="2896392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27CBC-A034-4CE3-832F-83FE529DDE4F}"/>
              </a:ext>
            </a:extLst>
          </p:cNvPr>
          <p:cNvSpPr/>
          <p:nvPr/>
        </p:nvSpPr>
        <p:spPr>
          <a:xfrm>
            <a:off x="3728689" y="289044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84614-F7E4-45CD-AC38-8B9FDE6277AC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 flipH="1">
            <a:off x="3434027" y="2765213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FD0102-75E4-45FA-A66E-F6B0CCA10892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3713010" y="2765213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7A821C-E9D0-4120-85AF-7C4AF21E35B6}"/>
              </a:ext>
            </a:extLst>
          </p:cNvPr>
          <p:cNvSpPr/>
          <p:nvPr/>
        </p:nvSpPr>
        <p:spPr>
          <a:xfrm>
            <a:off x="1088469" y="1878989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0B656-B9F9-4D20-BD82-65229389E6FA}"/>
              </a:ext>
            </a:extLst>
          </p:cNvPr>
          <p:cNvSpPr/>
          <p:nvPr/>
        </p:nvSpPr>
        <p:spPr>
          <a:xfrm>
            <a:off x="1522354" y="2216758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E5670-6520-4D89-889F-528A040A7404}"/>
              </a:ext>
            </a:extLst>
          </p:cNvPr>
          <p:cNvSpPr/>
          <p:nvPr/>
        </p:nvSpPr>
        <p:spPr>
          <a:xfrm>
            <a:off x="606685" y="220486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D78288-9E3B-4FE9-8DF7-008F234ACCB4}"/>
              </a:ext>
            </a:extLst>
          </p:cNvPr>
          <p:cNvSpPr/>
          <p:nvPr/>
        </p:nvSpPr>
        <p:spPr>
          <a:xfrm>
            <a:off x="1390215" y="255871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E279A6-375A-47E9-9B0F-502A6669BAE5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835853" y="2095013"/>
            <a:ext cx="481784" cy="1098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BDEF6B-E0FF-48E9-B5AC-0DFD09E9F08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1317637" y="2095013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CE31FF-15B7-42FB-9182-20CF783A97E3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flipH="1">
            <a:off x="1619383" y="2432782"/>
            <a:ext cx="132139" cy="12592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9E780-13B1-4413-BA8B-1996ED59E3C4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1751522" y="2432782"/>
            <a:ext cx="370386" cy="11170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0735D-CD39-497A-867D-68874FD92B79}"/>
              </a:ext>
            </a:extLst>
          </p:cNvPr>
          <p:cNvSpPr/>
          <p:nvPr/>
        </p:nvSpPr>
        <p:spPr>
          <a:xfrm>
            <a:off x="1892740" y="254448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9AEFD5-686B-4209-9D3D-977526D60AE4}"/>
              </a:ext>
            </a:extLst>
          </p:cNvPr>
          <p:cNvSpPr/>
          <p:nvPr/>
        </p:nvSpPr>
        <p:spPr>
          <a:xfrm>
            <a:off x="335471" y="2550439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EB79CD-3D0A-4973-80B5-F1F96E672415}"/>
              </a:ext>
            </a:extLst>
          </p:cNvPr>
          <p:cNvSpPr/>
          <p:nvPr/>
        </p:nvSpPr>
        <p:spPr>
          <a:xfrm>
            <a:off x="859301" y="254448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BF1AAF-3472-46BA-ABC2-8835C1903AF0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flipH="1">
            <a:off x="564639" y="2420888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A94A5E-09CD-4C77-B23E-FAB22B6438CC}"/>
              </a:ext>
            </a:extLst>
          </p:cNvPr>
          <p:cNvCxnSpPr>
            <a:cxnSpLocks/>
            <a:stCxn id="33" idx="2"/>
            <a:endCxn id="45" idx="0"/>
          </p:cNvCxnSpPr>
          <p:nvPr/>
        </p:nvCxnSpPr>
        <p:spPr>
          <a:xfrm>
            <a:off x="835853" y="2420888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6E17D21-6815-4649-BDD7-5C246038920F}"/>
              </a:ext>
            </a:extLst>
          </p:cNvPr>
          <p:cNvSpPr/>
          <p:nvPr/>
        </p:nvSpPr>
        <p:spPr>
          <a:xfrm>
            <a:off x="3069210" y="3297489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FC574C-18E9-4643-A8CB-8848C19C02D7}"/>
              </a:ext>
            </a:extLst>
          </p:cNvPr>
          <p:cNvSpPr/>
          <p:nvPr/>
        </p:nvSpPr>
        <p:spPr>
          <a:xfrm>
            <a:off x="3493415" y="3615013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4A3A4B-8172-4607-A663-9815B337A23B}"/>
              </a:ext>
            </a:extLst>
          </p:cNvPr>
          <p:cNvSpPr/>
          <p:nvPr/>
        </p:nvSpPr>
        <p:spPr>
          <a:xfrm>
            <a:off x="3396427" y="4022103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19C7FD-0AB4-4BCE-B655-4778A5EFA9CC}"/>
              </a:ext>
            </a:extLst>
          </p:cNvPr>
          <p:cNvSpPr/>
          <p:nvPr/>
        </p:nvSpPr>
        <p:spPr>
          <a:xfrm>
            <a:off x="3951751" y="400185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3897DE9-B74F-4EDE-89A5-6EE1F33E27CF}"/>
              </a:ext>
            </a:extLst>
          </p:cNvPr>
          <p:cNvCxnSpPr>
            <a:cxnSpLocks/>
            <a:stCxn id="52" idx="2"/>
            <a:endCxn id="67" idx="0"/>
          </p:cNvCxnSpPr>
          <p:nvPr/>
        </p:nvCxnSpPr>
        <p:spPr>
          <a:xfrm flipH="1">
            <a:off x="2883569" y="3513513"/>
            <a:ext cx="414809" cy="17036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7A2613-A9C0-4CC2-8894-13B52ABB4F25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3298378" y="3513513"/>
            <a:ext cx="424205" cy="10150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F5A965-4082-430C-9A91-661A41C52B82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3625595" y="3831037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8B8D338-C85A-4BA9-B7BC-19F9BE784328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3722583" y="3831037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98D8561-5936-4694-9F8E-0FC2D19FE950}"/>
              </a:ext>
            </a:extLst>
          </p:cNvPr>
          <p:cNvSpPr/>
          <p:nvPr/>
        </p:nvSpPr>
        <p:spPr>
          <a:xfrm>
            <a:off x="3672768" y="434905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1859D5-3BD0-408F-BB77-E2FF695CF008}"/>
              </a:ext>
            </a:extLst>
          </p:cNvPr>
          <p:cNvSpPr/>
          <p:nvPr/>
        </p:nvSpPr>
        <p:spPr>
          <a:xfrm>
            <a:off x="4196598" y="4343105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EC3A7E9-D417-4AA3-8AD0-F4CCBDBA0C34}"/>
              </a:ext>
            </a:extLst>
          </p:cNvPr>
          <p:cNvCxnSpPr>
            <a:cxnSpLocks/>
            <a:stCxn id="58" idx="2"/>
            <a:endCxn id="63" idx="0"/>
          </p:cNvCxnSpPr>
          <p:nvPr/>
        </p:nvCxnSpPr>
        <p:spPr>
          <a:xfrm flipH="1">
            <a:off x="3901936" y="4217878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BCCF4A-F3D8-4D3E-A4F9-8D2B194245EA}"/>
              </a:ext>
            </a:extLst>
          </p:cNvPr>
          <p:cNvCxnSpPr>
            <a:cxnSpLocks/>
            <a:stCxn id="58" idx="2"/>
            <a:endCxn id="64" idx="0"/>
          </p:cNvCxnSpPr>
          <p:nvPr/>
        </p:nvCxnSpPr>
        <p:spPr>
          <a:xfrm>
            <a:off x="4180919" y="4217878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BC2F1CB5-92F9-468C-9E2B-6CE9A04B79EB}"/>
              </a:ext>
            </a:extLst>
          </p:cNvPr>
          <p:cNvSpPr/>
          <p:nvPr/>
        </p:nvSpPr>
        <p:spPr>
          <a:xfrm>
            <a:off x="2654401" y="3683877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9713BFB-0BBB-407D-A7BB-8F9C23181BA7}"/>
              </a:ext>
            </a:extLst>
          </p:cNvPr>
          <p:cNvSpPr/>
          <p:nvPr/>
        </p:nvSpPr>
        <p:spPr>
          <a:xfrm>
            <a:off x="2375418" y="403108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9B6637-72C9-4B19-B52B-84596F0FD9C9}"/>
              </a:ext>
            </a:extLst>
          </p:cNvPr>
          <p:cNvSpPr/>
          <p:nvPr/>
        </p:nvSpPr>
        <p:spPr>
          <a:xfrm>
            <a:off x="2899248" y="4025128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263E15E-A8C9-4DAD-A7E8-B70BE55EF9B8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604586" y="3899901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48EBB8-C5B4-4421-BD8C-F8F3AC020A16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2883569" y="3899901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5826DB0-B060-4154-9637-D4C6C89DFE8F}"/>
              </a:ext>
            </a:extLst>
          </p:cNvPr>
          <p:cNvSpPr/>
          <p:nvPr/>
        </p:nvSpPr>
        <p:spPr>
          <a:xfrm>
            <a:off x="3105894" y="4833675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FFD3B8-8A9E-4C29-BFFD-48B03B4B5E43}"/>
              </a:ext>
            </a:extLst>
          </p:cNvPr>
          <p:cNvSpPr/>
          <p:nvPr/>
        </p:nvSpPr>
        <p:spPr>
          <a:xfrm>
            <a:off x="3539779" y="517144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7269238-905D-4F0B-821E-63CF785E0124}"/>
              </a:ext>
            </a:extLst>
          </p:cNvPr>
          <p:cNvSpPr/>
          <p:nvPr/>
        </p:nvSpPr>
        <p:spPr>
          <a:xfrm>
            <a:off x="3416126" y="5513171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6C77469-BB2C-4594-A02D-132BBEE32879}"/>
              </a:ext>
            </a:extLst>
          </p:cNvPr>
          <p:cNvCxnSpPr>
            <a:cxnSpLocks/>
            <a:stCxn id="72" idx="2"/>
            <a:endCxn id="81" idx="0"/>
          </p:cNvCxnSpPr>
          <p:nvPr/>
        </p:nvCxnSpPr>
        <p:spPr>
          <a:xfrm flipH="1">
            <a:off x="2983470" y="5049699"/>
            <a:ext cx="351592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4AFD5C-70A2-44CF-9CE0-864F21C6F679}"/>
              </a:ext>
            </a:extLst>
          </p:cNvPr>
          <p:cNvCxnSpPr>
            <a:stCxn id="72" idx="2"/>
            <a:endCxn id="73" idx="0"/>
          </p:cNvCxnSpPr>
          <p:nvPr/>
        </p:nvCxnSpPr>
        <p:spPr>
          <a:xfrm>
            <a:off x="3335062" y="5049699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BD545C2-1B97-4DBF-A858-74D9ABE83C7A}"/>
              </a:ext>
            </a:extLst>
          </p:cNvPr>
          <p:cNvCxnSpPr>
            <a:stCxn id="73" idx="2"/>
            <a:endCxn id="75" idx="0"/>
          </p:cNvCxnSpPr>
          <p:nvPr/>
        </p:nvCxnSpPr>
        <p:spPr>
          <a:xfrm flipH="1">
            <a:off x="3645294" y="5387468"/>
            <a:ext cx="123653" cy="12570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614650-6821-456D-8585-13E5E78D27E1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3768947" y="5387468"/>
            <a:ext cx="370386" cy="11170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DC2E3F6-97A0-4DA0-A082-AD526E9999D3}"/>
              </a:ext>
            </a:extLst>
          </p:cNvPr>
          <p:cNvSpPr/>
          <p:nvPr/>
        </p:nvSpPr>
        <p:spPr>
          <a:xfrm>
            <a:off x="3910165" y="5499173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9193701-9B51-4179-AB6A-0C3423EA4104}"/>
              </a:ext>
            </a:extLst>
          </p:cNvPr>
          <p:cNvSpPr/>
          <p:nvPr/>
        </p:nvSpPr>
        <p:spPr>
          <a:xfrm>
            <a:off x="2754302" y="5171444"/>
            <a:ext cx="458336" cy="207005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2C33AF8-9A15-42F5-8A5E-7FC7131BBD66}"/>
              </a:ext>
            </a:extLst>
          </p:cNvPr>
          <p:cNvSpPr/>
          <p:nvPr/>
        </p:nvSpPr>
        <p:spPr>
          <a:xfrm>
            <a:off x="1408354" y="4726528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70A85E3-8573-4E47-9091-F684CDBCD97C}"/>
              </a:ext>
            </a:extLst>
          </p:cNvPr>
          <p:cNvSpPr/>
          <p:nvPr/>
        </p:nvSpPr>
        <p:spPr>
          <a:xfrm>
            <a:off x="1842239" y="5064297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074D386-CCE4-44D1-8464-12C04CA6A9D1}"/>
              </a:ext>
            </a:extLst>
          </p:cNvPr>
          <p:cNvSpPr/>
          <p:nvPr/>
        </p:nvSpPr>
        <p:spPr>
          <a:xfrm>
            <a:off x="926570" y="5052403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2BB970D-548A-41AA-B433-635CF82AE303}"/>
              </a:ext>
            </a:extLst>
          </p:cNvPr>
          <p:cNvSpPr/>
          <p:nvPr/>
        </p:nvSpPr>
        <p:spPr>
          <a:xfrm>
            <a:off x="1718586" y="5406024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A0E4A2D-A29A-40EB-85A2-E1B264D61313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 flipH="1">
            <a:off x="1155738" y="4942552"/>
            <a:ext cx="481784" cy="1098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061C6F-F963-4539-8AE1-5994F8B42EB4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>
            <a:off x="1637522" y="4942552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6D1662C-3E6A-4ADA-B0C0-9CAAF7E72C25}"/>
              </a:ext>
            </a:extLst>
          </p:cNvPr>
          <p:cNvCxnSpPr>
            <a:stCxn id="87" idx="2"/>
            <a:endCxn id="89" idx="0"/>
          </p:cNvCxnSpPr>
          <p:nvPr/>
        </p:nvCxnSpPr>
        <p:spPr>
          <a:xfrm flipH="1">
            <a:off x="1947754" y="5280321"/>
            <a:ext cx="123653" cy="12570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22D7E7C-5CEE-49BE-BC46-BF0AD0AABFD6}"/>
              </a:ext>
            </a:extLst>
          </p:cNvPr>
          <p:cNvCxnSpPr>
            <a:cxnSpLocks/>
            <a:stCxn id="87" idx="2"/>
            <a:endCxn id="94" idx="0"/>
          </p:cNvCxnSpPr>
          <p:nvPr/>
        </p:nvCxnSpPr>
        <p:spPr>
          <a:xfrm>
            <a:off x="2071407" y="5280321"/>
            <a:ext cx="370386" cy="11170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348C1F4-93A4-4D99-B25A-874F138F6EAB}"/>
              </a:ext>
            </a:extLst>
          </p:cNvPr>
          <p:cNvSpPr/>
          <p:nvPr/>
        </p:nvSpPr>
        <p:spPr>
          <a:xfrm>
            <a:off x="2212625" y="5392026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2BFE1FD-9605-458D-A8EF-1CD4B404934F}"/>
              </a:ext>
            </a:extLst>
          </p:cNvPr>
          <p:cNvSpPr/>
          <p:nvPr/>
        </p:nvSpPr>
        <p:spPr>
          <a:xfrm>
            <a:off x="1179186" y="5392026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8EFD688-A4AB-48F1-9A14-43E468EF387D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1155738" y="5268427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3CAB9A2D-AC32-4474-BEFB-F84E3A0763CA}"/>
              </a:ext>
            </a:extLst>
          </p:cNvPr>
          <p:cNvSpPr/>
          <p:nvPr/>
        </p:nvSpPr>
        <p:spPr>
          <a:xfrm>
            <a:off x="606685" y="5413760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7E9EDAB-3B78-4D08-B021-63F4C6D99AEC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 flipH="1">
            <a:off x="835853" y="5268427"/>
            <a:ext cx="319885" cy="14533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F16850-5516-4765-9011-96226E6EF15D}"/>
              </a:ext>
            </a:extLst>
          </p:cNvPr>
          <p:cNvSpPr/>
          <p:nvPr/>
        </p:nvSpPr>
        <p:spPr>
          <a:xfrm>
            <a:off x="335471" y="5759335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086039-7069-4711-AFC5-DF7088C9B4CE}"/>
              </a:ext>
            </a:extLst>
          </p:cNvPr>
          <p:cNvSpPr/>
          <p:nvPr/>
        </p:nvSpPr>
        <p:spPr>
          <a:xfrm>
            <a:off x="859301" y="5753383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764A671-33E1-439F-B037-FAC37F697C3A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flipH="1">
            <a:off x="564639" y="5629784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86F66FD-05BA-475F-8DAE-F99D331450E9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835853" y="5629784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883906C-D047-4B68-B298-31CC2C4A1DDB}"/>
              </a:ext>
            </a:extLst>
          </p:cNvPr>
          <p:cNvSpPr/>
          <p:nvPr/>
        </p:nvSpPr>
        <p:spPr>
          <a:xfrm>
            <a:off x="857807" y="3301387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CDD84A-7633-432D-8E93-D1FD3B9E7F3C}"/>
              </a:ext>
            </a:extLst>
          </p:cNvPr>
          <p:cNvSpPr/>
          <p:nvPr/>
        </p:nvSpPr>
        <p:spPr>
          <a:xfrm>
            <a:off x="1322249" y="3631060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BBF7B37-4F38-4508-B015-E2ED42ADC138}"/>
              </a:ext>
            </a:extLst>
          </p:cNvPr>
          <p:cNvSpPr/>
          <p:nvPr/>
        </p:nvSpPr>
        <p:spPr>
          <a:xfrm>
            <a:off x="1225261" y="403815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7D14CCD-9264-4A44-BD01-7AA0490301DB}"/>
              </a:ext>
            </a:extLst>
          </p:cNvPr>
          <p:cNvSpPr/>
          <p:nvPr/>
        </p:nvSpPr>
        <p:spPr>
          <a:xfrm>
            <a:off x="1780585" y="4017901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E941C92-FDB4-4815-8875-47E64DCFDAC1}"/>
              </a:ext>
            </a:extLst>
          </p:cNvPr>
          <p:cNvCxnSpPr>
            <a:cxnSpLocks/>
            <a:stCxn id="107" idx="2"/>
            <a:endCxn id="122" idx="0"/>
          </p:cNvCxnSpPr>
          <p:nvPr/>
        </p:nvCxnSpPr>
        <p:spPr>
          <a:xfrm flipH="1">
            <a:off x="682280" y="3517411"/>
            <a:ext cx="404695" cy="22817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F30B212-FB66-4772-9789-2D7308EF48AF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>
            <a:off x="1086975" y="3517411"/>
            <a:ext cx="464442" cy="11364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ECAB7B9-ED64-4F16-A5CD-7275B9ECF7FC}"/>
              </a:ext>
            </a:extLst>
          </p:cNvPr>
          <p:cNvCxnSpPr>
            <a:cxnSpLocks/>
            <a:stCxn id="108" idx="2"/>
            <a:endCxn id="110" idx="0"/>
          </p:cNvCxnSpPr>
          <p:nvPr/>
        </p:nvCxnSpPr>
        <p:spPr>
          <a:xfrm flipH="1">
            <a:off x="1454429" y="3847084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A29D06D-61B0-4580-A1DD-B033D7238704}"/>
              </a:ext>
            </a:extLst>
          </p:cNvPr>
          <p:cNvCxnSpPr>
            <a:cxnSpLocks/>
            <a:stCxn id="108" idx="2"/>
            <a:endCxn id="111" idx="0"/>
          </p:cNvCxnSpPr>
          <p:nvPr/>
        </p:nvCxnSpPr>
        <p:spPr>
          <a:xfrm>
            <a:off x="1551417" y="3847084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5AF8678-F504-4479-94B5-3ABF7C657521}"/>
              </a:ext>
            </a:extLst>
          </p:cNvPr>
          <p:cNvSpPr/>
          <p:nvPr/>
        </p:nvSpPr>
        <p:spPr>
          <a:xfrm>
            <a:off x="1501602" y="4365104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3B7B9C9-FCE2-42D4-9675-D5980F46A09A}"/>
              </a:ext>
            </a:extLst>
          </p:cNvPr>
          <p:cNvSpPr/>
          <p:nvPr/>
        </p:nvSpPr>
        <p:spPr>
          <a:xfrm>
            <a:off x="2025432" y="4359152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97F236D-0944-4CAE-9E1B-13D52E13410F}"/>
              </a:ext>
            </a:extLst>
          </p:cNvPr>
          <p:cNvCxnSpPr>
            <a:cxnSpLocks/>
            <a:stCxn id="111" idx="2"/>
            <a:endCxn id="116" idx="0"/>
          </p:cNvCxnSpPr>
          <p:nvPr/>
        </p:nvCxnSpPr>
        <p:spPr>
          <a:xfrm flipH="1">
            <a:off x="1730770" y="4233925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B637D9F-97A5-4CC7-BC07-8DD1A03EA221}"/>
              </a:ext>
            </a:extLst>
          </p:cNvPr>
          <p:cNvCxnSpPr>
            <a:cxnSpLocks/>
            <a:stCxn id="111" idx="2"/>
            <a:endCxn id="117" idx="0"/>
          </p:cNvCxnSpPr>
          <p:nvPr/>
        </p:nvCxnSpPr>
        <p:spPr>
          <a:xfrm>
            <a:off x="2009753" y="4233925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7F9344C-9943-4B8A-9D19-7DB7FD620FBD}"/>
              </a:ext>
            </a:extLst>
          </p:cNvPr>
          <p:cNvSpPr/>
          <p:nvPr/>
        </p:nvSpPr>
        <p:spPr>
          <a:xfrm>
            <a:off x="453112" y="374558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814C947-502A-4F5E-9DAF-40CD4815B706}"/>
              </a:ext>
            </a:extLst>
          </p:cNvPr>
          <p:cNvSpPr/>
          <p:nvPr/>
        </p:nvSpPr>
        <p:spPr>
          <a:xfrm>
            <a:off x="181898" y="4091159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62B70EC-7103-47F0-AB4C-F730DE6DA449}"/>
              </a:ext>
            </a:extLst>
          </p:cNvPr>
          <p:cNvSpPr/>
          <p:nvPr/>
        </p:nvSpPr>
        <p:spPr>
          <a:xfrm>
            <a:off x="705728" y="408520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95320A-14E9-413D-B39D-BF69885EB5D6}"/>
              </a:ext>
            </a:extLst>
          </p:cNvPr>
          <p:cNvCxnSpPr>
            <a:cxnSpLocks/>
            <a:stCxn id="122" idx="2"/>
            <a:endCxn id="123" idx="0"/>
          </p:cNvCxnSpPr>
          <p:nvPr/>
        </p:nvCxnSpPr>
        <p:spPr>
          <a:xfrm flipH="1">
            <a:off x="411066" y="3961608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C501E86-78E7-4EBF-844D-96C94E6F4C13}"/>
              </a:ext>
            </a:extLst>
          </p:cNvPr>
          <p:cNvCxnSpPr>
            <a:cxnSpLocks/>
            <a:stCxn id="122" idx="2"/>
            <a:endCxn id="124" idx="0"/>
          </p:cNvCxnSpPr>
          <p:nvPr/>
        </p:nvCxnSpPr>
        <p:spPr>
          <a:xfrm>
            <a:off x="682280" y="3961608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7C06EFE-3B8A-41FE-83EE-1D7E4890ADB7}"/>
              </a:ext>
            </a:extLst>
          </p:cNvPr>
          <p:cNvSpPr/>
          <p:nvPr/>
        </p:nvSpPr>
        <p:spPr>
          <a:xfrm>
            <a:off x="7529851" y="2551926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266175-F42C-4397-B242-635ED29AF21C}"/>
              </a:ext>
            </a:extLst>
          </p:cNvPr>
          <p:cNvSpPr/>
          <p:nvPr/>
        </p:nvSpPr>
        <p:spPr>
          <a:xfrm>
            <a:off x="7387097" y="2869806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A7D0A91-41E5-480D-BB5F-B8E2D11ACD85}"/>
              </a:ext>
            </a:extLst>
          </p:cNvPr>
          <p:cNvSpPr/>
          <p:nvPr/>
        </p:nvSpPr>
        <p:spPr>
          <a:xfrm>
            <a:off x="7716316" y="2890439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DC3DF8E-1A00-4E5D-93D2-CBB5AC5A85E6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 flipH="1">
            <a:off x="7501682" y="2722743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0D76757-B3F3-42DD-B60A-F4BD9D00F27C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7644435" y="2722743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A91C88A-8EA7-471C-96A0-A1EF34AF1464}"/>
              </a:ext>
            </a:extLst>
          </p:cNvPr>
          <p:cNvSpPr/>
          <p:nvPr/>
        </p:nvSpPr>
        <p:spPr>
          <a:xfrm>
            <a:off x="5732516" y="419033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7F399AF-1248-4B6D-B043-918D80E42F0C}"/>
              </a:ext>
            </a:extLst>
          </p:cNvPr>
          <p:cNvSpPr/>
          <p:nvPr/>
        </p:nvSpPr>
        <p:spPr>
          <a:xfrm>
            <a:off x="5497969" y="463434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B4A0ADC-F157-477F-A696-582E24E287B5}"/>
              </a:ext>
            </a:extLst>
          </p:cNvPr>
          <p:cNvSpPr/>
          <p:nvPr/>
        </p:nvSpPr>
        <p:spPr>
          <a:xfrm>
            <a:off x="6056354" y="462238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EB16B23-FC3E-4D70-864A-955A91DF55B9}"/>
              </a:ext>
            </a:extLst>
          </p:cNvPr>
          <p:cNvCxnSpPr>
            <a:cxnSpLocks/>
            <a:stCxn id="132" idx="2"/>
            <a:endCxn id="133" idx="0"/>
          </p:cNvCxnSpPr>
          <p:nvPr/>
        </p:nvCxnSpPr>
        <p:spPr>
          <a:xfrm flipH="1">
            <a:off x="5727137" y="4406362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7DC3524-AB90-4672-AC3A-71445251242B}"/>
              </a:ext>
            </a:extLst>
          </p:cNvPr>
          <p:cNvCxnSpPr>
            <a:cxnSpLocks/>
            <a:stCxn id="132" idx="2"/>
            <a:endCxn id="134" idx="0"/>
          </p:cNvCxnSpPr>
          <p:nvPr/>
        </p:nvCxnSpPr>
        <p:spPr>
          <a:xfrm>
            <a:off x="5961684" y="4406362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7DCB581-8767-46EF-85BF-5D08BB1C66E1}"/>
              </a:ext>
            </a:extLst>
          </p:cNvPr>
          <p:cNvSpPr/>
          <p:nvPr/>
        </p:nvSpPr>
        <p:spPr>
          <a:xfrm>
            <a:off x="5836829" y="3303748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9431383-3A33-4F6F-B7E4-BDC3663CCD53}"/>
              </a:ext>
            </a:extLst>
          </p:cNvPr>
          <p:cNvSpPr/>
          <p:nvPr/>
        </p:nvSpPr>
        <p:spPr>
          <a:xfrm>
            <a:off x="5674772" y="3666857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7AF2653-8279-488F-8847-7FFD62961089}"/>
              </a:ext>
            </a:extLst>
          </p:cNvPr>
          <p:cNvSpPr/>
          <p:nvPr/>
        </p:nvSpPr>
        <p:spPr>
          <a:xfrm>
            <a:off x="6003991" y="3687490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638D534-D73C-4BEA-A678-5A7C83D9E06A}"/>
              </a:ext>
            </a:extLst>
          </p:cNvPr>
          <p:cNvCxnSpPr>
            <a:cxnSpLocks/>
            <a:stCxn id="142" idx="2"/>
            <a:endCxn id="143" idx="0"/>
          </p:cNvCxnSpPr>
          <p:nvPr/>
        </p:nvCxnSpPr>
        <p:spPr>
          <a:xfrm flipH="1">
            <a:off x="5789357" y="3474565"/>
            <a:ext cx="162056" cy="192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5EE325D-1F51-47FA-B208-47500CF3F028}"/>
              </a:ext>
            </a:extLst>
          </p:cNvPr>
          <p:cNvCxnSpPr>
            <a:cxnSpLocks/>
            <a:stCxn id="142" idx="2"/>
            <a:endCxn id="144" idx="0"/>
          </p:cNvCxnSpPr>
          <p:nvPr/>
        </p:nvCxnSpPr>
        <p:spPr>
          <a:xfrm>
            <a:off x="5951413" y="3474565"/>
            <a:ext cx="167163" cy="212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FBBD7CB-353C-4BFB-80E5-7C809D45CAE7}"/>
              </a:ext>
            </a:extLst>
          </p:cNvPr>
          <p:cNvSpPr/>
          <p:nvPr/>
        </p:nvSpPr>
        <p:spPr>
          <a:xfrm>
            <a:off x="7355244" y="3244539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07B9B27-3BFC-4216-A1DE-1D0C6C2418FA}"/>
              </a:ext>
            </a:extLst>
          </p:cNvPr>
          <p:cNvSpPr/>
          <p:nvPr/>
        </p:nvSpPr>
        <p:spPr>
          <a:xfrm>
            <a:off x="7020272" y="3768010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6A41084-B8BB-4F01-928A-811DF6DB25EA}"/>
              </a:ext>
            </a:extLst>
          </p:cNvPr>
          <p:cNvSpPr/>
          <p:nvPr/>
        </p:nvSpPr>
        <p:spPr>
          <a:xfrm>
            <a:off x="7874197" y="3759884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BBAA2A0-C6C3-4640-A9D5-0A07BC317FE8}"/>
              </a:ext>
            </a:extLst>
          </p:cNvPr>
          <p:cNvCxnSpPr>
            <a:cxnSpLocks/>
            <a:stCxn id="147" idx="2"/>
            <a:endCxn id="148" idx="0"/>
          </p:cNvCxnSpPr>
          <p:nvPr/>
        </p:nvCxnSpPr>
        <p:spPr>
          <a:xfrm flipH="1">
            <a:off x="7360562" y="3493185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A65B1D2-58F2-4CBE-8FD4-5CADF809B9FB}"/>
              </a:ext>
            </a:extLst>
          </p:cNvPr>
          <p:cNvCxnSpPr>
            <a:cxnSpLocks/>
            <a:stCxn id="147" idx="2"/>
            <a:endCxn id="149" idx="0"/>
          </p:cNvCxnSpPr>
          <p:nvPr/>
        </p:nvCxnSpPr>
        <p:spPr>
          <a:xfrm>
            <a:off x="7710237" y="3493185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1835972-AEA4-438C-A83D-FF0C1327810E}"/>
              </a:ext>
            </a:extLst>
          </p:cNvPr>
          <p:cNvSpPr/>
          <p:nvPr/>
        </p:nvSpPr>
        <p:spPr>
          <a:xfrm>
            <a:off x="7621273" y="4333270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72F77EA-5242-421D-BB38-E3FDC283CCFB}"/>
              </a:ext>
            </a:extLst>
          </p:cNvPr>
          <p:cNvSpPr/>
          <p:nvPr/>
        </p:nvSpPr>
        <p:spPr>
          <a:xfrm>
            <a:off x="7447336" y="4698341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43FDC35-A401-42B7-BBD5-697CE42E803C}"/>
              </a:ext>
            </a:extLst>
          </p:cNvPr>
          <p:cNvSpPr/>
          <p:nvPr/>
        </p:nvSpPr>
        <p:spPr>
          <a:xfrm>
            <a:off x="7871223" y="4718975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A66352D-B8EF-4B5A-AC20-D714E94044A0}"/>
              </a:ext>
            </a:extLst>
          </p:cNvPr>
          <p:cNvCxnSpPr>
            <a:cxnSpLocks/>
            <a:stCxn id="152" idx="2"/>
            <a:endCxn id="153" idx="0"/>
          </p:cNvCxnSpPr>
          <p:nvPr/>
        </p:nvCxnSpPr>
        <p:spPr>
          <a:xfrm flipH="1">
            <a:off x="7609255" y="4477688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5B34CDC-EC01-4EF7-8C9B-C24845C311B2}"/>
              </a:ext>
            </a:extLst>
          </p:cNvPr>
          <p:cNvCxnSpPr>
            <a:cxnSpLocks/>
            <a:stCxn id="152" idx="2"/>
            <a:endCxn id="154" idx="0"/>
          </p:cNvCxnSpPr>
          <p:nvPr/>
        </p:nvCxnSpPr>
        <p:spPr>
          <a:xfrm>
            <a:off x="7783192" y="4477688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4C05804-6B6E-4884-AAC8-9850E99D2399}"/>
              </a:ext>
            </a:extLst>
          </p:cNvPr>
          <p:cNvSpPr/>
          <p:nvPr/>
        </p:nvSpPr>
        <p:spPr>
          <a:xfrm>
            <a:off x="5481836" y="2382755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BE6DCD8-68C3-43FE-8CA1-22937F32D0EB}"/>
              </a:ext>
            </a:extLst>
          </p:cNvPr>
          <p:cNvSpPr/>
          <p:nvPr/>
        </p:nvSpPr>
        <p:spPr>
          <a:xfrm>
            <a:off x="5146864" y="2906226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CD3758E-3EC8-4615-8439-6048A1F8FA5C}"/>
              </a:ext>
            </a:extLst>
          </p:cNvPr>
          <p:cNvSpPr/>
          <p:nvPr/>
        </p:nvSpPr>
        <p:spPr>
          <a:xfrm>
            <a:off x="6000789" y="2898100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6D6DEC6-0553-4515-977F-66BFF25CF27A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 flipH="1">
            <a:off x="5487154" y="2631401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1B38B7-F82E-43CD-BCE6-1922750B3656}"/>
              </a:ext>
            </a:extLst>
          </p:cNvPr>
          <p:cNvCxnSpPr>
            <a:cxnSpLocks/>
            <a:stCxn id="159" idx="2"/>
            <a:endCxn id="161" idx="0"/>
          </p:cNvCxnSpPr>
          <p:nvPr/>
        </p:nvCxnSpPr>
        <p:spPr>
          <a:xfrm>
            <a:off x="5836829" y="2631401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590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19935" y="2339980"/>
            <a:ext cx="3960440" cy="122996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the this example, the larger stumps get more say (vote) in the classification than the smaller stumps.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7C06EFE-3B8A-41FE-83EE-1D7E4890ADB7}"/>
              </a:ext>
            </a:extLst>
          </p:cNvPr>
          <p:cNvSpPr/>
          <p:nvPr/>
        </p:nvSpPr>
        <p:spPr>
          <a:xfrm>
            <a:off x="7529851" y="2551926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266175-F42C-4397-B242-635ED29AF21C}"/>
              </a:ext>
            </a:extLst>
          </p:cNvPr>
          <p:cNvSpPr/>
          <p:nvPr/>
        </p:nvSpPr>
        <p:spPr>
          <a:xfrm>
            <a:off x="7387097" y="2869806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A7D0A91-41E5-480D-BB5F-B8E2D11ACD85}"/>
              </a:ext>
            </a:extLst>
          </p:cNvPr>
          <p:cNvSpPr/>
          <p:nvPr/>
        </p:nvSpPr>
        <p:spPr>
          <a:xfrm>
            <a:off x="7716316" y="2890439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DC3DF8E-1A00-4E5D-93D2-CBB5AC5A85E6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 flipH="1">
            <a:off x="7501682" y="2722743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0D76757-B3F3-42DD-B60A-F4BD9D00F27C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7644435" y="2722743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A91C88A-8EA7-471C-96A0-A1EF34AF1464}"/>
              </a:ext>
            </a:extLst>
          </p:cNvPr>
          <p:cNvSpPr/>
          <p:nvPr/>
        </p:nvSpPr>
        <p:spPr>
          <a:xfrm>
            <a:off x="5732516" y="419033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7F399AF-1248-4B6D-B043-918D80E42F0C}"/>
              </a:ext>
            </a:extLst>
          </p:cNvPr>
          <p:cNvSpPr/>
          <p:nvPr/>
        </p:nvSpPr>
        <p:spPr>
          <a:xfrm>
            <a:off x="5497969" y="463434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B4A0ADC-F157-477F-A696-582E24E287B5}"/>
              </a:ext>
            </a:extLst>
          </p:cNvPr>
          <p:cNvSpPr/>
          <p:nvPr/>
        </p:nvSpPr>
        <p:spPr>
          <a:xfrm>
            <a:off x="6056354" y="462238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EB16B23-FC3E-4D70-864A-955A91DF55B9}"/>
              </a:ext>
            </a:extLst>
          </p:cNvPr>
          <p:cNvCxnSpPr>
            <a:cxnSpLocks/>
            <a:stCxn id="132" idx="2"/>
            <a:endCxn id="133" idx="0"/>
          </p:cNvCxnSpPr>
          <p:nvPr/>
        </p:nvCxnSpPr>
        <p:spPr>
          <a:xfrm flipH="1">
            <a:off x="5727137" y="4406362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7DC3524-AB90-4672-AC3A-71445251242B}"/>
              </a:ext>
            </a:extLst>
          </p:cNvPr>
          <p:cNvCxnSpPr>
            <a:cxnSpLocks/>
            <a:stCxn id="132" idx="2"/>
            <a:endCxn id="134" idx="0"/>
          </p:cNvCxnSpPr>
          <p:nvPr/>
        </p:nvCxnSpPr>
        <p:spPr>
          <a:xfrm>
            <a:off x="5961684" y="4406362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7DCB581-8767-46EF-85BF-5D08BB1C66E1}"/>
              </a:ext>
            </a:extLst>
          </p:cNvPr>
          <p:cNvSpPr/>
          <p:nvPr/>
        </p:nvSpPr>
        <p:spPr>
          <a:xfrm>
            <a:off x="5836829" y="3399129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9431383-3A33-4F6F-B7E4-BDC3663CCD53}"/>
              </a:ext>
            </a:extLst>
          </p:cNvPr>
          <p:cNvSpPr/>
          <p:nvPr/>
        </p:nvSpPr>
        <p:spPr>
          <a:xfrm>
            <a:off x="5674772" y="3762238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7AF2653-8279-488F-8847-7FFD62961089}"/>
              </a:ext>
            </a:extLst>
          </p:cNvPr>
          <p:cNvSpPr/>
          <p:nvPr/>
        </p:nvSpPr>
        <p:spPr>
          <a:xfrm>
            <a:off x="6003991" y="3782871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638D534-D73C-4BEA-A678-5A7C83D9E06A}"/>
              </a:ext>
            </a:extLst>
          </p:cNvPr>
          <p:cNvCxnSpPr>
            <a:cxnSpLocks/>
            <a:stCxn id="142" idx="2"/>
            <a:endCxn id="143" idx="0"/>
          </p:cNvCxnSpPr>
          <p:nvPr/>
        </p:nvCxnSpPr>
        <p:spPr>
          <a:xfrm flipH="1">
            <a:off x="5789357" y="3569946"/>
            <a:ext cx="162056" cy="192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5EE325D-1F51-47FA-B208-47500CF3F028}"/>
              </a:ext>
            </a:extLst>
          </p:cNvPr>
          <p:cNvCxnSpPr>
            <a:cxnSpLocks/>
            <a:stCxn id="142" idx="2"/>
            <a:endCxn id="144" idx="0"/>
          </p:cNvCxnSpPr>
          <p:nvPr/>
        </p:nvCxnSpPr>
        <p:spPr>
          <a:xfrm>
            <a:off x="5951413" y="3569946"/>
            <a:ext cx="167163" cy="212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FBBD7CB-353C-4BFB-80E5-7C809D45CAE7}"/>
              </a:ext>
            </a:extLst>
          </p:cNvPr>
          <p:cNvSpPr/>
          <p:nvPr/>
        </p:nvSpPr>
        <p:spPr>
          <a:xfrm>
            <a:off x="7355244" y="3244539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07B9B27-3BFC-4216-A1DE-1D0C6C2418FA}"/>
              </a:ext>
            </a:extLst>
          </p:cNvPr>
          <p:cNvSpPr/>
          <p:nvPr/>
        </p:nvSpPr>
        <p:spPr>
          <a:xfrm>
            <a:off x="7020272" y="3768010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6A41084-B8BB-4F01-928A-811DF6DB25EA}"/>
              </a:ext>
            </a:extLst>
          </p:cNvPr>
          <p:cNvSpPr/>
          <p:nvPr/>
        </p:nvSpPr>
        <p:spPr>
          <a:xfrm>
            <a:off x="7874197" y="3759884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BBAA2A0-C6C3-4640-A9D5-0A07BC317FE8}"/>
              </a:ext>
            </a:extLst>
          </p:cNvPr>
          <p:cNvCxnSpPr>
            <a:cxnSpLocks/>
            <a:stCxn id="147" idx="2"/>
            <a:endCxn id="148" idx="0"/>
          </p:cNvCxnSpPr>
          <p:nvPr/>
        </p:nvCxnSpPr>
        <p:spPr>
          <a:xfrm flipH="1">
            <a:off x="7360562" y="3493185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A65B1D2-58F2-4CBE-8FD4-5CADF809B9FB}"/>
              </a:ext>
            </a:extLst>
          </p:cNvPr>
          <p:cNvCxnSpPr>
            <a:cxnSpLocks/>
            <a:stCxn id="147" idx="2"/>
            <a:endCxn id="149" idx="0"/>
          </p:cNvCxnSpPr>
          <p:nvPr/>
        </p:nvCxnSpPr>
        <p:spPr>
          <a:xfrm>
            <a:off x="7710237" y="3493185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1835972-AEA4-438C-A83D-FF0C1327810E}"/>
              </a:ext>
            </a:extLst>
          </p:cNvPr>
          <p:cNvSpPr/>
          <p:nvPr/>
        </p:nvSpPr>
        <p:spPr>
          <a:xfrm>
            <a:off x="7621273" y="4333270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72F77EA-5242-421D-BB38-E3FDC283CCFB}"/>
              </a:ext>
            </a:extLst>
          </p:cNvPr>
          <p:cNvSpPr/>
          <p:nvPr/>
        </p:nvSpPr>
        <p:spPr>
          <a:xfrm>
            <a:off x="7447336" y="4698341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43FDC35-A401-42B7-BBD5-697CE42E803C}"/>
              </a:ext>
            </a:extLst>
          </p:cNvPr>
          <p:cNvSpPr/>
          <p:nvPr/>
        </p:nvSpPr>
        <p:spPr>
          <a:xfrm>
            <a:off x="7871223" y="4718975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A66352D-B8EF-4B5A-AC20-D714E94044A0}"/>
              </a:ext>
            </a:extLst>
          </p:cNvPr>
          <p:cNvCxnSpPr>
            <a:cxnSpLocks/>
            <a:stCxn id="152" idx="2"/>
            <a:endCxn id="153" idx="0"/>
          </p:cNvCxnSpPr>
          <p:nvPr/>
        </p:nvCxnSpPr>
        <p:spPr>
          <a:xfrm flipH="1">
            <a:off x="7609255" y="4477688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5B34CDC-EC01-4EF7-8C9B-C24845C311B2}"/>
              </a:ext>
            </a:extLst>
          </p:cNvPr>
          <p:cNvCxnSpPr>
            <a:cxnSpLocks/>
            <a:stCxn id="152" idx="2"/>
            <a:endCxn id="154" idx="0"/>
          </p:cNvCxnSpPr>
          <p:nvPr/>
        </p:nvCxnSpPr>
        <p:spPr>
          <a:xfrm>
            <a:off x="7783192" y="4477688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4C05804-6B6E-4884-AAC8-9850E99D2399}"/>
              </a:ext>
            </a:extLst>
          </p:cNvPr>
          <p:cNvSpPr/>
          <p:nvPr/>
        </p:nvSpPr>
        <p:spPr>
          <a:xfrm>
            <a:off x="5481836" y="2382755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BE6DCD8-68C3-43FE-8CA1-22937F32D0EB}"/>
              </a:ext>
            </a:extLst>
          </p:cNvPr>
          <p:cNvSpPr/>
          <p:nvPr/>
        </p:nvSpPr>
        <p:spPr>
          <a:xfrm>
            <a:off x="5146864" y="2906226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CD3758E-3EC8-4615-8439-6048A1F8FA5C}"/>
              </a:ext>
            </a:extLst>
          </p:cNvPr>
          <p:cNvSpPr/>
          <p:nvPr/>
        </p:nvSpPr>
        <p:spPr>
          <a:xfrm>
            <a:off x="6000789" y="2898100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6D6DEC6-0553-4515-977F-66BFF25CF27A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 flipH="1">
            <a:off x="5487154" y="2631401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1B38B7-F82E-43CD-BCE6-1922750B3656}"/>
              </a:ext>
            </a:extLst>
          </p:cNvPr>
          <p:cNvCxnSpPr>
            <a:cxnSpLocks/>
            <a:stCxn id="159" idx="2"/>
            <a:endCxn id="161" idx="0"/>
          </p:cNvCxnSpPr>
          <p:nvPr/>
        </p:nvCxnSpPr>
        <p:spPr>
          <a:xfrm>
            <a:off x="5836829" y="2631401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3E373BA2-1BAC-428D-B088-DB8F2ADA8320}"/>
              </a:ext>
            </a:extLst>
          </p:cNvPr>
          <p:cNvSpPr/>
          <p:nvPr/>
        </p:nvSpPr>
        <p:spPr>
          <a:xfrm>
            <a:off x="4498848" y="2564617"/>
            <a:ext cx="853440" cy="202967"/>
          </a:xfrm>
          <a:custGeom>
            <a:avLst/>
            <a:gdLst>
              <a:gd name="connsiteX0" fmla="*/ 0 w 853440"/>
              <a:gd name="connsiteY0" fmla="*/ 56663 h 202967"/>
              <a:gd name="connsiteX1" fmla="*/ 670560 w 853440"/>
              <a:gd name="connsiteY1" fmla="*/ 7895 h 202967"/>
              <a:gd name="connsiteX2" fmla="*/ 853440 w 853440"/>
              <a:gd name="connsiteY2" fmla="*/ 202967 h 20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3440" h="202967">
                <a:moveTo>
                  <a:pt x="0" y="56663"/>
                </a:moveTo>
                <a:cubicBezTo>
                  <a:pt x="264160" y="20087"/>
                  <a:pt x="528320" y="-16489"/>
                  <a:pt x="670560" y="7895"/>
                </a:cubicBezTo>
                <a:cubicBezTo>
                  <a:pt x="812800" y="32279"/>
                  <a:pt x="833120" y="117623"/>
                  <a:pt x="853440" y="20296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94A2B721-68B8-4992-9063-EE7640A0ABCD}"/>
              </a:ext>
            </a:extLst>
          </p:cNvPr>
          <p:cNvSpPr/>
          <p:nvPr/>
        </p:nvSpPr>
        <p:spPr>
          <a:xfrm>
            <a:off x="4486656" y="2913887"/>
            <a:ext cx="1274532" cy="710945"/>
          </a:xfrm>
          <a:custGeom>
            <a:avLst/>
            <a:gdLst>
              <a:gd name="connsiteX0" fmla="*/ 0 w 2718816"/>
              <a:gd name="connsiteY0" fmla="*/ 0 h 463296"/>
              <a:gd name="connsiteX1" fmla="*/ 512064 w 2718816"/>
              <a:gd name="connsiteY1" fmla="*/ 402336 h 463296"/>
              <a:gd name="connsiteX2" fmla="*/ 2157984 w 2718816"/>
              <a:gd name="connsiteY2" fmla="*/ 414528 h 463296"/>
              <a:gd name="connsiteX3" fmla="*/ 2718816 w 2718816"/>
              <a:gd name="connsiteY3" fmla="*/ 463296 h 46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8816" h="463296">
                <a:moveTo>
                  <a:pt x="0" y="0"/>
                </a:moveTo>
                <a:cubicBezTo>
                  <a:pt x="76200" y="166624"/>
                  <a:pt x="152400" y="333248"/>
                  <a:pt x="512064" y="402336"/>
                </a:cubicBezTo>
                <a:cubicBezTo>
                  <a:pt x="871728" y="471424"/>
                  <a:pt x="1790192" y="404368"/>
                  <a:pt x="2157984" y="414528"/>
                </a:cubicBezTo>
                <a:cubicBezTo>
                  <a:pt x="2525776" y="424688"/>
                  <a:pt x="2622296" y="443992"/>
                  <a:pt x="2718816" y="463296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18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 Decision Tree and Random Forest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61924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Lastly, in a Random Forest, each decision tree is </a:t>
            </a:r>
            <a:r>
              <a:rPr lang="en-US" sz="1800" b="1" dirty="0">
                <a:solidFill>
                  <a:srgbClr val="C00000"/>
                </a:solidFill>
              </a:rPr>
              <a:t>made independently of the others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9CA41-5817-419A-AD0D-D33BDDBCCBA0}"/>
              </a:ext>
            </a:extLst>
          </p:cNvPr>
          <p:cNvSpPr/>
          <p:nvPr/>
        </p:nvSpPr>
        <p:spPr>
          <a:xfrm>
            <a:off x="2701240" y="203476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3430E-E8BF-45C0-AB8B-C58FACB0B1A9}"/>
              </a:ext>
            </a:extLst>
          </p:cNvPr>
          <p:cNvSpPr/>
          <p:nvPr/>
        </p:nvSpPr>
        <p:spPr>
          <a:xfrm>
            <a:off x="3025506" y="235229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A5CB2-6D16-444B-BF1E-89C9F2D5B3C7}"/>
              </a:ext>
            </a:extLst>
          </p:cNvPr>
          <p:cNvSpPr/>
          <p:nvPr/>
        </p:nvSpPr>
        <p:spPr>
          <a:xfrm>
            <a:off x="2459123" y="239317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CDD-AFB1-4779-9CE3-BB8FB9390F6E}"/>
              </a:ext>
            </a:extLst>
          </p:cNvPr>
          <p:cNvSpPr/>
          <p:nvPr/>
        </p:nvSpPr>
        <p:spPr>
          <a:xfrm>
            <a:off x="2928518" y="275938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BEF2A-AF31-4CC1-A84F-5E9039E52039}"/>
              </a:ext>
            </a:extLst>
          </p:cNvPr>
          <p:cNvSpPr/>
          <p:nvPr/>
        </p:nvSpPr>
        <p:spPr>
          <a:xfrm>
            <a:off x="3483842" y="273913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55E72-4225-4953-9010-6E12B7CD99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2688291" y="2250793"/>
            <a:ext cx="242117" cy="1423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9861DF-4EB2-4704-B2D3-81E91C40A2A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930408" y="2250793"/>
            <a:ext cx="324266" cy="101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6A4919-0C54-4839-BD2F-27B8A381DED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157686" y="2568317"/>
            <a:ext cx="96988" cy="191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864AF-BFE8-4D9B-AFF4-6B46F5B8094E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3254674" y="2568317"/>
            <a:ext cx="458336" cy="170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84301-7699-4D52-A25A-D88B3A51A2A6}"/>
              </a:ext>
            </a:extLst>
          </p:cNvPr>
          <p:cNvSpPr/>
          <p:nvPr/>
        </p:nvSpPr>
        <p:spPr>
          <a:xfrm>
            <a:off x="3204859" y="308633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27CBC-A034-4CE3-832F-83FE529DDE4F}"/>
              </a:ext>
            </a:extLst>
          </p:cNvPr>
          <p:cNvSpPr/>
          <p:nvPr/>
        </p:nvSpPr>
        <p:spPr>
          <a:xfrm>
            <a:off x="3728689" y="308038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84614-F7E4-45CD-AC38-8B9FDE6277AC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 flipH="1">
            <a:off x="3434027" y="2955158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FD0102-75E4-45FA-A66E-F6B0CCA10892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3713010" y="2955158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7A821C-E9D0-4120-85AF-7C4AF21E35B6}"/>
              </a:ext>
            </a:extLst>
          </p:cNvPr>
          <p:cNvSpPr/>
          <p:nvPr/>
        </p:nvSpPr>
        <p:spPr>
          <a:xfrm>
            <a:off x="1088469" y="206893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0B656-B9F9-4D20-BD82-65229389E6FA}"/>
              </a:ext>
            </a:extLst>
          </p:cNvPr>
          <p:cNvSpPr/>
          <p:nvPr/>
        </p:nvSpPr>
        <p:spPr>
          <a:xfrm>
            <a:off x="1522354" y="240670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E5670-6520-4D89-889F-528A040A7404}"/>
              </a:ext>
            </a:extLst>
          </p:cNvPr>
          <p:cNvSpPr/>
          <p:nvPr/>
        </p:nvSpPr>
        <p:spPr>
          <a:xfrm>
            <a:off x="606685" y="239480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D78288-9E3B-4FE9-8DF7-008F234ACCB4}"/>
              </a:ext>
            </a:extLst>
          </p:cNvPr>
          <p:cNvSpPr/>
          <p:nvPr/>
        </p:nvSpPr>
        <p:spPr>
          <a:xfrm>
            <a:off x="1390215" y="274865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E279A6-375A-47E9-9B0F-502A6669BAE5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835853" y="2284958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BDEF6B-E0FF-48E9-B5AC-0DFD09E9F08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1317637" y="2284958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CE31FF-15B7-42FB-9182-20CF783A97E3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flipH="1">
            <a:off x="1619383" y="2622727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9E780-13B1-4413-BA8B-1996ED59E3C4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1751522" y="2622727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0735D-CD39-497A-867D-68874FD92B79}"/>
              </a:ext>
            </a:extLst>
          </p:cNvPr>
          <p:cNvSpPr/>
          <p:nvPr/>
        </p:nvSpPr>
        <p:spPr>
          <a:xfrm>
            <a:off x="1892740" y="273443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9AEFD5-686B-4209-9D3D-977526D60AE4}"/>
              </a:ext>
            </a:extLst>
          </p:cNvPr>
          <p:cNvSpPr/>
          <p:nvPr/>
        </p:nvSpPr>
        <p:spPr>
          <a:xfrm>
            <a:off x="335471" y="274038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EB79CD-3D0A-4973-80B5-F1F96E672415}"/>
              </a:ext>
            </a:extLst>
          </p:cNvPr>
          <p:cNvSpPr/>
          <p:nvPr/>
        </p:nvSpPr>
        <p:spPr>
          <a:xfrm>
            <a:off x="859301" y="273443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BF1AAF-3472-46BA-ABC2-8835C1903AF0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flipH="1">
            <a:off x="564639" y="2610833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A94A5E-09CD-4C77-B23E-FAB22B6438CC}"/>
              </a:ext>
            </a:extLst>
          </p:cNvPr>
          <p:cNvCxnSpPr>
            <a:cxnSpLocks/>
            <a:stCxn id="33" idx="2"/>
            <a:endCxn id="45" idx="0"/>
          </p:cNvCxnSpPr>
          <p:nvPr/>
        </p:nvCxnSpPr>
        <p:spPr>
          <a:xfrm>
            <a:off x="835853" y="2610833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6E17D21-6815-4649-BDD7-5C246038920F}"/>
              </a:ext>
            </a:extLst>
          </p:cNvPr>
          <p:cNvSpPr/>
          <p:nvPr/>
        </p:nvSpPr>
        <p:spPr>
          <a:xfrm>
            <a:off x="3069210" y="348743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FC574C-18E9-4643-A8CB-8848C19C02D7}"/>
              </a:ext>
            </a:extLst>
          </p:cNvPr>
          <p:cNvSpPr/>
          <p:nvPr/>
        </p:nvSpPr>
        <p:spPr>
          <a:xfrm>
            <a:off x="3493415" y="380495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4A3A4B-8172-4607-A663-9815B337A23B}"/>
              </a:ext>
            </a:extLst>
          </p:cNvPr>
          <p:cNvSpPr/>
          <p:nvPr/>
        </p:nvSpPr>
        <p:spPr>
          <a:xfrm>
            <a:off x="3396427" y="421204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19C7FD-0AB4-4BCE-B655-4778A5EFA9CC}"/>
              </a:ext>
            </a:extLst>
          </p:cNvPr>
          <p:cNvSpPr/>
          <p:nvPr/>
        </p:nvSpPr>
        <p:spPr>
          <a:xfrm>
            <a:off x="3951751" y="419179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3897DE9-B74F-4EDE-89A5-6EE1F33E27CF}"/>
              </a:ext>
            </a:extLst>
          </p:cNvPr>
          <p:cNvCxnSpPr>
            <a:cxnSpLocks/>
            <a:stCxn id="52" idx="2"/>
            <a:endCxn id="67" idx="0"/>
          </p:cNvCxnSpPr>
          <p:nvPr/>
        </p:nvCxnSpPr>
        <p:spPr>
          <a:xfrm flipH="1">
            <a:off x="2883569" y="3703458"/>
            <a:ext cx="414809" cy="1703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7A2613-A9C0-4CC2-8894-13B52ABB4F25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3298378" y="3703458"/>
            <a:ext cx="424205" cy="101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F5A965-4082-430C-9A91-661A41C52B82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3625595" y="4020982"/>
            <a:ext cx="96988" cy="191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8B8D338-C85A-4BA9-B7BC-19F9BE784328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3722583" y="4020982"/>
            <a:ext cx="458336" cy="170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98D8561-5936-4694-9F8E-0FC2D19FE950}"/>
              </a:ext>
            </a:extLst>
          </p:cNvPr>
          <p:cNvSpPr/>
          <p:nvPr/>
        </p:nvSpPr>
        <p:spPr>
          <a:xfrm>
            <a:off x="3672768" y="453900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1859D5-3BD0-408F-BB77-E2FF695CF008}"/>
              </a:ext>
            </a:extLst>
          </p:cNvPr>
          <p:cNvSpPr/>
          <p:nvPr/>
        </p:nvSpPr>
        <p:spPr>
          <a:xfrm>
            <a:off x="4196598" y="453305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EC3A7E9-D417-4AA3-8AD0-F4CCBDBA0C34}"/>
              </a:ext>
            </a:extLst>
          </p:cNvPr>
          <p:cNvCxnSpPr>
            <a:cxnSpLocks/>
            <a:stCxn id="58" idx="2"/>
            <a:endCxn id="63" idx="0"/>
          </p:cNvCxnSpPr>
          <p:nvPr/>
        </p:nvCxnSpPr>
        <p:spPr>
          <a:xfrm flipH="1">
            <a:off x="3901936" y="4407823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BCCF4A-F3D8-4D3E-A4F9-8D2B194245EA}"/>
              </a:ext>
            </a:extLst>
          </p:cNvPr>
          <p:cNvCxnSpPr>
            <a:cxnSpLocks/>
            <a:stCxn id="58" idx="2"/>
            <a:endCxn id="64" idx="0"/>
          </p:cNvCxnSpPr>
          <p:nvPr/>
        </p:nvCxnSpPr>
        <p:spPr>
          <a:xfrm>
            <a:off x="4180919" y="4407823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BC2F1CB5-92F9-468C-9E2B-6CE9A04B79EB}"/>
              </a:ext>
            </a:extLst>
          </p:cNvPr>
          <p:cNvSpPr/>
          <p:nvPr/>
        </p:nvSpPr>
        <p:spPr>
          <a:xfrm>
            <a:off x="2654401" y="387382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9713BFB-0BBB-407D-A7BB-8F9C23181BA7}"/>
              </a:ext>
            </a:extLst>
          </p:cNvPr>
          <p:cNvSpPr/>
          <p:nvPr/>
        </p:nvSpPr>
        <p:spPr>
          <a:xfrm>
            <a:off x="2375418" y="422102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9B6637-72C9-4B19-B52B-84596F0FD9C9}"/>
              </a:ext>
            </a:extLst>
          </p:cNvPr>
          <p:cNvSpPr/>
          <p:nvPr/>
        </p:nvSpPr>
        <p:spPr>
          <a:xfrm>
            <a:off x="2899248" y="421507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263E15E-A8C9-4DAD-A7E8-B70BE55EF9B8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604586" y="4089846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48EBB8-C5B4-4421-BD8C-F8F3AC020A16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2883569" y="4089846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5826DB0-B060-4154-9637-D4C6C89DFE8F}"/>
              </a:ext>
            </a:extLst>
          </p:cNvPr>
          <p:cNvSpPr/>
          <p:nvPr/>
        </p:nvSpPr>
        <p:spPr>
          <a:xfrm>
            <a:off x="3105894" y="502362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FFD3B8-8A9E-4C29-BFFD-48B03B4B5E43}"/>
              </a:ext>
            </a:extLst>
          </p:cNvPr>
          <p:cNvSpPr/>
          <p:nvPr/>
        </p:nvSpPr>
        <p:spPr>
          <a:xfrm>
            <a:off x="3539779" y="536138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7269238-905D-4F0B-821E-63CF785E0124}"/>
              </a:ext>
            </a:extLst>
          </p:cNvPr>
          <p:cNvSpPr/>
          <p:nvPr/>
        </p:nvSpPr>
        <p:spPr>
          <a:xfrm>
            <a:off x="3416126" y="570311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6C77469-BB2C-4594-A02D-132BBEE32879}"/>
              </a:ext>
            </a:extLst>
          </p:cNvPr>
          <p:cNvCxnSpPr>
            <a:cxnSpLocks/>
            <a:stCxn id="72" idx="2"/>
            <a:endCxn id="81" idx="0"/>
          </p:cNvCxnSpPr>
          <p:nvPr/>
        </p:nvCxnSpPr>
        <p:spPr>
          <a:xfrm flipH="1">
            <a:off x="2983470" y="5239644"/>
            <a:ext cx="351592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4AFD5C-70A2-44CF-9CE0-864F21C6F679}"/>
              </a:ext>
            </a:extLst>
          </p:cNvPr>
          <p:cNvCxnSpPr>
            <a:stCxn id="72" idx="2"/>
            <a:endCxn id="73" idx="0"/>
          </p:cNvCxnSpPr>
          <p:nvPr/>
        </p:nvCxnSpPr>
        <p:spPr>
          <a:xfrm>
            <a:off x="3335062" y="5239644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BD545C2-1B97-4DBF-A858-74D9ABE83C7A}"/>
              </a:ext>
            </a:extLst>
          </p:cNvPr>
          <p:cNvCxnSpPr>
            <a:stCxn id="73" idx="2"/>
            <a:endCxn id="75" idx="0"/>
          </p:cNvCxnSpPr>
          <p:nvPr/>
        </p:nvCxnSpPr>
        <p:spPr>
          <a:xfrm flipH="1">
            <a:off x="3645294" y="5577413"/>
            <a:ext cx="123653" cy="1257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614650-6821-456D-8585-13E5E78D27E1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3768947" y="5577413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DC2E3F6-97A0-4DA0-A082-AD526E9999D3}"/>
              </a:ext>
            </a:extLst>
          </p:cNvPr>
          <p:cNvSpPr/>
          <p:nvPr/>
        </p:nvSpPr>
        <p:spPr>
          <a:xfrm>
            <a:off x="3910165" y="568911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9193701-9B51-4179-AB6A-0C3423EA4104}"/>
              </a:ext>
            </a:extLst>
          </p:cNvPr>
          <p:cNvSpPr/>
          <p:nvPr/>
        </p:nvSpPr>
        <p:spPr>
          <a:xfrm>
            <a:off x="2754302" y="5361389"/>
            <a:ext cx="458336" cy="20700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2C33AF8-9A15-42F5-8A5E-7FC7131BBD66}"/>
              </a:ext>
            </a:extLst>
          </p:cNvPr>
          <p:cNvSpPr/>
          <p:nvPr/>
        </p:nvSpPr>
        <p:spPr>
          <a:xfrm>
            <a:off x="1408354" y="491647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70A85E3-8573-4E47-9091-F684CDBCD97C}"/>
              </a:ext>
            </a:extLst>
          </p:cNvPr>
          <p:cNvSpPr/>
          <p:nvPr/>
        </p:nvSpPr>
        <p:spPr>
          <a:xfrm>
            <a:off x="1842239" y="525424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074D386-CCE4-44D1-8464-12C04CA6A9D1}"/>
              </a:ext>
            </a:extLst>
          </p:cNvPr>
          <p:cNvSpPr/>
          <p:nvPr/>
        </p:nvSpPr>
        <p:spPr>
          <a:xfrm>
            <a:off x="926570" y="524234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2BB970D-548A-41AA-B433-635CF82AE303}"/>
              </a:ext>
            </a:extLst>
          </p:cNvPr>
          <p:cNvSpPr/>
          <p:nvPr/>
        </p:nvSpPr>
        <p:spPr>
          <a:xfrm>
            <a:off x="1718586" y="559596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A0E4A2D-A29A-40EB-85A2-E1B264D61313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 flipH="1">
            <a:off x="1155738" y="5132497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061C6F-F963-4539-8AE1-5994F8B42EB4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>
            <a:off x="1637522" y="5132497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6D1662C-3E6A-4ADA-B0C0-9CAAF7E72C25}"/>
              </a:ext>
            </a:extLst>
          </p:cNvPr>
          <p:cNvCxnSpPr>
            <a:stCxn id="87" idx="2"/>
            <a:endCxn id="89" idx="0"/>
          </p:cNvCxnSpPr>
          <p:nvPr/>
        </p:nvCxnSpPr>
        <p:spPr>
          <a:xfrm flipH="1">
            <a:off x="1947754" y="5470266"/>
            <a:ext cx="123653" cy="1257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22D7E7C-5CEE-49BE-BC46-BF0AD0AABFD6}"/>
              </a:ext>
            </a:extLst>
          </p:cNvPr>
          <p:cNvCxnSpPr>
            <a:cxnSpLocks/>
            <a:stCxn id="87" idx="2"/>
            <a:endCxn id="94" idx="0"/>
          </p:cNvCxnSpPr>
          <p:nvPr/>
        </p:nvCxnSpPr>
        <p:spPr>
          <a:xfrm>
            <a:off x="2071407" y="5470266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348C1F4-93A4-4D99-B25A-874F138F6EAB}"/>
              </a:ext>
            </a:extLst>
          </p:cNvPr>
          <p:cNvSpPr/>
          <p:nvPr/>
        </p:nvSpPr>
        <p:spPr>
          <a:xfrm>
            <a:off x="2212625" y="558197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2BFE1FD-9605-458D-A8EF-1CD4B404934F}"/>
              </a:ext>
            </a:extLst>
          </p:cNvPr>
          <p:cNvSpPr/>
          <p:nvPr/>
        </p:nvSpPr>
        <p:spPr>
          <a:xfrm>
            <a:off x="1179186" y="558197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8EFD688-A4AB-48F1-9A14-43E468EF387D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1155738" y="5458372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3CAB9A2D-AC32-4474-BEFB-F84E3A0763CA}"/>
              </a:ext>
            </a:extLst>
          </p:cNvPr>
          <p:cNvSpPr/>
          <p:nvPr/>
        </p:nvSpPr>
        <p:spPr>
          <a:xfrm>
            <a:off x="606685" y="560370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7E9EDAB-3B78-4D08-B021-63F4C6D99AEC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 flipH="1">
            <a:off x="835853" y="5458372"/>
            <a:ext cx="319885" cy="1453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F16850-5516-4765-9011-96226E6EF15D}"/>
              </a:ext>
            </a:extLst>
          </p:cNvPr>
          <p:cNvSpPr/>
          <p:nvPr/>
        </p:nvSpPr>
        <p:spPr>
          <a:xfrm>
            <a:off x="335471" y="594928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086039-7069-4711-AFC5-DF7088C9B4CE}"/>
              </a:ext>
            </a:extLst>
          </p:cNvPr>
          <p:cNvSpPr/>
          <p:nvPr/>
        </p:nvSpPr>
        <p:spPr>
          <a:xfrm>
            <a:off x="859301" y="594332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764A671-33E1-439F-B037-FAC37F697C3A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flipH="1">
            <a:off x="564639" y="5819729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86F66FD-05BA-475F-8DAE-F99D331450E9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835853" y="5819729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883906C-D047-4B68-B298-31CC2C4A1DDB}"/>
              </a:ext>
            </a:extLst>
          </p:cNvPr>
          <p:cNvSpPr/>
          <p:nvPr/>
        </p:nvSpPr>
        <p:spPr>
          <a:xfrm>
            <a:off x="857807" y="349133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CDD84A-7633-432D-8E93-D1FD3B9E7F3C}"/>
              </a:ext>
            </a:extLst>
          </p:cNvPr>
          <p:cNvSpPr/>
          <p:nvPr/>
        </p:nvSpPr>
        <p:spPr>
          <a:xfrm>
            <a:off x="1322249" y="382100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BBF7B37-4F38-4508-B015-E2ED42ADC138}"/>
              </a:ext>
            </a:extLst>
          </p:cNvPr>
          <p:cNvSpPr/>
          <p:nvPr/>
        </p:nvSpPr>
        <p:spPr>
          <a:xfrm>
            <a:off x="1225261" y="422809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7D14CCD-9264-4A44-BD01-7AA0490301DB}"/>
              </a:ext>
            </a:extLst>
          </p:cNvPr>
          <p:cNvSpPr/>
          <p:nvPr/>
        </p:nvSpPr>
        <p:spPr>
          <a:xfrm>
            <a:off x="1780585" y="4207846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E941C92-FDB4-4815-8875-47E64DCFDAC1}"/>
              </a:ext>
            </a:extLst>
          </p:cNvPr>
          <p:cNvCxnSpPr>
            <a:cxnSpLocks/>
            <a:stCxn id="107" idx="2"/>
            <a:endCxn id="122" idx="0"/>
          </p:cNvCxnSpPr>
          <p:nvPr/>
        </p:nvCxnSpPr>
        <p:spPr>
          <a:xfrm flipH="1">
            <a:off x="682280" y="3707356"/>
            <a:ext cx="404695" cy="2281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F30B212-FB66-4772-9789-2D7308EF48AF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>
            <a:off x="1086975" y="3707356"/>
            <a:ext cx="464442" cy="1136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ECAB7B9-ED64-4F16-A5CD-7275B9ECF7FC}"/>
              </a:ext>
            </a:extLst>
          </p:cNvPr>
          <p:cNvCxnSpPr>
            <a:cxnSpLocks/>
            <a:stCxn id="108" idx="2"/>
            <a:endCxn id="110" idx="0"/>
          </p:cNvCxnSpPr>
          <p:nvPr/>
        </p:nvCxnSpPr>
        <p:spPr>
          <a:xfrm flipH="1">
            <a:off x="1454429" y="4037029"/>
            <a:ext cx="96988" cy="191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A29D06D-61B0-4580-A1DD-B033D7238704}"/>
              </a:ext>
            </a:extLst>
          </p:cNvPr>
          <p:cNvCxnSpPr>
            <a:cxnSpLocks/>
            <a:stCxn id="108" idx="2"/>
            <a:endCxn id="111" idx="0"/>
          </p:cNvCxnSpPr>
          <p:nvPr/>
        </p:nvCxnSpPr>
        <p:spPr>
          <a:xfrm>
            <a:off x="1551417" y="4037029"/>
            <a:ext cx="458336" cy="170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5AF8678-F504-4479-94B5-3ABF7C657521}"/>
              </a:ext>
            </a:extLst>
          </p:cNvPr>
          <p:cNvSpPr/>
          <p:nvPr/>
        </p:nvSpPr>
        <p:spPr>
          <a:xfrm>
            <a:off x="1501602" y="455504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3B7B9C9-FCE2-42D4-9675-D5980F46A09A}"/>
              </a:ext>
            </a:extLst>
          </p:cNvPr>
          <p:cNvSpPr/>
          <p:nvPr/>
        </p:nvSpPr>
        <p:spPr>
          <a:xfrm>
            <a:off x="2025432" y="454909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97F236D-0944-4CAE-9E1B-13D52E13410F}"/>
              </a:ext>
            </a:extLst>
          </p:cNvPr>
          <p:cNvCxnSpPr>
            <a:cxnSpLocks/>
            <a:stCxn id="111" idx="2"/>
            <a:endCxn id="116" idx="0"/>
          </p:cNvCxnSpPr>
          <p:nvPr/>
        </p:nvCxnSpPr>
        <p:spPr>
          <a:xfrm flipH="1">
            <a:off x="1730770" y="4423870"/>
            <a:ext cx="278983" cy="131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B637D9F-97A5-4CC7-BC07-8DD1A03EA221}"/>
              </a:ext>
            </a:extLst>
          </p:cNvPr>
          <p:cNvCxnSpPr>
            <a:cxnSpLocks/>
            <a:stCxn id="111" idx="2"/>
            <a:endCxn id="117" idx="0"/>
          </p:cNvCxnSpPr>
          <p:nvPr/>
        </p:nvCxnSpPr>
        <p:spPr>
          <a:xfrm>
            <a:off x="2009753" y="4423870"/>
            <a:ext cx="244847" cy="125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7F9344C-9943-4B8A-9D19-7DB7FD620FBD}"/>
              </a:ext>
            </a:extLst>
          </p:cNvPr>
          <p:cNvSpPr/>
          <p:nvPr/>
        </p:nvSpPr>
        <p:spPr>
          <a:xfrm>
            <a:off x="453112" y="393552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814C947-502A-4F5E-9DAF-40CD4815B706}"/>
              </a:ext>
            </a:extLst>
          </p:cNvPr>
          <p:cNvSpPr/>
          <p:nvPr/>
        </p:nvSpPr>
        <p:spPr>
          <a:xfrm>
            <a:off x="181898" y="428110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62B70EC-7103-47F0-AB4C-F730DE6DA449}"/>
              </a:ext>
            </a:extLst>
          </p:cNvPr>
          <p:cNvSpPr/>
          <p:nvPr/>
        </p:nvSpPr>
        <p:spPr>
          <a:xfrm>
            <a:off x="705728" y="4275152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95320A-14E9-413D-B39D-BF69885EB5D6}"/>
              </a:ext>
            </a:extLst>
          </p:cNvPr>
          <p:cNvCxnSpPr>
            <a:cxnSpLocks/>
            <a:stCxn id="122" idx="2"/>
            <a:endCxn id="123" idx="0"/>
          </p:cNvCxnSpPr>
          <p:nvPr/>
        </p:nvCxnSpPr>
        <p:spPr>
          <a:xfrm flipH="1">
            <a:off x="411066" y="4151553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C501E86-78E7-4EBF-844D-96C94E6F4C13}"/>
              </a:ext>
            </a:extLst>
          </p:cNvPr>
          <p:cNvCxnSpPr>
            <a:cxnSpLocks/>
            <a:stCxn id="122" idx="2"/>
            <a:endCxn id="124" idx="0"/>
          </p:cNvCxnSpPr>
          <p:nvPr/>
        </p:nvCxnSpPr>
        <p:spPr>
          <a:xfrm>
            <a:off x="682280" y="4151553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副標題 2">
            <a:extLst>
              <a:ext uri="{FF2B5EF4-FFF2-40B4-BE49-F238E27FC236}">
                <a16:creationId xmlns:a16="http://schemas.microsoft.com/office/drawing/2014/main" id="{F12ED544-9C37-456E-A755-01CFBE02CEA8}"/>
              </a:ext>
            </a:extLst>
          </p:cNvPr>
          <p:cNvSpPr txBox="1">
            <a:spLocks/>
          </p:cNvSpPr>
          <p:nvPr/>
        </p:nvSpPr>
        <p:spPr>
          <a:xfrm>
            <a:off x="4572000" y="2299655"/>
            <a:ext cx="3254364" cy="99675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other words, it does not matter which tree is made first..</a:t>
            </a:r>
          </a:p>
        </p:txBody>
      </p:sp>
    </p:spTree>
    <p:extLst>
      <p:ext uri="{BB962C8B-B14F-4D97-AF65-F5344CB8AC3E}">
        <p14:creationId xmlns:p14="http://schemas.microsoft.com/office/powerpoint/2010/main" val="1226631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49.2 Stump of Trees by AdaBoost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50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49.2 Stump of Trees by AdaBoost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2768" y="1242814"/>
            <a:ext cx="4931680" cy="90455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contrast, in a </a:t>
            </a:r>
            <a:r>
              <a:rPr lang="en-US" sz="1800" b="1" dirty="0">
                <a:solidFill>
                  <a:srgbClr val="C00000"/>
                </a:solidFill>
              </a:rPr>
              <a:t>Forest of Stumps </a:t>
            </a:r>
            <a:r>
              <a:rPr lang="en-US" sz="1800" b="1" dirty="0">
                <a:solidFill>
                  <a:schemeClr val="tx1"/>
                </a:solidFill>
              </a:rPr>
              <a:t>made with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, order is important.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9CA41-5817-419A-AD0D-D33BDDBCCBA0}"/>
              </a:ext>
            </a:extLst>
          </p:cNvPr>
          <p:cNvSpPr/>
          <p:nvPr/>
        </p:nvSpPr>
        <p:spPr>
          <a:xfrm>
            <a:off x="2701240" y="184482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3430E-E8BF-45C0-AB8B-C58FACB0B1A9}"/>
              </a:ext>
            </a:extLst>
          </p:cNvPr>
          <p:cNvSpPr/>
          <p:nvPr/>
        </p:nvSpPr>
        <p:spPr>
          <a:xfrm>
            <a:off x="3025506" y="2162348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A5CB2-6D16-444B-BF1E-89C9F2D5B3C7}"/>
              </a:ext>
            </a:extLst>
          </p:cNvPr>
          <p:cNvSpPr/>
          <p:nvPr/>
        </p:nvSpPr>
        <p:spPr>
          <a:xfrm>
            <a:off x="2459123" y="2203229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1DCDD-AFB1-4779-9CE3-BB8FB9390F6E}"/>
              </a:ext>
            </a:extLst>
          </p:cNvPr>
          <p:cNvSpPr/>
          <p:nvPr/>
        </p:nvSpPr>
        <p:spPr>
          <a:xfrm>
            <a:off x="2928518" y="2569438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BEF2A-AF31-4CC1-A84F-5E9039E52039}"/>
              </a:ext>
            </a:extLst>
          </p:cNvPr>
          <p:cNvSpPr/>
          <p:nvPr/>
        </p:nvSpPr>
        <p:spPr>
          <a:xfrm>
            <a:off x="3483842" y="2549189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55E72-4225-4953-9010-6E12B7CD99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2688291" y="2060848"/>
            <a:ext cx="242117" cy="14238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9861DF-4EB2-4704-B2D3-81E91C40A2A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930408" y="2060848"/>
            <a:ext cx="324266" cy="10150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6A4919-0C54-4839-BD2F-27B8A381DED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157686" y="2378372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864AF-BFE8-4D9B-AFF4-6B46F5B8094E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3254674" y="2378372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84301-7699-4D52-A25A-D88B3A51A2A6}"/>
              </a:ext>
            </a:extLst>
          </p:cNvPr>
          <p:cNvSpPr/>
          <p:nvPr/>
        </p:nvSpPr>
        <p:spPr>
          <a:xfrm>
            <a:off x="3204859" y="2896392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B27CBC-A034-4CE3-832F-83FE529DDE4F}"/>
              </a:ext>
            </a:extLst>
          </p:cNvPr>
          <p:cNvSpPr/>
          <p:nvPr/>
        </p:nvSpPr>
        <p:spPr>
          <a:xfrm>
            <a:off x="3728689" y="289044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384614-F7E4-45CD-AC38-8B9FDE6277AC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 flipH="1">
            <a:off x="3434027" y="2765213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FD0102-75E4-45FA-A66E-F6B0CCA10892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3713010" y="2765213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37A821C-E9D0-4120-85AF-7C4AF21E35B6}"/>
              </a:ext>
            </a:extLst>
          </p:cNvPr>
          <p:cNvSpPr/>
          <p:nvPr/>
        </p:nvSpPr>
        <p:spPr>
          <a:xfrm>
            <a:off x="1088469" y="1878989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F0B656-B9F9-4D20-BD82-65229389E6FA}"/>
              </a:ext>
            </a:extLst>
          </p:cNvPr>
          <p:cNvSpPr/>
          <p:nvPr/>
        </p:nvSpPr>
        <p:spPr>
          <a:xfrm>
            <a:off x="1522354" y="2216758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E5670-6520-4D89-889F-528A040A7404}"/>
              </a:ext>
            </a:extLst>
          </p:cNvPr>
          <p:cNvSpPr/>
          <p:nvPr/>
        </p:nvSpPr>
        <p:spPr>
          <a:xfrm>
            <a:off x="606685" y="220486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D78288-9E3B-4FE9-8DF7-008F234ACCB4}"/>
              </a:ext>
            </a:extLst>
          </p:cNvPr>
          <p:cNvSpPr/>
          <p:nvPr/>
        </p:nvSpPr>
        <p:spPr>
          <a:xfrm>
            <a:off x="1390215" y="255871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7E279A6-375A-47E9-9B0F-502A6669BAE5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835853" y="2095013"/>
            <a:ext cx="481784" cy="1098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BDEF6B-E0FF-48E9-B5AC-0DFD09E9F08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1317637" y="2095013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CE31FF-15B7-42FB-9182-20CF783A97E3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 flipH="1">
            <a:off x="1619383" y="2432782"/>
            <a:ext cx="132139" cy="12592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9E780-13B1-4413-BA8B-1996ED59E3C4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1751522" y="2432782"/>
            <a:ext cx="370386" cy="11170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0735D-CD39-497A-867D-68874FD92B79}"/>
              </a:ext>
            </a:extLst>
          </p:cNvPr>
          <p:cNvSpPr/>
          <p:nvPr/>
        </p:nvSpPr>
        <p:spPr>
          <a:xfrm>
            <a:off x="1892740" y="254448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9AEFD5-686B-4209-9D3D-977526D60AE4}"/>
              </a:ext>
            </a:extLst>
          </p:cNvPr>
          <p:cNvSpPr/>
          <p:nvPr/>
        </p:nvSpPr>
        <p:spPr>
          <a:xfrm>
            <a:off x="335471" y="2550439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EB79CD-3D0A-4973-80B5-F1F96E672415}"/>
              </a:ext>
            </a:extLst>
          </p:cNvPr>
          <p:cNvSpPr/>
          <p:nvPr/>
        </p:nvSpPr>
        <p:spPr>
          <a:xfrm>
            <a:off x="859301" y="254448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BF1AAF-3472-46BA-ABC2-8835C1903AF0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flipH="1">
            <a:off x="564639" y="2420888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1A94A5E-09CD-4C77-B23E-FAB22B6438CC}"/>
              </a:ext>
            </a:extLst>
          </p:cNvPr>
          <p:cNvCxnSpPr>
            <a:cxnSpLocks/>
            <a:stCxn id="33" idx="2"/>
            <a:endCxn id="45" idx="0"/>
          </p:cNvCxnSpPr>
          <p:nvPr/>
        </p:nvCxnSpPr>
        <p:spPr>
          <a:xfrm>
            <a:off x="835853" y="2420888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6E17D21-6815-4649-BDD7-5C246038920F}"/>
              </a:ext>
            </a:extLst>
          </p:cNvPr>
          <p:cNvSpPr/>
          <p:nvPr/>
        </p:nvSpPr>
        <p:spPr>
          <a:xfrm>
            <a:off x="3069210" y="3297489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FC574C-18E9-4643-A8CB-8848C19C02D7}"/>
              </a:ext>
            </a:extLst>
          </p:cNvPr>
          <p:cNvSpPr/>
          <p:nvPr/>
        </p:nvSpPr>
        <p:spPr>
          <a:xfrm>
            <a:off x="3493415" y="3615013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4A3A4B-8172-4607-A663-9815B337A23B}"/>
              </a:ext>
            </a:extLst>
          </p:cNvPr>
          <p:cNvSpPr/>
          <p:nvPr/>
        </p:nvSpPr>
        <p:spPr>
          <a:xfrm>
            <a:off x="3396427" y="4022103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19C7FD-0AB4-4BCE-B655-4778A5EFA9CC}"/>
              </a:ext>
            </a:extLst>
          </p:cNvPr>
          <p:cNvSpPr/>
          <p:nvPr/>
        </p:nvSpPr>
        <p:spPr>
          <a:xfrm>
            <a:off x="3951751" y="400185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3897DE9-B74F-4EDE-89A5-6EE1F33E27CF}"/>
              </a:ext>
            </a:extLst>
          </p:cNvPr>
          <p:cNvCxnSpPr>
            <a:cxnSpLocks/>
            <a:stCxn id="52" idx="2"/>
            <a:endCxn id="67" idx="0"/>
          </p:cNvCxnSpPr>
          <p:nvPr/>
        </p:nvCxnSpPr>
        <p:spPr>
          <a:xfrm flipH="1">
            <a:off x="2883569" y="3513513"/>
            <a:ext cx="414809" cy="170364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7A2613-A9C0-4CC2-8894-13B52ABB4F25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3298378" y="3513513"/>
            <a:ext cx="424205" cy="10150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F5A965-4082-430C-9A91-661A41C52B82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3625595" y="3831037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8B8D338-C85A-4BA9-B7BC-19F9BE784328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3722583" y="3831037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98D8561-5936-4694-9F8E-0FC2D19FE950}"/>
              </a:ext>
            </a:extLst>
          </p:cNvPr>
          <p:cNvSpPr/>
          <p:nvPr/>
        </p:nvSpPr>
        <p:spPr>
          <a:xfrm>
            <a:off x="3672768" y="434905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1859D5-3BD0-408F-BB77-E2FF695CF008}"/>
              </a:ext>
            </a:extLst>
          </p:cNvPr>
          <p:cNvSpPr/>
          <p:nvPr/>
        </p:nvSpPr>
        <p:spPr>
          <a:xfrm>
            <a:off x="4196598" y="4343105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EC3A7E9-D417-4AA3-8AD0-F4CCBDBA0C34}"/>
              </a:ext>
            </a:extLst>
          </p:cNvPr>
          <p:cNvCxnSpPr>
            <a:cxnSpLocks/>
            <a:stCxn id="58" idx="2"/>
            <a:endCxn id="63" idx="0"/>
          </p:cNvCxnSpPr>
          <p:nvPr/>
        </p:nvCxnSpPr>
        <p:spPr>
          <a:xfrm flipH="1">
            <a:off x="3901936" y="4217878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BCCF4A-F3D8-4D3E-A4F9-8D2B194245EA}"/>
              </a:ext>
            </a:extLst>
          </p:cNvPr>
          <p:cNvCxnSpPr>
            <a:cxnSpLocks/>
            <a:stCxn id="58" idx="2"/>
            <a:endCxn id="64" idx="0"/>
          </p:cNvCxnSpPr>
          <p:nvPr/>
        </p:nvCxnSpPr>
        <p:spPr>
          <a:xfrm>
            <a:off x="4180919" y="4217878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BC2F1CB5-92F9-468C-9E2B-6CE9A04B79EB}"/>
              </a:ext>
            </a:extLst>
          </p:cNvPr>
          <p:cNvSpPr/>
          <p:nvPr/>
        </p:nvSpPr>
        <p:spPr>
          <a:xfrm>
            <a:off x="2654401" y="3683877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9713BFB-0BBB-407D-A7BB-8F9C23181BA7}"/>
              </a:ext>
            </a:extLst>
          </p:cNvPr>
          <p:cNvSpPr/>
          <p:nvPr/>
        </p:nvSpPr>
        <p:spPr>
          <a:xfrm>
            <a:off x="2375418" y="403108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9B6637-72C9-4B19-B52B-84596F0FD9C9}"/>
              </a:ext>
            </a:extLst>
          </p:cNvPr>
          <p:cNvSpPr/>
          <p:nvPr/>
        </p:nvSpPr>
        <p:spPr>
          <a:xfrm>
            <a:off x="2899248" y="4025128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263E15E-A8C9-4DAD-A7E8-B70BE55EF9B8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604586" y="3899901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48EBB8-C5B4-4421-BD8C-F8F3AC020A16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2883569" y="3899901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5826DB0-B060-4154-9637-D4C6C89DFE8F}"/>
              </a:ext>
            </a:extLst>
          </p:cNvPr>
          <p:cNvSpPr/>
          <p:nvPr/>
        </p:nvSpPr>
        <p:spPr>
          <a:xfrm>
            <a:off x="3105894" y="4833675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FFD3B8-8A9E-4C29-BFFD-48B03B4B5E43}"/>
              </a:ext>
            </a:extLst>
          </p:cNvPr>
          <p:cNvSpPr/>
          <p:nvPr/>
        </p:nvSpPr>
        <p:spPr>
          <a:xfrm>
            <a:off x="3539779" y="517144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7269238-905D-4F0B-821E-63CF785E0124}"/>
              </a:ext>
            </a:extLst>
          </p:cNvPr>
          <p:cNvSpPr/>
          <p:nvPr/>
        </p:nvSpPr>
        <p:spPr>
          <a:xfrm>
            <a:off x="3416126" y="5513171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6C77469-BB2C-4594-A02D-132BBEE32879}"/>
              </a:ext>
            </a:extLst>
          </p:cNvPr>
          <p:cNvCxnSpPr>
            <a:cxnSpLocks/>
            <a:stCxn id="72" idx="2"/>
            <a:endCxn id="81" idx="0"/>
          </p:cNvCxnSpPr>
          <p:nvPr/>
        </p:nvCxnSpPr>
        <p:spPr>
          <a:xfrm flipH="1">
            <a:off x="2983470" y="5049699"/>
            <a:ext cx="351592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4AFD5C-70A2-44CF-9CE0-864F21C6F679}"/>
              </a:ext>
            </a:extLst>
          </p:cNvPr>
          <p:cNvCxnSpPr>
            <a:stCxn id="72" idx="2"/>
            <a:endCxn id="73" idx="0"/>
          </p:cNvCxnSpPr>
          <p:nvPr/>
        </p:nvCxnSpPr>
        <p:spPr>
          <a:xfrm>
            <a:off x="3335062" y="5049699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BD545C2-1B97-4DBF-A858-74D9ABE83C7A}"/>
              </a:ext>
            </a:extLst>
          </p:cNvPr>
          <p:cNvCxnSpPr>
            <a:stCxn id="73" idx="2"/>
            <a:endCxn id="75" idx="0"/>
          </p:cNvCxnSpPr>
          <p:nvPr/>
        </p:nvCxnSpPr>
        <p:spPr>
          <a:xfrm flipH="1">
            <a:off x="3645294" y="5387468"/>
            <a:ext cx="123653" cy="12570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614650-6821-456D-8585-13E5E78D27E1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3768947" y="5387468"/>
            <a:ext cx="370386" cy="11170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DC2E3F6-97A0-4DA0-A082-AD526E9999D3}"/>
              </a:ext>
            </a:extLst>
          </p:cNvPr>
          <p:cNvSpPr/>
          <p:nvPr/>
        </p:nvSpPr>
        <p:spPr>
          <a:xfrm>
            <a:off x="3910165" y="5499173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9193701-9B51-4179-AB6A-0C3423EA4104}"/>
              </a:ext>
            </a:extLst>
          </p:cNvPr>
          <p:cNvSpPr/>
          <p:nvPr/>
        </p:nvSpPr>
        <p:spPr>
          <a:xfrm>
            <a:off x="2754302" y="5171444"/>
            <a:ext cx="458336" cy="207005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2C33AF8-9A15-42F5-8A5E-7FC7131BBD66}"/>
              </a:ext>
            </a:extLst>
          </p:cNvPr>
          <p:cNvSpPr/>
          <p:nvPr/>
        </p:nvSpPr>
        <p:spPr>
          <a:xfrm>
            <a:off x="1408354" y="4726528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70A85E3-8573-4E47-9091-F684CDBCD97C}"/>
              </a:ext>
            </a:extLst>
          </p:cNvPr>
          <p:cNvSpPr/>
          <p:nvPr/>
        </p:nvSpPr>
        <p:spPr>
          <a:xfrm>
            <a:off x="1842239" y="5064297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074D386-CCE4-44D1-8464-12C04CA6A9D1}"/>
              </a:ext>
            </a:extLst>
          </p:cNvPr>
          <p:cNvSpPr/>
          <p:nvPr/>
        </p:nvSpPr>
        <p:spPr>
          <a:xfrm>
            <a:off x="926570" y="5052403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2BB970D-548A-41AA-B433-635CF82AE303}"/>
              </a:ext>
            </a:extLst>
          </p:cNvPr>
          <p:cNvSpPr/>
          <p:nvPr/>
        </p:nvSpPr>
        <p:spPr>
          <a:xfrm>
            <a:off x="1718586" y="5406024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A0E4A2D-A29A-40EB-85A2-E1B264D61313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 flipH="1">
            <a:off x="1155738" y="4942552"/>
            <a:ext cx="481784" cy="1098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061C6F-F963-4539-8AE1-5994F8B42EB4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>
            <a:off x="1637522" y="4942552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6D1662C-3E6A-4ADA-B0C0-9CAAF7E72C25}"/>
              </a:ext>
            </a:extLst>
          </p:cNvPr>
          <p:cNvCxnSpPr>
            <a:stCxn id="87" idx="2"/>
            <a:endCxn id="89" idx="0"/>
          </p:cNvCxnSpPr>
          <p:nvPr/>
        </p:nvCxnSpPr>
        <p:spPr>
          <a:xfrm flipH="1">
            <a:off x="1947754" y="5280321"/>
            <a:ext cx="123653" cy="12570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22D7E7C-5CEE-49BE-BC46-BF0AD0AABFD6}"/>
              </a:ext>
            </a:extLst>
          </p:cNvPr>
          <p:cNvCxnSpPr>
            <a:cxnSpLocks/>
            <a:stCxn id="87" idx="2"/>
            <a:endCxn id="94" idx="0"/>
          </p:cNvCxnSpPr>
          <p:nvPr/>
        </p:nvCxnSpPr>
        <p:spPr>
          <a:xfrm>
            <a:off x="2071407" y="5280321"/>
            <a:ext cx="370386" cy="11170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348C1F4-93A4-4D99-B25A-874F138F6EAB}"/>
              </a:ext>
            </a:extLst>
          </p:cNvPr>
          <p:cNvSpPr/>
          <p:nvPr/>
        </p:nvSpPr>
        <p:spPr>
          <a:xfrm>
            <a:off x="2212625" y="5392026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2BFE1FD-9605-458D-A8EF-1CD4B404934F}"/>
              </a:ext>
            </a:extLst>
          </p:cNvPr>
          <p:cNvSpPr/>
          <p:nvPr/>
        </p:nvSpPr>
        <p:spPr>
          <a:xfrm>
            <a:off x="1179186" y="5392026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8EFD688-A4AB-48F1-9A14-43E468EF387D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1155738" y="5268427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3CAB9A2D-AC32-4474-BEFB-F84E3A0763CA}"/>
              </a:ext>
            </a:extLst>
          </p:cNvPr>
          <p:cNvSpPr/>
          <p:nvPr/>
        </p:nvSpPr>
        <p:spPr>
          <a:xfrm>
            <a:off x="606685" y="5413760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7E9EDAB-3B78-4D08-B021-63F4C6D99AEC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 flipH="1">
            <a:off x="835853" y="5268427"/>
            <a:ext cx="319885" cy="14533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F16850-5516-4765-9011-96226E6EF15D}"/>
              </a:ext>
            </a:extLst>
          </p:cNvPr>
          <p:cNvSpPr/>
          <p:nvPr/>
        </p:nvSpPr>
        <p:spPr>
          <a:xfrm>
            <a:off x="335471" y="5759335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086039-7069-4711-AFC5-DF7088C9B4CE}"/>
              </a:ext>
            </a:extLst>
          </p:cNvPr>
          <p:cNvSpPr/>
          <p:nvPr/>
        </p:nvSpPr>
        <p:spPr>
          <a:xfrm>
            <a:off x="859301" y="5753383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764A671-33E1-439F-B037-FAC37F697C3A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flipH="1">
            <a:off x="564639" y="5629784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86F66FD-05BA-475F-8DAE-F99D331450E9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835853" y="5629784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883906C-D047-4B68-B298-31CC2C4A1DDB}"/>
              </a:ext>
            </a:extLst>
          </p:cNvPr>
          <p:cNvSpPr/>
          <p:nvPr/>
        </p:nvSpPr>
        <p:spPr>
          <a:xfrm>
            <a:off x="857807" y="3301387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CDD84A-7633-432D-8E93-D1FD3B9E7F3C}"/>
              </a:ext>
            </a:extLst>
          </p:cNvPr>
          <p:cNvSpPr/>
          <p:nvPr/>
        </p:nvSpPr>
        <p:spPr>
          <a:xfrm>
            <a:off x="1322249" y="3631060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BBF7B37-4F38-4508-B015-E2ED42ADC138}"/>
              </a:ext>
            </a:extLst>
          </p:cNvPr>
          <p:cNvSpPr/>
          <p:nvPr/>
        </p:nvSpPr>
        <p:spPr>
          <a:xfrm>
            <a:off x="1225261" y="4038150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7D14CCD-9264-4A44-BD01-7AA0490301DB}"/>
              </a:ext>
            </a:extLst>
          </p:cNvPr>
          <p:cNvSpPr/>
          <p:nvPr/>
        </p:nvSpPr>
        <p:spPr>
          <a:xfrm>
            <a:off x="1780585" y="4017901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E941C92-FDB4-4815-8875-47E64DCFDAC1}"/>
              </a:ext>
            </a:extLst>
          </p:cNvPr>
          <p:cNvCxnSpPr>
            <a:cxnSpLocks/>
            <a:stCxn id="107" idx="2"/>
            <a:endCxn id="122" idx="0"/>
          </p:cNvCxnSpPr>
          <p:nvPr/>
        </p:nvCxnSpPr>
        <p:spPr>
          <a:xfrm flipH="1">
            <a:off x="682280" y="3517411"/>
            <a:ext cx="404695" cy="228173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F30B212-FB66-4772-9789-2D7308EF48AF}"/>
              </a:ext>
            </a:extLst>
          </p:cNvPr>
          <p:cNvCxnSpPr>
            <a:cxnSpLocks/>
            <a:stCxn id="107" idx="2"/>
            <a:endCxn id="108" idx="0"/>
          </p:cNvCxnSpPr>
          <p:nvPr/>
        </p:nvCxnSpPr>
        <p:spPr>
          <a:xfrm>
            <a:off x="1086975" y="3517411"/>
            <a:ext cx="464442" cy="11364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ECAB7B9-ED64-4F16-A5CD-7275B9ECF7FC}"/>
              </a:ext>
            </a:extLst>
          </p:cNvPr>
          <p:cNvCxnSpPr>
            <a:cxnSpLocks/>
            <a:stCxn id="108" idx="2"/>
            <a:endCxn id="110" idx="0"/>
          </p:cNvCxnSpPr>
          <p:nvPr/>
        </p:nvCxnSpPr>
        <p:spPr>
          <a:xfrm flipH="1">
            <a:off x="1454429" y="3847084"/>
            <a:ext cx="96988" cy="191066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A29D06D-61B0-4580-A1DD-B033D7238704}"/>
              </a:ext>
            </a:extLst>
          </p:cNvPr>
          <p:cNvCxnSpPr>
            <a:cxnSpLocks/>
            <a:stCxn id="108" idx="2"/>
            <a:endCxn id="111" idx="0"/>
          </p:cNvCxnSpPr>
          <p:nvPr/>
        </p:nvCxnSpPr>
        <p:spPr>
          <a:xfrm>
            <a:off x="1551417" y="3847084"/>
            <a:ext cx="458336" cy="17081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5AF8678-F504-4479-94B5-3ABF7C657521}"/>
              </a:ext>
            </a:extLst>
          </p:cNvPr>
          <p:cNvSpPr/>
          <p:nvPr/>
        </p:nvSpPr>
        <p:spPr>
          <a:xfrm>
            <a:off x="1501602" y="4365104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3B7B9C9-FCE2-42D4-9675-D5980F46A09A}"/>
              </a:ext>
            </a:extLst>
          </p:cNvPr>
          <p:cNvSpPr/>
          <p:nvPr/>
        </p:nvSpPr>
        <p:spPr>
          <a:xfrm>
            <a:off x="2025432" y="4359152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97F236D-0944-4CAE-9E1B-13D52E13410F}"/>
              </a:ext>
            </a:extLst>
          </p:cNvPr>
          <p:cNvCxnSpPr>
            <a:cxnSpLocks/>
            <a:stCxn id="111" idx="2"/>
            <a:endCxn id="116" idx="0"/>
          </p:cNvCxnSpPr>
          <p:nvPr/>
        </p:nvCxnSpPr>
        <p:spPr>
          <a:xfrm flipH="1">
            <a:off x="1730770" y="4233925"/>
            <a:ext cx="278983" cy="13117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B637D9F-97A5-4CC7-BC07-8DD1A03EA221}"/>
              </a:ext>
            </a:extLst>
          </p:cNvPr>
          <p:cNvCxnSpPr>
            <a:cxnSpLocks/>
            <a:stCxn id="111" idx="2"/>
            <a:endCxn id="117" idx="0"/>
          </p:cNvCxnSpPr>
          <p:nvPr/>
        </p:nvCxnSpPr>
        <p:spPr>
          <a:xfrm>
            <a:off x="2009753" y="4233925"/>
            <a:ext cx="244847" cy="125227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7F9344C-9943-4B8A-9D19-7DB7FD620FBD}"/>
              </a:ext>
            </a:extLst>
          </p:cNvPr>
          <p:cNvSpPr/>
          <p:nvPr/>
        </p:nvSpPr>
        <p:spPr>
          <a:xfrm>
            <a:off x="453112" y="3745584"/>
            <a:ext cx="458336" cy="216024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814C947-502A-4F5E-9DAF-40CD4815B706}"/>
              </a:ext>
            </a:extLst>
          </p:cNvPr>
          <p:cNvSpPr/>
          <p:nvPr/>
        </p:nvSpPr>
        <p:spPr>
          <a:xfrm>
            <a:off x="181898" y="4091159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62B70EC-7103-47F0-AB4C-F730DE6DA449}"/>
              </a:ext>
            </a:extLst>
          </p:cNvPr>
          <p:cNvSpPr/>
          <p:nvPr/>
        </p:nvSpPr>
        <p:spPr>
          <a:xfrm>
            <a:off x="705728" y="4085207"/>
            <a:ext cx="458336" cy="216024"/>
          </a:xfrm>
          <a:prstGeom prst="rect">
            <a:avLst/>
          </a:prstGeom>
          <a:solidFill>
            <a:srgbClr val="00B050">
              <a:alpha val="50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95320A-14E9-413D-B39D-BF69885EB5D6}"/>
              </a:ext>
            </a:extLst>
          </p:cNvPr>
          <p:cNvCxnSpPr>
            <a:cxnSpLocks/>
            <a:stCxn id="122" idx="2"/>
            <a:endCxn id="123" idx="0"/>
          </p:cNvCxnSpPr>
          <p:nvPr/>
        </p:nvCxnSpPr>
        <p:spPr>
          <a:xfrm flipH="1">
            <a:off x="411066" y="3961608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C501E86-78E7-4EBF-844D-96C94E6F4C13}"/>
              </a:ext>
            </a:extLst>
          </p:cNvPr>
          <p:cNvCxnSpPr>
            <a:cxnSpLocks/>
            <a:stCxn id="122" idx="2"/>
            <a:endCxn id="124" idx="0"/>
          </p:cNvCxnSpPr>
          <p:nvPr/>
        </p:nvCxnSpPr>
        <p:spPr>
          <a:xfrm>
            <a:off x="682280" y="3961608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7C06EFE-3B8A-41FE-83EE-1D7E4890ADB7}"/>
              </a:ext>
            </a:extLst>
          </p:cNvPr>
          <p:cNvSpPr/>
          <p:nvPr/>
        </p:nvSpPr>
        <p:spPr>
          <a:xfrm>
            <a:off x="7529851" y="2551926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266175-F42C-4397-B242-635ED29AF21C}"/>
              </a:ext>
            </a:extLst>
          </p:cNvPr>
          <p:cNvSpPr/>
          <p:nvPr/>
        </p:nvSpPr>
        <p:spPr>
          <a:xfrm>
            <a:off x="7387097" y="2869806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A7D0A91-41E5-480D-BB5F-B8E2D11ACD85}"/>
              </a:ext>
            </a:extLst>
          </p:cNvPr>
          <p:cNvSpPr/>
          <p:nvPr/>
        </p:nvSpPr>
        <p:spPr>
          <a:xfrm>
            <a:off x="7716316" y="2890439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DC3DF8E-1A00-4E5D-93D2-CBB5AC5A85E6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 flipH="1">
            <a:off x="7501682" y="2722743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0D76757-B3F3-42DD-B60A-F4BD9D00F27C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7644435" y="2722743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A91C88A-8EA7-471C-96A0-A1EF34AF1464}"/>
              </a:ext>
            </a:extLst>
          </p:cNvPr>
          <p:cNvSpPr/>
          <p:nvPr/>
        </p:nvSpPr>
        <p:spPr>
          <a:xfrm>
            <a:off x="5732516" y="419033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7F399AF-1248-4B6D-B043-918D80E42F0C}"/>
              </a:ext>
            </a:extLst>
          </p:cNvPr>
          <p:cNvSpPr/>
          <p:nvPr/>
        </p:nvSpPr>
        <p:spPr>
          <a:xfrm>
            <a:off x="5497969" y="463434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B4A0ADC-F157-477F-A696-582E24E287B5}"/>
              </a:ext>
            </a:extLst>
          </p:cNvPr>
          <p:cNvSpPr/>
          <p:nvPr/>
        </p:nvSpPr>
        <p:spPr>
          <a:xfrm>
            <a:off x="6056354" y="462238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EB16B23-FC3E-4D70-864A-955A91DF55B9}"/>
              </a:ext>
            </a:extLst>
          </p:cNvPr>
          <p:cNvCxnSpPr>
            <a:cxnSpLocks/>
            <a:stCxn id="132" idx="2"/>
            <a:endCxn id="133" idx="0"/>
          </p:cNvCxnSpPr>
          <p:nvPr/>
        </p:nvCxnSpPr>
        <p:spPr>
          <a:xfrm flipH="1">
            <a:off x="5727137" y="4406362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7DC3524-AB90-4672-AC3A-71445251242B}"/>
              </a:ext>
            </a:extLst>
          </p:cNvPr>
          <p:cNvCxnSpPr>
            <a:cxnSpLocks/>
            <a:stCxn id="132" idx="2"/>
            <a:endCxn id="134" idx="0"/>
          </p:cNvCxnSpPr>
          <p:nvPr/>
        </p:nvCxnSpPr>
        <p:spPr>
          <a:xfrm>
            <a:off x="5961684" y="4406362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7DCB581-8767-46EF-85BF-5D08BB1C66E1}"/>
              </a:ext>
            </a:extLst>
          </p:cNvPr>
          <p:cNvSpPr/>
          <p:nvPr/>
        </p:nvSpPr>
        <p:spPr>
          <a:xfrm>
            <a:off x="5836829" y="3303748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9431383-3A33-4F6F-B7E4-BDC3663CCD53}"/>
              </a:ext>
            </a:extLst>
          </p:cNvPr>
          <p:cNvSpPr/>
          <p:nvPr/>
        </p:nvSpPr>
        <p:spPr>
          <a:xfrm>
            <a:off x="5674772" y="3666857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7AF2653-8279-488F-8847-7FFD62961089}"/>
              </a:ext>
            </a:extLst>
          </p:cNvPr>
          <p:cNvSpPr/>
          <p:nvPr/>
        </p:nvSpPr>
        <p:spPr>
          <a:xfrm>
            <a:off x="6003991" y="3687490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638D534-D73C-4BEA-A678-5A7C83D9E06A}"/>
              </a:ext>
            </a:extLst>
          </p:cNvPr>
          <p:cNvCxnSpPr>
            <a:cxnSpLocks/>
            <a:stCxn id="142" idx="2"/>
            <a:endCxn id="143" idx="0"/>
          </p:cNvCxnSpPr>
          <p:nvPr/>
        </p:nvCxnSpPr>
        <p:spPr>
          <a:xfrm flipH="1">
            <a:off x="5789357" y="3474565"/>
            <a:ext cx="162056" cy="192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5EE325D-1F51-47FA-B208-47500CF3F028}"/>
              </a:ext>
            </a:extLst>
          </p:cNvPr>
          <p:cNvCxnSpPr>
            <a:cxnSpLocks/>
            <a:stCxn id="142" idx="2"/>
            <a:endCxn id="144" idx="0"/>
          </p:cNvCxnSpPr>
          <p:nvPr/>
        </p:nvCxnSpPr>
        <p:spPr>
          <a:xfrm>
            <a:off x="5951413" y="3474565"/>
            <a:ext cx="167163" cy="212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FBBD7CB-353C-4BFB-80E5-7C809D45CAE7}"/>
              </a:ext>
            </a:extLst>
          </p:cNvPr>
          <p:cNvSpPr/>
          <p:nvPr/>
        </p:nvSpPr>
        <p:spPr>
          <a:xfrm>
            <a:off x="7355244" y="3244539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07B9B27-3BFC-4216-A1DE-1D0C6C2418FA}"/>
              </a:ext>
            </a:extLst>
          </p:cNvPr>
          <p:cNvSpPr/>
          <p:nvPr/>
        </p:nvSpPr>
        <p:spPr>
          <a:xfrm>
            <a:off x="7020272" y="3768010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6A41084-B8BB-4F01-928A-811DF6DB25EA}"/>
              </a:ext>
            </a:extLst>
          </p:cNvPr>
          <p:cNvSpPr/>
          <p:nvPr/>
        </p:nvSpPr>
        <p:spPr>
          <a:xfrm>
            <a:off x="7874197" y="3759884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BBAA2A0-C6C3-4640-A9D5-0A07BC317FE8}"/>
              </a:ext>
            </a:extLst>
          </p:cNvPr>
          <p:cNvCxnSpPr>
            <a:cxnSpLocks/>
            <a:stCxn id="147" idx="2"/>
            <a:endCxn id="148" idx="0"/>
          </p:cNvCxnSpPr>
          <p:nvPr/>
        </p:nvCxnSpPr>
        <p:spPr>
          <a:xfrm flipH="1">
            <a:off x="7360562" y="3493185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A65B1D2-58F2-4CBE-8FD4-5CADF809B9FB}"/>
              </a:ext>
            </a:extLst>
          </p:cNvPr>
          <p:cNvCxnSpPr>
            <a:cxnSpLocks/>
            <a:stCxn id="147" idx="2"/>
            <a:endCxn id="149" idx="0"/>
          </p:cNvCxnSpPr>
          <p:nvPr/>
        </p:nvCxnSpPr>
        <p:spPr>
          <a:xfrm>
            <a:off x="7710237" y="3493185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1835972-AEA4-438C-A83D-FF0C1327810E}"/>
              </a:ext>
            </a:extLst>
          </p:cNvPr>
          <p:cNvSpPr/>
          <p:nvPr/>
        </p:nvSpPr>
        <p:spPr>
          <a:xfrm>
            <a:off x="7621273" y="4333270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72F77EA-5242-421D-BB38-E3FDC283CCFB}"/>
              </a:ext>
            </a:extLst>
          </p:cNvPr>
          <p:cNvSpPr/>
          <p:nvPr/>
        </p:nvSpPr>
        <p:spPr>
          <a:xfrm>
            <a:off x="7447336" y="4698341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43FDC35-A401-42B7-BBD5-697CE42E803C}"/>
              </a:ext>
            </a:extLst>
          </p:cNvPr>
          <p:cNvSpPr/>
          <p:nvPr/>
        </p:nvSpPr>
        <p:spPr>
          <a:xfrm>
            <a:off x="7871223" y="4718975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A66352D-B8EF-4B5A-AC20-D714E94044A0}"/>
              </a:ext>
            </a:extLst>
          </p:cNvPr>
          <p:cNvCxnSpPr>
            <a:cxnSpLocks/>
            <a:stCxn id="152" idx="2"/>
            <a:endCxn id="153" idx="0"/>
          </p:cNvCxnSpPr>
          <p:nvPr/>
        </p:nvCxnSpPr>
        <p:spPr>
          <a:xfrm flipH="1">
            <a:off x="7609255" y="4477688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5B34CDC-EC01-4EF7-8C9B-C24845C311B2}"/>
              </a:ext>
            </a:extLst>
          </p:cNvPr>
          <p:cNvCxnSpPr>
            <a:cxnSpLocks/>
            <a:stCxn id="152" idx="2"/>
            <a:endCxn id="154" idx="0"/>
          </p:cNvCxnSpPr>
          <p:nvPr/>
        </p:nvCxnSpPr>
        <p:spPr>
          <a:xfrm>
            <a:off x="7783192" y="4477688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4C05804-6B6E-4884-AAC8-9850E99D2399}"/>
              </a:ext>
            </a:extLst>
          </p:cNvPr>
          <p:cNvSpPr/>
          <p:nvPr/>
        </p:nvSpPr>
        <p:spPr>
          <a:xfrm>
            <a:off x="5481836" y="2382755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BE6DCD8-68C3-43FE-8CA1-22937F32D0EB}"/>
              </a:ext>
            </a:extLst>
          </p:cNvPr>
          <p:cNvSpPr/>
          <p:nvPr/>
        </p:nvSpPr>
        <p:spPr>
          <a:xfrm>
            <a:off x="5146864" y="2906226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CD3758E-3EC8-4615-8439-6048A1F8FA5C}"/>
              </a:ext>
            </a:extLst>
          </p:cNvPr>
          <p:cNvSpPr/>
          <p:nvPr/>
        </p:nvSpPr>
        <p:spPr>
          <a:xfrm>
            <a:off x="6000789" y="2898100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6D6DEC6-0553-4515-977F-66BFF25CF27A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 flipH="1">
            <a:off x="5487154" y="2631401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1B38B7-F82E-43CD-BCE6-1922750B3656}"/>
              </a:ext>
            </a:extLst>
          </p:cNvPr>
          <p:cNvCxnSpPr>
            <a:cxnSpLocks/>
            <a:stCxn id="159" idx="2"/>
            <a:endCxn id="161" idx="0"/>
          </p:cNvCxnSpPr>
          <p:nvPr/>
        </p:nvCxnSpPr>
        <p:spPr>
          <a:xfrm>
            <a:off x="5836829" y="2631401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601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49.2 Stump of Trees by AdaBoost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8477" y="1277607"/>
            <a:ext cx="2722218" cy="60733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errors that the first stump makes …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7C06EFE-3B8A-41FE-83EE-1D7E4890ADB7}"/>
              </a:ext>
            </a:extLst>
          </p:cNvPr>
          <p:cNvSpPr/>
          <p:nvPr/>
        </p:nvSpPr>
        <p:spPr>
          <a:xfrm>
            <a:off x="6161526" y="2283537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266175-F42C-4397-B242-635ED29AF21C}"/>
              </a:ext>
            </a:extLst>
          </p:cNvPr>
          <p:cNvSpPr/>
          <p:nvPr/>
        </p:nvSpPr>
        <p:spPr>
          <a:xfrm>
            <a:off x="6018772" y="2601417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A7D0A91-41E5-480D-BB5F-B8E2D11ACD85}"/>
              </a:ext>
            </a:extLst>
          </p:cNvPr>
          <p:cNvSpPr/>
          <p:nvPr/>
        </p:nvSpPr>
        <p:spPr>
          <a:xfrm>
            <a:off x="6347991" y="2622050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DC3DF8E-1A00-4E5D-93D2-CBB5AC5A85E6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 flipH="1">
            <a:off x="6133357" y="2454354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0D76757-B3F3-42DD-B60A-F4BD9D00F27C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276110" y="2454354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4C05804-6B6E-4884-AAC8-9850E99D2399}"/>
              </a:ext>
            </a:extLst>
          </p:cNvPr>
          <p:cNvSpPr/>
          <p:nvPr/>
        </p:nvSpPr>
        <p:spPr>
          <a:xfrm>
            <a:off x="3372687" y="2306489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BE6DCD8-68C3-43FE-8CA1-22937F32D0EB}"/>
              </a:ext>
            </a:extLst>
          </p:cNvPr>
          <p:cNvSpPr/>
          <p:nvPr/>
        </p:nvSpPr>
        <p:spPr>
          <a:xfrm>
            <a:off x="3037715" y="2829960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CD3758E-3EC8-4615-8439-6048A1F8FA5C}"/>
              </a:ext>
            </a:extLst>
          </p:cNvPr>
          <p:cNvSpPr/>
          <p:nvPr/>
        </p:nvSpPr>
        <p:spPr>
          <a:xfrm>
            <a:off x="3891640" y="2821834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6D6DEC6-0553-4515-977F-66BFF25CF27A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 flipH="1">
            <a:off x="3378005" y="2555135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1B38B7-F82E-43CD-BCE6-1922750B3656}"/>
              </a:ext>
            </a:extLst>
          </p:cNvPr>
          <p:cNvCxnSpPr>
            <a:cxnSpLocks/>
            <a:stCxn id="159" idx="2"/>
            <a:endCxn id="161" idx="0"/>
          </p:cNvCxnSpPr>
          <p:nvPr/>
        </p:nvCxnSpPr>
        <p:spPr>
          <a:xfrm>
            <a:off x="3727680" y="2555135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2B372FE7-F452-4067-9548-D609B041666C}"/>
              </a:ext>
            </a:extLst>
          </p:cNvPr>
          <p:cNvSpPr/>
          <p:nvPr/>
        </p:nvSpPr>
        <p:spPr>
          <a:xfrm>
            <a:off x="4510040" y="2294147"/>
            <a:ext cx="987487" cy="462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副標題 2">
            <a:extLst>
              <a:ext uri="{FF2B5EF4-FFF2-40B4-BE49-F238E27FC236}">
                <a16:creationId xmlns:a16="http://schemas.microsoft.com/office/drawing/2014/main" id="{672FBAD8-95F5-476F-9AEA-251B46663FC9}"/>
              </a:ext>
            </a:extLst>
          </p:cNvPr>
          <p:cNvSpPr txBox="1">
            <a:spLocks/>
          </p:cNvSpPr>
          <p:nvPr/>
        </p:nvSpPr>
        <p:spPr>
          <a:xfrm>
            <a:off x="5580619" y="1258319"/>
            <a:ext cx="2039381" cy="89557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…influence how the second stump is made.</a:t>
            </a:r>
          </a:p>
        </p:txBody>
      </p:sp>
      <p:sp>
        <p:nvSpPr>
          <p:cNvPr id="138" name="副標題 2">
            <a:extLst>
              <a:ext uri="{FF2B5EF4-FFF2-40B4-BE49-F238E27FC236}">
                <a16:creationId xmlns:a16="http://schemas.microsoft.com/office/drawing/2014/main" id="{80371F9D-8532-4853-BFCE-5EC8134466AE}"/>
              </a:ext>
            </a:extLst>
          </p:cNvPr>
          <p:cNvSpPr txBox="1">
            <a:spLocks/>
          </p:cNvSpPr>
          <p:nvPr/>
        </p:nvSpPr>
        <p:spPr>
          <a:xfrm>
            <a:off x="5979939" y="2891752"/>
            <a:ext cx="2784103" cy="89441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…and the errors that the second stump makes...</a:t>
            </a:r>
          </a:p>
        </p:txBody>
      </p:sp>
      <p:sp>
        <p:nvSpPr>
          <p:cNvPr id="139" name="副標題 2">
            <a:extLst>
              <a:ext uri="{FF2B5EF4-FFF2-40B4-BE49-F238E27FC236}">
                <a16:creationId xmlns:a16="http://schemas.microsoft.com/office/drawing/2014/main" id="{75459D01-782A-4A76-B90B-0484B115F4F7}"/>
              </a:ext>
            </a:extLst>
          </p:cNvPr>
          <p:cNvSpPr txBox="1">
            <a:spLocks/>
          </p:cNvSpPr>
          <p:nvPr/>
        </p:nvSpPr>
        <p:spPr>
          <a:xfrm>
            <a:off x="781631" y="3716236"/>
            <a:ext cx="2784103" cy="95769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…influence how the third stump is made.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…etc., etc.,  and etc.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95953CA-947D-49A0-9FAE-859FD6CAF129}"/>
              </a:ext>
            </a:extLst>
          </p:cNvPr>
          <p:cNvSpPr/>
          <p:nvPr/>
        </p:nvSpPr>
        <p:spPr>
          <a:xfrm>
            <a:off x="4249256" y="3896626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24D530F-1924-4A17-9531-3D45A8EF0961}"/>
              </a:ext>
            </a:extLst>
          </p:cNvPr>
          <p:cNvSpPr/>
          <p:nvPr/>
        </p:nvSpPr>
        <p:spPr>
          <a:xfrm>
            <a:off x="4106502" y="4214506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AD50CD1-0F2B-4320-B9D2-88CD53EC25FD}"/>
              </a:ext>
            </a:extLst>
          </p:cNvPr>
          <p:cNvSpPr/>
          <p:nvPr/>
        </p:nvSpPr>
        <p:spPr>
          <a:xfrm>
            <a:off x="4435721" y="4235139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B71CAF5-712D-4E24-801A-DFC1174ACAD9}"/>
              </a:ext>
            </a:extLst>
          </p:cNvPr>
          <p:cNvCxnSpPr>
            <a:cxnSpLocks/>
            <a:stCxn id="140" idx="2"/>
            <a:endCxn id="141" idx="0"/>
          </p:cNvCxnSpPr>
          <p:nvPr/>
        </p:nvCxnSpPr>
        <p:spPr>
          <a:xfrm flipH="1">
            <a:off x="4221087" y="4067443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166589C-22D1-4096-A911-4E368D5F74B9}"/>
              </a:ext>
            </a:extLst>
          </p:cNvPr>
          <p:cNvCxnSpPr>
            <a:cxnSpLocks/>
            <a:stCxn id="140" idx="2"/>
            <a:endCxn id="157" idx="0"/>
          </p:cNvCxnSpPr>
          <p:nvPr/>
        </p:nvCxnSpPr>
        <p:spPr>
          <a:xfrm>
            <a:off x="4363840" y="4067443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7B58A95-8F55-4D56-AE2C-E127774DC2BB}"/>
              </a:ext>
            </a:extLst>
          </p:cNvPr>
          <p:cNvSpPr/>
          <p:nvPr/>
        </p:nvSpPr>
        <p:spPr>
          <a:xfrm rot="8539957">
            <a:off x="4507676" y="3394008"/>
            <a:ext cx="1328427" cy="360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Arrow: Right 164">
            <a:extLst>
              <a:ext uri="{FF2B5EF4-FFF2-40B4-BE49-F238E27FC236}">
                <a16:creationId xmlns:a16="http://schemas.microsoft.com/office/drawing/2014/main" id="{AA6C7568-2A7E-48CF-BFA5-4D5D9CE2F486}"/>
              </a:ext>
            </a:extLst>
          </p:cNvPr>
          <p:cNvSpPr/>
          <p:nvPr/>
        </p:nvSpPr>
        <p:spPr>
          <a:xfrm>
            <a:off x="4876439" y="4054794"/>
            <a:ext cx="987487" cy="462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185D688-4874-4464-8E2A-E38EBEE3F366}"/>
              </a:ext>
            </a:extLst>
          </p:cNvPr>
          <p:cNvSpPr/>
          <p:nvPr/>
        </p:nvSpPr>
        <p:spPr>
          <a:xfrm>
            <a:off x="6462576" y="4150460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5C30457-11C0-4541-AD4E-4811D15D98F9}"/>
              </a:ext>
            </a:extLst>
          </p:cNvPr>
          <p:cNvSpPr/>
          <p:nvPr/>
        </p:nvSpPr>
        <p:spPr>
          <a:xfrm>
            <a:off x="6127604" y="467393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19F0419-EAC4-49AC-B901-A5114CCFC093}"/>
              </a:ext>
            </a:extLst>
          </p:cNvPr>
          <p:cNvSpPr/>
          <p:nvPr/>
        </p:nvSpPr>
        <p:spPr>
          <a:xfrm>
            <a:off x="6981529" y="4665805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80C78C4-9CD2-47B2-BB5D-9D23C815F22B}"/>
              </a:ext>
            </a:extLst>
          </p:cNvPr>
          <p:cNvCxnSpPr>
            <a:cxnSpLocks/>
            <a:stCxn id="171" idx="2"/>
            <a:endCxn id="172" idx="0"/>
          </p:cNvCxnSpPr>
          <p:nvPr/>
        </p:nvCxnSpPr>
        <p:spPr>
          <a:xfrm flipH="1">
            <a:off x="6467894" y="4399106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288B6037-CBAD-4D69-A0FB-3230D81C9C86}"/>
              </a:ext>
            </a:extLst>
          </p:cNvPr>
          <p:cNvCxnSpPr>
            <a:cxnSpLocks/>
            <a:stCxn id="171" idx="2"/>
            <a:endCxn id="173" idx="0"/>
          </p:cNvCxnSpPr>
          <p:nvPr/>
        </p:nvCxnSpPr>
        <p:spPr>
          <a:xfrm>
            <a:off x="6817569" y="4399106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Arrow: Right 175">
            <a:extLst>
              <a:ext uri="{FF2B5EF4-FFF2-40B4-BE49-F238E27FC236}">
                <a16:creationId xmlns:a16="http://schemas.microsoft.com/office/drawing/2014/main" id="{20806968-C998-47FB-BD12-E449BAB8AA3E}"/>
              </a:ext>
            </a:extLst>
          </p:cNvPr>
          <p:cNvSpPr/>
          <p:nvPr/>
        </p:nvSpPr>
        <p:spPr>
          <a:xfrm rot="8121502">
            <a:off x="4753382" y="4939145"/>
            <a:ext cx="1328427" cy="360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E0958A6-A975-4CDD-945C-74E292418C70}"/>
              </a:ext>
            </a:extLst>
          </p:cNvPr>
          <p:cNvSpPr/>
          <p:nvPr/>
        </p:nvSpPr>
        <p:spPr>
          <a:xfrm>
            <a:off x="3761775" y="5355376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5442043-72EC-4239-8467-79A2FBA3B37D}"/>
              </a:ext>
            </a:extLst>
          </p:cNvPr>
          <p:cNvSpPr/>
          <p:nvPr/>
        </p:nvSpPr>
        <p:spPr>
          <a:xfrm>
            <a:off x="3426803" y="5878847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F2F9C1B-A670-4CBD-8342-0AE73687E93C}"/>
              </a:ext>
            </a:extLst>
          </p:cNvPr>
          <p:cNvSpPr/>
          <p:nvPr/>
        </p:nvSpPr>
        <p:spPr>
          <a:xfrm>
            <a:off x="4280728" y="5870721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32F280C-826E-4605-8CF2-B9D3EB967E59}"/>
              </a:ext>
            </a:extLst>
          </p:cNvPr>
          <p:cNvCxnSpPr>
            <a:cxnSpLocks/>
            <a:stCxn id="177" idx="2"/>
            <a:endCxn id="178" idx="0"/>
          </p:cNvCxnSpPr>
          <p:nvPr/>
        </p:nvCxnSpPr>
        <p:spPr>
          <a:xfrm flipH="1">
            <a:off x="3767093" y="5604022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AEB7076A-3EE8-4DD2-8A17-BF3BDDB1A325}"/>
              </a:ext>
            </a:extLst>
          </p:cNvPr>
          <p:cNvCxnSpPr>
            <a:cxnSpLocks/>
            <a:stCxn id="177" idx="2"/>
            <a:endCxn id="179" idx="0"/>
          </p:cNvCxnSpPr>
          <p:nvPr/>
        </p:nvCxnSpPr>
        <p:spPr>
          <a:xfrm>
            <a:off x="4116768" y="5604022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8BCF5B0A-0D62-461C-B878-9DF7956339AF}"/>
              </a:ext>
            </a:extLst>
          </p:cNvPr>
          <p:cNvSpPr/>
          <p:nvPr/>
        </p:nvSpPr>
        <p:spPr>
          <a:xfrm>
            <a:off x="5032313" y="5578685"/>
            <a:ext cx="987487" cy="462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D40E8C2-65C8-4B9E-8066-D48BE77A4828}"/>
              </a:ext>
            </a:extLst>
          </p:cNvPr>
          <p:cNvSpPr/>
          <p:nvPr/>
        </p:nvSpPr>
        <p:spPr>
          <a:xfrm>
            <a:off x="6553200" y="5338823"/>
            <a:ext cx="457722" cy="2066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73F20F5-1E72-45E5-BBA7-22F4970CEB5F}"/>
              </a:ext>
            </a:extLst>
          </p:cNvPr>
          <p:cNvSpPr/>
          <p:nvPr/>
        </p:nvSpPr>
        <p:spPr>
          <a:xfrm>
            <a:off x="6335164" y="5787972"/>
            <a:ext cx="469177" cy="2066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924B047-150D-43F6-B529-1D83563F20D7}"/>
              </a:ext>
            </a:extLst>
          </p:cNvPr>
          <p:cNvSpPr/>
          <p:nvPr/>
        </p:nvSpPr>
        <p:spPr>
          <a:xfrm>
            <a:off x="6966641" y="5750020"/>
            <a:ext cx="469177" cy="24457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D7D858E-8D43-4F1A-874A-E214F2E43D84}"/>
              </a:ext>
            </a:extLst>
          </p:cNvPr>
          <p:cNvCxnSpPr>
            <a:cxnSpLocks/>
            <a:stCxn id="183" idx="2"/>
            <a:endCxn id="184" idx="0"/>
          </p:cNvCxnSpPr>
          <p:nvPr/>
        </p:nvCxnSpPr>
        <p:spPr>
          <a:xfrm flipH="1">
            <a:off x="6569753" y="5545444"/>
            <a:ext cx="212308" cy="242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2839CECB-BC0C-4066-9855-017FFC3EDC82}"/>
              </a:ext>
            </a:extLst>
          </p:cNvPr>
          <p:cNvCxnSpPr>
            <a:cxnSpLocks/>
            <a:stCxn id="183" idx="2"/>
            <a:endCxn id="185" idx="0"/>
          </p:cNvCxnSpPr>
          <p:nvPr/>
        </p:nvCxnSpPr>
        <p:spPr>
          <a:xfrm>
            <a:off x="6782061" y="5545444"/>
            <a:ext cx="419169" cy="204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467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49.2 Stump of Trees by AdaBoost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1242813"/>
            <a:ext cx="4834328" cy="156613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To review AdaBoost 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three ideas behind </a:t>
            </a:r>
            <a:r>
              <a:rPr lang="en-US" sz="1800" b="1" dirty="0">
                <a:solidFill>
                  <a:srgbClr val="C00000"/>
                </a:solidFill>
              </a:rPr>
              <a:t>AdaBoost </a:t>
            </a:r>
            <a:r>
              <a:rPr lang="en-US" sz="1800" b="1" dirty="0">
                <a:solidFill>
                  <a:schemeClr val="tx1"/>
                </a:solidFill>
              </a:rPr>
              <a:t>are: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1) </a:t>
            </a:r>
            <a:r>
              <a:rPr lang="en-US" sz="1800" b="1" dirty="0">
                <a:solidFill>
                  <a:srgbClr val="C00000"/>
                </a:solidFill>
              </a:rPr>
              <a:t>AdaBoost </a:t>
            </a:r>
            <a:r>
              <a:rPr lang="en-US" sz="1800" b="1" dirty="0">
                <a:solidFill>
                  <a:schemeClr val="tx1"/>
                </a:solidFill>
              </a:rPr>
              <a:t>combines a lot of “weak learners” to make classification. The weak learners are almost always </a:t>
            </a:r>
            <a:r>
              <a:rPr lang="en-US" sz="1800" b="1" dirty="0">
                <a:solidFill>
                  <a:srgbClr val="C00000"/>
                </a:solidFill>
              </a:rPr>
              <a:t>stumps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4C05804-6B6E-4884-AAC8-9850E99D2399}"/>
              </a:ext>
            </a:extLst>
          </p:cNvPr>
          <p:cNvSpPr/>
          <p:nvPr/>
        </p:nvSpPr>
        <p:spPr>
          <a:xfrm>
            <a:off x="736686" y="2927016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BE6DCD8-68C3-43FE-8CA1-22937F32D0EB}"/>
              </a:ext>
            </a:extLst>
          </p:cNvPr>
          <p:cNvSpPr/>
          <p:nvPr/>
        </p:nvSpPr>
        <p:spPr>
          <a:xfrm>
            <a:off x="401714" y="3450487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CD3758E-3EC8-4615-8439-6048A1F8FA5C}"/>
              </a:ext>
            </a:extLst>
          </p:cNvPr>
          <p:cNvSpPr/>
          <p:nvPr/>
        </p:nvSpPr>
        <p:spPr>
          <a:xfrm>
            <a:off x="1255639" y="3442361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6D6DEC6-0553-4515-977F-66BFF25CF27A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 flipH="1">
            <a:off x="742004" y="3175662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1B38B7-F82E-43CD-BCE6-1922750B3656}"/>
              </a:ext>
            </a:extLst>
          </p:cNvPr>
          <p:cNvCxnSpPr>
            <a:cxnSpLocks/>
            <a:stCxn id="159" idx="2"/>
            <a:endCxn id="161" idx="0"/>
          </p:cNvCxnSpPr>
          <p:nvPr/>
        </p:nvCxnSpPr>
        <p:spPr>
          <a:xfrm>
            <a:off x="1091679" y="3175662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97B452A-B0C2-49F1-BC28-DDB105D9B901}"/>
              </a:ext>
            </a:extLst>
          </p:cNvPr>
          <p:cNvSpPr/>
          <p:nvPr/>
        </p:nvSpPr>
        <p:spPr>
          <a:xfrm>
            <a:off x="736686" y="3875244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E1F1A93-BA2F-4588-9867-66129904BD0B}"/>
              </a:ext>
            </a:extLst>
          </p:cNvPr>
          <p:cNvSpPr/>
          <p:nvPr/>
        </p:nvSpPr>
        <p:spPr>
          <a:xfrm>
            <a:off x="401714" y="4398715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F8DB528-73D4-469E-A1A6-32F8ACC2DF00}"/>
              </a:ext>
            </a:extLst>
          </p:cNvPr>
          <p:cNvSpPr/>
          <p:nvPr/>
        </p:nvSpPr>
        <p:spPr>
          <a:xfrm>
            <a:off x="1255639" y="4390589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4AA8671-4CF2-4209-9A89-FF97111482FA}"/>
              </a:ext>
            </a:extLst>
          </p:cNvPr>
          <p:cNvCxnSpPr>
            <a:cxnSpLocks/>
            <a:stCxn id="137" idx="2"/>
            <a:endCxn id="138" idx="0"/>
          </p:cNvCxnSpPr>
          <p:nvPr/>
        </p:nvCxnSpPr>
        <p:spPr>
          <a:xfrm flipH="1">
            <a:off x="742004" y="4123890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15C8E86-2A20-44A8-91BC-504E576ABD46}"/>
              </a:ext>
            </a:extLst>
          </p:cNvPr>
          <p:cNvCxnSpPr>
            <a:cxnSpLocks/>
            <a:stCxn id="137" idx="2"/>
            <a:endCxn id="139" idx="0"/>
          </p:cNvCxnSpPr>
          <p:nvPr/>
        </p:nvCxnSpPr>
        <p:spPr>
          <a:xfrm>
            <a:off x="1091679" y="4123890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8AF22AD-A217-4033-A973-8E00D79C0B42}"/>
              </a:ext>
            </a:extLst>
          </p:cNvPr>
          <p:cNvSpPr/>
          <p:nvPr/>
        </p:nvSpPr>
        <p:spPr>
          <a:xfrm>
            <a:off x="839415" y="4831598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ACBE220-563C-417C-B245-BC801E761467}"/>
              </a:ext>
            </a:extLst>
          </p:cNvPr>
          <p:cNvSpPr/>
          <p:nvPr/>
        </p:nvSpPr>
        <p:spPr>
          <a:xfrm>
            <a:off x="504443" y="5355069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775DD01-5EF8-43AC-A82F-2986F9F13773}"/>
              </a:ext>
            </a:extLst>
          </p:cNvPr>
          <p:cNvSpPr/>
          <p:nvPr/>
        </p:nvSpPr>
        <p:spPr>
          <a:xfrm>
            <a:off x="1358368" y="5346943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0181967-9B9A-4AB2-AACA-22065B6A3EFD}"/>
              </a:ext>
            </a:extLst>
          </p:cNvPr>
          <p:cNvCxnSpPr>
            <a:cxnSpLocks/>
            <a:stCxn id="157" idx="2"/>
            <a:endCxn id="158" idx="0"/>
          </p:cNvCxnSpPr>
          <p:nvPr/>
        </p:nvCxnSpPr>
        <p:spPr>
          <a:xfrm flipH="1">
            <a:off x="844733" y="5080244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E31EB62-C171-4FC6-BDAB-FD0A1EC07D27}"/>
              </a:ext>
            </a:extLst>
          </p:cNvPr>
          <p:cNvCxnSpPr>
            <a:cxnSpLocks/>
            <a:stCxn id="157" idx="2"/>
            <a:endCxn id="164" idx="0"/>
          </p:cNvCxnSpPr>
          <p:nvPr/>
        </p:nvCxnSpPr>
        <p:spPr>
          <a:xfrm>
            <a:off x="1194408" y="5080244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副標題 2">
            <a:extLst>
              <a:ext uri="{FF2B5EF4-FFF2-40B4-BE49-F238E27FC236}">
                <a16:creationId xmlns:a16="http://schemas.microsoft.com/office/drawing/2014/main" id="{F1DE1E8D-E29B-4904-981A-49CCC1682228}"/>
              </a:ext>
            </a:extLst>
          </p:cNvPr>
          <p:cNvSpPr txBox="1">
            <a:spLocks/>
          </p:cNvSpPr>
          <p:nvPr/>
        </p:nvSpPr>
        <p:spPr>
          <a:xfrm>
            <a:off x="2379899" y="2951917"/>
            <a:ext cx="3528392" cy="95416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2) Some </a:t>
            </a:r>
            <a:r>
              <a:rPr lang="en-US" sz="1800" b="1" dirty="0">
                <a:solidFill>
                  <a:srgbClr val="C00000"/>
                </a:solidFill>
              </a:rPr>
              <a:t>stumps </a:t>
            </a:r>
            <a:r>
              <a:rPr lang="en-US" sz="1800" b="1" dirty="0">
                <a:solidFill>
                  <a:schemeClr val="tx1"/>
                </a:solidFill>
              </a:rPr>
              <a:t>get more say (vote) in the classification than others.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24B7671-40CE-4DE3-ADD8-D37B9A2958FF}"/>
              </a:ext>
            </a:extLst>
          </p:cNvPr>
          <p:cNvSpPr/>
          <p:nvPr/>
        </p:nvSpPr>
        <p:spPr>
          <a:xfrm>
            <a:off x="3972670" y="5707347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8D3BB43-4D38-475E-AC8D-DBC84570EF36}"/>
              </a:ext>
            </a:extLst>
          </p:cNvPr>
          <p:cNvSpPr/>
          <p:nvPr/>
        </p:nvSpPr>
        <p:spPr>
          <a:xfrm>
            <a:off x="3738123" y="615135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64FE29B-6C30-4555-9459-A8DD47CD3757}"/>
              </a:ext>
            </a:extLst>
          </p:cNvPr>
          <p:cNvSpPr/>
          <p:nvPr/>
        </p:nvSpPr>
        <p:spPr>
          <a:xfrm>
            <a:off x="4296508" y="613939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3E26354-B7FA-45CE-946E-DA83D87554B9}"/>
              </a:ext>
            </a:extLst>
          </p:cNvPr>
          <p:cNvCxnSpPr>
            <a:cxnSpLocks/>
            <a:stCxn id="168" idx="2"/>
            <a:endCxn id="169" idx="0"/>
          </p:cNvCxnSpPr>
          <p:nvPr/>
        </p:nvCxnSpPr>
        <p:spPr>
          <a:xfrm flipH="1">
            <a:off x="3967291" y="5923371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C651013D-6FDF-45F9-8F81-2DB3B6E45B4F}"/>
              </a:ext>
            </a:extLst>
          </p:cNvPr>
          <p:cNvCxnSpPr>
            <a:cxnSpLocks/>
            <a:stCxn id="168" idx="2"/>
            <a:endCxn id="170" idx="0"/>
          </p:cNvCxnSpPr>
          <p:nvPr/>
        </p:nvCxnSpPr>
        <p:spPr>
          <a:xfrm>
            <a:off x="4201838" y="5923371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1BAA-449D-4482-BA8D-D8FFE718B8D5}"/>
              </a:ext>
            </a:extLst>
          </p:cNvPr>
          <p:cNvSpPr/>
          <p:nvPr/>
        </p:nvSpPr>
        <p:spPr>
          <a:xfrm>
            <a:off x="4076983" y="4983305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F343EFA-D970-4E82-B2DC-F8CD94B6A2B5}"/>
              </a:ext>
            </a:extLst>
          </p:cNvPr>
          <p:cNvSpPr/>
          <p:nvPr/>
        </p:nvSpPr>
        <p:spPr>
          <a:xfrm>
            <a:off x="3914926" y="5346414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9D15D9C-B8E1-47F8-B99C-93F32453BF0D}"/>
              </a:ext>
            </a:extLst>
          </p:cNvPr>
          <p:cNvSpPr/>
          <p:nvPr/>
        </p:nvSpPr>
        <p:spPr>
          <a:xfrm>
            <a:off x="4244145" y="5367047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04B2134-961C-495E-9327-6FB6F11C8AC2}"/>
              </a:ext>
            </a:extLst>
          </p:cNvPr>
          <p:cNvCxnSpPr>
            <a:cxnSpLocks/>
            <a:stCxn id="173" idx="2"/>
            <a:endCxn id="174" idx="0"/>
          </p:cNvCxnSpPr>
          <p:nvPr/>
        </p:nvCxnSpPr>
        <p:spPr>
          <a:xfrm flipH="1">
            <a:off x="4029511" y="5154122"/>
            <a:ext cx="162056" cy="192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21434CE9-D4A4-4928-A459-3F1CD5A5A266}"/>
              </a:ext>
            </a:extLst>
          </p:cNvPr>
          <p:cNvCxnSpPr>
            <a:cxnSpLocks/>
            <a:stCxn id="173" idx="2"/>
            <a:endCxn id="175" idx="0"/>
          </p:cNvCxnSpPr>
          <p:nvPr/>
        </p:nvCxnSpPr>
        <p:spPr>
          <a:xfrm>
            <a:off x="4191567" y="5154122"/>
            <a:ext cx="167163" cy="212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D90EF91-D379-4BD2-A64C-C932307707D9}"/>
              </a:ext>
            </a:extLst>
          </p:cNvPr>
          <p:cNvSpPr/>
          <p:nvPr/>
        </p:nvSpPr>
        <p:spPr>
          <a:xfrm>
            <a:off x="3721990" y="4062312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463ABC2-7AB1-403D-A71E-7BB639ECC095}"/>
              </a:ext>
            </a:extLst>
          </p:cNvPr>
          <p:cNvSpPr/>
          <p:nvPr/>
        </p:nvSpPr>
        <p:spPr>
          <a:xfrm>
            <a:off x="3387018" y="4585783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2C18B01-5E67-4093-BD98-14BED150E53A}"/>
              </a:ext>
            </a:extLst>
          </p:cNvPr>
          <p:cNvSpPr/>
          <p:nvPr/>
        </p:nvSpPr>
        <p:spPr>
          <a:xfrm>
            <a:off x="4240943" y="4577657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98B38BCB-8DC4-480D-9100-C6F71BA25F24}"/>
              </a:ext>
            </a:extLst>
          </p:cNvPr>
          <p:cNvCxnSpPr>
            <a:cxnSpLocks/>
            <a:stCxn id="178" idx="2"/>
            <a:endCxn id="179" idx="0"/>
          </p:cNvCxnSpPr>
          <p:nvPr/>
        </p:nvCxnSpPr>
        <p:spPr>
          <a:xfrm flipH="1">
            <a:off x="3727308" y="4310958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A497BB11-5721-4FD1-A6E3-952448A52D18}"/>
              </a:ext>
            </a:extLst>
          </p:cNvPr>
          <p:cNvCxnSpPr>
            <a:cxnSpLocks/>
            <a:stCxn id="178" idx="2"/>
            <a:endCxn id="180" idx="0"/>
          </p:cNvCxnSpPr>
          <p:nvPr/>
        </p:nvCxnSpPr>
        <p:spPr>
          <a:xfrm>
            <a:off x="4076983" y="4310958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副標題 2">
            <a:extLst>
              <a:ext uri="{FF2B5EF4-FFF2-40B4-BE49-F238E27FC236}">
                <a16:creationId xmlns:a16="http://schemas.microsoft.com/office/drawing/2014/main" id="{5AFA670B-CCC7-4652-AD30-456F961FAF6A}"/>
              </a:ext>
            </a:extLst>
          </p:cNvPr>
          <p:cNvSpPr txBox="1">
            <a:spLocks/>
          </p:cNvSpPr>
          <p:nvPr/>
        </p:nvSpPr>
        <p:spPr>
          <a:xfrm>
            <a:off x="5232549" y="1240352"/>
            <a:ext cx="3528392" cy="95416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3) Each </a:t>
            </a:r>
            <a:r>
              <a:rPr lang="en-US" sz="1800" b="1" dirty="0">
                <a:solidFill>
                  <a:srgbClr val="C00000"/>
                </a:solidFill>
              </a:rPr>
              <a:t>stump </a:t>
            </a:r>
            <a:r>
              <a:rPr lang="en-US" sz="1800" b="1" dirty="0">
                <a:solidFill>
                  <a:schemeClr val="tx1"/>
                </a:solidFill>
              </a:rPr>
              <a:t>is made by taking the previous stump’s mistakes into account. 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69844809-C75B-4825-BDA2-9AEEDCD0077A}"/>
              </a:ext>
            </a:extLst>
          </p:cNvPr>
          <p:cNvSpPr/>
          <p:nvPr/>
        </p:nvSpPr>
        <p:spPr>
          <a:xfrm>
            <a:off x="6941692" y="238185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1287D00-FBE6-4779-823B-66D5C126BA37}"/>
              </a:ext>
            </a:extLst>
          </p:cNvPr>
          <p:cNvSpPr/>
          <p:nvPr/>
        </p:nvSpPr>
        <p:spPr>
          <a:xfrm>
            <a:off x="6707145" y="282586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D16BF7A-782C-495A-B10E-22CD23232DBD}"/>
              </a:ext>
            </a:extLst>
          </p:cNvPr>
          <p:cNvSpPr/>
          <p:nvPr/>
        </p:nvSpPr>
        <p:spPr>
          <a:xfrm>
            <a:off x="7265530" y="281390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85A64A0-CD16-4FF7-AD28-ED30D9AC4C4D}"/>
              </a:ext>
            </a:extLst>
          </p:cNvPr>
          <p:cNvCxnSpPr>
            <a:cxnSpLocks/>
            <a:stCxn id="184" idx="2"/>
            <a:endCxn id="185" idx="0"/>
          </p:cNvCxnSpPr>
          <p:nvPr/>
        </p:nvCxnSpPr>
        <p:spPr>
          <a:xfrm flipH="1">
            <a:off x="6936313" y="2597883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36763664-E842-43F1-A0D0-42F751AABD0E}"/>
              </a:ext>
            </a:extLst>
          </p:cNvPr>
          <p:cNvCxnSpPr>
            <a:cxnSpLocks/>
            <a:stCxn id="184" idx="2"/>
            <a:endCxn id="186" idx="0"/>
          </p:cNvCxnSpPr>
          <p:nvPr/>
        </p:nvCxnSpPr>
        <p:spPr>
          <a:xfrm>
            <a:off x="7170860" y="2597883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672E735-0462-4E64-8EF6-80E9C8CD6EEE}"/>
              </a:ext>
            </a:extLst>
          </p:cNvPr>
          <p:cNvSpPr/>
          <p:nvPr/>
        </p:nvSpPr>
        <p:spPr>
          <a:xfrm>
            <a:off x="7127997" y="3903185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6A97AAB-9241-4290-B803-4614B03E4BAD}"/>
              </a:ext>
            </a:extLst>
          </p:cNvPr>
          <p:cNvSpPr/>
          <p:nvPr/>
        </p:nvSpPr>
        <p:spPr>
          <a:xfrm>
            <a:off x="6965940" y="4266294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DDE56127-347B-469B-BA25-7B13ECC10072}"/>
              </a:ext>
            </a:extLst>
          </p:cNvPr>
          <p:cNvSpPr/>
          <p:nvPr/>
        </p:nvSpPr>
        <p:spPr>
          <a:xfrm>
            <a:off x="7295159" y="4286927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56DA4B2D-B6CE-417E-AD71-9CB433F030C6}"/>
              </a:ext>
            </a:extLst>
          </p:cNvPr>
          <p:cNvCxnSpPr>
            <a:cxnSpLocks/>
            <a:stCxn id="189" idx="2"/>
            <a:endCxn id="190" idx="0"/>
          </p:cNvCxnSpPr>
          <p:nvPr/>
        </p:nvCxnSpPr>
        <p:spPr>
          <a:xfrm flipH="1">
            <a:off x="7080525" y="4074002"/>
            <a:ext cx="162056" cy="192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A0D80BF6-A91E-4577-A488-699CE11BA62D}"/>
              </a:ext>
            </a:extLst>
          </p:cNvPr>
          <p:cNvCxnSpPr>
            <a:cxnSpLocks/>
            <a:stCxn id="189" idx="2"/>
            <a:endCxn id="191" idx="0"/>
          </p:cNvCxnSpPr>
          <p:nvPr/>
        </p:nvCxnSpPr>
        <p:spPr>
          <a:xfrm>
            <a:off x="7242581" y="4074002"/>
            <a:ext cx="167163" cy="212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694F74D-DDA9-4CAA-8256-B270CD8E34E5}"/>
              </a:ext>
            </a:extLst>
          </p:cNvPr>
          <p:cNvSpPr/>
          <p:nvPr/>
        </p:nvSpPr>
        <p:spPr>
          <a:xfrm>
            <a:off x="6993916" y="5207310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5DA86E81-5C2E-41DF-804B-739F9CF94EB3}"/>
              </a:ext>
            </a:extLst>
          </p:cNvPr>
          <p:cNvSpPr/>
          <p:nvPr/>
        </p:nvSpPr>
        <p:spPr>
          <a:xfrm>
            <a:off x="6658944" y="573078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2950B78F-99F4-442E-BA98-9CB41D1D10A5}"/>
              </a:ext>
            </a:extLst>
          </p:cNvPr>
          <p:cNvSpPr/>
          <p:nvPr/>
        </p:nvSpPr>
        <p:spPr>
          <a:xfrm>
            <a:off x="7512869" y="5722655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49C22606-5A28-4D4C-8C99-058E50C98ADD}"/>
              </a:ext>
            </a:extLst>
          </p:cNvPr>
          <p:cNvCxnSpPr>
            <a:cxnSpLocks/>
            <a:stCxn id="194" idx="2"/>
            <a:endCxn id="195" idx="0"/>
          </p:cNvCxnSpPr>
          <p:nvPr/>
        </p:nvCxnSpPr>
        <p:spPr>
          <a:xfrm flipH="1">
            <a:off x="6999234" y="5455956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28B39DDF-F07A-4B0B-AB7C-2E655291E6B7}"/>
              </a:ext>
            </a:extLst>
          </p:cNvPr>
          <p:cNvCxnSpPr>
            <a:cxnSpLocks/>
            <a:stCxn id="194" idx="2"/>
            <a:endCxn id="196" idx="0"/>
          </p:cNvCxnSpPr>
          <p:nvPr/>
        </p:nvCxnSpPr>
        <p:spPr>
          <a:xfrm>
            <a:off x="7348909" y="5455956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Down 7">
            <a:extLst>
              <a:ext uri="{FF2B5EF4-FFF2-40B4-BE49-F238E27FC236}">
                <a16:creationId xmlns:a16="http://schemas.microsoft.com/office/drawing/2014/main" id="{00CA288C-9ABC-46D4-B0B4-1924AEC481E3}"/>
              </a:ext>
            </a:extLst>
          </p:cNvPr>
          <p:cNvSpPr/>
          <p:nvPr/>
        </p:nvSpPr>
        <p:spPr>
          <a:xfrm>
            <a:off x="7103748" y="3199958"/>
            <a:ext cx="323838" cy="53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Arrow: Down 198">
            <a:extLst>
              <a:ext uri="{FF2B5EF4-FFF2-40B4-BE49-F238E27FC236}">
                <a16:creationId xmlns:a16="http://schemas.microsoft.com/office/drawing/2014/main" id="{547428A6-EE41-429B-9D34-3AC9A7C2D968}"/>
              </a:ext>
            </a:extLst>
          </p:cNvPr>
          <p:cNvSpPr/>
          <p:nvPr/>
        </p:nvSpPr>
        <p:spPr>
          <a:xfrm>
            <a:off x="7133222" y="4545886"/>
            <a:ext cx="323838" cy="53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49.3 Create Detail of Stump of Trees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10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49.3 Create Detail of Stump of Trees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4"/>
            <a:ext cx="8136905" cy="959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discuss nitty-gritty details of how to create of </a:t>
            </a:r>
            <a:r>
              <a:rPr lang="en-US" sz="1800" b="1" dirty="0">
                <a:solidFill>
                  <a:srgbClr val="C00000"/>
                </a:solidFill>
              </a:rPr>
              <a:t>Forest of Stump </a:t>
            </a:r>
            <a:r>
              <a:rPr lang="en-US" sz="1800" b="1" dirty="0">
                <a:solidFill>
                  <a:schemeClr val="tx1"/>
                </a:solidFill>
              </a:rPr>
              <a:t>using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First, we start with some data as below: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20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D3AE86B8-AAA7-429E-A55A-4FD489136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585002"/>
              </p:ext>
            </p:extLst>
          </p:nvPr>
        </p:nvGraphicFramePr>
        <p:xfrm>
          <a:off x="472955" y="2562107"/>
          <a:ext cx="272535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87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1F710114-F1B0-4677-82D1-B4CD38EFF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495607"/>
              </p:ext>
            </p:extLst>
          </p:nvPr>
        </p:nvGraphicFramePr>
        <p:xfrm>
          <a:off x="472955" y="2885400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49.3 Create Detail of Stump of Trees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2"/>
            <a:ext cx="8136905" cy="128254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create a </a:t>
            </a:r>
            <a:r>
              <a:rPr lang="en-US" sz="1800" b="1" dirty="0">
                <a:solidFill>
                  <a:srgbClr val="C00000"/>
                </a:solidFill>
              </a:rPr>
              <a:t>Forest of Stumps </a:t>
            </a:r>
            <a:r>
              <a:rPr lang="en-US" sz="1800" b="1" dirty="0">
                <a:solidFill>
                  <a:schemeClr val="tx1"/>
                </a:solidFill>
              </a:rPr>
              <a:t>with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 to predict if the patient has Heart Disease.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will make these predictions based on a patient’s </a:t>
            </a:r>
            <a:r>
              <a:rPr lang="en-US" sz="1800" b="1" dirty="0">
                <a:solidFill>
                  <a:srgbClr val="C00000"/>
                </a:solidFill>
              </a:rPr>
              <a:t>Chest Pain </a:t>
            </a:r>
            <a:r>
              <a:rPr lang="en-US" sz="1800" b="1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rgbClr val="C00000"/>
                </a:solidFill>
              </a:rPr>
              <a:t>Blocked Artery </a:t>
            </a:r>
            <a:r>
              <a:rPr lang="en-US" sz="1800" b="1" dirty="0">
                <a:solidFill>
                  <a:schemeClr val="tx1"/>
                </a:solidFill>
              </a:rPr>
              <a:t>status and their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B3D09F-DDFC-41A8-B908-FFAD1A1CD21A}"/>
              </a:ext>
            </a:extLst>
          </p:cNvPr>
          <p:cNvSpPr/>
          <p:nvPr/>
        </p:nvSpPr>
        <p:spPr>
          <a:xfrm>
            <a:off x="323527" y="2708920"/>
            <a:ext cx="2267273" cy="3744416"/>
          </a:xfrm>
          <a:prstGeom prst="roundRect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FB9719-296D-4364-8DCF-B9181C0811B2}"/>
              </a:ext>
            </a:extLst>
          </p:cNvPr>
          <p:cNvSpPr/>
          <p:nvPr/>
        </p:nvSpPr>
        <p:spPr>
          <a:xfrm>
            <a:off x="2445745" y="2368627"/>
            <a:ext cx="330506" cy="418640"/>
          </a:xfrm>
          <a:custGeom>
            <a:avLst/>
            <a:gdLst>
              <a:gd name="connsiteX0" fmla="*/ 330506 w 330506"/>
              <a:gd name="connsiteY0" fmla="*/ 0 h 418640"/>
              <a:gd name="connsiteX1" fmla="*/ 0 w 330506"/>
              <a:gd name="connsiteY1" fmla="*/ 418640 h 41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0506" h="418640">
                <a:moveTo>
                  <a:pt x="330506" y="0"/>
                </a:moveTo>
                <a:lnTo>
                  <a:pt x="0" y="418640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44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1F710114-F1B0-4677-82D1-B4CD38EFF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378741"/>
              </p:ext>
            </p:extLst>
          </p:nvPr>
        </p:nvGraphicFramePr>
        <p:xfrm>
          <a:off x="487393" y="2173393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49.3 Create Detail of Stump of Trees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67401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first thing we do is give each </a:t>
            </a:r>
            <a:r>
              <a:rPr lang="en-US" sz="1800" b="1" dirty="0">
                <a:solidFill>
                  <a:srgbClr val="C00000"/>
                </a:solidFill>
              </a:rPr>
              <a:t>sample a weight </a:t>
            </a:r>
            <a:r>
              <a:rPr lang="en-US" sz="1800" b="1" dirty="0">
                <a:solidFill>
                  <a:schemeClr val="tx1"/>
                </a:solidFill>
              </a:rPr>
              <a:t>that indicates how important it is to be correctly classified.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D7B9A2CE-F732-4FF7-A578-5E77497F4C08}"/>
              </a:ext>
            </a:extLst>
          </p:cNvPr>
          <p:cNvSpPr txBox="1">
            <a:spLocks/>
          </p:cNvSpPr>
          <p:nvPr/>
        </p:nvSpPr>
        <p:spPr>
          <a:xfrm>
            <a:off x="4225955" y="2034901"/>
            <a:ext cx="4040832" cy="103499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rgbClr val="C00000"/>
                </a:solidFill>
              </a:rPr>
              <a:t>Sample Weight </a:t>
            </a:r>
            <a:r>
              <a:rPr lang="en-US" sz="1800" b="1" dirty="0">
                <a:solidFill>
                  <a:schemeClr val="tx1"/>
                </a:solidFill>
              </a:rPr>
              <a:t>is different from </a:t>
            </a:r>
            <a:r>
              <a:rPr lang="en-US" sz="1800" b="1" dirty="0">
                <a:solidFill>
                  <a:srgbClr val="C00000"/>
                </a:solidFill>
              </a:rPr>
              <a:t>Patient Weight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9F214F-C0BC-49FE-8C09-EBE938F2CE1E}"/>
              </a:ext>
            </a:extLst>
          </p:cNvPr>
          <p:cNvSpPr/>
          <p:nvPr/>
        </p:nvSpPr>
        <p:spPr>
          <a:xfrm>
            <a:off x="3536415" y="1589255"/>
            <a:ext cx="459522" cy="584138"/>
          </a:xfrm>
          <a:custGeom>
            <a:avLst/>
            <a:gdLst>
              <a:gd name="connsiteX0" fmla="*/ 462709 w 462709"/>
              <a:gd name="connsiteY0" fmla="*/ 0 h 1244906"/>
              <a:gd name="connsiteX1" fmla="*/ 242372 w 462709"/>
              <a:gd name="connsiteY1" fmla="*/ 925417 h 1244906"/>
              <a:gd name="connsiteX2" fmla="*/ 0 w 462709"/>
              <a:gd name="connsiteY2" fmla="*/ 1244906 h 124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2709" h="1244906">
                <a:moveTo>
                  <a:pt x="462709" y="0"/>
                </a:moveTo>
                <a:cubicBezTo>
                  <a:pt x="391099" y="358966"/>
                  <a:pt x="319490" y="717933"/>
                  <a:pt x="242372" y="925417"/>
                </a:cubicBezTo>
                <a:cubicBezTo>
                  <a:pt x="165254" y="1132901"/>
                  <a:pt x="82627" y="1188903"/>
                  <a:pt x="0" y="1244906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880D626-59E0-4C11-B6EA-7E1700CA96E4}"/>
              </a:ext>
            </a:extLst>
          </p:cNvPr>
          <p:cNvSpPr/>
          <p:nvPr/>
        </p:nvSpPr>
        <p:spPr>
          <a:xfrm>
            <a:off x="2313542" y="2610998"/>
            <a:ext cx="3106757" cy="1086365"/>
          </a:xfrm>
          <a:custGeom>
            <a:avLst/>
            <a:gdLst>
              <a:gd name="connsiteX0" fmla="*/ 3106757 w 3106757"/>
              <a:gd name="connsiteY0" fmla="*/ 374573 h 1086365"/>
              <a:gd name="connsiteX1" fmla="*/ 2489812 w 3106757"/>
              <a:gd name="connsiteY1" fmla="*/ 1079653 h 1086365"/>
              <a:gd name="connsiteX2" fmla="*/ 0 w 3106757"/>
              <a:gd name="connsiteY2" fmla="*/ 0 h 1086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757" h="1086365">
                <a:moveTo>
                  <a:pt x="3106757" y="374573"/>
                </a:moveTo>
                <a:cubicBezTo>
                  <a:pt x="3057181" y="758327"/>
                  <a:pt x="3007605" y="1142082"/>
                  <a:pt x="2489812" y="1079653"/>
                </a:cubicBezTo>
                <a:cubicBezTo>
                  <a:pt x="1972019" y="1017224"/>
                  <a:pt x="986009" y="508612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83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49.3 Create Detail of Stump of Trees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 Sample Weight work?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23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105360"/>
              </p:ext>
            </p:extLst>
          </p:nvPr>
        </p:nvGraphicFramePr>
        <p:xfrm>
          <a:off x="472955" y="256210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3" name="副標題 2">
            <a:extLst>
              <a:ext uri="{FF2B5EF4-FFF2-40B4-BE49-F238E27FC236}">
                <a16:creationId xmlns:a16="http://schemas.microsoft.com/office/drawing/2014/main" id="{D7B9A2CE-F732-4FF7-A578-5E77497F4C08}"/>
              </a:ext>
            </a:extLst>
          </p:cNvPr>
          <p:cNvSpPr txBox="1">
            <a:spLocks/>
          </p:cNvSpPr>
          <p:nvPr/>
        </p:nvSpPr>
        <p:spPr>
          <a:xfrm>
            <a:off x="4283968" y="2676228"/>
            <a:ext cx="4040832" cy="176088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At the start, all samples get the same weight…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1/(total number of samples) = 1/8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and that makes the samples all equally important.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10B8373-3959-4B1C-9EB4-498A2C329F42}"/>
              </a:ext>
            </a:extLst>
          </p:cNvPr>
          <p:cNvSpPr/>
          <p:nvPr/>
        </p:nvSpPr>
        <p:spPr>
          <a:xfrm>
            <a:off x="3779912" y="3573017"/>
            <a:ext cx="1872208" cy="1667700"/>
          </a:xfrm>
          <a:custGeom>
            <a:avLst/>
            <a:gdLst>
              <a:gd name="connsiteX0" fmla="*/ 1804416 w 1805354"/>
              <a:gd name="connsiteY0" fmla="*/ 0 h 810367"/>
              <a:gd name="connsiteX1" fmla="*/ 1511808 w 1805354"/>
              <a:gd name="connsiteY1" fmla="*/ 731520 h 810367"/>
              <a:gd name="connsiteX2" fmla="*/ 0 w 1805354"/>
              <a:gd name="connsiteY2" fmla="*/ 755904 h 810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5354" h="810367">
                <a:moveTo>
                  <a:pt x="1804416" y="0"/>
                </a:moveTo>
                <a:cubicBezTo>
                  <a:pt x="1808480" y="302768"/>
                  <a:pt x="1812544" y="605536"/>
                  <a:pt x="1511808" y="731520"/>
                </a:cubicBezTo>
                <a:cubicBezTo>
                  <a:pt x="1211072" y="857504"/>
                  <a:pt x="605536" y="806704"/>
                  <a:pt x="0" y="755904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6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49.3 Create Detail of Stump of Trees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 Sample Weight work?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24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/>
        </p:nvGraphicFramePr>
        <p:xfrm>
          <a:off x="472955" y="256210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3" name="副標題 2">
            <a:extLst>
              <a:ext uri="{FF2B5EF4-FFF2-40B4-BE49-F238E27FC236}">
                <a16:creationId xmlns:a16="http://schemas.microsoft.com/office/drawing/2014/main" id="{D7B9A2CE-F732-4FF7-A578-5E77497F4C08}"/>
              </a:ext>
            </a:extLst>
          </p:cNvPr>
          <p:cNvSpPr txBox="1">
            <a:spLocks/>
          </p:cNvSpPr>
          <p:nvPr/>
        </p:nvSpPr>
        <p:spPr>
          <a:xfrm>
            <a:off x="4283968" y="2676228"/>
            <a:ext cx="4040832" cy="112036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However, after we make the first stump, </a:t>
            </a:r>
            <a:r>
              <a:rPr lang="en-US" sz="1800" b="1" dirty="0">
                <a:solidFill>
                  <a:srgbClr val="C00000"/>
                </a:solidFill>
              </a:rPr>
              <a:t>these weights will change in order to guide how the next stump </a:t>
            </a:r>
            <a:r>
              <a:rPr lang="en-US" sz="1800" b="1" dirty="0">
                <a:solidFill>
                  <a:schemeClr val="tx1"/>
                </a:solidFill>
              </a:rPr>
              <a:t>is created.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10B8373-3959-4B1C-9EB4-498A2C329F42}"/>
              </a:ext>
            </a:extLst>
          </p:cNvPr>
          <p:cNvSpPr/>
          <p:nvPr/>
        </p:nvSpPr>
        <p:spPr>
          <a:xfrm>
            <a:off x="3908555" y="3796591"/>
            <a:ext cx="1805354" cy="810367"/>
          </a:xfrm>
          <a:custGeom>
            <a:avLst/>
            <a:gdLst>
              <a:gd name="connsiteX0" fmla="*/ 1804416 w 1805354"/>
              <a:gd name="connsiteY0" fmla="*/ 0 h 810367"/>
              <a:gd name="connsiteX1" fmla="*/ 1511808 w 1805354"/>
              <a:gd name="connsiteY1" fmla="*/ 731520 h 810367"/>
              <a:gd name="connsiteX2" fmla="*/ 0 w 1805354"/>
              <a:gd name="connsiteY2" fmla="*/ 755904 h 810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5354" h="810367">
                <a:moveTo>
                  <a:pt x="1804416" y="0"/>
                </a:moveTo>
                <a:cubicBezTo>
                  <a:pt x="1808480" y="302768"/>
                  <a:pt x="1812544" y="605536"/>
                  <a:pt x="1511808" y="731520"/>
                </a:cubicBezTo>
                <a:cubicBezTo>
                  <a:pt x="1211072" y="857504"/>
                  <a:pt x="605536" y="806704"/>
                  <a:pt x="0" y="755904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22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49.3 Create Detail of Stump of Trees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 Sample Weight work?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25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/>
        </p:nvGraphicFramePr>
        <p:xfrm>
          <a:off x="472955" y="256210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3" name="副標題 2">
            <a:extLst>
              <a:ext uri="{FF2B5EF4-FFF2-40B4-BE49-F238E27FC236}">
                <a16:creationId xmlns:a16="http://schemas.microsoft.com/office/drawing/2014/main" id="{D7B9A2CE-F732-4FF7-A578-5E77497F4C08}"/>
              </a:ext>
            </a:extLst>
          </p:cNvPr>
          <p:cNvSpPr txBox="1">
            <a:spLocks/>
          </p:cNvSpPr>
          <p:nvPr/>
        </p:nvSpPr>
        <p:spPr>
          <a:xfrm>
            <a:off x="4341751" y="1988000"/>
            <a:ext cx="4040832" cy="308404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need to make the first </a:t>
            </a:r>
            <a:r>
              <a:rPr lang="en-US" sz="1800" b="1" dirty="0">
                <a:solidFill>
                  <a:srgbClr val="C00000"/>
                </a:solidFill>
              </a:rPr>
              <a:t>stump</a:t>
            </a:r>
            <a:r>
              <a:rPr lang="en-US" sz="1800" b="1" dirty="0">
                <a:solidFill>
                  <a:schemeClr val="tx1"/>
                </a:solidFill>
              </a:rPr>
              <a:t> in the forest.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is done by finding the variable, </a:t>
            </a:r>
            <a:r>
              <a:rPr lang="en-US" sz="1800" b="1" dirty="0">
                <a:solidFill>
                  <a:srgbClr val="C00000"/>
                </a:solidFill>
              </a:rPr>
              <a:t>Chest Pain, Blocked Arteries,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b="1" dirty="0">
                <a:solidFill>
                  <a:srgbClr val="C00000"/>
                </a:solidFill>
              </a:rPr>
              <a:t> Patient Weight</a:t>
            </a:r>
            <a:r>
              <a:rPr lang="en-US" sz="1800" b="1" dirty="0">
                <a:solidFill>
                  <a:schemeClr val="tx1"/>
                </a:solidFill>
              </a:rPr>
              <a:t>, that does the best job classifying the samples.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Because all of the weights are the same, we can ignore them (Sample Weight) right now.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5724128" y="5113907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708111-F36B-441D-A884-3023646A3E27}"/>
              </a:ext>
            </a:extLst>
          </p:cNvPr>
          <p:cNvSpPr/>
          <p:nvPr/>
        </p:nvSpPr>
        <p:spPr>
          <a:xfrm>
            <a:off x="5389156" y="5637378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F739A6-221A-4C11-8E70-4AF573C966AE}"/>
              </a:ext>
            </a:extLst>
          </p:cNvPr>
          <p:cNvSpPr/>
          <p:nvPr/>
        </p:nvSpPr>
        <p:spPr>
          <a:xfrm>
            <a:off x="6243081" y="5629252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5729446" y="5362553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079121" y="5362553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4275A66-7253-4889-83A8-7434FBD23B76}"/>
              </a:ext>
            </a:extLst>
          </p:cNvPr>
          <p:cNvSpPr/>
          <p:nvPr/>
        </p:nvSpPr>
        <p:spPr>
          <a:xfrm>
            <a:off x="3986758" y="4911880"/>
            <a:ext cx="1024569" cy="877537"/>
          </a:xfrm>
          <a:custGeom>
            <a:avLst/>
            <a:gdLst>
              <a:gd name="connsiteX0" fmla="*/ 1024569 w 1024569"/>
              <a:gd name="connsiteY0" fmla="*/ 0 h 287455"/>
              <a:gd name="connsiteX1" fmla="*/ 418641 w 1024569"/>
              <a:gd name="connsiteY1" fmla="*/ 286438 h 287455"/>
              <a:gd name="connsiteX2" fmla="*/ 0 w 1024569"/>
              <a:gd name="connsiteY2" fmla="*/ 77118 h 287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4569" h="287455">
                <a:moveTo>
                  <a:pt x="1024569" y="0"/>
                </a:moveTo>
                <a:cubicBezTo>
                  <a:pt x="806985" y="136792"/>
                  <a:pt x="589402" y="273585"/>
                  <a:pt x="418641" y="286438"/>
                </a:cubicBezTo>
                <a:cubicBezTo>
                  <a:pt x="247879" y="299291"/>
                  <a:pt x="123939" y="188204"/>
                  <a:pt x="0" y="77118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5B7131-ACF0-4D79-A709-6BE0FF763AC7}"/>
              </a:ext>
            </a:extLst>
          </p:cNvPr>
          <p:cNvSpPr/>
          <p:nvPr/>
        </p:nvSpPr>
        <p:spPr>
          <a:xfrm>
            <a:off x="3203848" y="2420888"/>
            <a:ext cx="782910" cy="3672408"/>
          </a:xfrm>
          <a:prstGeom prst="roundRect">
            <a:avLst/>
          </a:pr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7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49.4 Create Chest Pain Stump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62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49.4 Create Chest Pain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Create Chest Pain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27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606245"/>
              </p:ext>
            </p:extLst>
          </p:nvPr>
        </p:nvGraphicFramePr>
        <p:xfrm>
          <a:off x="472955" y="256210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3" name="副標題 2">
            <a:extLst>
              <a:ext uri="{FF2B5EF4-FFF2-40B4-BE49-F238E27FC236}">
                <a16:creationId xmlns:a16="http://schemas.microsoft.com/office/drawing/2014/main" id="{D7B9A2CE-F732-4FF7-A578-5E77497F4C08}"/>
              </a:ext>
            </a:extLst>
          </p:cNvPr>
          <p:cNvSpPr txBox="1">
            <a:spLocks/>
          </p:cNvSpPr>
          <p:nvPr/>
        </p:nvSpPr>
        <p:spPr>
          <a:xfrm>
            <a:off x="4341751" y="1988001"/>
            <a:ext cx="4040832" cy="64693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start the Chest Pain classifies the samples.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5592166" y="3209248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5160195" y="3457894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6072683" y="3457894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369776"/>
              </p:ext>
            </p:extLst>
          </p:nvPr>
        </p:nvGraphicFramePr>
        <p:xfrm>
          <a:off x="4427755" y="378539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87655"/>
              </p:ext>
            </p:extLst>
          </p:nvPr>
        </p:nvGraphicFramePr>
        <p:xfrm>
          <a:off x="6156378" y="3806025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3288B36A-0969-4AB2-AF7E-FF8952A4001A}"/>
              </a:ext>
            </a:extLst>
          </p:cNvPr>
          <p:cNvSpPr/>
          <p:nvPr/>
        </p:nvSpPr>
        <p:spPr>
          <a:xfrm>
            <a:off x="2483768" y="2562107"/>
            <a:ext cx="648072" cy="34239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A9433E-42FD-4310-BB3F-DB005EB73CE4}"/>
              </a:ext>
            </a:extLst>
          </p:cNvPr>
          <p:cNvSpPr/>
          <p:nvPr/>
        </p:nvSpPr>
        <p:spPr>
          <a:xfrm>
            <a:off x="506254" y="2557798"/>
            <a:ext cx="537354" cy="34239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2A92C25-D93A-4820-80BD-3BA246B45BC9}"/>
              </a:ext>
            </a:extLst>
          </p:cNvPr>
          <p:cNvSpPr/>
          <p:nvPr/>
        </p:nvSpPr>
        <p:spPr>
          <a:xfrm>
            <a:off x="2816351" y="2275203"/>
            <a:ext cx="1611403" cy="285117"/>
          </a:xfrm>
          <a:custGeom>
            <a:avLst/>
            <a:gdLst>
              <a:gd name="connsiteX0" fmla="*/ 0 w 1548384"/>
              <a:gd name="connsiteY0" fmla="*/ 383839 h 383839"/>
              <a:gd name="connsiteX1" fmla="*/ 377952 w 1548384"/>
              <a:gd name="connsiteY1" fmla="*/ 30271 h 383839"/>
              <a:gd name="connsiteX2" fmla="*/ 1548384 w 1548384"/>
              <a:gd name="connsiteY2" fmla="*/ 42463 h 3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8384" h="383839">
                <a:moveTo>
                  <a:pt x="0" y="383839"/>
                </a:moveTo>
                <a:cubicBezTo>
                  <a:pt x="59944" y="235503"/>
                  <a:pt x="119888" y="87167"/>
                  <a:pt x="377952" y="30271"/>
                </a:cubicBezTo>
                <a:cubicBezTo>
                  <a:pt x="636016" y="-26625"/>
                  <a:pt x="1092200" y="7919"/>
                  <a:pt x="1548384" y="42463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27E9AC6-DB41-4936-8638-810542366F11}"/>
              </a:ext>
            </a:extLst>
          </p:cNvPr>
          <p:cNvSpPr/>
          <p:nvPr/>
        </p:nvSpPr>
        <p:spPr>
          <a:xfrm>
            <a:off x="761417" y="2123085"/>
            <a:ext cx="3580334" cy="437235"/>
          </a:xfrm>
          <a:custGeom>
            <a:avLst/>
            <a:gdLst>
              <a:gd name="connsiteX0" fmla="*/ 0 w 1548384"/>
              <a:gd name="connsiteY0" fmla="*/ 383839 h 383839"/>
              <a:gd name="connsiteX1" fmla="*/ 377952 w 1548384"/>
              <a:gd name="connsiteY1" fmla="*/ 30271 h 383839"/>
              <a:gd name="connsiteX2" fmla="*/ 1548384 w 1548384"/>
              <a:gd name="connsiteY2" fmla="*/ 42463 h 38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8384" h="383839">
                <a:moveTo>
                  <a:pt x="0" y="383839"/>
                </a:moveTo>
                <a:cubicBezTo>
                  <a:pt x="59944" y="235503"/>
                  <a:pt x="119888" y="87167"/>
                  <a:pt x="377952" y="30271"/>
                </a:cubicBezTo>
                <a:cubicBezTo>
                  <a:pt x="636016" y="-26625"/>
                  <a:pt x="1092200" y="7919"/>
                  <a:pt x="1548384" y="42463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14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49.4 Create Chest Pain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Create Chest Pain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28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432982"/>
              </p:ext>
            </p:extLst>
          </p:nvPr>
        </p:nvGraphicFramePr>
        <p:xfrm>
          <a:off x="457200" y="2632412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3" name="副標題 2">
            <a:extLst>
              <a:ext uri="{FF2B5EF4-FFF2-40B4-BE49-F238E27FC236}">
                <a16:creationId xmlns:a16="http://schemas.microsoft.com/office/drawing/2014/main" id="{D7B9A2CE-F732-4FF7-A578-5E77497F4C08}"/>
              </a:ext>
            </a:extLst>
          </p:cNvPr>
          <p:cNvSpPr txBox="1">
            <a:spLocks/>
          </p:cNvSpPr>
          <p:nvPr/>
        </p:nvSpPr>
        <p:spPr>
          <a:xfrm>
            <a:off x="4341751" y="1988001"/>
            <a:ext cx="4040832" cy="64693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start the Chest Pain classifies the samples.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5592166" y="3209248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5160195" y="3457894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6072683" y="3457894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/>
        </p:nvGraphicFramePr>
        <p:xfrm>
          <a:off x="4427755" y="378539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/>
        </p:nvGraphicFramePr>
        <p:xfrm>
          <a:off x="6156378" y="3806025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3288B36A-0969-4AB2-AF7E-FF8952A4001A}"/>
              </a:ext>
            </a:extLst>
          </p:cNvPr>
          <p:cNvSpPr/>
          <p:nvPr/>
        </p:nvSpPr>
        <p:spPr>
          <a:xfrm>
            <a:off x="457200" y="3806025"/>
            <a:ext cx="2674640" cy="7030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A9433E-42FD-4310-BB3F-DB005EB73CE4}"/>
              </a:ext>
            </a:extLst>
          </p:cNvPr>
          <p:cNvSpPr/>
          <p:nvPr/>
        </p:nvSpPr>
        <p:spPr>
          <a:xfrm>
            <a:off x="506254" y="3140968"/>
            <a:ext cx="2625586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50D75DA-820C-4074-AD49-E4F51F20CE46}"/>
              </a:ext>
            </a:extLst>
          </p:cNvPr>
          <p:cNvSpPr/>
          <p:nvPr/>
        </p:nvSpPr>
        <p:spPr>
          <a:xfrm>
            <a:off x="3108960" y="3291840"/>
            <a:ext cx="1328928" cy="1133856"/>
          </a:xfrm>
          <a:custGeom>
            <a:avLst/>
            <a:gdLst>
              <a:gd name="connsiteX0" fmla="*/ 0 w 1328928"/>
              <a:gd name="connsiteY0" fmla="*/ 0 h 1133856"/>
              <a:gd name="connsiteX1" fmla="*/ 890016 w 1328928"/>
              <a:gd name="connsiteY1" fmla="*/ 707136 h 1133856"/>
              <a:gd name="connsiteX2" fmla="*/ 1328928 w 1328928"/>
              <a:gd name="connsiteY2" fmla="*/ 1133856 h 113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8928" h="1133856">
                <a:moveTo>
                  <a:pt x="0" y="0"/>
                </a:moveTo>
                <a:cubicBezTo>
                  <a:pt x="334264" y="259080"/>
                  <a:pt x="668528" y="518160"/>
                  <a:pt x="890016" y="707136"/>
                </a:cubicBezTo>
                <a:cubicBezTo>
                  <a:pt x="1111504" y="896112"/>
                  <a:pt x="1220216" y="1014984"/>
                  <a:pt x="1328928" y="1133856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E7C3695-3441-4106-B6B5-90739DDD6626}"/>
              </a:ext>
            </a:extLst>
          </p:cNvPr>
          <p:cNvSpPr/>
          <p:nvPr/>
        </p:nvSpPr>
        <p:spPr>
          <a:xfrm>
            <a:off x="3157728" y="4169664"/>
            <a:ext cx="1292352" cy="341376"/>
          </a:xfrm>
          <a:custGeom>
            <a:avLst/>
            <a:gdLst>
              <a:gd name="connsiteX0" fmla="*/ 0 w 1292352"/>
              <a:gd name="connsiteY0" fmla="*/ 0 h 341376"/>
              <a:gd name="connsiteX1" fmla="*/ 1292352 w 1292352"/>
              <a:gd name="connsiteY1" fmla="*/ 341376 h 341376"/>
              <a:gd name="connsiteX2" fmla="*/ 1292352 w 1292352"/>
              <a:gd name="connsiteY2" fmla="*/ 341376 h 34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2352" h="341376">
                <a:moveTo>
                  <a:pt x="0" y="0"/>
                </a:moveTo>
                <a:lnTo>
                  <a:pt x="1292352" y="341376"/>
                </a:lnTo>
                <a:lnTo>
                  <a:pt x="1292352" y="341376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副標題 2">
            <a:extLst>
              <a:ext uri="{FF2B5EF4-FFF2-40B4-BE49-F238E27FC236}">
                <a16:creationId xmlns:a16="http://schemas.microsoft.com/office/drawing/2014/main" id="{72FDB483-3761-4C04-9B3E-13FE424B1963}"/>
              </a:ext>
            </a:extLst>
          </p:cNvPr>
          <p:cNvSpPr txBox="1">
            <a:spLocks/>
          </p:cNvSpPr>
          <p:nvPr/>
        </p:nvSpPr>
        <p:spPr>
          <a:xfrm>
            <a:off x="4421643" y="4767432"/>
            <a:ext cx="2133600" cy="169550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Out of 5 samples with Chest Pain, 3 are correctly classified as having Heart Disease.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5AC21C-B437-4543-A417-3ACE48F7C52F}"/>
              </a:ext>
            </a:extLst>
          </p:cNvPr>
          <p:cNvSpPr/>
          <p:nvPr/>
        </p:nvSpPr>
        <p:spPr>
          <a:xfrm>
            <a:off x="4391295" y="4038657"/>
            <a:ext cx="768900" cy="6356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80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49.4 Create Chest Pain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Create Chest Pain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29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632412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5592166" y="3209248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5160195" y="3457894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6072683" y="3457894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/>
        </p:nvGraphicFramePr>
        <p:xfrm>
          <a:off x="4427755" y="378539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/>
        </p:nvGraphicFramePr>
        <p:xfrm>
          <a:off x="6156378" y="3806025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EA5D57C7-3A54-4EC8-A2E7-3540BF523A41}"/>
              </a:ext>
            </a:extLst>
          </p:cNvPr>
          <p:cNvSpPr/>
          <p:nvPr/>
        </p:nvSpPr>
        <p:spPr>
          <a:xfrm>
            <a:off x="516582" y="5337070"/>
            <a:ext cx="2674640" cy="7030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62CF17-5C2B-4C40-BA03-7D0B0281304E}"/>
              </a:ext>
            </a:extLst>
          </p:cNvPr>
          <p:cNvSpPr/>
          <p:nvPr/>
        </p:nvSpPr>
        <p:spPr>
          <a:xfrm>
            <a:off x="3182112" y="4620768"/>
            <a:ext cx="2298402" cy="1036320"/>
          </a:xfrm>
          <a:custGeom>
            <a:avLst/>
            <a:gdLst>
              <a:gd name="connsiteX0" fmla="*/ 0 w 1584960"/>
              <a:gd name="connsiteY0" fmla="*/ 1036320 h 1036320"/>
              <a:gd name="connsiteX1" fmla="*/ 1121664 w 1584960"/>
              <a:gd name="connsiteY1" fmla="*/ 707136 h 1036320"/>
              <a:gd name="connsiteX2" fmla="*/ 1584960 w 1584960"/>
              <a:gd name="connsiteY2" fmla="*/ 0 h 1036320"/>
              <a:gd name="connsiteX3" fmla="*/ 1584960 w 1584960"/>
              <a:gd name="connsiteY3" fmla="*/ 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960" h="1036320">
                <a:moveTo>
                  <a:pt x="0" y="1036320"/>
                </a:moveTo>
                <a:cubicBezTo>
                  <a:pt x="428752" y="958088"/>
                  <a:pt x="857504" y="879856"/>
                  <a:pt x="1121664" y="707136"/>
                </a:cubicBezTo>
                <a:cubicBezTo>
                  <a:pt x="1385824" y="534416"/>
                  <a:pt x="1584960" y="0"/>
                  <a:pt x="1584960" y="0"/>
                </a:cubicBezTo>
                <a:lnTo>
                  <a:pt x="1584960" y="0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副標題 2">
            <a:extLst>
              <a:ext uri="{FF2B5EF4-FFF2-40B4-BE49-F238E27FC236}">
                <a16:creationId xmlns:a16="http://schemas.microsoft.com/office/drawing/2014/main" id="{B0B68321-3C55-4D37-8862-28A2F05D1FFA}"/>
              </a:ext>
            </a:extLst>
          </p:cNvPr>
          <p:cNvSpPr txBox="1">
            <a:spLocks/>
          </p:cNvSpPr>
          <p:nvPr/>
        </p:nvSpPr>
        <p:spPr>
          <a:xfrm>
            <a:off x="5234414" y="4979867"/>
            <a:ext cx="2971012" cy="121749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Out of 5 samples with Chest Pain, 2 are incorrectly classified as having Hearst Disease.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930B4F-4C38-4576-8000-364803A708A2}"/>
              </a:ext>
            </a:extLst>
          </p:cNvPr>
          <p:cNvSpPr/>
          <p:nvPr/>
        </p:nvSpPr>
        <p:spPr>
          <a:xfrm>
            <a:off x="5096064" y="4032207"/>
            <a:ext cx="768900" cy="60547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38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49.4 Create Chest Pain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Create Chest Pain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30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632412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5592166" y="3209248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5160195" y="3457894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6072683" y="3457894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/>
        </p:nvGraphicFramePr>
        <p:xfrm>
          <a:off x="4427755" y="378539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/>
        </p:nvGraphicFramePr>
        <p:xfrm>
          <a:off x="6156378" y="3806025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EA5D57C7-3A54-4EC8-A2E7-3540BF523A41}"/>
              </a:ext>
            </a:extLst>
          </p:cNvPr>
          <p:cNvSpPr/>
          <p:nvPr/>
        </p:nvSpPr>
        <p:spPr>
          <a:xfrm>
            <a:off x="491952" y="4628985"/>
            <a:ext cx="2674640" cy="7030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62CF17-5C2B-4C40-BA03-7D0B0281304E}"/>
              </a:ext>
            </a:extLst>
          </p:cNvPr>
          <p:cNvSpPr/>
          <p:nvPr/>
        </p:nvSpPr>
        <p:spPr>
          <a:xfrm>
            <a:off x="3166592" y="4493505"/>
            <a:ext cx="2989786" cy="515689"/>
          </a:xfrm>
          <a:custGeom>
            <a:avLst/>
            <a:gdLst>
              <a:gd name="connsiteX0" fmla="*/ 0 w 1584960"/>
              <a:gd name="connsiteY0" fmla="*/ 1036320 h 1036320"/>
              <a:gd name="connsiteX1" fmla="*/ 1121664 w 1584960"/>
              <a:gd name="connsiteY1" fmla="*/ 707136 h 1036320"/>
              <a:gd name="connsiteX2" fmla="*/ 1584960 w 1584960"/>
              <a:gd name="connsiteY2" fmla="*/ 0 h 1036320"/>
              <a:gd name="connsiteX3" fmla="*/ 1584960 w 1584960"/>
              <a:gd name="connsiteY3" fmla="*/ 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960" h="1036320">
                <a:moveTo>
                  <a:pt x="0" y="1036320"/>
                </a:moveTo>
                <a:cubicBezTo>
                  <a:pt x="428752" y="958088"/>
                  <a:pt x="857504" y="879856"/>
                  <a:pt x="1121664" y="707136"/>
                </a:cubicBezTo>
                <a:cubicBezTo>
                  <a:pt x="1385824" y="534416"/>
                  <a:pt x="1584960" y="0"/>
                  <a:pt x="1584960" y="0"/>
                </a:cubicBezTo>
                <a:lnTo>
                  <a:pt x="1584960" y="0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副標題 2">
            <a:extLst>
              <a:ext uri="{FF2B5EF4-FFF2-40B4-BE49-F238E27FC236}">
                <a16:creationId xmlns:a16="http://schemas.microsoft.com/office/drawing/2014/main" id="{B0B68321-3C55-4D37-8862-28A2F05D1FFA}"/>
              </a:ext>
            </a:extLst>
          </p:cNvPr>
          <p:cNvSpPr txBox="1">
            <a:spLocks/>
          </p:cNvSpPr>
          <p:nvPr/>
        </p:nvSpPr>
        <p:spPr>
          <a:xfrm>
            <a:off x="5234414" y="4979867"/>
            <a:ext cx="2971012" cy="121749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Only three samples </a:t>
            </a:r>
            <a:r>
              <a:rPr lang="en-US" sz="1800" b="1" i="1" dirty="0">
                <a:solidFill>
                  <a:schemeClr val="tx1"/>
                </a:solidFill>
              </a:rPr>
              <a:t>without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rgbClr val="C00000"/>
                </a:solidFill>
              </a:rPr>
              <a:t>Chest Pain</a:t>
            </a:r>
            <a:r>
              <a:rPr lang="en-US" sz="1800" b="1" dirty="0">
                <a:solidFill>
                  <a:schemeClr val="tx1"/>
                </a:solidFill>
              </a:rPr>
              <a:t>, 2 are </a:t>
            </a:r>
            <a:r>
              <a:rPr lang="en-US" sz="1800" b="1" i="1" dirty="0">
                <a:solidFill>
                  <a:schemeClr val="tx1"/>
                </a:solidFill>
              </a:rPr>
              <a:t>correctly</a:t>
            </a:r>
            <a:r>
              <a:rPr lang="en-US" sz="1800" b="1" dirty="0">
                <a:solidFill>
                  <a:schemeClr val="tx1"/>
                </a:solidFill>
              </a:rPr>
              <a:t> classified as not having </a:t>
            </a:r>
            <a:r>
              <a:rPr lang="en-US" sz="1800" b="1" dirty="0">
                <a:solidFill>
                  <a:srgbClr val="C00000"/>
                </a:solidFill>
              </a:rPr>
              <a:t>Heart Disease</a:t>
            </a:r>
            <a:r>
              <a:rPr lang="en-US" sz="1800" b="1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930B4F-4C38-4576-8000-364803A708A2}"/>
              </a:ext>
            </a:extLst>
          </p:cNvPr>
          <p:cNvSpPr/>
          <p:nvPr/>
        </p:nvSpPr>
        <p:spPr>
          <a:xfrm>
            <a:off x="6137309" y="4068911"/>
            <a:ext cx="768900" cy="60547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95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49.4 Create Chest Pain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7" y="1242813"/>
            <a:ext cx="8136905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Create Chest Pain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31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632412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5592166" y="3209248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5160195" y="3457894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6072683" y="3457894"/>
            <a:ext cx="847825" cy="3386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/>
        </p:nvGraphicFramePr>
        <p:xfrm>
          <a:off x="4427755" y="378539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384584"/>
              </p:ext>
            </p:extLst>
          </p:nvPr>
        </p:nvGraphicFramePr>
        <p:xfrm>
          <a:off x="6188068" y="379656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EA5D57C7-3A54-4EC8-A2E7-3540BF523A41}"/>
              </a:ext>
            </a:extLst>
          </p:cNvPr>
          <p:cNvSpPr/>
          <p:nvPr/>
        </p:nvSpPr>
        <p:spPr>
          <a:xfrm>
            <a:off x="457200" y="3389000"/>
            <a:ext cx="2773030" cy="4170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62CF17-5C2B-4C40-BA03-7D0B0281304E}"/>
              </a:ext>
            </a:extLst>
          </p:cNvPr>
          <p:cNvSpPr/>
          <p:nvPr/>
        </p:nvSpPr>
        <p:spPr>
          <a:xfrm flipV="1">
            <a:off x="3245352" y="3597513"/>
            <a:ext cx="3846928" cy="465153"/>
          </a:xfrm>
          <a:custGeom>
            <a:avLst/>
            <a:gdLst>
              <a:gd name="connsiteX0" fmla="*/ 0 w 1584960"/>
              <a:gd name="connsiteY0" fmla="*/ 1036320 h 1036320"/>
              <a:gd name="connsiteX1" fmla="*/ 1121664 w 1584960"/>
              <a:gd name="connsiteY1" fmla="*/ 707136 h 1036320"/>
              <a:gd name="connsiteX2" fmla="*/ 1584960 w 1584960"/>
              <a:gd name="connsiteY2" fmla="*/ 0 h 1036320"/>
              <a:gd name="connsiteX3" fmla="*/ 1584960 w 1584960"/>
              <a:gd name="connsiteY3" fmla="*/ 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960" h="1036320">
                <a:moveTo>
                  <a:pt x="0" y="1036320"/>
                </a:moveTo>
                <a:cubicBezTo>
                  <a:pt x="428752" y="958088"/>
                  <a:pt x="857504" y="879856"/>
                  <a:pt x="1121664" y="707136"/>
                </a:cubicBezTo>
                <a:cubicBezTo>
                  <a:pt x="1385824" y="534416"/>
                  <a:pt x="1584960" y="0"/>
                  <a:pt x="1584960" y="0"/>
                </a:cubicBezTo>
                <a:lnTo>
                  <a:pt x="1584960" y="0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副標題 2">
            <a:extLst>
              <a:ext uri="{FF2B5EF4-FFF2-40B4-BE49-F238E27FC236}">
                <a16:creationId xmlns:a16="http://schemas.microsoft.com/office/drawing/2014/main" id="{B0B68321-3C55-4D37-8862-28A2F05D1FFA}"/>
              </a:ext>
            </a:extLst>
          </p:cNvPr>
          <p:cNvSpPr txBox="1">
            <a:spLocks/>
          </p:cNvSpPr>
          <p:nvPr/>
        </p:nvSpPr>
        <p:spPr>
          <a:xfrm>
            <a:off x="4391979" y="4848244"/>
            <a:ext cx="3509998" cy="121749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…and </a:t>
            </a:r>
            <a:r>
              <a:rPr lang="en-US" sz="1800" b="1" i="1" dirty="0">
                <a:solidFill>
                  <a:schemeClr val="tx1"/>
                </a:solidFill>
              </a:rPr>
              <a:t>1 are incorrectly </a:t>
            </a:r>
            <a:r>
              <a:rPr lang="en-US" sz="1800" b="1" dirty="0">
                <a:solidFill>
                  <a:schemeClr val="tx1"/>
                </a:solidFill>
              </a:rPr>
              <a:t>classified as </a:t>
            </a:r>
            <a:r>
              <a:rPr lang="en-US" sz="1800" b="1" dirty="0">
                <a:solidFill>
                  <a:srgbClr val="C00000"/>
                </a:solidFill>
              </a:rPr>
              <a:t>having Hearst Disease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930B4F-4C38-4576-8000-364803A708A2}"/>
              </a:ext>
            </a:extLst>
          </p:cNvPr>
          <p:cNvSpPr/>
          <p:nvPr/>
        </p:nvSpPr>
        <p:spPr>
          <a:xfrm>
            <a:off x="6823215" y="4055245"/>
            <a:ext cx="768900" cy="60547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03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49.5 Create Blocked Arteries Stump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32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09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49.5 Create Blocked Arteries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7" y="1205943"/>
            <a:ext cx="4338091" cy="51568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Create Blocked Arteries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33</a:t>
            </a:fld>
            <a:endParaRPr lang="zh-TW" altLang="en-US"/>
          </a:p>
        </p:txBody>
      </p:sp>
      <p:graphicFrame>
        <p:nvGraphicFramePr>
          <p:cNvPr id="56" name="Table 8">
            <a:extLst>
              <a:ext uri="{FF2B5EF4-FFF2-40B4-BE49-F238E27FC236}">
                <a16:creationId xmlns:a16="http://schemas.microsoft.com/office/drawing/2014/main" id="{4D6E11EE-D911-4A87-B0CA-8023E2B01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58106"/>
              </p:ext>
            </p:extLst>
          </p:nvPr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>
                        <a:alpha val="3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6072683" y="1344532"/>
            <a:ext cx="961034" cy="248646"/>
          </a:xfrm>
          <a:prstGeom prst="rect">
            <a:avLst/>
          </a:prstGeom>
          <a:solidFill>
            <a:srgbClr val="00B0F0">
              <a:alpha val="52000"/>
            </a:srgb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5640712" y="1593178"/>
            <a:ext cx="912488" cy="327499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6553200" y="1593178"/>
            <a:ext cx="816135" cy="348131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87019"/>
              </p:ext>
            </p:extLst>
          </p:nvPr>
        </p:nvGraphicFramePr>
        <p:xfrm>
          <a:off x="4908272" y="1920677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092156"/>
              </p:ext>
            </p:extLst>
          </p:nvPr>
        </p:nvGraphicFramePr>
        <p:xfrm>
          <a:off x="6636895" y="1941309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>
                        <a:alpha val="48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EA5D57C7-3A54-4EC8-A2E7-3540BF523A41}"/>
              </a:ext>
            </a:extLst>
          </p:cNvPr>
          <p:cNvSpPr/>
          <p:nvPr/>
        </p:nvSpPr>
        <p:spPr>
          <a:xfrm>
            <a:off x="1043608" y="1944687"/>
            <a:ext cx="755010" cy="34239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副標題 2">
            <a:extLst>
              <a:ext uri="{FF2B5EF4-FFF2-40B4-BE49-F238E27FC236}">
                <a16:creationId xmlns:a16="http://schemas.microsoft.com/office/drawing/2014/main" id="{B0B68321-3C55-4D37-8862-28A2F05D1FFA}"/>
              </a:ext>
            </a:extLst>
          </p:cNvPr>
          <p:cNvSpPr txBox="1">
            <a:spLocks/>
          </p:cNvSpPr>
          <p:nvPr/>
        </p:nvSpPr>
        <p:spPr>
          <a:xfrm>
            <a:off x="4887646" y="4724464"/>
            <a:ext cx="3799153" cy="64414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do the same thing for </a:t>
            </a:r>
            <a:r>
              <a:rPr lang="en-US" sz="1800" b="1" dirty="0">
                <a:solidFill>
                  <a:srgbClr val="C00000"/>
                </a:solidFill>
              </a:rPr>
              <a:t>Blocked Arteries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B2B8A8-9873-4870-B9BA-DA29B0DAC188}"/>
              </a:ext>
            </a:extLst>
          </p:cNvPr>
          <p:cNvSpPr/>
          <p:nvPr/>
        </p:nvSpPr>
        <p:spPr>
          <a:xfrm>
            <a:off x="2423370" y="1944687"/>
            <a:ext cx="755010" cy="34239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82A5FC-60C5-44A9-8C4E-E9F95B081DFA}"/>
              </a:ext>
            </a:extLst>
          </p:cNvPr>
          <p:cNvSpPr/>
          <p:nvPr/>
        </p:nvSpPr>
        <p:spPr>
          <a:xfrm>
            <a:off x="5820759" y="2988077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Blocked Arteries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88073B-AA7A-4771-A843-025B6FCCC070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5650402" y="3236723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82FAD6-F914-4AF7-973B-D6C519C4B103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>
            <a:off x="6553200" y="3236723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8">
            <a:extLst>
              <a:ext uri="{FF2B5EF4-FFF2-40B4-BE49-F238E27FC236}">
                <a16:creationId xmlns:a16="http://schemas.microsoft.com/office/drawing/2014/main" id="{8A9EBA61-0016-407D-BF03-730953F90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284536"/>
              </p:ext>
            </p:extLst>
          </p:nvPr>
        </p:nvGraphicFramePr>
        <p:xfrm>
          <a:off x="4917962" y="3552564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4" name="Table 8">
            <a:extLst>
              <a:ext uri="{FF2B5EF4-FFF2-40B4-BE49-F238E27FC236}">
                <a16:creationId xmlns:a16="http://schemas.microsoft.com/office/drawing/2014/main" id="{011B9BF0-B020-4D21-9CF3-358F9204D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12824"/>
              </p:ext>
            </p:extLst>
          </p:nvPr>
        </p:nvGraphicFramePr>
        <p:xfrm>
          <a:off x="6646585" y="3573196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AD9162B-C771-401F-851A-409E863AA33C}"/>
              </a:ext>
            </a:extLst>
          </p:cNvPr>
          <p:cNvSpPr/>
          <p:nvPr/>
        </p:nvSpPr>
        <p:spPr>
          <a:xfrm>
            <a:off x="1487424" y="1809971"/>
            <a:ext cx="4291584" cy="1363077"/>
          </a:xfrm>
          <a:custGeom>
            <a:avLst/>
            <a:gdLst>
              <a:gd name="connsiteX0" fmla="*/ 0 w 4291584"/>
              <a:gd name="connsiteY0" fmla="*/ 128557 h 1363077"/>
              <a:gd name="connsiteX1" fmla="*/ 2767584 w 4291584"/>
              <a:gd name="connsiteY1" fmla="*/ 91981 h 1363077"/>
              <a:gd name="connsiteX2" fmla="*/ 3096768 w 4291584"/>
              <a:gd name="connsiteY2" fmla="*/ 1164877 h 1363077"/>
              <a:gd name="connsiteX3" fmla="*/ 4291584 w 4291584"/>
              <a:gd name="connsiteY3" fmla="*/ 1359949 h 136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1584" h="1363077">
                <a:moveTo>
                  <a:pt x="0" y="128557"/>
                </a:moveTo>
                <a:cubicBezTo>
                  <a:pt x="1125728" y="23909"/>
                  <a:pt x="2251456" y="-80739"/>
                  <a:pt x="2767584" y="91981"/>
                </a:cubicBezTo>
                <a:cubicBezTo>
                  <a:pt x="3283712" y="264701"/>
                  <a:pt x="2842768" y="953549"/>
                  <a:pt x="3096768" y="1164877"/>
                </a:cubicBezTo>
                <a:cubicBezTo>
                  <a:pt x="3350768" y="1376205"/>
                  <a:pt x="3821176" y="1368077"/>
                  <a:pt x="4291584" y="1359949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ED4D583-AA5C-4794-B2DB-6AC4178B6410}"/>
              </a:ext>
            </a:extLst>
          </p:cNvPr>
          <p:cNvSpPr/>
          <p:nvPr/>
        </p:nvSpPr>
        <p:spPr>
          <a:xfrm>
            <a:off x="2999232" y="1840444"/>
            <a:ext cx="2767584" cy="1347589"/>
          </a:xfrm>
          <a:custGeom>
            <a:avLst/>
            <a:gdLst>
              <a:gd name="connsiteX0" fmla="*/ 0 w 2767584"/>
              <a:gd name="connsiteY0" fmla="*/ 85892 h 1347589"/>
              <a:gd name="connsiteX1" fmla="*/ 780288 w 2767584"/>
              <a:gd name="connsiteY1" fmla="*/ 548 h 1347589"/>
              <a:gd name="connsiteX2" fmla="*/ 1377696 w 2767584"/>
              <a:gd name="connsiteY2" fmla="*/ 122468 h 1347589"/>
              <a:gd name="connsiteX3" fmla="*/ 1524000 w 2767584"/>
              <a:gd name="connsiteY3" fmla="*/ 476036 h 1347589"/>
              <a:gd name="connsiteX4" fmla="*/ 1499616 w 2767584"/>
              <a:gd name="connsiteY4" fmla="*/ 988100 h 1347589"/>
              <a:gd name="connsiteX5" fmla="*/ 1633728 w 2767584"/>
              <a:gd name="connsiteY5" fmla="*/ 1195364 h 1347589"/>
              <a:gd name="connsiteX6" fmla="*/ 2365248 w 2767584"/>
              <a:gd name="connsiteY6" fmla="*/ 1341668 h 1347589"/>
              <a:gd name="connsiteX7" fmla="*/ 2767584 w 2767584"/>
              <a:gd name="connsiteY7" fmla="*/ 1305092 h 1347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7584" h="1347589">
                <a:moveTo>
                  <a:pt x="0" y="85892"/>
                </a:moveTo>
                <a:cubicBezTo>
                  <a:pt x="275336" y="40172"/>
                  <a:pt x="550672" y="-5548"/>
                  <a:pt x="780288" y="548"/>
                </a:cubicBezTo>
                <a:cubicBezTo>
                  <a:pt x="1009904" y="6644"/>
                  <a:pt x="1253744" y="43220"/>
                  <a:pt x="1377696" y="122468"/>
                </a:cubicBezTo>
                <a:cubicBezTo>
                  <a:pt x="1501648" y="201716"/>
                  <a:pt x="1503680" y="331764"/>
                  <a:pt x="1524000" y="476036"/>
                </a:cubicBezTo>
                <a:cubicBezTo>
                  <a:pt x="1544320" y="620308"/>
                  <a:pt x="1481328" y="868212"/>
                  <a:pt x="1499616" y="988100"/>
                </a:cubicBezTo>
                <a:cubicBezTo>
                  <a:pt x="1517904" y="1107988"/>
                  <a:pt x="1489456" y="1136436"/>
                  <a:pt x="1633728" y="1195364"/>
                </a:cubicBezTo>
                <a:cubicBezTo>
                  <a:pt x="1778000" y="1254292"/>
                  <a:pt x="2176272" y="1323380"/>
                  <a:pt x="2365248" y="1341668"/>
                </a:cubicBezTo>
                <a:cubicBezTo>
                  <a:pt x="2554224" y="1359956"/>
                  <a:pt x="2660904" y="1332524"/>
                  <a:pt x="2767584" y="1305092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43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49.6 Create Weight Stump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34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09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49.6 Create Weight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32636" y="1223721"/>
            <a:ext cx="8587836" cy="91328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Determine the Say (Vote)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need to determine how much the stump will have in the final classification.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5220072" y="2924944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5049715" y="3173590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5952513" y="3173590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376755"/>
              </p:ext>
            </p:extLst>
          </p:nvPr>
        </p:nvGraphicFramePr>
        <p:xfrm>
          <a:off x="4317275" y="3489431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54307"/>
              </p:ext>
            </p:extLst>
          </p:nvPr>
        </p:nvGraphicFramePr>
        <p:xfrm>
          <a:off x="6045898" y="351006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267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206659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49.7 Calculate Gini Impurity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36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69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49.7 Calculate Gini Impurity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5707972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Calculate the Gini index for three stumps.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6746329" y="1563714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6314358" y="1812360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7226846" y="1812360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560072"/>
              </p:ext>
            </p:extLst>
          </p:nvPr>
        </p:nvGraphicFramePr>
        <p:xfrm>
          <a:off x="5581918" y="2139859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886366"/>
              </p:ext>
            </p:extLst>
          </p:nvPr>
        </p:nvGraphicFramePr>
        <p:xfrm>
          <a:off x="7310541" y="2160491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B82A5FC-60C5-44A9-8C4E-E9F95B081DFA}"/>
              </a:ext>
            </a:extLst>
          </p:cNvPr>
          <p:cNvSpPr/>
          <p:nvPr/>
        </p:nvSpPr>
        <p:spPr>
          <a:xfrm>
            <a:off x="6494405" y="3038894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Blocked Arteries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88073B-AA7A-4771-A843-025B6FCCC070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6324048" y="3287540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82FAD6-F914-4AF7-973B-D6C519C4B103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>
            <a:off x="7226846" y="3287540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8">
            <a:extLst>
              <a:ext uri="{FF2B5EF4-FFF2-40B4-BE49-F238E27FC236}">
                <a16:creationId xmlns:a16="http://schemas.microsoft.com/office/drawing/2014/main" id="{8A9EBA61-0016-407D-BF03-730953F90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465818"/>
              </p:ext>
            </p:extLst>
          </p:nvPr>
        </p:nvGraphicFramePr>
        <p:xfrm>
          <a:off x="5591608" y="3603381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4" name="Table 8">
            <a:extLst>
              <a:ext uri="{FF2B5EF4-FFF2-40B4-BE49-F238E27FC236}">
                <a16:creationId xmlns:a16="http://schemas.microsoft.com/office/drawing/2014/main" id="{011B9BF0-B020-4D21-9CF3-358F9204D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511296"/>
              </p:ext>
            </p:extLst>
          </p:nvPr>
        </p:nvGraphicFramePr>
        <p:xfrm>
          <a:off x="7320231" y="362401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13919"/>
              </p:ext>
            </p:extLst>
          </p:nvPr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399659"/>
              </p:ext>
            </p:extLst>
          </p:nvPr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14D538-7A93-4C64-AC3F-79ECE6D31297}"/>
              </a:ext>
            </a:extLst>
          </p:cNvPr>
          <p:cNvCxnSpPr>
            <a:cxnSpLocks/>
            <a:stCxn id="16" idx="1"/>
            <a:endCxn id="34" idx="3"/>
          </p:cNvCxnSpPr>
          <p:nvPr/>
        </p:nvCxnSpPr>
        <p:spPr>
          <a:xfrm flipH="1">
            <a:off x="4532964" y="2551339"/>
            <a:ext cx="1048954" cy="157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副標題 2">
            <a:extLst>
              <a:ext uri="{FF2B5EF4-FFF2-40B4-BE49-F238E27FC236}">
                <a16:creationId xmlns:a16="http://schemas.microsoft.com/office/drawing/2014/main" id="{A3269BDD-64CB-4A23-912F-F825BD6EB508}"/>
              </a:ext>
            </a:extLst>
          </p:cNvPr>
          <p:cNvSpPr txBox="1">
            <a:spLocks/>
          </p:cNvSpPr>
          <p:nvPr/>
        </p:nvSpPr>
        <p:spPr>
          <a:xfrm>
            <a:off x="3562083" y="2388006"/>
            <a:ext cx="970881" cy="35824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0.47</a:t>
            </a:r>
          </a:p>
        </p:txBody>
      </p:sp>
      <p:sp>
        <p:nvSpPr>
          <p:cNvPr id="36" name="副標題 2">
            <a:extLst>
              <a:ext uri="{FF2B5EF4-FFF2-40B4-BE49-F238E27FC236}">
                <a16:creationId xmlns:a16="http://schemas.microsoft.com/office/drawing/2014/main" id="{1398FB4E-DDA9-4374-801B-7590A506C488}"/>
              </a:ext>
            </a:extLst>
          </p:cNvPr>
          <p:cNvSpPr txBox="1">
            <a:spLocks/>
          </p:cNvSpPr>
          <p:nvPr/>
        </p:nvSpPr>
        <p:spPr>
          <a:xfrm>
            <a:off x="3548562" y="3852930"/>
            <a:ext cx="857097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38" name="副標題 2">
            <a:extLst>
              <a:ext uri="{FF2B5EF4-FFF2-40B4-BE49-F238E27FC236}">
                <a16:creationId xmlns:a16="http://schemas.microsoft.com/office/drawing/2014/main" id="{C5698AB8-457B-46AD-9E54-8C0A604A4828}"/>
              </a:ext>
            </a:extLst>
          </p:cNvPr>
          <p:cNvSpPr txBox="1">
            <a:spLocks/>
          </p:cNvSpPr>
          <p:nvPr/>
        </p:nvSpPr>
        <p:spPr>
          <a:xfrm>
            <a:off x="4047523" y="1867472"/>
            <a:ext cx="1554347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Gini Index</a:t>
            </a:r>
          </a:p>
        </p:txBody>
      </p:sp>
      <p:sp>
        <p:nvSpPr>
          <p:cNvPr id="39" name="副標題 2">
            <a:extLst>
              <a:ext uri="{FF2B5EF4-FFF2-40B4-BE49-F238E27FC236}">
                <a16:creationId xmlns:a16="http://schemas.microsoft.com/office/drawing/2014/main" id="{A7BC26B0-B644-49CB-9F2F-3BAA66D70B17}"/>
              </a:ext>
            </a:extLst>
          </p:cNvPr>
          <p:cNvSpPr txBox="1">
            <a:spLocks/>
          </p:cNvSpPr>
          <p:nvPr/>
        </p:nvSpPr>
        <p:spPr>
          <a:xfrm>
            <a:off x="4217120" y="3242850"/>
            <a:ext cx="1554346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Gini Index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8394F98-56BD-486D-A2F5-69FD15787633}"/>
              </a:ext>
            </a:extLst>
          </p:cNvPr>
          <p:cNvCxnSpPr>
            <a:cxnSpLocks/>
            <a:stCxn id="23" idx="1"/>
            <a:endCxn id="36" idx="3"/>
          </p:cNvCxnSpPr>
          <p:nvPr/>
        </p:nvCxnSpPr>
        <p:spPr>
          <a:xfrm flipH="1">
            <a:off x="4405659" y="4014861"/>
            <a:ext cx="1185949" cy="20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副標題 2">
            <a:extLst>
              <a:ext uri="{FF2B5EF4-FFF2-40B4-BE49-F238E27FC236}">
                <a16:creationId xmlns:a16="http://schemas.microsoft.com/office/drawing/2014/main" id="{1CB294DE-A1AE-416A-8834-0BAC3547201D}"/>
              </a:ext>
            </a:extLst>
          </p:cNvPr>
          <p:cNvSpPr txBox="1">
            <a:spLocks/>
          </p:cNvSpPr>
          <p:nvPr/>
        </p:nvSpPr>
        <p:spPr>
          <a:xfrm>
            <a:off x="3539445" y="5265755"/>
            <a:ext cx="857097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49" name="副標題 2">
            <a:extLst>
              <a:ext uri="{FF2B5EF4-FFF2-40B4-BE49-F238E27FC236}">
                <a16:creationId xmlns:a16="http://schemas.microsoft.com/office/drawing/2014/main" id="{009F5FC6-0BF1-4C79-94C5-8BAAFF7115F2}"/>
              </a:ext>
            </a:extLst>
          </p:cNvPr>
          <p:cNvSpPr txBox="1">
            <a:spLocks/>
          </p:cNvSpPr>
          <p:nvPr/>
        </p:nvSpPr>
        <p:spPr>
          <a:xfrm>
            <a:off x="4047523" y="4676346"/>
            <a:ext cx="1554346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Gini Index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DBF330E-0323-437B-9577-8CAB75587DB8}"/>
              </a:ext>
            </a:extLst>
          </p:cNvPr>
          <p:cNvCxnSpPr>
            <a:cxnSpLocks/>
            <a:stCxn id="30" idx="1"/>
            <a:endCxn id="48" idx="3"/>
          </p:cNvCxnSpPr>
          <p:nvPr/>
        </p:nvCxnSpPr>
        <p:spPr>
          <a:xfrm flipH="1">
            <a:off x="4396542" y="5448318"/>
            <a:ext cx="10399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副標題 2">
            <a:extLst>
              <a:ext uri="{FF2B5EF4-FFF2-40B4-BE49-F238E27FC236}">
                <a16:creationId xmlns:a16="http://schemas.microsoft.com/office/drawing/2014/main" id="{F20F86A2-57D8-4497-81E9-4D32E7321DF1}"/>
              </a:ext>
            </a:extLst>
          </p:cNvPr>
          <p:cNvSpPr txBox="1">
            <a:spLocks/>
          </p:cNvSpPr>
          <p:nvPr/>
        </p:nvSpPr>
        <p:spPr>
          <a:xfrm>
            <a:off x="197946" y="2559233"/>
            <a:ext cx="2994172" cy="213838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Gini Index (</a:t>
            </a:r>
            <a:r>
              <a:rPr lang="en-US" sz="1800" b="1" dirty="0">
                <a:solidFill>
                  <a:srgbClr val="C00000"/>
                </a:solidFill>
              </a:rPr>
              <a:t>Gini impurity</a:t>
            </a:r>
            <a:r>
              <a:rPr lang="en-US" sz="1800" b="1" dirty="0">
                <a:solidFill>
                  <a:schemeClr val="tx1"/>
                </a:solidFill>
              </a:rPr>
              <a:t>) measures the degree of </a:t>
            </a:r>
            <a:r>
              <a:rPr lang="en-US" sz="1800" b="1" dirty="0">
                <a:solidFill>
                  <a:srgbClr val="C00000"/>
                </a:solidFill>
              </a:rPr>
              <a:t>wrong classified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Please refer to 38.11 for Gini Impurity Calculation in Decision Tree.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C0B155-6583-4860-B73E-1CDC7939AF03}"/>
              </a:ext>
            </a:extLst>
          </p:cNvPr>
          <p:cNvCxnSpPr>
            <a:cxnSpLocks/>
            <a:stCxn id="71" idx="3"/>
            <a:endCxn id="34" idx="1"/>
          </p:cNvCxnSpPr>
          <p:nvPr/>
        </p:nvCxnSpPr>
        <p:spPr>
          <a:xfrm flipV="1">
            <a:off x="3192118" y="2567128"/>
            <a:ext cx="369965" cy="106129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51BD17-8C40-43FB-AE76-0411227C8272}"/>
              </a:ext>
            </a:extLst>
          </p:cNvPr>
          <p:cNvCxnSpPr>
            <a:cxnSpLocks/>
            <a:stCxn id="71" idx="3"/>
            <a:endCxn id="36" idx="1"/>
          </p:cNvCxnSpPr>
          <p:nvPr/>
        </p:nvCxnSpPr>
        <p:spPr>
          <a:xfrm>
            <a:off x="3192118" y="3628425"/>
            <a:ext cx="356444" cy="4070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FFA5CDA-7FB5-4246-B3B6-9A80A156B962}"/>
              </a:ext>
            </a:extLst>
          </p:cNvPr>
          <p:cNvCxnSpPr>
            <a:cxnSpLocks/>
            <a:stCxn id="71" idx="3"/>
            <a:endCxn id="48" idx="1"/>
          </p:cNvCxnSpPr>
          <p:nvPr/>
        </p:nvCxnSpPr>
        <p:spPr>
          <a:xfrm>
            <a:off x="3192118" y="3628425"/>
            <a:ext cx="347327" cy="18198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308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49.7 Calculate Gini Impurity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5707972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Select the Weight as the First Stump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6746329" y="1563714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6314358" y="1812360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7226846" y="1812360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/>
        </p:nvGraphicFramePr>
        <p:xfrm>
          <a:off x="5581918" y="2139859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/>
        </p:nvGraphicFramePr>
        <p:xfrm>
          <a:off x="7310541" y="2160491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B82A5FC-60C5-44A9-8C4E-E9F95B081DFA}"/>
              </a:ext>
            </a:extLst>
          </p:cNvPr>
          <p:cNvSpPr/>
          <p:nvPr/>
        </p:nvSpPr>
        <p:spPr>
          <a:xfrm>
            <a:off x="6494405" y="3038894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Blocked Arteries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88073B-AA7A-4771-A843-025B6FCCC070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6324048" y="3287540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82FAD6-F914-4AF7-973B-D6C519C4B103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>
            <a:off x="7226846" y="3287540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8">
            <a:extLst>
              <a:ext uri="{FF2B5EF4-FFF2-40B4-BE49-F238E27FC236}">
                <a16:creationId xmlns:a16="http://schemas.microsoft.com/office/drawing/2014/main" id="{8A9EBA61-0016-407D-BF03-730953F9015D}"/>
              </a:ext>
            </a:extLst>
          </p:cNvPr>
          <p:cNvGraphicFramePr>
            <a:graphicFrameLocks noGrp="1"/>
          </p:cNvGraphicFramePr>
          <p:nvPr/>
        </p:nvGraphicFramePr>
        <p:xfrm>
          <a:off x="5591608" y="3603381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4" name="Table 8">
            <a:extLst>
              <a:ext uri="{FF2B5EF4-FFF2-40B4-BE49-F238E27FC236}">
                <a16:creationId xmlns:a16="http://schemas.microsoft.com/office/drawing/2014/main" id="{011B9BF0-B020-4D21-9CF3-358F9204D32F}"/>
              </a:ext>
            </a:extLst>
          </p:cNvPr>
          <p:cNvGraphicFramePr>
            <a:graphicFrameLocks noGrp="1"/>
          </p:cNvGraphicFramePr>
          <p:nvPr/>
        </p:nvGraphicFramePr>
        <p:xfrm>
          <a:off x="7320231" y="3624013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14D538-7A93-4C64-AC3F-79ECE6D31297}"/>
              </a:ext>
            </a:extLst>
          </p:cNvPr>
          <p:cNvCxnSpPr>
            <a:cxnSpLocks/>
            <a:stCxn id="16" idx="1"/>
            <a:endCxn id="34" idx="3"/>
          </p:cNvCxnSpPr>
          <p:nvPr/>
        </p:nvCxnSpPr>
        <p:spPr>
          <a:xfrm flipH="1">
            <a:off x="4532964" y="2551339"/>
            <a:ext cx="1048954" cy="157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副標題 2">
            <a:extLst>
              <a:ext uri="{FF2B5EF4-FFF2-40B4-BE49-F238E27FC236}">
                <a16:creationId xmlns:a16="http://schemas.microsoft.com/office/drawing/2014/main" id="{A3269BDD-64CB-4A23-912F-F825BD6EB508}"/>
              </a:ext>
            </a:extLst>
          </p:cNvPr>
          <p:cNvSpPr txBox="1">
            <a:spLocks/>
          </p:cNvSpPr>
          <p:nvPr/>
        </p:nvSpPr>
        <p:spPr>
          <a:xfrm>
            <a:off x="3562083" y="2388006"/>
            <a:ext cx="970881" cy="35824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0.47</a:t>
            </a:r>
          </a:p>
        </p:txBody>
      </p:sp>
      <p:sp>
        <p:nvSpPr>
          <p:cNvPr id="36" name="副標題 2">
            <a:extLst>
              <a:ext uri="{FF2B5EF4-FFF2-40B4-BE49-F238E27FC236}">
                <a16:creationId xmlns:a16="http://schemas.microsoft.com/office/drawing/2014/main" id="{1398FB4E-DDA9-4374-801B-7590A506C488}"/>
              </a:ext>
            </a:extLst>
          </p:cNvPr>
          <p:cNvSpPr txBox="1">
            <a:spLocks/>
          </p:cNvSpPr>
          <p:nvPr/>
        </p:nvSpPr>
        <p:spPr>
          <a:xfrm>
            <a:off x="3548562" y="3852930"/>
            <a:ext cx="857097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38" name="副標題 2">
            <a:extLst>
              <a:ext uri="{FF2B5EF4-FFF2-40B4-BE49-F238E27FC236}">
                <a16:creationId xmlns:a16="http://schemas.microsoft.com/office/drawing/2014/main" id="{C5698AB8-457B-46AD-9E54-8C0A604A4828}"/>
              </a:ext>
            </a:extLst>
          </p:cNvPr>
          <p:cNvSpPr txBox="1">
            <a:spLocks/>
          </p:cNvSpPr>
          <p:nvPr/>
        </p:nvSpPr>
        <p:spPr>
          <a:xfrm>
            <a:off x="4047523" y="1867472"/>
            <a:ext cx="1554347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Gini Index</a:t>
            </a:r>
          </a:p>
        </p:txBody>
      </p:sp>
      <p:sp>
        <p:nvSpPr>
          <p:cNvPr id="39" name="副標題 2">
            <a:extLst>
              <a:ext uri="{FF2B5EF4-FFF2-40B4-BE49-F238E27FC236}">
                <a16:creationId xmlns:a16="http://schemas.microsoft.com/office/drawing/2014/main" id="{A7BC26B0-B644-49CB-9F2F-3BAA66D70B17}"/>
              </a:ext>
            </a:extLst>
          </p:cNvPr>
          <p:cNvSpPr txBox="1">
            <a:spLocks/>
          </p:cNvSpPr>
          <p:nvPr/>
        </p:nvSpPr>
        <p:spPr>
          <a:xfrm>
            <a:off x="4217120" y="3242850"/>
            <a:ext cx="1554346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Gini Index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8394F98-56BD-486D-A2F5-69FD15787633}"/>
              </a:ext>
            </a:extLst>
          </p:cNvPr>
          <p:cNvCxnSpPr>
            <a:cxnSpLocks/>
            <a:stCxn id="23" idx="1"/>
            <a:endCxn id="36" idx="3"/>
          </p:cNvCxnSpPr>
          <p:nvPr/>
        </p:nvCxnSpPr>
        <p:spPr>
          <a:xfrm flipH="1">
            <a:off x="4405659" y="4014861"/>
            <a:ext cx="1185949" cy="20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副標題 2">
            <a:extLst>
              <a:ext uri="{FF2B5EF4-FFF2-40B4-BE49-F238E27FC236}">
                <a16:creationId xmlns:a16="http://schemas.microsoft.com/office/drawing/2014/main" id="{1CB294DE-A1AE-416A-8834-0BAC3547201D}"/>
              </a:ext>
            </a:extLst>
          </p:cNvPr>
          <p:cNvSpPr txBox="1">
            <a:spLocks/>
          </p:cNvSpPr>
          <p:nvPr/>
        </p:nvSpPr>
        <p:spPr>
          <a:xfrm>
            <a:off x="3539445" y="5265755"/>
            <a:ext cx="857097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49" name="副標題 2">
            <a:extLst>
              <a:ext uri="{FF2B5EF4-FFF2-40B4-BE49-F238E27FC236}">
                <a16:creationId xmlns:a16="http://schemas.microsoft.com/office/drawing/2014/main" id="{009F5FC6-0BF1-4C79-94C5-8BAAFF7115F2}"/>
              </a:ext>
            </a:extLst>
          </p:cNvPr>
          <p:cNvSpPr txBox="1">
            <a:spLocks/>
          </p:cNvSpPr>
          <p:nvPr/>
        </p:nvSpPr>
        <p:spPr>
          <a:xfrm>
            <a:off x="4047523" y="4676346"/>
            <a:ext cx="1554346" cy="3651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Gini Index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DBF330E-0323-437B-9577-8CAB75587DB8}"/>
              </a:ext>
            </a:extLst>
          </p:cNvPr>
          <p:cNvCxnSpPr>
            <a:cxnSpLocks/>
            <a:stCxn id="30" idx="1"/>
            <a:endCxn id="48" idx="3"/>
          </p:cNvCxnSpPr>
          <p:nvPr/>
        </p:nvCxnSpPr>
        <p:spPr>
          <a:xfrm flipH="1">
            <a:off x="4396542" y="5448318"/>
            <a:ext cx="10399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副標題 2">
            <a:extLst>
              <a:ext uri="{FF2B5EF4-FFF2-40B4-BE49-F238E27FC236}">
                <a16:creationId xmlns:a16="http://schemas.microsoft.com/office/drawing/2014/main" id="{505940F2-A1AB-46CA-92A0-3CF610C97BBB}"/>
              </a:ext>
            </a:extLst>
          </p:cNvPr>
          <p:cNvSpPr txBox="1">
            <a:spLocks/>
          </p:cNvSpPr>
          <p:nvPr/>
        </p:nvSpPr>
        <p:spPr>
          <a:xfrm>
            <a:off x="283177" y="1778812"/>
            <a:ext cx="3166746" cy="159424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Since Weight has the lowest Gini Index…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…So, we pick weight to be the first stump in the forest.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B16981-0F16-4E03-B87F-2952F6C81430}"/>
              </a:ext>
            </a:extLst>
          </p:cNvPr>
          <p:cNvSpPr/>
          <p:nvPr/>
        </p:nvSpPr>
        <p:spPr>
          <a:xfrm>
            <a:off x="1548490" y="3150824"/>
            <a:ext cx="2054026" cy="2314849"/>
          </a:xfrm>
          <a:custGeom>
            <a:avLst/>
            <a:gdLst>
              <a:gd name="connsiteX0" fmla="*/ 390479 w 2054026"/>
              <a:gd name="connsiteY0" fmla="*/ 0 h 2314849"/>
              <a:gd name="connsiteX1" fmla="*/ 115057 w 2054026"/>
              <a:gd name="connsiteY1" fmla="*/ 1938969 h 2314849"/>
              <a:gd name="connsiteX2" fmla="*/ 2054026 w 2054026"/>
              <a:gd name="connsiteY2" fmla="*/ 2313542 h 2314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4026" h="2314849">
                <a:moveTo>
                  <a:pt x="390479" y="0"/>
                </a:moveTo>
                <a:cubicBezTo>
                  <a:pt x="114139" y="776689"/>
                  <a:pt x="-162201" y="1553379"/>
                  <a:pt x="115057" y="1938969"/>
                </a:cubicBezTo>
                <a:cubicBezTo>
                  <a:pt x="392315" y="2324559"/>
                  <a:pt x="1223170" y="2319050"/>
                  <a:pt x="2054026" y="2313542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50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206659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49.8 Select Weight as First Stump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39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84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49.8 Select Weight as First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242814"/>
            <a:ext cx="8147248" cy="131303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Remember, some stump get more say (vote) in the final classification than the others.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determine how </a:t>
            </a:r>
            <a:r>
              <a:rPr lang="en-US" sz="1800" b="1" dirty="0">
                <a:solidFill>
                  <a:srgbClr val="C00000"/>
                </a:solidFill>
              </a:rPr>
              <a:t>much say (vote) a stump has in the final classification based on how well it Classified the samples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7C06EFE-3B8A-41FE-83EE-1D7E4890ADB7}"/>
              </a:ext>
            </a:extLst>
          </p:cNvPr>
          <p:cNvSpPr/>
          <p:nvPr/>
        </p:nvSpPr>
        <p:spPr>
          <a:xfrm>
            <a:off x="2590800" y="2977999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266175-F42C-4397-B242-635ED29AF21C}"/>
              </a:ext>
            </a:extLst>
          </p:cNvPr>
          <p:cNvSpPr/>
          <p:nvPr/>
        </p:nvSpPr>
        <p:spPr>
          <a:xfrm>
            <a:off x="2448046" y="3295879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A7D0A91-41E5-480D-BB5F-B8E2D11ACD85}"/>
              </a:ext>
            </a:extLst>
          </p:cNvPr>
          <p:cNvSpPr/>
          <p:nvPr/>
        </p:nvSpPr>
        <p:spPr>
          <a:xfrm>
            <a:off x="2777265" y="3316512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DC3DF8E-1A00-4E5D-93D2-CBB5AC5A85E6}"/>
              </a:ext>
            </a:extLst>
          </p:cNvPr>
          <p:cNvCxnSpPr>
            <a:cxnSpLocks/>
            <a:stCxn id="127" idx="2"/>
            <a:endCxn id="128" idx="0"/>
          </p:cNvCxnSpPr>
          <p:nvPr/>
        </p:nvCxnSpPr>
        <p:spPr>
          <a:xfrm flipH="1">
            <a:off x="2562631" y="3148816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0D76757-B3F3-42DD-B60A-F4BD9D00F27C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2705384" y="3148816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7DCB581-8767-46EF-85BF-5D08BB1C66E1}"/>
              </a:ext>
            </a:extLst>
          </p:cNvPr>
          <p:cNvSpPr/>
          <p:nvPr/>
        </p:nvSpPr>
        <p:spPr>
          <a:xfrm>
            <a:off x="2642056" y="4983305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9431383-3A33-4F6F-B7E4-BDC3663CCD53}"/>
              </a:ext>
            </a:extLst>
          </p:cNvPr>
          <p:cNvSpPr/>
          <p:nvPr/>
        </p:nvSpPr>
        <p:spPr>
          <a:xfrm>
            <a:off x="2479999" y="5346414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7AF2653-8279-488F-8847-7FFD62961089}"/>
              </a:ext>
            </a:extLst>
          </p:cNvPr>
          <p:cNvSpPr/>
          <p:nvPr/>
        </p:nvSpPr>
        <p:spPr>
          <a:xfrm>
            <a:off x="2809218" y="5367047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638D534-D73C-4BEA-A678-5A7C83D9E06A}"/>
              </a:ext>
            </a:extLst>
          </p:cNvPr>
          <p:cNvCxnSpPr>
            <a:cxnSpLocks/>
            <a:stCxn id="142" idx="2"/>
            <a:endCxn id="143" idx="0"/>
          </p:cNvCxnSpPr>
          <p:nvPr/>
        </p:nvCxnSpPr>
        <p:spPr>
          <a:xfrm flipH="1">
            <a:off x="2594584" y="5154122"/>
            <a:ext cx="162056" cy="192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5EE325D-1F51-47FA-B208-47500CF3F028}"/>
              </a:ext>
            </a:extLst>
          </p:cNvPr>
          <p:cNvCxnSpPr>
            <a:cxnSpLocks/>
            <a:stCxn id="142" idx="2"/>
            <a:endCxn id="144" idx="0"/>
          </p:cNvCxnSpPr>
          <p:nvPr/>
        </p:nvCxnSpPr>
        <p:spPr>
          <a:xfrm>
            <a:off x="2756640" y="5154122"/>
            <a:ext cx="167163" cy="2129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4C05804-6B6E-4884-AAC8-9850E99D2399}"/>
              </a:ext>
            </a:extLst>
          </p:cNvPr>
          <p:cNvSpPr/>
          <p:nvPr/>
        </p:nvSpPr>
        <p:spPr>
          <a:xfrm>
            <a:off x="2296448" y="3821163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BE6DCD8-68C3-43FE-8CA1-22937F32D0EB}"/>
              </a:ext>
            </a:extLst>
          </p:cNvPr>
          <p:cNvSpPr/>
          <p:nvPr/>
        </p:nvSpPr>
        <p:spPr>
          <a:xfrm>
            <a:off x="1961476" y="4344634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CD3758E-3EC8-4615-8439-6048A1F8FA5C}"/>
              </a:ext>
            </a:extLst>
          </p:cNvPr>
          <p:cNvSpPr/>
          <p:nvPr/>
        </p:nvSpPr>
        <p:spPr>
          <a:xfrm>
            <a:off x="2815401" y="4336508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6D6DEC6-0553-4515-977F-66BFF25CF27A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 flipH="1">
            <a:off x="2301766" y="4069809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1B38B7-F82E-43CD-BCE6-1922750B3656}"/>
              </a:ext>
            </a:extLst>
          </p:cNvPr>
          <p:cNvCxnSpPr>
            <a:cxnSpLocks/>
            <a:stCxn id="159" idx="2"/>
            <a:endCxn id="161" idx="0"/>
          </p:cNvCxnSpPr>
          <p:nvPr/>
        </p:nvCxnSpPr>
        <p:spPr>
          <a:xfrm>
            <a:off x="2651441" y="4069809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6F1E87-B37D-417B-B288-D2A700FF45C4}"/>
              </a:ext>
            </a:extLst>
          </p:cNvPr>
          <p:cNvSpPr/>
          <p:nvPr/>
        </p:nvSpPr>
        <p:spPr>
          <a:xfrm>
            <a:off x="3150824" y="2126255"/>
            <a:ext cx="1338936" cy="1932469"/>
          </a:xfrm>
          <a:custGeom>
            <a:avLst/>
            <a:gdLst>
              <a:gd name="connsiteX0" fmla="*/ 627962 w 1338936"/>
              <a:gd name="connsiteY0" fmla="*/ 0 h 1932469"/>
              <a:gd name="connsiteX1" fmla="*/ 1322024 w 1338936"/>
              <a:gd name="connsiteY1" fmla="*/ 1630497 h 1932469"/>
              <a:gd name="connsiteX2" fmla="*/ 0 w 1338936"/>
              <a:gd name="connsiteY2" fmla="*/ 1927952 h 193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8936" h="1932469">
                <a:moveTo>
                  <a:pt x="627962" y="0"/>
                </a:moveTo>
                <a:cubicBezTo>
                  <a:pt x="1027323" y="654586"/>
                  <a:pt x="1426684" y="1309172"/>
                  <a:pt x="1322024" y="1630497"/>
                </a:cubicBezTo>
                <a:cubicBezTo>
                  <a:pt x="1217364" y="1951822"/>
                  <a:pt x="608682" y="1939887"/>
                  <a:pt x="0" y="1927952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69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49.8 Select Weight as First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stump made one error.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7828531" y="5538140"/>
            <a:ext cx="801491" cy="4170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722150"/>
              </p:ext>
            </p:extLst>
          </p:nvPr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C8C55225-8FE4-4D1A-A937-640852E2A23F}"/>
              </a:ext>
            </a:extLst>
          </p:cNvPr>
          <p:cNvSpPr/>
          <p:nvPr/>
        </p:nvSpPr>
        <p:spPr>
          <a:xfrm>
            <a:off x="513978" y="3429000"/>
            <a:ext cx="3353108" cy="5252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580003" y="3109869"/>
            <a:ext cx="4050019" cy="109355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patient, who weights less than 176, has heart disease, but the stump says they do not.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EB0043-B960-4713-9A8E-1CCCE56DE8BF}"/>
              </a:ext>
            </a:extLst>
          </p:cNvPr>
          <p:cNvCxnSpPr>
            <a:cxnSpLocks/>
            <a:stCxn id="43" idx="1"/>
            <a:endCxn id="40" idx="3"/>
          </p:cNvCxnSpPr>
          <p:nvPr/>
        </p:nvCxnSpPr>
        <p:spPr>
          <a:xfrm flipH="1">
            <a:off x="3867086" y="3656647"/>
            <a:ext cx="712917" cy="3497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429B4A8-C5D9-4168-89A4-519B44A276BB}"/>
              </a:ext>
            </a:extLst>
          </p:cNvPr>
          <p:cNvSpPr/>
          <p:nvPr/>
        </p:nvSpPr>
        <p:spPr>
          <a:xfrm>
            <a:off x="3536414" y="1421176"/>
            <a:ext cx="598369" cy="2082188"/>
          </a:xfrm>
          <a:custGeom>
            <a:avLst/>
            <a:gdLst>
              <a:gd name="connsiteX0" fmla="*/ 0 w 598369"/>
              <a:gd name="connsiteY0" fmla="*/ 0 h 2082188"/>
              <a:gd name="connsiteX1" fmla="*/ 583894 w 598369"/>
              <a:gd name="connsiteY1" fmla="*/ 793214 h 2082188"/>
              <a:gd name="connsiteX2" fmla="*/ 363557 w 598369"/>
              <a:gd name="connsiteY2" fmla="*/ 2082188 h 208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8369" h="2082188">
                <a:moveTo>
                  <a:pt x="0" y="0"/>
                </a:moveTo>
                <a:cubicBezTo>
                  <a:pt x="261650" y="223091"/>
                  <a:pt x="523301" y="446183"/>
                  <a:pt x="583894" y="793214"/>
                </a:cubicBezTo>
                <a:cubicBezTo>
                  <a:pt x="644487" y="1140245"/>
                  <a:pt x="504022" y="1611216"/>
                  <a:pt x="363557" y="2082188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69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206659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49.9 Calculate Say for Weight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42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73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49.9 Calculate Say for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4050060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stump made one error.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7828531" y="5538140"/>
            <a:ext cx="801491" cy="4170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776921"/>
              </p:ext>
            </p:extLst>
          </p:nvPr>
        </p:nvGraphicFramePr>
        <p:xfrm>
          <a:off x="297597" y="1633550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C8C55225-8FE4-4D1A-A937-640852E2A23F}"/>
              </a:ext>
            </a:extLst>
          </p:cNvPr>
          <p:cNvSpPr/>
          <p:nvPr/>
        </p:nvSpPr>
        <p:spPr>
          <a:xfrm>
            <a:off x="354375" y="3117863"/>
            <a:ext cx="3353108" cy="5252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604367" y="1222170"/>
            <a:ext cx="4320480" cy="2890141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rgbClr val="C00000"/>
                </a:solidFill>
              </a:rPr>
              <a:t>Total Error </a:t>
            </a:r>
            <a:r>
              <a:rPr lang="en-US" sz="1800" b="1" dirty="0">
                <a:solidFill>
                  <a:schemeClr val="tx1"/>
                </a:solidFill>
              </a:rPr>
              <a:t>for a stump is the sum of the weights associated with the incorrectly classified samples.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this case, the </a:t>
            </a:r>
            <a:r>
              <a:rPr lang="en-US" sz="1800" b="1" dirty="0">
                <a:solidFill>
                  <a:srgbClr val="C00000"/>
                </a:solidFill>
              </a:rPr>
              <a:t>Total Error = 1/8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Because all the Sample weight ad up to 1.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Total Error = 0 for a perfect Stump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Total Error = 1 for a horrible stump.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EB0043-B960-4713-9A8E-1CCCE56DE8BF}"/>
              </a:ext>
            </a:extLst>
          </p:cNvPr>
          <p:cNvCxnSpPr>
            <a:cxnSpLocks/>
            <a:stCxn id="43" idx="1"/>
            <a:endCxn id="40" idx="3"/>
          </p:cNvCxnSpPr>
          <p:nvPr/>
        </p:nvCxnSpPr>
        <p:spPr>
          <a:xfrm flipH="1">
            <a:off x="3707483" y="2667241"/>
            <a:ext cx="896884" cy="7132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89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49.9 Calculate Say for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4050060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Calculate the Say for Weight.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44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7828531" y="5538140"/>
            <a:ext cx="801491" cy="4170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297597" y="1633550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C8C55225-8FE4-4D1A-A937-640852E2A23F}"/>
              </a:ext>
            </a:extLst>
          </p:cNvPr>
          <p:cNvSpPr/>
          <p:nvPr/>
        </p:nvSpPr>
        <p:spPr>
          <a:xfrm>
            <a:off x="354375" y="3117863"/>
            <a:ext cx="3353108" cy="5252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69962" y="2329215"/>
                <a:ext cx="4320480" cy="1702443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We use the Total Error to determine the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Amount of Say (or Amount of Vote)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in this stump has in the final classification with the following formula: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18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18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962" y="2329215"/>
                <a:ext cx="4320480" cy="1702443"/>
              </a:xfrm>
              <a:prstGeom prst="rect">
                <a:avLst/>
              </a:prstGeom>
              <a:blipFill>
                <a:blip r:embed="rId2"/>
                <a:stretch>
                  <a:fillRect t="-702" r="-1119" b="-2456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EB0043-B960-4713-9A8E-1CCCE56DE8BF}"/>
              </a:ext>
            </a:extLst>
          </p:cNvPr>
          <p:cNvCxnSpPr>
            <a:cxnSpLocks/>
            <a:stCxn id="43" idx="1"/>
            <a:endCxn id="40" idx="3"/>
          </p:cNvCxnSpPr>
          <p:nvPr/>
        </p:nvCxnSpPr>
        <p:spPr>
          <a:xfrm flipH="1">
            <a:off x="3707483" y="3180437"/>
            <a:ext cx="762479" cy="2000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965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49.9 Calculate Say for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3473996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Calculate the Say for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45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7828531" y="5538140"/>
            <a:ext cx="801491" cy="4170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4750" y="1318033"/>
                <a:ext cx="4482050" cy="1176655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We can draw a graph of for Total Error: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Amount of Say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750" y="1318033"/>
                <a:ext cx="4482050" cy="11766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6DDC3C-88A1-4E59-9F72-27D4FA3EBD25}"/>
              </a:ext>
            </a:extLst>
          </p:cNvPr>
          <p:cNvCxnSpPr>
            <a:cxnSpLocks/>
          </p:cNvCxnSpPr>
          <p:nvPr/>
        </p:nvCxnSpPr>
        <p:spPr>
          <a:xfrm>
            <a:off x="1700585" y="5096325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E7006B-25A5-4E9A-B0A8-CBAA07F7A703}"/>
              </a:ext>
            </a:extLst>
          </p:cNvPr>
          <p:cNvCxnSpPr>
            <a:cxnSpLocks/>
          </p:cNvCxnSpPr>
          <p:nvPr/>
        </p:nvCxnSpPr>
        <p:spPr>
          <a:xfrm flipV="1">
            <a:off x="1700585" y="2288013"/>
            <a:ext cx="0" cy="28083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D50CCF-F304-461F-9C5D-BCCBAF729953}"/>
              </a:ext>
            </a:extLst>
          </p:cNvPr>
          <p:cNvCxnSpPr/>
          <p:nvPr/>
        </p:nvCxnSpPr>
        <p:spPr>
          <a:xfrm>
            <a:off x="2636689" y="49523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0184AC-518E-4EF0-8AFF-FE62E7535AAE}"/>
              </a:ext>
            </a:extLst>
          </p:cNvPr>
          <p:cNvCxnSpPr/>
          <p:nvPr/>
        </p:nvCxnSpPr>
        <p:spPr>
          <a:xfrm>
            <a:off x="3572793" y="49682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1B4B98-6C25-4CE2-A576-4610AFF80C65}"/>
              </a:ext>
            </a:extLst>
          </p:cNvPr>
          <p:cNvCxnSpPr/>
          <p:nvPr/>
        </p:nvCxnSpPr>
        <p:spPr>
          <a:xfrm>
            <a:off x="4508897" y="49682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27D3CA-06C4-4763-8ACF-071824216610}"/>
              </a:ext>
            </a:extLst>
          </p:cNvPr>
          <p:cNvCxnSpPr>
            <a:cxnSpLocks/>
          </p:cNvCxnSpPr>
          <p:nvPr/>
        </p:nvCxnSpPr>
        <p:spPr>
          <a:xfrm>
            <a:off x="1548185" y="416022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A3F8CB-7D68-49D7-B0ED-84DE3A38791F}"/>
              </a:ext>
            </a:extLst>
          </p:cNvPr>
          <p:cNvCxnSpPr>
            <a:cxnSpLocks/>
          </p:cNvCxnSpPr>
          <p:nvPr/>
        </p:nvCxnSpPr>
        <p:spPr>
          <a:xfrm>
            <a:off x="1569889" y="323058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17CE69-32F9-41ED-811D-3E130C997118}"/>
              </a:ext>
            </a:extLst>
          </p:cNvPr>
          <p:cNvCxnSpPr>
            <a:cxnSpLocks/>
          </p:cNvCxnSpPr>
          <p:nvPr/>
        </p:nvCxnSpPr>
        <p:spPr>
          <a:xfrm>
            <a:off x="1569889" y="228801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96131D1-BC27-434C-9EEC-36DBF90F9EE4}"/>
              </a:ext>
            </a:extLst>
          </p:cNvPr>
          <p:cNvSpPr txBox="1"/>
          <p:nvPr/>
        </p:nvSpPr>
        <p:spPr>
          <a:xfrm>
            <a:off x="2511132" y="5409031"/>
            <a:ext cx="1554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Error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B6DD56-8274-496D-9A71-76F93BA1E6D4}"/>
              </a:ext>
            </a:extLst>
          </p:cNvPr>
          <p:cNvSpPr txBox="1"/>
          <p:nvPr/>
        </p:nvSpPr>
        <p:spPr>
          <a:xfrm>
            <a:off x="485435" y="2646126"/>
            <a:ext cx="95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Amount to Say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17CF02-C8FC-46E6-9565-9F8A4D326DCC}"/>
              </a:ext>
            </a:extLst>
          </p:cNvPr>
          <p:cNvSpPr txBox="1"/>
          <p:nvPr/>
        </p:nvSpPr>
        <p:spPr>
          <a:xfrm>
            <a:off x="1594687" y="5102789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8369FB-5549-4E7F-9075-56D59D613B95}"/>
              </a:ext>
            </a:extLst>
          </p:cNvPr>
          <p:cNvSpPr txBox="1"/>
          <p:nvPr/>
        </p:nvSpPr>
        <p:spPr>
          <a:xfrm>
            <a:off x="4236184" y="5224365"/>
            <a:ext cx="33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5C1552-D3CF-41F3-A3DA-C8F10AA9A481}"/>
              </a:ext>
            </a:extLst>
          </p:cNvPr>
          <p:cNvSpPr txBox="1"/>
          <p:nvPr/>
        </p:nvSpPr>
        <p:spPr>
          <a:xfrm>
            <a:off x="1287231" y="3503074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750FCB-8C03-4EA8-8D60-47C84ED59332}"/>
              </a:ext>
            </a:extLst>
          </p:cNvPr>
          <p:cNvSpPr txBox="1"/>
          <p:nvPr/>
        </p:nvSpPr>
        <p:spPr>
          <a:xfrm>
            <a:off x="1287231" y="2125356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EE3F-040B-41FD-8D0D-658F8BBD729D}"/>
              </a:ext>
            </a:extLst>
          </p:cNvPr>
          <p:cNvSpPr txBox="1"/>
          <p:nvPr/>
        </p:nvSpPr>
        <p:spPr>
          <a:xfrm>
            <a:off x="1248900" y="4886985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</a:t>
            </a:r>
          </a:p>
        </p:txBody>
      </p:sp>
      <p:sp>
        <p:nvSpPr>
          <p:cNvPr id="54" name="副標題 2">
            <a:extLst>
              <a:ext uri="{FF2B5EF4-FFF2-40B4-BE49-F238E27FC236}">
                <a16:creationId xmlns:a16="http://schemas.microsoft.com/office/drawing/2014/main" id="{035FA0AB-EC0F-4D9F-8BF0-07B1E5ED0387}"/>
              </a:ext>
            </a:extLst>
          </p:cNvPr>
          <p:cNvSpPr txBox="1">
            <a:spLocks/>
          </p:cNvSpPr>
          <p:nvPr/>
        </p:nvSpPr>
        <p:spPr>
          <a:xfrm>
            <a:off x="1233468" y="4396578"/>
            <a:ext cx="1530778" cy="369893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Good classify</a:t>
            </a:r>
          </a:p>
        </p:txBody>
      </p:sp>
      <p:sp>
        <p:nvSpPr>
          <p:cNvPr id="55" name="副標題 2">
            <a:extLst>
              <a:ext uri="{FF2B5EF4-FFF2-40B4-BE49-F238E27FC236}">
                <a16:creationId xmlns:a16="http://schemas.microsoft.com/office/drawing/2014/main" id="{A915C41F-FFB6-41BB-87BC-3EA6CF1B8649}"/>
              </a:ext>
            </a:extLst>
          </p:cNvPr>
          <p:cNvSpPr txBox="1">
            <a:spLocks/>
          </p:cNvSpPr>
          <p:nvPr/>
        </p:nvSpPr>
        <p:spPr>
          <a:xfrm>
            <a:off x="3765977" y="4432739"/>
            <a:ext cx="1295313" cy="328625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bad classify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F8E31A-07FC-4020-9CB7-5F276B4D7CD0}"/>
              </a:ext>
            </a:extLst>
          </p:cNvPr>
          <p:cNvSpPr/>
          <p:nvPr/>
        </p:nvSpPr>
        <p:spPr>
          <a:xfrm>
            <a:off x="1796870" y="2258387"/>
            <a:ext cx="1322024" cy="1476260"/>
          </a:xfrm>
          <a:custGeom>
            <a:avLst/>
            <a:gdLst>
              <a:gd name="connsiteX0" fmla="*/ 0 w 1322024"/>
              <a:gd name="connsiteY0" fmla="*/ 0 h 1476260"/>
              <a:gd name="connsiteX1" fmla="*/ 121185 w 1322024"/>
              <a:gd name="connsiteY1" fmla="*/ 605927 h 1476260"/>
              <a:gd name="connsiteX2" fmla="*/ 506775 w 1322024"/>
              <a:gd name="connsiteY2" fmla="*/ 1145754 h 1476260"/>
              <a:gd name="connsiteX3" fmla="*/ 1322024 w 1322024"/>
              <a:gd name="connsiteY3" fmla="*/ 1476260 h 147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2024" h="1476260">
                <a:moveTo>
                  <a:pt x="0" y="0"/>
                </a:moveTo>
                <a:cubicBezTo>
                  <a:pt x="18361" y="207484"/>
                  <a:pt x="36723" y="414968"/>
                  <a:pt x="121185" y="605927"/>
                </a:cubicBezTo>
                <a:cubicBezTo>
                  <a:pt x="205647" y="796886"/>
                  <a:pt x="306635" y="1000698"/>
                  <a:pt x="506775" y="1145754"/>
                </a:cubicBezTo>
                <a:cubicBezTo>
                  <a:pt x="706915" y="1290810"/>
                  <a:pt x="1014469" y="1383535"/>
                  <a:pt x="1322024" y="147626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5193283-0CAF-4BC8-A90C-D954E0C8EFE1}"/>
              </a:ext>
            </a:extLst>
          </p:cNvPr>
          <p:cNvSpPr/>
          <p:nvPr/>
        </p:nvSpPr>
        <p:spPr>
          <a:xfrm flipH="1" flipV="1">
            <a:off x="3103335" y="3737249"/>
            <a:ext cx="1270911" cy="1375045"/>
          </a:xfrm>
          <a:custGeom>
            <a:avLst/>
            <a:gdLst>
              <a:gd name="connsiteX0" fmla="*/ 0 w 1322024"/>
              <a:gd name="connsiteY0" fmla="*/ 0 h 1476260"/>
              <a:gd name="connsiteX1" fmla="*/ 121185 w 1322024"/>
              <a:gd name="connsiteY1" fmla="*/ 605927 h 1476260"/>
              <a:gd name="connsiteX2" fmla="*/ 506775 w 1322024"/>
              <a:gd name="connsiteY2" fmla="*/ 1145754 h 1476260"/>
              <a:gd name="connsiteX3" fmla="*/ 1322024 w 1322024"/>
              <a:gd name="connsiteY3" fmla="*/ 1476260 h 147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2024" h="1476260">
                <a:moveTo>
                  <a:pt x="0" y="0"/>
                </a:moveTo>
                <a:cubicBezTo>
                  <a:pt x="18361" y="207484"/>
                  <a:pt x="36723" y="414968"/>
                  <a:pt x="121185" y="605927"/>
                </a:cubicBezTo>
                <a:cubicBezTo>
                  <a:pt x="205647" y="796886"/>
                  <a:pt x="306635" y="1000698"/>
                  <a:pt x="506775" y="1145754"/>
                </a:cubicBezTo>
                <a:cubicBezTo>
                  <a:pt x="706915" y="1290810"/>
                  <a:pt x="1014469" y="1383535"/>
                  <a:pt x="1322024" y="147626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63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49.9 Calculate Say for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4050060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Calculate the Say for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46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7828531" y="5538140"/>
            <a:ext cx="801491" cy="4170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7864" y="1226290"/>
                <a:ext cx="4320480" cy="2610012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For Total Error = 1/8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1/8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1/8</m:t>
                            </m:r>
                          </m:den>
                        </m:f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7</m:t>
                        </m:r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1.945</m:t>
                        </m:r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Amount of Say =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𝟗𝟕</m:t>
                    </m:r>
                  </m:oMath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864" y="1226290"/>
                <a:ext cx="4320480" cy="26100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6DDC3C-88A1-4E59-9F72-27D4FA3EBD25}"/>
              </a:ext>
            </a:extLst>
          </p:cNvPr>
          <p:cNvCxnSpPr>
            <a:cxnSpLocks/>
          </p:cNvCxnSpPr>
          <p:nvPr/>
        </p:nvCxnSpPr>
        <p:spPr>
          <a:xfrm>
            <a:off x="1700585" y="5096325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E7006B-25A5-4E9A-B0A8-CBAA07F7A703}"/>
              </a:ext>
            </a:extLst>
          </p:cNvPr>
          <p:cNvCxnSpPr>
            <a:cxnSpLocks/>
          </p:cNvCxnSpPr>
          <p:nvPr/>
        </p:nvCxnSpPr>
        <p:spPr>
          <a:xfrm flipV="1">
            <a:off x="1700585" y="2288013"/>
            <a:ext cx="0" cy="28083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D50CCF-F304-461F-9C5D-BCCBAF729953}"/>
              </a:ext>
            </a:extLst>
          </p:cNvPr>
          <p:cNvCxnSpPr/>
          <p:nvPr/>
        </p:nvCxnSpPr>
        <p:spPr>
          <a:xfrm>
            <a:off x="2636689" y="49523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0184AC-518E-4EF0-8AFF-FE62E7535AAE}"/>
              </a:ext>
            </a:extLst>
          </p:cNvPr>
          <p:cNvCxnSpPr/>
          <p:nvPr/>
        </p:nvCxnSpPr>
        <p:spPr>
          <a:xfrm>
            <a:off x="3572793" y="49682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1B4B98-6C25-4CE2-A576-4610AFF80C65}"/>
              </a:ext>
            </a:extLst>
          </p:cNvPr>
          <p:cNvCxnSpPr/>
          <p:nvPr/>
        </p:nvCxnSpPr>
        <p:spPr>
          <a:xfrm>
            <a:off x="4508897" y="49682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27D3CA-06C4-4763-8ACF-071824216610}"/>
              </a:ext>
            </a:extLst>
          </p:cNvPr>
          <p:cNvCxnSpPr>
            <a:cxnSpLocks/>
          </p:cNvCxnSpPr>
          <p:nvPr/>
        </p:nvCxnSpPr>
        <p:spPr>
          <a:xfrm>
            <a:off x="1548185" y="416022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A3F8CB-7D68-49D7-B0ED-84DE3A38791F}"/>
              </a:ext>
            </a:extLst>
          </p:cNvPr>
          <p:cNvCxnSpPr>
            <a:cxnSpLocks/>
          </p:cNvCxnSpPr>
          <p:nvPr/>
        </p:nvCxnSpPr>
        <p:spPr>
          <a:xfrm>
            <a:off x="1569889" y="323058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17CE69-32F9-41ED-811D-3E130C997118}"/>
              </a:ext>
            </a:extLst>
          </p:cNvPr>
          <p:cNvCxnSpPr>
            <a:cxnSpLocks/>
          </p:cNvCxnSpPr>
          <p:nvPr/>
        </p:nvCxnSpPr>
        <p:spPr>
          <a:xfrm>
            <a:off x="1569889" y="228801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96131D1-BC27-434C-9EEC-36DBF90F9EE4}"/>
              </a:ext>
            </a:extLst>
          </p:cNvPr>
          <p:cNvSpPr txBox="1"/>
          <p:nvPr/>
        </p:nvSpPr>
        <p:spPr>
          <a:xfrm>
            <a:off x="2590800" y="5652057"/>
            <a:ext cx="1554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Error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B6DD56-8274-496D-9A71-76F93BA1E6D4}"/>
              </a:ext>
            </a:extLst>
          </p:cNvPr>
          <p:cNvSpPr txBox="1"/>
          <p:nvPr/>
        </p:nvSpPr>
        <p:spPr>
          <a:xfrm>
            <a:off x="485435" y="2646126"/>
            <a:ext cx="95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Amount to Say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17CF02-C8FC-46E6-9565-9F8A4D326DCC}"/>
              </a:ext>
            </a:extLst>
          </p:cNvPr>
          <p:cNvSpPr txBox="1"/>
          <p:nvPr/>
        </p:nvSpPr>
        <p:spPr>
          <a:xfrm>
            <a:off x="1594687" y="5102789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8369FB-5549-4E7F-9075-56D59D613B95}"/>
              </a:ext>
            </a:extLst>
          </p:cNvPr>
          <p:cNvSpPr txBox="1"/>
          <p:nvPr/>
        </p:nvSpPr>
        <p:spPr>
          <a:xfrm>
            <a:off x="4236184" y="5224365"/>
            <a:ext cx="33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5C1552-D3CF-41F3-A3DA-C8F10AA9A481}"/>
              </a:ext>
            </a:extLst>
          </p:cNvPr>
          <p:cNvSpPr txBox="1"/>
          <p:nvPr/>
        </p:nvSpPr>
        <p:spPr>
          <a:xfrm>
            <a:off x="1261994" y="3614605"/>
            <a:ext cx="332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750FCB-8C03-4EA8-8D60-47C84ED59332}"/>
              </a:ext>
            </a:extLst>
          </p:cNvPr>
          <p:cNvSpPr txBox="1"/>
          <p:nvPr/>
        </p:nvSpPr>
        <p:spPr>
          <a:xfrm>
            <a:off x="1287231" y="2125356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EE3F-040B-41FD-8D0D-658F8BBD729D}"/>
              </a:ext>
            </a:extLst>
          </p:cNvPr>
          <p:cNvSpPr txBox="1"/>
          <p:nvPr/>
        </p:nvSpPr>
        <p:spPr>
          <a:xfrm>
            <a:off x="1248900" y="4886985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1606CAB-62DA-4E93-936B-DE8D59F080F7}"/>
              </a:ext>
            </a:extLst>
          </p:cNvPr>
          <p:cNvCxnSpPr>
            <a:cxnSpLocks/>
          </p:cNvCxnSpPr>
          <p:nvPr/>
        </p:nvCxnSpPr>
        <p:spPr>
          <a:xfrm flipV="1">
            <a:off x="2070968" y="3230581"/>
            <a:ext cx="25285" cy="188172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2E05A2B-35F7-461F-9A34-A277ABA039EA}"/>
              </a:ext>
            </a:extLst>
          </p:cNvPr>
          <p:cNvCxnSpPr>
            <a:cxnSpLocks/>
          </p:cNvCxnSpPr>
          <p:nvPr/>
        </p:nvCxnSpPr>
        <p:spPr>
          <a:xfrm flipH="1">
            <a:off x="1672558" y="3275992"/>
            <a:ext cx="449914" cy="2221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A60B4F4-6124-4CD7-B600-37D08BBEEC09}"/>
              </a:ext>
            </a:extLst>
          </p:cNvPr>
          <p:cNvSpPr txBox="1"/>
          <p:nvPr/>
        </p:nvSpPr>
        <p:spPr>
          <a:xfrm>
            <a:off x="1283775" y="3053262"/>
            <a:ext cx="332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70713C-6213-4C08-8F70-E1EDE34AB252}"/>
              </a:ext>
            </a:extLst>
          </p:cNvPr>
          <p:cNvSpPr/>
          <p:nvPr/>
        </p:nvSpPr>
        <p:spPr>
          <a:xfrm>
            <a:off x="1796870" y="2258387"/>
            <a:ext cx="1322024" cy="1476260"/>
          </a:xfrm>
          <a:custGeom>
            <a:avLst/>
            <a:gdLst>
              <a:gd name="connsiteX0" fmla="*/ 0 w 1322024"/>
              <a:gd name="connsiteY0" fmla="*/ 0 h 1476260"/>
              <a:gd name="connsiteX1" fmla="*/ 121185 w 1322024"/>
              <a:gd name="connsiteY1" fmla="*/ 605927 h 1476260"/>
              <a:gd name="connsiteX2" fmla="*/ 506775 w 1322024"/>
              <a:gd name="connsiteY2" fmla="*/ 1145754 h 1476260"/>
              <a:gd name="connsiteX3" fmla="*/ 1322024 w 1322024"/>
              <a:gd name="connsiteY3" fmla="*/ 1476260 h 147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2024" h="1476260">
                <a:moveTo>
                  <a:pt x="0" y="0"/>
                </a:moveTo>
                <a:cubicBezTo>
                  <a:pt x="18361" y="207484"/>
                  <a:pt x="36723" y="414968"/>
                  <a:pt x="121185" y="605927"/>
                </a:cubicBezTo>
                <a:cubicBezTo>
                  <a:pt x="205647" y="796886"/>
                  <a:pt x="306635" y="1000698"/>
                  <a:pt x="506775" y="1145754"/>
                </a:cubicBezTo>
                <a:cubicBezTo>
                  <a:pt x="706915" y="1290810"/>
                  <a:pt x="1014469" y="1383535"/>
                  <a:pt x="1322024" y="147626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B01ACE8-ED60-424E-9DC8-0FE6715BA67D}"/>
              </a:ext>
            </a:extLst>
          </p:cNvPr>
          <p:cNvSpPr/>
          <p:nvPr/>
        </p:nvSpPr>
        <p:spPr>
          <a:xfrm flipH="1" flipV="1">
            <a:off x="3103335" y="3737249"/>
            <a:ext cx="1270911" cy="1375045"/>
          </a:xfrm>
          <a:custGeom>
            <a:avLst/>
            <a:gdLst>
              <a:gd name="connsiteX0" fmla="*/ 0 w 1322024"/>
              <a:gd name="connsiteY0" fmla="*/ 0 h 1476260"/>
              <a:gd name="connsiteX1" fmla="*/ 121185 w 1322024"/>
              <a:gd name="connsiteY1" fmla="*/ 605927 h 1476260"/>
              <a:gd name="connsiteX2" fmla="*/ 506775 w 1322024"/>
              <a:gd name="connsiteY2" fmla="*/ 1145754 h 1476260"/>
              <a:gd name="connsiteX3" fmla="*/ 1322024 w 1322024"/>
              <a:gd name="connsiteY3" fmla="*/ 1476260 h 147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2024" h="1476260">
                <a:moveTo>
                  <a:pt x="0" y="0"/>
                </a:moveTo>
                <a:cubicBezTo>
                  <a:pt x="18361" y="207484"/>
                  <a:pt x="36723" y="414968"/>
                  <a:pt x="121185" y="605927"/>
                </a:cubicBezTo>
                <a:cubicBezTo>
                  <a:pt x="205647" y="796886"/>
                  <a:pt x="306635" y="1000698"/>
                  <a:pt x="506775" y="1145754"/>
                </a:cubicBezTo>
                <a:cubicBezTo>
                  <a:pt x="706915" y="1290810"/>
                  <a:pt x="1014469" y="1383535"/>
                  <a:pt x="1322024" y="147626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EDA8F9-5BE3-4A86-98E6-E3AD0C1ACF0B}"/>
              </a:ext>
            </a:extLst>
          </p:cNvPr>
          <p:cNvSpPr/>
          <p:nvPr/>
        </p:nvSpPr>
        <p:spPr>
          <a:xfrm>
            <a:off x="1722366" y="3316077"/>
            <a:ext cx="3047938" cy="319489"/>
          </a:xfrm>
          <a:custGeom>
            <a:avLst/>
            <a:gdLst>
              <a:gd name="connsiteX0" fmla="*/ 3327094 w 3327094"/>
              <a:gd name="connsiteY0" fmla="*/ 319489 h 319489"/>
              <a:gd name="connsiteX1" fmla="*/ 2104221 w 3327094"/>
              <a:gd name="connsiteY1" fmla="*/ 143219 h 319489"/>
              <a:gd name="connsiteX2" fmla="*/ 429657 w 3327094"/>
              <a:gd name="connsiteY2" fmla="*/ 132203 h 319489"/>
              <a:gd name="connsiteX3" fmla="*/ 0 w 3327094"/>
              <a:gd name="connsiteY3" fmla="*/ 0 h 31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7094" h="319489">
                <a:moveTo>
                  <a:pt x="3327094" y="319489"/>
                </a:moveTo>
                <a:cubicBezTo>
                  <a:pt x="2957110" y="246961"/>
                  <a:pt x="2587127" y="174433"/>
                  <a:pt x="2104221" y="143219"/>
                </a:cubicBezTo>
                <a:cubicBezTo>
                  <a:pt x="1621315" y="112005"/>
                  <a:pt x="780360" y="156073"/>
                  <a:pt x="429657" y="132203"/>
                </a:cubicBezTo>
                <a:cubicBezTo>
                  <a:pt x="78954" y="108333"/>
                  <a:pt x="39477" y="54166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17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206659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49.10 Calculate Say for Chest Pain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47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6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49.10 Calculate Say for Chest Pain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5707972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Calculate Amount to Say in Chest Pain Stump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48</a:t>
            </a:fld>
            <a:endParaRPr lang="zh-TW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428B4-A3A5-4931-A85F-D9ADC0236D52}"/>
              </a:ext>
            </a:extLst>
          </p:cNvPr>
          <p:cNvSpPr/>
          <p:nvPr/>
        </p:nvSpPr>
        <p:spPr>
          <a:xfrm>
            <a:off x="6746329" y="1563714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F3EEB-9D06-4919-B5E0-37670E84DC9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6314358" y="1812360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38D3B1-12D8-4BC9-A3A2-0AC952784C6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7226846" y="1812360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20A5B25F-5C92-4DD6-9774-8BA6D1EBBFFB}"/>
              </a:ext>
            </a:extLst>
          </p:cNvPr>
          <p:cNvGraphicFramePr>
            <a:graphicFrameLocks noGrp="1"/>
          </p:cNvGraphicFramePr>
          <p:nvPr/>
        </p:nvGraphicFramePr>
        <p:xfrm>
          <a:off x="5581918" y="2139859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BD846969-AC26-44F7-BA42-3E39792E7367}"/>
              </a:ext>
            </a:extLst>
          </p:cNvPr>
          <p:cNvGraphicFramePr>
            <a:graphicFrameLocks noGrp="1"/>
          </p:cNvGraphicFramePr>
          <p:nvPr/>
        </p:nvGraphicFramePr>
        <p:xfrm>
          <a:off x="7310541" y="2160491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5" name="Table 8">
            <a:extLst>
              <a:ext uri="{FF2B5EF4-FFF2-40B4-BE49-F238E27FC236}">
                <a16:creationId xmlns:a16="http://schemas.microsoft.com/office/drawing/2014/main" id="{CF88B66A-B752-4163-BF69-21B0E4B39B7A}"/>
              </a:ext>
            </a:extLst>
          </p:cNvPr>
          <p:cNvGraphicFramePr>
            <a:graphicFrameLocks noGrp="1"/>
          </p:cNvGraphicFramePr>
          <p:nvPr/>
        </p:nvGraphicFramePr>
        <p:xfrm>
          <a:off x="297597" y="1633550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5C9D5EC4-35F7-4119-A5B3-0B06CD9C8483}"/>
              </a:ext>
            </a:extLst>
          </p:cNvPr>
          <p:cNvSpPr/>
          <p:nvPr/>
        </p:nvSpPr>
        <p:spPr>
          <a:xfrm>
            <a:off x="6245308" y="2388505"/>
            <a:ext cx="801491" cy="5743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B82AC8-D3F5-4787-8E53-C9031C79C175}"/>
              </a:ext>
            </a:extLst>
          </p:cNvPr>
          <p:cNvSpPr/>
          <p:nvPr/>
        </p:nvSpPr>
        <p:spPr>
          <a:xfrm>
            <a:off x="7876719" y="2429264"/>
            <a:ext cx="801491" cy="5743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DF54A5-FBFF-4F54-B476-300942225899}"/>
              </a:ext>
            </a:extLst>
          </p:cNvPr>
          <p:cNvSpPr/>
          <p:nvPr/>
        </p:nvSpPr>
        <p:spPr>
          <a:xfrm>
            <a:off x="297597" y="2429264"/>
            <a:ext cx="3409886" cy="4217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349815-D0E3-4B98-86D2-CDB9D5403ABA}"/>
              </a:ext>
            </a:extLst>
          </p:cNvPr>
          <p:cNvSpPr/>
          <p:nvPr/>
        </p:nvSpPr>
        <p:spPr>
          <a:xfrm>
            <a:off x="305916" y="4293096"/>
            <a:ext cx="3401568" cy="7643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副標題 2">
            <a:extLst>
              <a:ext uri="{FF2B5EF4-FFF2-40B4-BE49-F238E27FC236}">
                <a16:creationId xmlns:a16="http://schemas.microsoft.com/office/drawing/2014/main" id="{7FB9E1CB-1F1E-44E4-A817-6D946A5C0C67}"/>
              </a:ext>
            </a:extLst>
          </p:cNvPr>
          <p:cNvSpPr txBox="1">
            <a:spLocks/>
          </p:cNvSpPr>
          <p:nvPr/>
        </p:nvSpPr>
        <p:spPr>
          <a:xfrm>
            <a:off x="4154118" y="3428999"/>
            <a:ext cx="4621304" cy="1289143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Chest Pain made 3 errors: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Total Error = The sum of the weights for the incorrectly classified samples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Total Error = 3/8</a:t>
            </a:r>
          </a:p>
        </p:txBody>
      </p:sp>
    </p:spTree>
    <p:extLst>
      <p:ext uri="{BB962C8B-B14F-4D97-AF65-F5344CB8AC3E}">
        <p14:creationId xmlns:p14="http://schemas.microsoft.com/office/powerpoint/2010/main" val="22772058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49.10 Calculate Say for Chest Pain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4050060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stump made one error.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49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8030" y="3029762"/>
                <a:ext cx="4320480" cy="3285829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We can draw a graph of for Total Error: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Total Error = 3/8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Error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3/8 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3/8 </m:t>
                            </m:r>
                          </m:den>
                        </m:f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log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b="1" dirty="0" smtClean="0">
                                <a:solidFill>
                                  <a:schemeClr val="tx1"/>
                                </a:solidFill>
                              </a:rPr>
                              <m:t>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 b="1" i="0" dirty="0" smtClean="0">
                                <a:solidFill>
                                  <a:schemeClr val="tx1"/>
                                </a:solidFill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sz="1600" b="1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𝟔𝟔</m:t>
                        </m:r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1 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1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𝟓𝟏</m:t>
                        </m:r>
                      </m:e>
                    </m:d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Amount of Say = 0.25</a:t>
                </a:r>
              </a:p>
            </p:txBody>
          </p:sp>
        </mc:Choice>
        <mc:Fallback>
          <p:sp>
            <p:nvSpPr>
              <p:cNvPr id="43" name="副標題 2">
                <a:extLst>
                  <a:ext uri="{FF2B5EF4-FFF2-40B4-BE49-F238E27FC236}">
                    <a16:creationId xmlns:a16="http://schemas.microsoft.com/office/drawing/2014/main" id="{D74D3AF7-678D-4E85-8819-E460D4280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030" y="3029762"/>
                <a:ext cx="4320480" cy="3285829"/>
              </a:xfrm>
              <a:prstGeom prst="rect">
                <a:avLst/>
              </a:prstGeom>
              <a:blipFill>
                <a:blip r:embed="rId2"/>
                <a:stretch>
                  <a:fillRect b="-2385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96131D1-BC27-434C-9EEC-36DBF90F9EE4}"/>
              </a:ext>
            </a:extLst>
          </p:cNvPr>
          <p:cNvSpPr txBox="1"/>
          <p:nvPr/>
        </p:nvSpPr>
        <p:spPr>
          <a:xfrm>
            <a:off x="2590800" y="5652057"/>
            <a:ext cx="1554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Error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E24078-6493-4231-9304-18BB284CC263}"/>
              </a:ext>
            </a:extLst>
          </p:cNvPr>
          <p:cNvSpPr/>
          <p:nvPr/>
        </p:nvSpPr>
        <p:spPr>
          <a:xfrm>
            <a:off x="6746329" y="1563714"/>
            <a:ext cx="961034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Chest Pain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65E7BA-7349-4695-AFC4-D75BEAD914F3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 flipH="1">
            <a:off x="6314358" y="1812360"/>
            <a:ext cx="912488" cy="327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E16F6C-7ED0-4EA5-872C-13C487BECEF9}"/>
              </a:ext>
            </a:extLst>
          </p:cNvPr>
          <p:cNvCxnSpPr>
            <a:cxnSpLocks/>
            <a:stCxn id="33" idx="2"/>
            <a:endCxn id="40" idx="0"/>
          </p:cNvCxnSpPr>
          <p:nvPr/>
        </p:nvCxnSpPr>
        <p:spPr>
          <a:xfrm>
            <a:off x="7226846" y="1812360"/>
            <a:ext cx="816135" cy="348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FC3C8BC7-DAAA-4C77-B148-F4A086661F79}"/>
              </a:ext>
            </a:extLst>
          </p:cNvPr>
          <p:cNvGraphicFramePr>
            <a:graphicFrameLocks noGrp="1"/>
          </p:cNvGraphicFramePr>
          <p:nvPr/>
        </p:nvGraphicFramePr>
        <p:xfrm>
          <a:off x="5581918" y="2139859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40" name="Table 8">
            <a:extLst>
              <a:ext uri="{FF2B5EF4-FFF2-40B4-BE49-F238E27FC236}">
                <a16:creationId xmlns:a16="http://schemas.microsoft.com/office/drawing/2014/main" id="{B9C0A111-D3B7-4046-9275-5FE48222991F}"/>
              </a:ext>
            </a:extLst>
          </p:cNvPr>
          <p:cNvGraphicFramePr>
            <a:graphicFrameLocks noGrp="1"/>
          </p:cNvGraphicFramePr>
          <p:nvPr/>
        </p:nvGraphicFramePr>
        <p:xfrm>
          <a:off x="7310541" y="2160491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AFA01576-82AB-4062-9012-5D98F0D4AA47}"/>
              </a:ext>
            </a:extLst>
          </p:cNvPr>
          <p:cNvSpPr/>
          <p:nvPr/>
        </p:nvSpPr>
        <p:spPr>
          <a:xfrm>
            <a:off x="6245308" y="2388505"/>
            <a:ext cx="801491" cy="5743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F01038-F8ED-40C5-BF2D-BA2836EE0228}"/>
              </a:ext>
            </a:extLst>
          </p:cNvPr>
          <p:cNvSpPr/>
          <p:nvPr/>
        </p:nvSpPr>
        <p:spPr>
          <a:xfrm>
            <a:off x="7876719" y="2429264"/>
            <a:ext cx="801491" cy="5743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5B0814-104E-45F9-B11D-9D03CFB3F16F}"/>
              </a:ext>
            </a:extLst>
          </p:cNvPr>
          <p:cNvCxnSpPr>
            <a:cxnSpLocks/>
          </p:cNvCxnSpPr>
          <p:nvPr/>
        </p:nvCxnSpPr>
        <p:spPr>
          <a:xfrm>
            <a:off x="1700585" y="5096325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F8F5EFC-5D4A-45C3-8468-F406F18C5152}"/>
              </a:ext>
            </a:extLst>
          </p:cNvPr>
          <p:cNvCxnSpPr>
            <a:cxnSpLocks/>
          </p:cNvCxnSpPr>
          <p:nvPr/>
        </p:nvCxnSpPr>
        <p:spPr>
          <a:xfrm flipV="1">
            <a:off x="1700585" y="2288013"/>
            <a:ext cx="0" cy="28083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DC96B01-4B6A-4E62-A19B-9C2CCC11C0F3}"/>
              </a:ext>
            </a:extLst>
          </p:cNvPr>
          <p:cNvCxnSpPr/>
          <p:nvPr/>
        </p:nvCxnSpPr>
        <p:spPr>
          <a:xfrm>
            <a:off x="2636689" y="49523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F7A00D5-1234-495F-BC2C-BCBECE289496}"/>
              </a:ext>
            </a:extLst>
          </p:cNvPr>
          <p:cNvCxnSpPr/>
          <p:nvPr/>
        </p:nvCxnSpPr>
        <p:spPr>
          <a:xfrm>
            <a:off x="3572793" y="49682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AAEAA6-B05E-420D-ADA4-CD81D5FB7F23}"/>
              </a:ext>
            </a:extLst>
          </p:cNvPr>
          <p:cNvCxnSpPr/>
          <p:nvPr/>
        </p:nvCxnSpPr>
        <p:spPr>
          <a:xfrm>
            <a:off x="4508897" y="49682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C620AE6-C1D2-4A8B-850C-4738C8A6BAE4}"/>
              </a:ext>
            </a:extLst>
          </p:cNvPr>
          <p:cNvCxnSpPr>
            <a:cxnSpLocks/>
          </p:cNvCxnSpPr>
          <p:nvPr/>
        </p:nvCxnSpPr>
        <p:spPr>
          <a:xfrm>
            <a:off x="1548185" y="416022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46EF9BB-EC3A-4CDC-BFD9-6DC4570605F8}"/>
              </a:ext>
            </a:extLst>
          </p:cNvPr>
          <p:cNvCxnSpPr>
            <a:cxnSpLocks/>
          </p:cNvCxnSpPr>
          <p:nvPr/>
        </p:nvCxnSpPr>
        <p:spPr>
          <a:xfrm>
            <a:off x="1569889" y="323058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C8D0D3-D918-40FB-9562-B0C7C1245BDF}"/>
              </a:ext>
            </a:extLst>
          </p:cNvPr>
          <p:cNvCxnSpPr>
            <a:cxnSpLocks/>
          </p:cNvCxnSpPr>
          <p:nvPr/>
        </p:nvCxnSpPr>
        <p:spPr>
          <a:xfrm>
            <a:off x="1569889" y="228801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0EDBEB0-3E8D-4626-8AAF-567A40D1DF53}"/>
              </a:ext>
            </a:extLst>
          </p:cNvPr>
          <p:cNvSpPr txBox="1"/>
          <p:nvPr/>
        </p:nvSpPr>
        <p:spPr>
          <a:xfrm>
            <a:off x="2590800" y="5652057"/>
            <a:ext cx="1554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Error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C5820C-E9EE-43AB-BEE4-918A072A5105}"/>
              </a:ext>
            </a:extLst>
          </p:cNvPr>
          <p:cNvSpPr txBox="1"/>
          <p:nvPr/>
        </p:nvSpPr>
        <p:spPr>
          <a:xfrm>
            <a:off x="485435" y="2646126"/>
            <a:ext cx="95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Amount to Say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D9B84E-6300-4C7B-B9C2-06D343CAC8F1}"/>
              </a:ext>
            </a:extLst>
          </p:cNvPr>
          <p:cNvSpPr txBox="1"/>
          <p:nvPr/>
        </p:nvSpPr>
        <p:spPr>
          <a:xfrm>
            <a:off x="1594687" y="5102789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B2521F-87D7-4616-BA81-1118B5763160}"/>
              </a:ext>
            </a:extLst>
          </p:cNvPr>
          <p:cNvSpPr txBox="1"/>
          <p:nvPr/>
        </p:nvSpPr>
        <p:spPr>
          <a:xfrm>
            <a:off x="4236184" y="5224365"/>
            <a:ext cx="33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E45A4F-1087-4806-93D5-A7848D390C27}"/>
              </a:ext>
            </a:extLst>
          </p:cNvPr>
          <p:cNvSpPr txBox="1"/>
          <p:nvPr/>
        </p:nvSpPr>
        <p:spPr>
          <a:xfrm>
            <a:off x="1261994" y="3614605"/>
            <a:ext cx="332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90D8D9-5C92-46F5-B106-9F5E2707D91E}"/>
              </a:ext>
            </a:extLst>
          </p:cNvPr>
          <p:cNvSpPr txBox="1"/>
          <p:nvPr/>
        </p:nvSpPr>
        <p:spPr>
          <a:xfrm>
            <a:off x="1287231" y="2125356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90831D-4380-4448-8E16-F49BCDD4B91C}"/>
              </a:ext>
            </a:extLst>
          </p:cNvPr>
          <p:cNvSpPr txBox="1"/>
          <p:nvPr/>
        </p:nvSpPr>
        <p:spPr>
          <a:xfrm>
            <a:off x="1248900" y="4886985"/>
            <a:ext cx="47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4E8042A-62F1-4E27-A3A3-901560F7587C}"/>
              </a:ext>
            </a:extLst>
          </p:cNvPr>
          <p:cNvCxnSpPr>
            <a:cxnSpLocks/>
          </p:cNvCxnSpPr>
          <p:nvPr/>
        </p:nvCxnSpPr>
        <p:spPr>
          <a:xfrm flipH="1" flipV="1">
            <a:off x="2590800" y="3594721"/>
            <a:ext cx="1" cy="157114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886DBDE-3DEF-4777-AAAF-D0E8A26301FD}"/>
              </a:ext>
            </a:extLst>
          </p:cNvPr>
          <p:cNvCxnSpPr>
            <a:cxnSpLocks/>
          </p:cNvCxnSpPr>
          <p:nvPr/>
        </p:nvCxnSpPr>
        <p:spPr>
          <a:xfrm flipH="1" flipV="1">
            <a:off x="1666360" y="3594721"/>
            <a:ext cx="891221" cy="1988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5270E8B-A3DD-4FB7-9D9A-341E430F4F93}"/>
              </a:ext>
            </a:extLst>
          </p:cNvPr>
          <p:cNvSpPr txBox="1"/>
          <p:nvPr/>
        </p:nvSpPr>
        <p:spPr>
          <a:xfrm>
            <a:off x="1283775" y="3053262"/>
            <a:ext cx="332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DAABA55-B73F-4AB2-925C-B8B5CA29A5C8}"/>
              </a:ext>
            </a:extLst>
          </p:cNvPr>
          <p:cNvSpPr/>
          <p:nvPr/>
        </p:nvSpPr>
        <p:spPr>
          <a:xfrm>
            <a:off x="1796870" y="2258387"/>
            <a:ext cx="1322024" cy="1476260"/>
          </a:xfrm>
          <a:custGeom>
            <a:avLst/>
            <a:gdLst>
              <a:gd name="connsiteX0" fmla="*/ 0 w 1322024"/>
              <a:gd name="connsiteY0" fmla="*/ 0 h 1476260"/>
              <a:gd name="connsiteX1" fmla="*/ 121185 w 1322024"/>
              <a:gd name="connsiteY1" fmla="*/ 605927 h 1476260"/>
              <a:gd name="connsiteX2" fmla="*/ 506775 w 1322024"/>
              <a:gd name="connsiteY2" fmla="*/ 1145754 h 1476260"/>
              <a:gd name="connsiteX3" fmla="*/ 1322024 w 1322024"/>
              <a:gd name="connsiteY3" fmla="*/ 1476260 h 147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2024" h="1476260">
                <a:moveTo>
                  <a:pt x="0" y="0"/>
                </a:moveTo>
                <a:cubicBezTo>
                  <a:pt x="18361" y="207484"/>
                  <a:pt x="36723" y="414968"/>
                  <a:pt x="121185" y="605927"/>
                </a:cubicBezTo>
                <a:cubicBezTo>
                  <a:pt x="205647" y="796886"/>
                  <a:pt x="306635" y="1000698"/>
                  <a:pt x="506775" y="1145754"/>
                </a:cubicBezTo>
                <a:cubicBezTo>
                  <a:pt x="706915" y="1290810"/>
                  <a:pt x="1014469" y="1383535"/>
                  <a:pt x="1322024" y="147626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5D1BE6C-8D43-4F6E-B244-4E7B6CF88FE4}"/>
              </a:ext>
            </a:extLst>
          </p:cNvPr>
          <p:cNvSpPr/>
          <p:nvPr/>
        </p:nvSpPr>
        <p:spPr>
          <a:xfrm flipH="1" flipV="1">
            <a:off x="3103335" y="3737249"/>
            <a:ext cx="1270911" cy="1375045"/>
          </a:xfrm>
          <a:custGeom>
            <a:avLst/>
            <a:gdLst>
              <a:gd name="connsiteX0" fmla="*/ 0 w 1322024"/>
              <a:gd name="connsiteY0" fmla="*/ 0 h 1476260"/>
              <a:gd name="connsiteX1" fmla="*/ 121185 w 1322024"/>
              <a:gd name="connsiteY1" fmla="*/ 605927 h 1476260"/>
              <a:gd name="connsiteX2" fmla="*/ 506775 w 1322024"/>
              <a:gd name="connsiteY2" fmla="*/ 1145754 h 1476260"/>
              <a:gd name="connsiteX3" fmla="*/ 1322024 w 1322024"/>
              <a:gd name="connsiteY3" fmla="*/ 1476260 h 147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2024" h="1476260">
                <a:moveTo>
                  <a:pt x="0" y="0"/>
                </a:moveTo>
                <a:cubicBezTo>
                  <a:pt x="18361" y="207484"/>
                  <a:pt x="36723" y="414968"/>
                  <a:pt x="121185" y="605927"/>
                </a:cubicBezTo>
                <a:cubicBezTo>
                  <a:pt x="205647" y="796886"/>
                  <a:pt x="306635" y="1000698"/>
                  <a:pt x="506775" y="1145754"/>
                </a:cubicBezTo>
                <a:cubicBezTo>
                  <a:pt x="706915" y="1290810"/>
                  <a:pt x="1014469" y="1383535"/>
                  <a:pt x="1322024" y="147626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A50D18-C667-4B4D-9755-A77E0D011C70}"/>
              </a:ext>
            </a:extLst>
          </p:cNvPr>
          <p:cNvSpPr/>
          <p:nvPr/>
        </p:nvSpPr>
        <p:spPr>
          <a:xfrm>
            <a:off x="1718631" y="3624549"/>
            <a:ext cx="3183875" cy="2566931"/>
          </a:xfrm>
          <a:custGeom>
            <a:avLst/>
            <a:gdLst>
              <a:gd name="connsiteX0" fmla="*/ 3183875 w 3183875"/>
              <a:gd name="connsiteY0" fmla="*/ 2566931 h 2566931"/>
              <a:gd name="connsiteX1" fmla="*/ 2247441 w 3183875"/>
              <a:gd name="connsiteY1" fmla="*/ 2016087 h 2566931"/>
              <a:gd name="connsiteX2" fmla="*/ 1586429 w 3183875"/>
              <a:gd name="connsiteY2" fmla="*/ 594911 h 2566931"/>
              <a:gd name="connsiteX3" fmla="*/ 0 w 3183875"/>
              <a:gd name="connsiteY3" fmla="*/ 0 h 256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3875" h="2566931">
                <a:moveTo>
                  <a:pt x="3183875" y="2566931"/>
                </a:moveTo>
                <a:cubicBezTo>
                  <a:pt x="2848778" y="2455844"/>
                  <a:pt x="2513682" y="2344757"/>
                  <a:pt x="2247441" y="2016087"/>
                </a:cubicBezTo>
                <a:cubicBezTo>
                  <a:pt x="1981200" y="1687417"/>
                  <a:pt x="1961002" y="930925"/>
                  <a:pt x="1586429" y="594911"/>
                </a:cubicBezTo>
                <a:cubicBezTo>
                  <a:pt x="1211855" y="258896"/>
                  <a:pt x="605927" y="129448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883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206659"/>
            <a:ext cx="9144000" cy="147002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49.11 Calculate Say for Blocked Arteries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50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125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 fontScale="90000"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49.11 Calculate Say for Blocked Arteries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1"/>
            <a:ext cx="8010500" cy="71089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can calculate the Blocked Arteries in the same way.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left this for your exercise.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4538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49.12 Account for Current Stump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52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295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 fontScale="90000"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49.11 Calculate Say for Blocked Arteries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1"/>
            <a:ext cx="8010500" cy="78289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know how the </a:t>
            </a:r>
            <a:r>
              <a:rPr lang="en-US" sz="1800" b="1" dirty="0">
                <a:solidFill>
                  <a:srgbClr val="C00000"/>
                </a:solidFill>
              </a:rPr>
              <a:t>Sample Weights (Not Weight) </a:t>
            </a:r>
            <a:r>
              <a:rPr lang="en-US" sz="1800" b="1" dirty="0">
                <a:solidFill>
                  <a:schemeClr val="tx1"/>
                </a:solidFill>
              </a:rPr>
              <a:t>for incorrectly classified samples are used to determine the </a:t>
            </a:r>
            <a:r>
              <a:rPr lang="en-US" sz="1800" b="1" dirty="0">
                <a:solidFill>
                  <a:srgbClr val="C00000"/>
                </a:solidFill>
              </a:rPr>
              <a:t>Amount of Say (Vote) </a:t>
            </a:r>
            <a:r>
              <a:rPr lang="en-US" sz="1800" b="1" dirty="0">
                <a:solidFill>
                  <a:schemeClr val="tx1"/>
                </a:solidFill>
              </a:rPr>
              <a:t>each stump gets.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53</a:t>
            </a:fld>
            <a:endParaRPr lang="zh-TW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D040C7-CEBD-433E-B934-349065C41078}"/>
              </a:ext>
            </a:extLst>
          </p:cNvPr>
          <p:cNvSpPr/>
          <p:nvPr/>
        </p:nvSpPr>
        <p:spPr>
          <a:xfrm>
            <a:off x="4170543" y="2304339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52F7C5-64DE-4490-9498-9607970ECED9}"/>
              </a:ext>
            </a:extLst>
          </p:cNvPr>
          <p:cNvSpPr/>
          <p:nvPr/>
        </p:nvSpPr>
        <p:spPr>
          <a:xfrm>
            <a:off x="4027789" y="2622219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46D093-176B-406B-94A9-029DA5F2AC6D}"/>
              </a:ext>
            </a:extLst>
          </p:cNvPr>
          <p:cNvSpPr/>
          <p:nvPr/>
        </p:nvSpPr>
        <p:spPr>
          <a:xfrm>
            <a:off x="4357008" y="2642852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44DC5EA-EF60-415A-8FAA-D6F667C2EB5C}"/>
              </a:ext>
            </a:extLst>
          </p:cNvPr>
          <p:cNvCxnSpPr>
            <a:cxnSpLocks/>
            <a:stCxn id="35" idx="2"/>
            <a:endCxn id="46" idx="0"/>
          </p:cNvCxnSpPr>
          <p:nvPr/>
        </p:nvCxnSpPr>
        <p:spPr>
          <a:xfrm flipH="1">
            <a:off x="4142374" y="2475156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15FD761-A8B0-408E-A145-9DD86E353BA1}"/>
              </a:ext>
            </a:extLst>
          </p:cNvPr>
          <p:cNvCxnSpPr>
            <a:cxnSpLocks/>
            <a:stCxn id="35" idx="2"/>
            <a:endCxn id="47" idx="0"/>
          </p:cNvCxnSpPr>
          <p:nvPr/>
        </p:nvCxnSpPr>
        <p:spPr>
          <a:xfrm>
            <a:off x="4285127" y="2475156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DF02DBF-1279-4809-9ECC-2CD4517556AE}"/>
              </a:ext>
            </a:extLst>
          </p:cNvPr>
          <p:cNvSpPr/>
          <p:nvPr/>
        </p:nvSpPr>
        <p:spPr>
          <a:xfrm>
            <a:off x="4098521" y="3840959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958386-32B9-4131-B87A-96583E7C4F86}"/>
              </a:ext>
            </a:extLst>
          </p:cNvPr>
          <p:cNvSpPr/>
          <p:nvPr/>
        </p:nvSpPr>
        <p:spPr>
          <a:xfrm>
            <a:off x="3763549" y="4364430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CC9279-3A0E-4EE4-A0B5-2B176DD5251A}"/>
              </a:ext>
            </a:extLst>
          </p:cNvPr>
          <p:cNvSpPr/>
          <p:nvPr/>
        </p:nvSpPr>
        <p:spPr>
          <a:xfrm>
            <a:off x="4617474" y="4356304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A88A25D-6CE3-4E7C-9A91-56D169E21D89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4103839" y="4089605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99AB04-75D6-4AF9-9BF4-A332EF3B112D}"/>
              </a:ext>
            </a:extLst>
          </p:cNvPr>
          <p:cNvCxnSpPr>
            <a:cxnSpLocks/>
            <a:stCxn id="56" idx="2"/>
            <a:endCxn id="58" idx="0"/>
          </p:cNvCxnSpPr>
          <p:nvPr/>
        </p:nvCxnSpPr>
        <p:spPr>
          <a:xfrm>
            <a:off x="4453514" y="4089605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76C56476-E2B5-4FDB-B694-694FFF3FB73C}"/>
              </a:ext>
            </a:extLst>
          </p:cNvPr>
          <p:cNvSpPr/>
          <p:nvPr/>
        </p:nvSpPr>
        <p:spPr>
          <a:xfrm>
            <a:off x="4170543" y="3052623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00D21A6-DDE0-4E75-BA16-41E8BAB629FC}"/>
              </a:ext>
            </a:extLst>
          </p:cNvPr>
          <p:cNvSpPr/>
          <p:nvPr/>
        </p:nvSpPr>
        <p:spPr>
          <a:xfrm>
            <a:off x="3996606" y="3417694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23354E-6069-4BC1-9FEB-CB784743E7C3}"/>
              </a:ext>
            </a:extLst>
          </p:cNvPr>
          <p:cNvSpPr/>
          <p:nvPr/>
        </p:nvSpPr>
        <p:spPr>
          <a:xfrm>
            <a:off x="4420493" y="3438328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E745C2-2482-4573-A977-AED5C70F6344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 flipH="1">
            <a:off x="4158525" y="3197041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A2C991D-235D-4E21-A378-6D8CECDC1478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>
            <a:off x="4332462" y="3197041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077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49.12 Account for Current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2"/>
            <a:ext cx="8010500" cy="71089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Now, we need to learn how to modify the weights so that the next stump will take the errors that the </a:t>
            </a:r>
            <a:r>
              <a:rPr lang="en-US" sz="1800" b="1" dirty="0">
                <a:solidFill>
                  <a:srgbClr val="C00000"/>
                </a:solidFill>
              </a:rPr>
              <a:t>current stump made into account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54</a:t>
            </a:fld>
            <a:endParaRPr lang="zh-TW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D040C7-CEBD-433E-B934-349065C41078}"/>
              </a:ext>
            </a:extLst>
          </p:cNvPr>
          <p:cNvSpPr/>
          <p:nvPr/>
        </p:nvSpPr>
        <p:spPr>
          <a:xfrm>
            <a:off x="1331640" y="3648682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52F7C5-64DE-4490-9498-9607970ECED9}"/>
              </a:ext>
            </a:extLst>
          </p:cNvPr>
          <p:cNvSpPr/>
          <p:nvPr/>
        </p:nvSpPr>
        <p:spPr>
          <a:xfrm>
            <a:off x="1188886" y="3966562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46D093-176B-406B-94A9-029DA5F2AC6D}"/>
              </a:ext>
            </a:extLst>
          </p:cNvPr>
          <p:cNvSpPr/>
          <p:nvPr/>
        </p:nvSpPr>
        <p:spPr>
          <a:xfrm>
            <a:off x="1518105" y="3987195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44DC5EA-EF60-415A-8FAA-D6F667C2EB5C}"/>
              </a:ext>
            </a:extLst>
          </p:cNvPr>
          <p:cNvCxnSpPr>
            <a:cxnSpLocks/>
            <a:stCxn id="35" idx="2"/>
            <a:endCxn id="46" idx="0"/>
          </p:cNvCxnSpPr>
          <p:nvPr/>
        </p:nvCxnSpPr>
        <p:spPr>
          <a:xfrm flipH="1">
            <a:off x="1303471" y="3819499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15FD761-A8B0-408E-A145-9DD86E353BA1}"/>
              </a:ext>
            </a:extLst>
          </p:cNvPr>
          <p:cNvCxnSpPr>
            <a:cxnSpLocks/>
            <a:stCxn id="35" idx="2"/>
            <a:endCxn id="47" idx="0"/>
          </p:cNvCxnSpPr>
          <p:nvPr/>
        </p:nvCxnSpPr>
        <p:spPr>
          <a:xfrm>
            <a:off x="1446224" y="3819499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DF02DBF-1279-4809-9ECC-2CD4517556AE}"/>
              </a:ext>
            </a:extLst>
          </p:cNvPr>
          <p:cNvSpPr/>
          <p:nvPr/>
        </p:nvSpPr>
        <p:spPr>
          <a:xfrm>
            <a:off x="6198207" y="3570853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958386-32B9-4131-B87A-96583E7C4F86}"/>
              </a:ext>
            </a:extLst>
          </p:cNvPr>
          <p:cNvSpPr/>
          <p:nvPr/>
        </p:nvSpPr>
        <p:spPr>
          <a:xfrm>
            <a:off x="5863235" y="4094324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CC9279-3A0E-4EE4-A0B5-2B176DD5251A}"/>
              </a:ext>
            </a:extLst>
          </p:cNvPr>
          <p:cNvSpPr/>
          <p:nvPr/>
        </p:nvSpPr>
        <p:spPr>
          <a:xfrm>
            <a:off x="6717160" y="4086198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A88A25D-6CE3-4E7C-9A91-56D169E21D89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6203525" y="3819499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99AB04-75D6-4AF9-9BF4-A332EF3B112D}"/>
              </a:ext>
            </a:extLst>
          </p:cNvPr>
          <p:cNvCxnSpPr>
            <a:cxnSpLocks/>
            <a:stCxn id="56" idx="2"/>
            <a:endCxn id="58" idx="0"/>
          </p:cNvCxnSpPr>
          <p:nvPr/>
        </p:nvCxnSpPr>
        <p:spPr>
          <a:xfrm>
            <a:off x="6553200" y="3819499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76C56476-E2B5-4FDB-B694-694FFF3FB73C}"/>
              </a:ext>
            </a:extLst>
          </p:cNvPr>
          <p:cNvSpPr/>
          <p:nvPr/>
        </p:nvSpPr>
        <p:spPr>
          <a:xfrm>
            <a:off x="3978654" y="3530821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00D21A6-DDE0-4E75-BA16-41E8BAB629FC}"/>
              </a:ext>
            </a:extLst>
          </p:cNvPr>
          <p:cNvSpPr/>
          <p:nvPr/>
        </p:nvSpPr>
        <p:spPr>
          <a:xfrm>
            <a:off x="3804717" y="3895892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23354E-6069-4BC1-9FEB-CB784743E7C3}"/>
              </a:ext>
            </a:extLst>
          </p:cNvPr>
          <p:cNvSpPr/>
          <p:nvPr/>
        </p:nvSpPr>
        <p:spPr>
          <a:xfrm>
            <a:off x="4228604" y="3916526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E745C2-2482-4573-A977-AED5C70F6344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 flipH="1">
            <a:off x="3966636" y="3675239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A2C991D-235D-4E21-A378-6D8CECDC1478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>
            <a:off x="4140573" y="3675239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5342631F-DFF6-4CD6-A47C-3F4E175F451F}"/>
              </a:ext>
            </a:extLst>
          </p:cNvPr>
          <p:cNvSpPr/>
          <p:nvPr/>
        </p:nvSpPr>
        <p:spPr>
          <a:xfrm>
            <a:off x="2173752" y="3583498"/>
            <a:ext cx="894023" cy="4209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BFE1509-A202-4B48-91EB-908BA3CA9A7C}"/>
              </a:ext>
            </a:extLst>
          </p:cNvPr>
          <p:cNvSpPr/>
          <p:nvPr/>
        </p:nvSpPr>
        <p:spPr>
          <a:xfrm>
            <a:off x="5043426" y="3508708"/>
            <a:ext cx="894023" cy="4209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46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49.12 Account for Current Stump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Let’s go back to the first stump that we made.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55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3094196" y="2308865"/>
            <a:ext cx="801491" cy="30597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479072" y="2757921"/>
            <a:ext cx="4050019" cy="1590107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When we created this stump, all of the </a:t>
            </a:r>
            <a:r>
              <a:rPr lang="en-US" sz="1800" b="1" dirty="0">
                <a:solidFill>
                  <a:srgbClr val="C00000"/>
                </a:solidFill>
              </a:rPr>
              <a:t>Sample Weights </a:t>
            </a:r>
            <a:r>
              <a:rPr lang="en-US" sz="1800" b="1" dirty="0">
                <a:solidFill>
                  <a:schemeClr val="tx1"/>
                </a:solidFill>
              </a:rPr>
              <a:t>are the same.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and that meant we did not emphasize the important of correctly classifying and particular sample…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1CF44-678E-4320-B25E-DB494377CEBF}"/>
              </a:ext>
            </a:extLst>
          </p:cNvPr>
          <p:cNvCxnSpPr>
            <a:cxnSpLocks/>
            <a:stCxn id="43" idx="1"/>
            <a:endCxn id="37" idx="3"/>
          </p:cNvCxnSpPr>
          <p:nvPr/>
        </p:nvCxnSpPr>
        <p:spPr>
          <a:xfrm flipH="1">
            <a:off x="3867086" y="3552975"/>
            <a:ext cx="611986" cy="1036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831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49.13 Adjust Sample Weight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56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83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81714"/>
              </p:ext>
            </p:extLst>
          </p:nvPr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Go back to the first stump that we made.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57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305916" y="3429000"/>
            <a:ext cx="3589771" cy="5147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314305" y="2059285"/>
            <a:ext cx="4050019" cy="649636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But since this stump incorrectly classified this sample…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946BDA-1124-4FE1-AC32-B75D614718AD}"/>
              </a:ext>
            </a:extLst>
          </p:cNvPr>
          <p:cNvSpPr/>
          <p:nvPr/>
        </p:nvSpPr>
        <p:spPr>
          <a:xfrm>
            <a:off x="7792361" y="5533390"/>
            <a:ext cx="801491" cy="3773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62C541-B5D1-4644-872A-FFF103004D07}"/>
              </a:ext>
            </a:extLst>
          </p:cNvPr>
          <p:cNvSpPr/>
          <p:nvPr/>
        </p:nvSpPr>
        <p:spPr>
          <a:xfrm>
            <a:off x="3917092" y="3530928"/>
            <a:ext cx="4779052" cy="2004899"/>
          </a:xfrm>
          <a:custGeom>
            <a:avLst/>
            <a:gdLst>
              <a:gd name="connsiteX0" fmla="*/ 4436076 w 4779052"/>
              <a:gd name="connsiteY0" fmla="*/ 2004899 h 2004899"/>
              <a:gd name="connsiteX1" fmla="*/ 4324865 w 4779052"/>
              <a:gd name="connsiteY1" fmla="*/ 213169 h 2004899"/>
              <a:gd name="connsiteX2" fmla="*/ 0 w 4779052"/>
              <a:gd name="connsiteY2" fmla="*/ 101958 h 2004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9052" h="2004899">
                <a:moveTo>
                  <a:pt x="4436076" y="2004899"/>
                </a:moveTo>
                <a:cubicBezTo>
                  <a:pt x="4750143" y="1267612"/>
                  <a:pt x="5064211" y="530326"/>
                  <a:pt x="4324865" y="213169"/>
                </a:cubicBezTo>
                <a:cubicBezTo>
                  <a:pt x="3585519" y="-103988"/>
                  <a:pt x="1792759" y="-1015"/>
                  <a:pt x="0" y="101958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72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Incorrectly classified =&gt; Increase the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58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3203848" y="3429000"/>
            <a:ext cx="691839" cy="5147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427984" y="3038131"/>
            <a:ext cx="4050019" cy="937668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…We will emphasize the need for the next stump to correctly classify it by increase its </a:t>
            </a:r>
            <a:r>
              <a:rPr lang="en-US" sz="1800" b="1" dirty="0">
                <a:solidFill>
                  <a:srgbClr val="C00000"/>
                </a:solidFill>
              </a:rPr>
              <a:t>Sample Weight</a:t>
            </a:r>
            <a:r>
              <a:rPr lang="en-US" sz="1800" b="1" dirty="0">
                <a:solidFill>
                  <a:schemeClr val="tx1"/>
                </a:solidFill>
              </a:rPr>
              <a:t>…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1CF44-678E-4320-B25E-DB494377CEBF}"/>
              </a:ext>
            </a:extLst>
          </p:cNvPr>
          <p:cNvCxnSpPr>
            <a:cxnSpLocks/>
            <a:stCxn id="43" idx="1"/>
            <a:endCxn id="37" idx="3"/>
          </p:cNvCxnSpPr>
          <p:nvPr/>
        </p:nvCxnSpPr>
        <p:spPr>
          <a:xfrm flipH="1">
            <a:off x="3867086" y="3506965"/>
            <a:ext cx="560898" cy="1496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4217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Correctly classified =&gt; Decrease the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59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3186348" y="2429631"/>
            <a:ext cx="691839" cy="10773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427984" y="3038131"/>
            <a:ext cx="4050019" cy="82296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…and decreasing all of the other </a:t>
            </a:r>
            <a:r>
              <a:rPr lang="en-US" sz="1800" b="1" dirty="0">
                <a:solidFill>
                  <a:srgbClr val="C00000"/>
                </a:solidFill>
              </a:rPr>
              <a:t>Sample Weight</a:t>
            </a:r>
            <a:r>
              <a:rPr lang="en-US" sz="1800" b="1" dirty="0">
                <a:solidFill>
                  <a:schemeClr val="tx1"/>
                </a:solidFill>
              </a:rPr>
              <a:t>…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1CF44-678E-4320-B25E-DB494377CEBF}"/>
              </a:ext>
            </a:extLst>
          </p:cNvPr>
          <p:cNvCxnSpPr>
            <a:cxnSpLocks/>
            <a:stCxn id="43" idx="1"/>
            <a:endCxn id="35" idx="3"/>
          </p:cNvCxnSpPr>
          <p:nvPr/>
        </p:nvCxnSpPr>
        <p:spPr>
          <a:xfrm flipH="1" flipV="1">
            <a:off x="3878187" y="2968298"/>
            <a:ext cx="549797" cy="4813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BFF5B82-73F7-4560-9DAF-7BE35732B39F}"/>
              </a:ext>
            </a:extLst>
          </p:cNvPr>
          <p:cNvSpPr/>
          <p:nvPr/>
        </p:nvSpPr>
        <p:spPr>
          <a:xfrm>
            <a:off x="3186348" y="3899119"/>
            <a:ext cx="691839" cy="14694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94AB5C-D630-4B5B-AF56-6E8A17226FB7}"/>
              </a:ext>
            </a:extLst>
          </p:cNvPr>
          <p:cNvCxnSpPr>
            <a:cxnSpLocks/>
            <a:stCxn id="43" idx="1"/>
            <a:endCxn id="19" idx="3"/>
          </p:cNvCxnSpPr>
          <p:nvPr/>
        </p:nvCxnSpPr>
        <p:spPr>
          <a:xfrm flipH="1">
            <a:off x="3878187" y="3449611"/>
            <a:ext cx="549797" cy="11842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456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Incorrectly classified =&gt; Increase the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60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6339315" y="4472351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6168958" y="4720997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7071756" y="4720997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5436518" y="5036838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7165141" y="5057470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305916" y="3429000"/>
            <a:ext cx="3589771" cy="5147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427984" y="3038131"/>
            <a:ext cx="4050019" cy="937668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Let’s start by increasing the </a:t>
            </a:r>
            <a:r>
              <a:rPr lang="en-US" sz="1800" b="1" dirty="0">
                <a:solidFill>
                  <a:srgbClr val="C00000"/>
                </a:solidFill>
              </a:rPr>
              <a:t>Sample Weight </a:t>
            </a:r>
            <a:r>
              <a:rPr lang="en-US" sz="1800" b="1" dirty="0">
                <a:solidFill>
                  <a:schemeClr val="tx1"/>
                </a:solidFill>
              </a:rPr>
              <a:t>for the</a:t>
            </a:r>
            <a:r>
              <a:rPr lang="en-US" sz="1800" b="1" dirty="0">
                <a:solidFill>
                  <a:srgbClr val="C00000"/>
                </a:solidFill>
              </a:rPr>
              <a:t> incorrectly </a:t>
            </a:r>
            <a:r>
              <a:rPr lang="en-US" sz="1800" b="1" dirty="0">
                <a:solidFill>
                  <a:schemeClr val="tx1"/>
                </a:solidFill>
              </a:rPr>
              <a:t>classified sample.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1CF44-678E-4320-B25E-DB494377CEBF}"/>
              </a:ext>
            </a:extLst>
          </p:cNvPr>
          <p:cNvCxnSpPr>
            <a:cxnSpLocks/>
            <a:stCxn id="43" idx="1"/>
            <a:endCxn id="37" idx="3"/>
          </p:cNvCxnSpPr>
          <p:nvPr/>
        </p:nvCxnSpPr>
        <p:spPr>
          <a:xfrm flipH="1">
            <a:off x="3867086" y="3506965"/>
            <a:ext cx="560898" cy="1496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3641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44687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Incorrectly classified =&gt; Increase the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61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5724128" y="5039188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5553771" y="5287834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6456569" y="5287834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/>
        </p:nvGraphicFramePr>
        <p:xfrm>
          <a:off x="4821331" y="5603675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/>
        </p:nvGraphicFramePr>
        <p:xfrm>
          <a:off x="6549954" y="5624307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305916" y="3429000"/>
            <a:ext cx="3589771" cy="5147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117142" y="1882426"/>
            <a:ext cx="4765700" cy="2838007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is the formula that we will use used to </a:t>
            </a:r>
            <a:r>
              <a:rPr lang="en-US" sz="1800" b="1" dirty="0">
                <a:solidFill>
                  <a:srgbClr val="C00000"/>
                </a:solidFill>
              </a:rPr>
              <a:t>increase</a:t>
            </a:r>
            <a:r>
              <a:rPr lang="en-US" sz="1800" b="1" dirty="0">
                <a:solidFill>
                  <a:schemeClr val="tx1"/>
                </a:solidFill>
              </a:rPr>
              <a:t> the </a:t>
            </a:r>
            <a:r>
              <a:rPr lang="en-US" sz="1800" b="1" dirty="0">
                <a:solidFill>
                  <a:srgbClr val="C00000"/>
                </a:solidFill>
              </a:rPr>
              <a:t>Sample Weight </a:t>
            </a:r>
            <a:r>
              <a:rPr lang="en-US" sz="1800" b="1" dirty="0">
                <a:solidFill>
                  <a:schemeClr val="tx1"/>
                </a:solidFill>
              </a:rPr>
              <a:t>for the sample that was </a:t>
            </a:r>
            <a:r>
              <a:rPr lang="en-US" sz="1800" b="1" dirty="0">
                <a:solidFill>
                  <a:srgbClr val="C00000"/>
                </a:solidFill>
              </a:rPr>
              <a:t>incorrectly</a:t>
            </a:r>
            <a:r>
              <a:rPr lang="en-US" sz="1800" b="1" dirty="0">
                <a:solidFill>
                  <a:schemeClr val="tx1"/>
                </a:solidFill>
              </a:rPr>
              <a:t> classified.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New Sample Weigh = Sample Weight x e</a:t>
            </a:r>
            <a:r>
              <a:rPr lang="en-US" sz="1800" b="1" baseline="30000" dirty="0">
                <a:solidFill>
                  <a:schemeClr val="tx1"/>
                </a:solidFill>
              </a:rPr>
              <a:t>amount of say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chemeClr val="tx1"/>
                </a:solidFill>
              </a:rPr>
              <a:t>New Sample Weigh = (1/8) x e</a:t>
            </a:r>
            <a:r>
              <a:rPr lang="en-US" sz="1800" b="1" baseline="30000" dirty="0">
                <a:solidFill>
                  <a:schemeClr val="tx1"/>
                </a:solidFill>
              </a:rPr>
              <a:t>0.97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chemeClr val="tx1"/>
                </a:solidFill>
              </a:rPr>
              <a:t>New Sample Weigh = (1/8) x 2.64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chemeClr val="tx1"/>
                </a:solidFill>
              </a:rPr>
              <a:t>New Sample Weigh = 0.33 (More than old one 1/8)</a:t>
            </a:r>
            <a:endParaRPr lang="en-US" sz="1800" b="1" baseline="30000" dirty="0">
              <a:solidFill>
                <a:schemeClr val="tx1"/>
              </a:solidFill>
            </a:endParaRPr>
          </a:p>
          <a:p>
            <a:pPr algn="l">
              <a:buClr>
                <a:srgbClr val="0070C0"/>
              </a:buClr>
              <a:buSzPct val="80000"/>
            </a:pPr>
            <a:endParaRPr lang="en-US" sz="1800" b="1" baseline="30000" dirty="0">
              <a:solidFill>
                <a:schemeClr val="tx1"/>
              </a:solidFill>
            </a:endParaRPr>
          </a:p>
          <a:p>
            <a:pPr algn="l">
              <a:buClr>
                <a:srgbClr val="0070C0"/>
              </a:buClr>
              <a:buSzPct val="80000"/>
            </a:pPr>
            <a:endParaRPr lang="en-US" sz="1800" b="1" baseline="300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1CF44-678E-4320-B25E-DB494377CEBF}"/>
              </a:ext>
            </a:extLst>
          </p:cNvPr>
          <p:cNvCxnSpPr>
            <a:cxnSpLocks/>
            <a:stCxn id="43" idx="1"/>
            <a:endCxn id="37" idx="3"/>
          </p:cNvCxnSpPr>
          <p:nvPr/>
        </p:nvCxnSpPr>
        <p:spPr>
          <a:xfrm flipH="1">
            <a:off x="3867086" y="3301430"/>
            <a:ext cx="250056" cy="3552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8543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705915"/>
              </p:ext>
            </p:extLst>
          </p:nvPr>
        </p:nvGraphicFramePr>
        <p:xfrm>
          <a:off x="250048" y="1863914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Correctly classified =&gt; Decrease the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62</a:t>
            </a:fld>
            <a:endParaRPr lang="zh-TW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FB6B4-7493-448E-9232-C866AFE2B2A6}"/>
              </a:ext>
            </a:extLst>
          </p:cNvPr>
          <p:cNvSpPr/>
          <p:nvPr/>
        </p:nvSpPr>
        <p:spPr>
          <a:xfrm>
            <a:off x="5724128" y="5039188"/>
            <a:ext cx="1464881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Weight &gt; 176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3EF1CC-1892-4A8F-B95F-3EC9399B12F7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 flipH="1">
            <a:off x="5553771" y="5287834"/>
            <a:ext cx="902798" cy="31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A717C7-2541-4CA0-BA65-788B173F2151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6456569" y="5287834"/>
            <a:ext cx="825825" cy="336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04C7099B-498C-49FC-9E3D-8C42D3A72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75181"/>
              </p:ext>
            </p:extLst>
          </p:nvPr>
        </p:nvGraphicFramePr>
        <p:xfrm>
          <a:off x="4821331" y="5603675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Yes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2902D516-CA7B-468A-9EF1-B78789462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3074"/>
              </p:ext>
            </p:extLst>
          </p:nvPr>
        </p:nvGraphicFramePr>
        <p:xfrm>
          <a:off x="6549954" y="5624307"/>
          <a:ext cx="146488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40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85241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 Heart 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Incorrect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67460F-29A0-483B-994C-0A981927E8FE}"/>
              </a:ext>
            </a:extLst>
          </p:cNvPr>
          <p:cNvSpPr/>
          <p:nvPr/>
        </p:nvSpPr>
        <p:spPr>
          <a:xfrm>
            <a:off x="305916" y="2319487"/>
            <a:ext cx="3257192" cy="11727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3770779" y="1872419"/>
            <a:ext cx="5390681" cy="2809786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need to </a:t>
            </a:r>
            <a:r>
              <a:rPr lang="en-US" sz="1800" b="1" dirty="0">
                <a:solidFill>
                  <a:srgbClr val="C00000"/>
                </a:solidFill>
              </a:rPr>
              <a:t>decrease</a:t>
            </a:r>
            <a:r>
              <a:rPr lang="en-US" sz="1800" b="1" dirty="0">
                <a:solidFill>
                  <a:schemeClr val="tx1"/>
                </a:solidFill>
              </a:rPr>
              <a:t> all of the </a:t>
            </a:r>
            <a:r>
              <a:rPr lang="en-US" sz="1800" b="1" dirty="0">
                <a:solidFill>
                  <a:srgbClr val="C00000"/>
                </a:solidFill>
              </a:rPr>
              <a:t>correctly </a:t>
            </a:r>
            <a:r>
              <a:rPr lang="en-US" sz="1800" b="1" dirty="0">
                <a:solidFill>
                  <a:schemeClr val="tx1"/>
                </a:solidFill>
              </a:rPr>
              <a:t>classified sample.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is the formula that we will use used to </a:t>
            </a:r>
            <a:r>
              <a:rPr lang="en-US" sz="1800" b="1" dirty="0">
                <a:solidFill>
                  <a:srgbClr val="C00000"/>
                </a:solidFill>
              </a:rPr>
              <a:t>decrease</a:t>
            </a:r>
            <a:r>
              <a:rPr lang="en-US" sz="1800" b="1" dirty="0">
                <a:solidFill>
                  <a:schemeClr val="tx1"/>
                </a:solidFill>
              </a:rPr>
              <a:t> the </a:t>
            </a:r>
            <a:r>
              <a:rPr lang="en-US" sz="1800" b="1" dirty="0">
                <a:solidFill>
                  <a:srgbClr val="C00000"/>
                </a:solidFill>
              </a:rPr>
              <a:t>Sample Weight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New Sample Weigh = Sample Weight x e</a:t>
            </a:r>
            <a:r>
              <a:rPr lang="en-US" sz="1800" b="1" baseline="30000" dirty="0">
                <a:solidFill>
                  <a:schemeClr val="tx1"/>
                </a:solidFill>
              </a:rPr>
              <a:t>-amount of say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chemeClr val="tx1"/>
                </a:solidFill>
              </a:rPr>
              <a:t>New Sample Weigh = (1/8) x e</a:t>
            </a:r>
            <a:r>
              <a:rPr lang="en-US" sz="1800" b="1" baseline="30000" dirty="0">
                <a:solidFill>
                  <a:schemeClr val="tx1"/>
                </a:solidFill>
              </a:rPr>
              <a:t>-0.97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chemeClr val="tx1"/>
                </a:solidFill>
              </a:rPr>
              <a:t>New Sample Weigh = (1/8) x 0.38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chemeClr val="tx1"/>
                </a:solidFill>
              </a:rPr>
              <a:t>New Sample Weigh = 0.05 (less than old one 1/8)</a:t>
            </a:r>
            <a:endParaRPr lang="en-US" sz="1800" b="1" baseline="30000" dirty="0">
              <a:solidFill>
                <a:schemeClr val="tx1"/>
              </a:solidFill>
            </a:endParaRPr>
          </a:p>
          <a:p>
            <a:pPr algn="l">
              <a:buClr>
                <a:srgbClr val="0070C0"/>
              </a:buClr>
              <a:buSzPct val="80000"/>
            </a:pPr>
            <a:endParaRPr lang="en-US" sz="1800" b="1" baseline="300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1CF44-678E-4320-B25E-DB494377CEBF}"/>
              </a:ext>
            </a:extLst>
          </p:cNvPr>
          <p:cNvCxnSpPr>
            <a:cxnSpLocks/>
            <a:stCxn id="43" idx="1"/>
            <a:endCxn id="35" idx="3"/>
          </p:cNvCxnSpPr>
          <p:nvPr/>
        </p:nvCxnSpPr>
        <p:spPr>
          <a:xfrm flipH="1" flipV="1">
            <a:off x="3563108" y="2905865"/>
            <a:ext cx="207671" cy="3714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8A47264-E976-4D05-A772-30C820F5DB85}"/>
              </a:ext>
            </a:extLst>
          </p:cNvPr>
          <p:cNvSpPr/>
          <p:nvPr/>
        </p:nvSpPr>
        <p:spPr>
          <a:xfrm>
            <a:off x="302474" y="3803660"/>
            <a:ext cx="3257192" cy="14841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E376C53-8B92-453E-BCB1-B9E91F9302BF}"/>
              </a:ext>
            </a:extLst>
          </p:cNvPr>
          <p:cNvCxnSpPr>
            <a:cxnSpLocks/>
            <a:stCxn id="43" idx="1"/>
            <a:endCxn id="32" idx="3"/>
          </p:cNvCxnSpPr>
          <p:nvPr/>
        </p:nvCxnSpPr>
        <p:spPr>
          <a:xfrm flipH="1">
            <a:off x="3559666" y="3277312"/>
            <a:ext cx="211113" cy="12684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1022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250048" y="1863914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Re-adjust the sample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63</a:t>
            </a:fld>
            <a:endParaRPr lang="zh-TW" alt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3880779" y="3054994"/>
            <a:ext cx="4987805" cy="1041759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plug in 0.33 for the sample that was incorrectly classified.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plug in all of other samples with 0.05</a:t>
            </a:r>
          </a:p>
          <a:p>
            <a:pPr algn="l">
              <a:buClr>
                <a:srgbClr val="0070C0"/>
              </a:buClr>
              <a:buSzPct val="80000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A47264-E976-4D05-A772-30C820F5DB85}"/>
              </a:ext>
            </a:extLst>
          </p:cNvPr>
          <p:cNvSpPr/>
          <p:nvPr/>
        </p:nvSpPr>
        <p:spPr>
          <a:xfrm>
            <a:off x="160105" y="3429000"/>
            <a:ext cx="3499829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037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114146"/>
              </p:ext>
            </p:extLst>
          </p:nvPr>
        </p:nvGraphicFramePr>
        <p:xfrm>
          <a:off x="305916" y="1821893"/>
          <a:ext cx="4081208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2078964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Norm 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0.49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Normalize the sample weight after we re-adjust the sample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64</a:t>
            </a:fld>
            <a:endParaRPr lang="zh-TW" alt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572000" y="3054994"/>
            <a:ext cx="4296584" cy="223284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need to normalize the New Sample Weights so that they will add up to 1.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So far, we have total sum of sample weight = 0.68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divide each New Sample Weight by 0.68.</a:t>
            </a:r>
          </a:p>
          <a:p>
            <a:pPr algn="l">
              <a:buClr>
                <a:srgbClr val="0070C0"/>
              </a:buClr>
              <a:buSzPct val="80000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E4F210-E56F-46A9-A4D9-20716DDA3DEE}"/>
              </a:ext>
            </a:extLst>
          </p:cNvPr>
          <p:cNvSpPr/>
          <p:nvPr/>
        </p:nvSpPr>
        <p:spPr>
          <a:xfrm>
            <a:off x="3779912" y="2294519"/>
            <a:ext cx="458906" cy="29965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686413-8E23-45A7-A361-F14B3FC2468C}"/>
              </a:ext>
            </a:extLst>
          </p:cNvPr>
          <p:cNvCxnSpPr>
            <a:cxnSpLocks/>
            <a:stCxn id="43" idx="1"/>
            <a:endCxn id="21" idx="3"/>
          </p:cNvCxnSpPr>
          <p:nvPr/>
        </p:nvCxnSpPr>
        <p:spPr>
          <a:xfrm flipH="1" flipV="1">
            <a:off x="4238818" y="3792791"/>
            <a:ext cx="333182" cy="3786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0409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336565"/>
              </p:ext>
            </p:extLst>
          </p:nvPr>
        </p:nvGraphicFramePr>
        <p:xfrm>
          <a:off x="305916" y="1821893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0.49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49.13 Adjust Sample Weight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Replace the Sample Weight with Normalized Sample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65</a:t>
            </a:fld>
            <a:endParaRPr lang="zh-TW" alt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390216" y="2413905"/>
            <a:ext cx="4296584" cy="20301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transfer the </a:t>
            </a:r>
            <a:r>
              <a:rPr lang="en-US" sz="1800" b="1" dirty="0">
                <a:solidFill>
                  <a:srgbClr val="C00000"/>
                </a:solidFill>
              </a:rPr>
              <a:t>Normalized Sample Weights</a:t>
            </a:r>
            <a:r>
              <a:rPr lang="en-US" sz="1800" b="1" dirty="0">
                <a:solidFill>
                  <a:schemeClr val="tx1"/>
                </a:solidFill>
              </a:rPr>
              <a:t> to </a:t>
            </a:r>
            <a:r>
              <a:rPr lang="en-US" sz="1800" b="1" dirty="0">
                <a:solidFill>
                  <a:srgbClr val="C00000"/>
                </a:solidFill>
              </a:rPr>
              <a:t>Sample Weights </a:t>
            </a:r>
            <a:r>
              <a:rPr lang="en-US" sz="1800" b="1" dirty="0">
                <a:solidFill>
                  <a:schemeClr val="tx1"/>
                </a:solidFill>
              </a:rPr>
              <a:t>column.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will use the New Sample Weights for the next stump.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can use he Modified </a:t>
            </a:r>
            <a:r>
              <a:rPr lang="en-US" sz="1800" b="1" dirty="0">
                <a:solidFill>
                  <a:srgbClr val="C00000"/>
                </a:solidFill>
              </a:rPr>
              <a:t>Sample Weights </a:t>
            </a:r>
            <a:r>
              <a:rPr lang="en-US" sz="1800" b="1" dirty="0">
                <a:solidFill>
                  <a:schemeClr val="tx1"/>
                </a:solidFill>
              </a:rPr>
              <a:t>to make the second Stump in the Forest.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686413-8E23-45A7-A361-F14B3FC2468C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3580739" y="3429000"/>
            <a:ext cx="809477" cy="3185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1AFE66F-6DE8-421A-8720-A44C6CE253C6}"/>
              </a:ext>
            </a:extLst>
          </p:cNvPr>
          <p:cNvSpPr/>
          <p:nvPr/>
        </p:nvSpPr>
        <p:spPr>
          <a:xfrm>
            <a:off x="5843214" y="4868910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C80A3-B520-4697-90CD-D45928D6550B}"/>
              </a:ext>
            </a:extLst>
          </p:cNvPr>
          <p:cNvSpPr/>
          <p:nvPr/>
        </p:nvSpPr>
        <p:spPr>
          <a:xfrm>
            <a:off x="5508242" y="539238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660468-57C6-4145-9659-8F4565F08FB3}"/>
              </a:ext>
            </a:extLst>
          </p:cNvPr>
          <p:cNvSpPr/>
          <p:nvPr/>
        </p:nvSpPr>
        <p:spPr>
          <a:xfrm>
            <a:off x="6362167" y="5384255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637445-10DC-4528-A680-0ADF8CB10E3F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5848532" y="5117556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A490D5-243D-4CF9-8CDC-B9ABA895E87B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6198207" y="5117556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52994A3-0D19-4BDD-9386-2DA21B73B870}"/>
              </a:ext>
            </a:extLst>
          </p:cNvPr>
          <p:cNvSpPr/>
          <p:nvPr/>
        </p:nvSpPr>
        <p:spPr>
          <a:xfrm>
            <a:off x="3122734" y="2249270"/>
            <a:ext cx="458906" cy="29965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100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49.14 Calculate Gini Index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66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462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305916" y="1821893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0.49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49.14 Calculate Gini Index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Go back to the first stump that we made.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67</a:t>
            </a:fld>
            <a:endParaRPr lang="zh-TW" alt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390216" y="2413905"/>
            <a:ext cx="4296584" cy="1303127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theory, we can use </a:t>
            </a:r>
            <a:r>
              <a:rPr lang="en-US" sz="1800" b="1" dirty="0">
                <a:solidFill>
                  <a:srgbClr val="C00000"/>
                </a:solidFill>
              </a:rPr>
              <a:t>Samples Weights </a:t>
            </a:r>
            <a:r>
              <a:rPr lang="en-US" sz="1800" b="1" dirty="0">
                <a:solidFill>
                  <a:schemeClr val="tx1"/>
                </a:solidFill>
              </a:rPr>
              <a:t>to calculate </a:t>
            </a:r>
            <a:r>
              <a:rPr lang="en-US" sz="1800" b="1" dirty="0">
                <a:solidFill>
                  <a:srgbClr val="C00000"/>
                </a:solidFill>
              </a:rPr>
              <a:t>Weighted Gini Indexes </a:t>
            </a:r>
            <a:r>
              <a:rPr lang="en-US" sz="1800" b="1" dirty="0">
                <a:solidFill>
                  <a:schemeClr val="tx1"/>
                </a:solidFill>
              </a:rPr>
              <a:t>to determine which variable should split the next stump.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AFE66F-6DE8-421A-8720-A44C6CE253C6}"/>
              </a:ext>
            </a:extLst>
          </p:cNvPr>
          <p:cNvSpPr/>
          <p:nvPr/>
        </p:nvSpPr>
        <p:spPr>
          <a:xfrm>
            <a:off x="5843214" y="4868910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C80A3-B520-4697-90CD-D45928D6550B}"/>
              </a:ext>
            </a:extLst>
          </p:cNvPr>
          <p:cNvSpPr/>
          <p:nvPr/>
        </p:nvSpPr>
        <p:spPr>
          <a:xfrm>
            <a:off x="5508242" y="539238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660468-57C6-4145-9659-8F4565F08FB3}"/>
              </a:ext>
            </a:extLst>
          </p:cNvPr>
          <p:cNvSpPr/>
          <p:nvPr/>
        </p:nvSpPr>
        <p:spPr>
          <a:xfrm>
            <a:off x="6362167" y="5384255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637445-10DC-4528-A680-0ADF8CB10E3F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5848532" y="5117556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A490D5-243D-4CF9-8CDC-B9ABA895E87B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6198207" y="5117556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4927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61561A85-7730-40D0-A3C9-9BF10B1A4303}"/>
              </a:ext>
            </a:extLst>
          </p:cNvPr>
          <p:cNvGraphicFramePr>
            <a:graphicFrameLocks noGrp="1"/>
          </p:cNvGraphicFramePr>
          <p:nvPr/>
        </p:nvGraphicFramePr>
        <p:xfrm>
          <a:off x="305916" y="1821893"/>
          <a:ext cx="3409886" cy="342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148592213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10570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Chest </a:t>
                      </a:r>
                    </a:p>
                    <a:p>
                      <a:pPr algn="ctr"/>
                      <a:r>
                        <a:rPr lang="en-US" sz="1200" b="1" dirty="0"/>
                        <a:t>Pain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Blocked </a:t>
                      </a:r>
                    </a:p>
                    <a:p>
                      <a:pPr algn="ctr"/>
                      <a:r>
                        <a:rPr lang="en-US" sz="1200" b="1" dirty="0"/>
                        <a:t>Arteries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Patient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Heart </a:t>
                      </a:r>
                    </a:p>
                    <a:p>
                      <a:pPr algn="ctr"/>
                      <a:r>
                        <a:rPr lang="en-US" sz="1200" b="1" dirty="0"/>
                        <a:t>Disease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Sample</a:t>
                      </a:r>
                    </a:p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210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0.49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0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46935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49.14 Calculate Gini Index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05916" y="1205943"/>
            <a:ext cx="8586564" cy="3461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Go back to the first stump that we made.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68</a:t>
            </a:fld>
            <a:endParaRPr lang="zh-TW" altLang="en-US"/>
          </a:p>
        </p:txBody>
      </p:sp>
      <p:sp>
        <p:nvSpPr>
          <p:cNvPr id="43" name="副標題 2">
            <a:extLst>
              <a:ext uri="{FF2B5EF4-FFF2-40B4-BE49-F238E27FC236}">
                <a16:creationId xmlns:a16="http://schemas.microsoft.com/office/drawing/2014/main" id="{D74D3AF7-678D-4E85-8819-E460D4280620}"/>
              </a:ext>
            </a:extLst>
          </p:cNvPr>
          <p:cNvSpPr txBox="1">
            <a:spLocks/>
          </p:cNvSpPr>
          <p:nvPr/>
        </p:nvSpPr>
        <p:spPr>
          <a:xfrm>
            <a:off x="4390216" y="2980619"/>
            <a:ext cx="4296584" cy="1206703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rgbClr val="C00000"/>
                </a:solidFill>
              </a:rPr>
              <a:t>Weighted Gini Index </a:t>
            </a:r>
            <a:r>
              <a:rPr lang="en-US" sz="1800" b="1" dirty="0">
                <a:solidFill>
                  <a:schemeClr val="tx1"/>
                </a:solidFill>
              </a:rPr>
              <a:t>will put more emphasis on correctly classifying this sample since this sample has the largest </a:t>
            </a:r>
            <a:r>
              <a:rPr lang="en-US" sz="1800" b="1" dirty="0">
                <a:solidFill>
                  <a:srgbClr val="C00000"/>
                </a:solidFill>
              </a:rPr>
              <a:t>Sample Weight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AFE66F-6DE8-421A-8720-A44C6CE253C6}"/>
              </a:ext>
            </a:extLst>
          </p:cNvPr>
          <p:cNvSpPr/>
          <p:nvPr/>
        </p:nvSpPr>
        <p:spPr>
          <a:xfrm>
            <a:off x="5843214" y="4868910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C80A3-B520-4697-90CD-D45928D6550B}"/>
              </a:ext>
            </a:extLst>
          </p:cNvPr>
          <p:cNvSpPr/>
          <p:nvPr/>
        </p:nvSpPr>
        <p:spPr>
          <a:xfrm>
            <a:off x="5508242" y="539238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660468-57C6-4145-9659-8F4565F08FB3}"/>
              </a:ext>
            </a:extLst>
          </p:cNvPr>
          <p:cNvSpPr/>
          <p:nvPr/>
        </p:nvSpPr>
        <p:spPr>
          <a:xfrm>
            <a:off x="6362167" y="5384255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637445-10DC-4528-A680-0ADF8CB10E3F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5848532" y="5117556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A490D5-243D-4CF9-8CDC-B9ABA895E87B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6198207" y="5117556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C5BE9B1-3DA4-4056-A5E1-F90ECE8A0882}"/>
              </a:ext>
            </a:extLst>
          </p:cNvPr>
          <p:cNvSpPr/>
          <p:nvPr/>
        </p:nvSpPr>
        <p:spPr>
          <a:xfrm>
            <a:off x="457200" y="3429001"/>
            <a:ext cx="3124440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2622EE-2D7B-4E72-A0B0-D4F2C4E2E2B8}"/>
              </a:ext>
            </a:extLst>
          </p:cNvPr>
          <p:cNvCxnSpPr>
            <a:cxnSpLocks/>
            <a:stCxn id="43" idx="1"/>
            <a:endCxn id="14" idx="3"/>
          </p:cNvCxnSpPr>
          <p:nvPr/>
        </p:nvCxnSpPr>
        <p:spPr>
          <a:xfrm flipH="1" flipV="1">
            <a:off x="3581640" y="3573017"/>
            <a:ext cx="808576" cy="1095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6827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49.15 Stump Created by AdaBoost 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69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757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49.15 Stump Created by AdaBoost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8352928" cy="41412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discuss the Forest of Stump created by AdaBoost makes classifications.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70</a:t>
            </a:fld>
            <a:endParaRPr lang="zh-TW" alt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5BCE98-F78E-4ACC-891B-8B951F195827}"/>
              </a:ext>
            </a:extLst>
          </p:cNvPr>
          <p:cNvSpPr/>
          <p:nvPr/>
        </p:nvSpPr>
        <p:spPr>
          <a:xfrm>
            <a:off x="1331640" y="2839743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FA33CF1-4A37-43C2-910D-E6A2A3EE9869}"/>
              </a:ext>
            </a:extLst>
          </p:cNvPr>
          <p:cNvSpPr/>
          <p:nvPr/>
        </p:nvSpPr>
        <p:spPr>
          <a:xfrm>
            <a:off x="1188886" y="3157623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E9A1EC-4DB5-4193-B06C-E476AF4C30C6}"/>
              </a:ext>
            </a:extLst>
          </p:cNvPr>
          <p:cNvSpPr/>
          <p:nvPr/>
        </p:nvSpPr>
        <p:spPr>
          <a:xfrm>
            <a:off x="1518105" y="3178256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F805664-ED5B-411B-985D-9058F66E9110}"/>
              </a:ext>
            </a:extLst>
          </p:cNvPr>
          <p:cNvCxnSpPr>
            <a:cxnSpLocks/>
            <a:stCxn id="95" idx="2"/>
            <a:endCxn id="97" idx="0"/>
          </p:cNvCxnSpPr>
          <p:nvPr/>
        </p:nvCxnSpPr>
        <p:spPr>
          <a:xfrm flipH="1">
            <a:off x="1303471" y="3010560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DAB181B-8A1D-4A8D-8B4F-F3B7D27FDBF9}"/>
              </a:ext>
            </a:extLst>
          </p:cNvPr>
          <p:cNvCxnSpPr>
            <a:cxnSpLocks/>
            <a:stCxn id="95" idx="2"/>
            <a:endCxn id="105" idx="0"/>
          </p:cNvCxnSpPr>
          <p:nvPr/>
        </p:nvCxnSpPr>
        <p:spPr>
          <a:xfrm>
            <a:off x="1446224" y="3010560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C5E8A1A-31EC-4611-A8C3-764D4AD6A92A}"/>
              </a:ext>
            </a:extLst>
          </p:cNvPr>
          <p:cNvSpPr/>
          <p:nvPr/>
        </p:nvSpPr>
        <p:spPr>
          <a:xfrm>
            <a:off x="2302450" y="2009944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B92018C-0F6A-490E-B764-20B6C8FED9CC}"/>
              </a:ext>
            </a:extLst>
          </p:cNvPr>
          <p:cNvSpPr/>
          <p:nvPr/>
        </p:nvSpPr>
        <p:spPr>
          <a:xfrm>
            <a:off x="1967478" y="2533415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91B3D41-498B-4D4D-AA0C-E82AF93E6B59}"/>
              </a:ext>
            </a:extLst>
          </p:cNvPr>
          <p:cNvSpPr/>
          <p:nvPr/>
        </p:nvSpPr>
        <p:spPr>
          <a:xfrm>
            <a:off x="2821403" y="2525289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ADCD54A-07E3-4EEF-98DD-5486403B2527}"/>
              </a:ext>
            </a:extLst>
          </p:cNvPr>
          <p:cNvCxnSpPr>
            <a:cxnSpLocks/>
            <a:stCxn id="120" idx="2"/>
            <a:endCxn id="121" idx="0"/>
          </p:cNvCxnSpPr>
          <p:nvPr/>
        </p:nvCxnSpPr>
        <p:spPr>
          <a:xfrm flipH="1">
            <a:off x="2307768" y="2258590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485C437-D204-4680-87FB-D49878AB8DA4}"/>
              </a:ext>
            </a:extLst>
          </p:cNvPr>
          <p:cNvCxnSpPr>
            <a:cxnSpLocks/>
            <a:stCxn id="120" idx="2"/>
            <a:endCxn id="127" idx="0"/>
          </p:cNvCxnSpPr>
          <p:nvPr/>
        </p:nvCxnSpPr>
        <p:spPr>
          <a:xfrm>
            <a:off x="2657443" y="2258590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9328AE9-A757-4E42-821D-2C5D974314C6}"/>
              </a:ext>
            </a:extLst>
          </p:cNvPr>
          <p:cNvSpPr/>
          <p:nvPr/>
        </p:nvSpPr>
        <p:spPr>
          <a:xfrm>
            <a:off x="4107383" y="2746809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33A1E13-F5BC-4818-B38E-DAADFDF79657}"/>
              </a:ext>
            </a:extLst>
          </p:cNvPr>
          <p:cNvSpPr/>
          <p:nvPr/>
        </p:nvSpPr>
        <p:spPr>
          <a:xfrm>
            <a:off x="3964629" y="3064689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F68D7C0-77E5-41A5-92EC-FE1D983D4B19}"/>
              </a:ext>
            </a:extLst>
          </p:cNvPr>
          <p:cNvSpPr/>
          <p:nvPr/>
        </p:nvSpPr>
        <p:spPr>
          <a:xfrm>
            <a:off x="4293848" y="3085322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6534E4A-0650-493F-99B0-13F101EEB4DE}"/>
              </a:ext>
            </a:extLst>
          </p:cNvPr>
          <p:cNvCxnSpPr>
            <a:cxnSpLocks/>
            <a:stCxn id="131" idx="2"/>
            <a:endCxn id="132" idx="0"/>
          </p:cNvCxnSpPr>
          <p:nvPr/>
        </p:nvCxnSpPr>
        <p:spPr>
          <a:xfrm flipH="1">
            <a:off x="4079214" y="2917626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42590F7-0BBE-4772-901C-B785C0D4304A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4221967" y="2917626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A8796D0-148F-4EA7-895A-A530555A958B}"/>
              </a:ext>
            </a:extLst>
          </p:cNvPr>
          <p:cNvSpPr/>
          <p:nvPr/>
        </p:nvSpPr>
        <p:spPr>
          <a:xfrm>
            <a:off x="1418055" y="3596221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5F7EE87-00C5-43DC-A92A-088A0878651B}"/>
              </a:ext>
            </a:extLst>
          </p:cNvPr>
          <p:cNvSpPr/>
          <p:nvPr/>
        </p:nvSpPr>
        <p:spPr>
          <a:xfrm>
            <a:off x="1083083" y="4119692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A471971-5C42-4FAA-A2DA-13351BBE0247}"/>
              </a:ext>
            </a:extLst>
          </p:cNvPr>
          <p:cNvSpPr/>
          <p:nvPr/>
        </p:nvSpPr>
        <p:spPr>
          <a:xfrm>
            <a:off x="1937008" y="4111566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F105327-2AD2-4B20-84F4-05ECB20FF2D2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 flipH="1">
            <a:off x="1423373" y="3844867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76482AA-35FD-4A5E-A388-1F1B5FC64397}"/>
              </a:ext>
            </a:extLst>
          </p:cNvPr>
          <p:cNvCxnSpPr>
            <a:cxnSpLocks/>
            <a:stCxn id="138" idx="2"/>
            <a:endCxn id="140" idx="0"/>
          </p:cNvCxnSpPr>
          <p:nvPr/>
        </p:nvCxnSpPr>
        <p:spPr>
          <a:xfrm>
            <a:off x="1773048" y="3844867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CA4B853-1ADB-4F4C-855A-8C2CEC1AE3F4}"/>
              </a:ext>
            </a:extLst>
          </p:cNvPr>
          <p:cNvSpPr/>
          <p:nvPr/>
        </p:nvSpPr>
        <p:spPr>
          <a:xfrm>
            <a:off x="3838805" y="3977365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689E88A-0E0E-4340-9B50-AC54E80544F1}"/>
              </a:ext>
            </a:extLst>
          </p:cNvPr>
          <p:cNvSpPr/>
          <p:nvPr/>
        </p:nvSpPr>
        <p:spPr>
          <a:xfrm>
            <a:off x="3503833" y="4500836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FAEA670-F4B8-46B0-9DE6-F130A43C1682}"/>
              </a:ext>
            </a:extLst>
          </p:cNvPr>
          <p:cNvSpPr/>
          <p:nvPr/>
        </p:nvSpPr>
        <p:spPr>
          <a:xfrm>
            <a:off x="4357758" y="4492710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9F52566-EDBD-46CE-BE66-4027FEF58017}"/>
              </a:ext>
            </a:extLst>
          </p:cNvPr>
          <p:cNvCxnSpPr>
            <a:cxnSpLocks/>
            <a:stCxn id="144" idx="2"/>
            <a:endCxn id="145" idx="0"/>
          </p:cNvCxnSpPr>
          <p:nvPr/>
        </p:nvCxnSpPr>
        <p:spPr>
          <a:xfrm flipH="1">
            <a:off x="3844123" y="4226011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431A9B2-6B1B-4949-9B68-209E860533F4}"/>
              </a:ext>
            </a:extLst>
          </p:cNvPr>
          <p:cNvCxnSpPr>
            <a:cxnSpLocks/>
            <a:stCxn id="144" idx="2"/>
            <a:endCxn id="146" idx="0"/>
          </p:cNvCxnSpPr>
          <p:nvPr/>
        </p:nvCxnSpPr>
        <p:spPr>
          <a:xfrm>
            <a:off x="4193798" y="4226011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CCE3813-E2A8-4F17-8F5E-32D93BADC9D6}"/>
              </a:ext>
            </a:extLst>
          </p:cNvPr>
          <p:cNvSpPr/>
          <p:nvPr/>
        </p:nvSpPr>
        <p:spPr>
          <a:xfrm>
            <a:off x="1937008" y="5102744"/>
            <a:ext cx="457722" cy="2066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E507752-3F48-4749-BFC7-30B91D19D712}"/>
              </a:ext>
            </a:extLst>
          </p:cNvPr>
          <p:cNvSpPr/>
          <p:nvPr/>
        </p:nvSpPr>
        <p:spPr>
          <a:xfrm>
            <a:off x="1718972" y="5551893"/>
            <a:ext cx="469177" cy="2066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7256229-880A-44EB-AA03-963FA395EB09}"/>
              </a:ext>
            </a:extLst>
          </p:cNvPr>
          <p:cNvSpPr/>
          <p:nvPr/>
        </p:nvSpPr>
        <p:spPr>
          <a:xfrm>
            <a:off x="2350449" y="5513941"/>
            <a:ext cx="469177" cy="24457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614FF84-E85B-4846-8652-D7F3DAB318C6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 flipH="1">
            <a:off x="1953561" y="5309365"/>
            <a:ext cx="212308" cy="242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CAD4E8E-499D-4879-8855-3BEB3905B8A9}"/>
              </a:ext>
            </a:extLst>
          </p:cNvPr>
          <p:cNvCxnSpPr>
            <a:cxnSpLocks/>
            <a:stCxn id="150" idx="2"/>
            <a:endCxn id="152" idx="0"/>
          </p:cNvCxnSpPr>
          <p:nvPr/>
        </p:nvCxnSpPr>
        <p:spPr>
          <a:xfrm>
            <a:off x="2165869" y="5309365"/>
            <a:ext cx="419169" cy="204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947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49.15 Stump Created by AdaBoost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0" y="1268759"/>
            <a:ext cx="4309530" cy="8541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Assume these stump classified the patient as </a:t>
            </a:r>
            <a:r>
              <a:rPr lang="en-US" sz="1800" b="1" dirty="0">
                <a:solidFill>
                  <a:srgbClr val="C00000"/>
                </a:solidFill>
              </a:rPr>
              <a:t>Does Not Have Heart disease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71</a:t>
            </a:fld>
            <a:endParaRPr lang="zh-TW" alt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5BCE98-F78E-4ACC-891B-8B951F195827}"/>
              </a:ext>
            </a:extLst>
          </p:cNvPr>
          <p:cNvSpPr/>
          <p:nvPr/>
        </p:nvSpPr>
        <p:spPr>
          <a:xfrm>
            <a:off x="2116212" y="3948414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FA33CF1-4A37-43C2-910D-E6A2A3EE9869}"/>
              </a:ext>
            </a:extLst>
          </p:cNvPr>
          <p:cNvSpPr/>
          <p:nvPr/>
        </p:nvSpPr>
        <p:spPr>
          <a:xfrm>
            <a:off x="1973458" y="4266294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E9A1EC-4DB5-4193-B06C-E476AF4C30C6}"/>
              </a:ext>
            </a:extLst>
          </p:cNvPr>
          <p:cNvSpPr/>
          <p:nvPr/>
        </p:nvSpPr>
        <p:spPr>
          <a:xfrm>
            <a:off x="2302677" y="4286927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F805664-ED5B-411B-985D-9058F66E9110}"/>
              </a:ext>
            </a:extLst>
          </p:cNvPr>
          <p:cNvCxnSpPr>
            <a:cxnSpLocks/>
            <a:stCxn id="95" idx="2"/>
            <a:endCxn id="97" idx="0"/>
          </p:cNvCxnSpPr>
          <p:nvPr/>
        </p:nvCxnSpPr>
        <p:spPr>
          <a:xfrm flipH="1">
            <a:off x="2088043" y="4119231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DAB181B-8A1D-4A8D-8B4F-F3B7D27FDBF9}"/>
              </a:ext>
            </a:extLst>
          </p:cNvPr>
          <p:cNvCxnSpPr>
            <a:cxnSpLocks/>
            <a:stCxn id="95" idx="2"/>
            <a:endCxn id="105" idx="0"/>
          </p:cNvCxnSpPr>
          <p:nvPr/>
        </p:nvCxnSpPr>
        <p:spPr>
          <a:xfrm>
            <a:off x="2230796" y="4119231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C5E8A1A-31EC-4611-A8C3-764D4AD6A92A}"/>
              </a:ext>
            </a:extLst>
          </p:cNvPr>
          <p:cNvSpPr/>
          <p:nvPr/>
        </p:nvSpPr>
        <p:spPr>
          <a:xfrm>
            <a:off x="1847634" y="2903504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B92018C-0F6A-490E-B764-20B6C8FED9CC}"/>
              </a:ext>
            </a:extLst>
          </p:cNvPr>
          <p:cNvSpPr/>
          <p:nvPr/>
        </p:nvSpPr>
        <p:spPr>
          <a:xfrm>
            <a:off x="1512662" y="3426975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91B3D41-498B-4D4D-AA0C-E82AF93E6B59}"/>
              </a:ext>
            </a:extLst>
          </p:cNvPr>
          <p:cNvSpPr/>
          <p:nvPr/>
        </p:nvSpPr>
        <p:spPr>
          <a:xfrm>
            <a:off x="2366587" y="3418849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ADCD54A-07E3-4EEF-98DD-5486403B2527}"/>
              </a:ext>
            </a:extLst>
          </p:cNvPr>
          <p:cNvCxnSpPr>
            <a:cxnSpLocks/>
            <a:stCxn id="120" idx="2"/>
            <a:endCxn id="121" idx="0"/>
          </p:cNvCxnSpPr>
          <p:nvPr/>
        </p:nvCxnSpPr>
        <p:spPr>
          <a:xfrm flipH="1">
            <a:off x="1852952" y="3152150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485C437-D204-4680-87FB-D49878AB8DA4}"/>
              </a:ext>
            </a:extLst>
          </p:cNvPr>
          <p:cNvCxnSpPr>
            <a:cxnSpLocks/>
            <a:stCxn id="120" idx="2"/>
            <a:endCxn id="127" idx="0"/>
          </p:cNvCxnSpPr>
          <p:nvPr/>
        </p:nvCxnSpPr>
        <p:spPr>
          <a:xfrm>
            <a:off x="2202627" y="3152150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9328AE9-A757-4E42-821D-2C5D974314C6}"/>
              </a:ext>
            </a:extLst>
          </p:cNvPr>
          <p:cNvSpPr/>
          <p:nvPr/>
        </p:nvSpPr>
        <p:spPr>
          <a:xfrm>
            <a:off x="6460622" y="3228334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33A1E13-F5BC-4818-B38E-DAADFDF79657}"/>
              </a:ext>
            </a:extLst>
          </p:cNvPr>
          <p:cNvSpPr/>
          <p:nvPr/>
        </p:nvSpPr>
        <p:spPr>
          <a:xfrm>
            <a:off x="6317868" y="3546214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F68D7C0-77E5-41A5-92EC-FE1D983D4B19}"/>
              </a:ext>
            </a:extLst>
          </p:cNvPr>
          <p:cNvSpPr/>
          <p:nvPr/>
        </p:nvSpPr>
        <p:spPr>
          <a:xfrm>
            <a:off x="6647087" y="3566847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6534E4A-0650-493F-99B0-13F101EEB4DE}"/>
              </a:ext>
            </a:extLst>
          </p:cNvPr>
          <p:cNvCxnSpPr>
            <a:cxnSpLocks/>
            <a:stCxn id="131" idx="2"/>
            <a:endCxn id="132" idx="0"/>
          </p:cNvCxnSpPr>
          <p:nvPr/>
        </p:nvCxnSpPr>
        <p:spPr>
          <a:xfrm flipH="1">
            <a:off x="6432453" y="3399151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42590F7-0BBE-4772-901C-B785C0D4304A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6575206" y="3399151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A8796D0-148F-4EA7-895A-A530555A958B}"/>
              </a:ext>
            </a:extLst>
          </p:cNvPr>
          <p:cNvSpPr/>
          <p:nvPr/>
        </p:nvSpPr>
        <p:spPr>
          <a:xfrm>
            <a:off x="1929426" y="4559238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5F7EE87-00C5-43DC-A92A-088A0878651B}"/>
              </a:ext>
            </a:extLst>
          </p:cNvPr>
          <p:cNvSpPr/>
          <p:nvPr/>
        </p:nvSpPr>
        <p:spPr>
          <a:xfrm>
            <a:off x="1594454" y="5082709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A471971-5C42-4FAA-A2DA-13351BBE0247}"/>
              </a:ext>
            </a:extLst>
          </p:cNvPr>
          <p:cNvSpPr/>
          <p:nvPr/>
        </p:nvSpPr>
        <p:spPr>
          <a:xfrm>
            <a:off x="2448379" y="5074583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F105327-2AD2-4B20-84F4-05ECB20FF2D2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 flipH="1">
            <a:off x="1934744" y="4807884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76482AA-35FD-4A5E-A388-1F1B5FC64397}"/>
              </a:ext>
            </a:extLst>
          </p:cNvPr>
          <p:cNvCxnSpPr>
            <a:cxnSpLocks/>
            <a:stCxn id="138" idx="2"/>
            <a:endCxn id="140" idx="0"/>
          </p:cNvCxnSpPr>
          <p:nvPr/>
        </p:nvCxnSpPr>
        <p:spPr>
          <a:xfrm>
            <a:off x="2284419" y="4807884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CA4B853-1ADB-4F4C-855A-8C2CEC1AE3F4}"/>
              </a:ext>
            </a:extLst>
          </p:cNvPr>
          <p:cNvSpPr/>
          <p:nvPr/>
        </p:nvSpPr>
        <p:spPr>
          <a:xfrm>
            <a:off x="6273836" y="4127190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689E88A-0E0E-4340-9B50-AC54E80544F1}"/>
              </a:ext>
            </a:extLst>
          </p:cNvPr>
          <p:cNvSpPr/>
          <p:nvPr/>
        </p:nvSpPr>
        <p:spPr>
          <a:xfrm>
            <a:off x="5938864" y="465066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FAEA670-F4B8-46B0-9DE6-F130A43C1682}"/>
              </a:ext>
            </a:extLst>
          </p:cNvPr>
          <p:cNvSpPr/>
          <p:nvPr/>
        </p:nvSpPr>
        <p:spPr>
          <a:xfrm>
            <a:off x="6792789" y="4642535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9F52566-EDBD-46CE-BE66-4027FEF58017}"/>
              </a:ext>
            </a:extLst>
          </p:cNvPr>
          <p:cNvCxnSpPr>
            <a:cxnSpLocks/>
            <a:stCxn id="144" idx="2"/>
            <a:endCxn id="145" idx="0"/>
          </p:cNvCxnSpPr>
          <p:nvPr/>
        </p:nvCxnSpPr>
        <p:spPr>
          <a:xfrm flipH="1">
            <a:off x="6279154" y="4375836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431A9B2-6B1B-4949-9B68-209E860533F4}"/>
              </a:ext>
            </a:extLst>
          </p:cNvPr>
          <p:cNvCxnSpPr>
            <a:cxnSpLocks/>
            <a:stCxn id="144" idx="2"/>
            <a:endCxn id="146" idx="0"/>
          </p:cNvCxnSpPr>
          <p:nvPr/>
        </p:nvCxnSpPr>
        <p:spPr>
          <a:xfrm>
            <a:off x="6628829" y="4375836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CCE3813-E2A8-4F17-8F5E-32D93BADC9D6}"/>
              </a:ext>
            </a:extLst>
          </p:cNvPr>
          <p:cNvSpPr/>
          <p:nvPr/>
        </p:nvSpPr>
        <p:spPr>
          <a:xfrm>
            <a:off x="2225292" y="5548804"/>
            <a:ext cx="457722" cy="2066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E507752-3F48-4749-BFC7-30B91D19D712}"/>
              </a:ext>
            </a:extLst>
          </p:cNvPr>
          <p:cNvSpPr/>
          <p:nvPr/>
        </p:nvSpPr>
        <p:spPr>
          <a:xfrm>
            <a:off x="2007256" y="5997953"/>
            <a:ext cx="469177" cy="2066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7256229-880A-44EB-AA03-963FA395EB09}"/>
              </a:ext>
            </a:extLst>
          </p:cNvPr>
          <p:cNvSpPr/>
          <p:nvPr/>
        </p:nvSpPr>
        <p:spPr>
          <a:xfrm>
            <a:off x="2638733" y="5960001"/>
            <a:ext cx="469177" cy="24457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614FF84-E85B-4846-8652-D7F3DAB318C6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 flipH="1">
            <a:off x="2241845" y="5755425"/>
            <a:ext cx="212308" cy="242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CAD4E8E-499D-4879-8855-3BEB3905B8A9}"/>
              </a:ext>
            </a:extLst>
          </p:cNvPr>
          <p:cNvCxnSpPr>
            <a:cxnSpLocks/>
            <a:stCxn id="150" idx="2"/>
            <a:endCxn id="152" idx="0"/>
          </p:cNvCxnSpPr>
          <p:nvPr/>
        </p:nvCxnSpPr>
        <p:spPr>
          <a:xfrm>
            <a:off x="2454153" y="5755425"/>
            <a:ext cx="419169" cy="204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1DECC-FA56-4354-9A79-15FD0BE9D8EC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6460623" y="2122906"/>
            <a:ext cx="266142" cy="8480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副標題 2">
            <a:extLst>
              <a:ext uri="{FF2B5EF4-FFF2-40B4-BE49-F238E27FC236}">
                <a16:creationId xmlns:a16="http://schemas.microsoft.com/office/drawing/2014/main" id="{35D70974-E9AC-4B24-8003-02E94CCCC2EE}"/>
              </a:ext>
            </a:extLst>
          </p:cNvPr>
          <p:cNvSpPr txBox="1">
            <a:spLocks/>
          </p:cNvSpPr>
          <p:nvPr/>
        </p:nvSpPr>
        <p:spPr>
          <a:xfrm>
            <a:off x="262470" y="1298884"/>
            <a:ext cx="3589450" cy="90423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Assume these stump classified the patient as </a:t>
            </a:r>
            <a:r>
              <a:rPr lang="en-US" sz="1800" b="1" dirty="0">
                <a:solidFill>
                  <a:srgbClr val="C00000"/>
                </a:solidFill>
              </a:rPr>
              <a:t>Have Heart Disease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18CF7EC-63E8-427A-AE3C-C567602DADBD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2057195" y="2203122"/>
            <a:ext cx="217840" cy="55331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2673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49.15 Stump Created by AdaBoost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11962" y="1268760"/>
            <a:ext cx="4669568" cy="93436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These are the </a:t>
            </a:r>
            <a:r>
              <a:rPr lang="en-US" sz="1800" b="1" dirty="0">
                <a:solidFill>
                  <a:srgbClr val="C00000"/>
                </a:solidFill>
              </a:rPr>
              <a:t>Amount of Say </a:t>
            </a:r>
            <a:r>
              <a:rPr lang="en-US" sz="1800" b="1" dirty="0">
                <a:solidFill>
                  <a:schemeClr val="tx1"/>
                </a:solidFill>
              </a:rPr>
              <a:t>for these stumps.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Does not Have Heart Disease, Total = 1.23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72</a:t>
            </a:fld>
            <a:endParaRPr lang="zh-TW" alt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5BCE98-F78E-4ACC-891B-8B951F195827}"/>
              </a:ext>
            </a:extLst>
          </p:cNvPr>
          <p:cNvSpPr/>
          <p:nvPr/>
        </p:nvSpPr>
        <p:spPr>
          <a:xfrm>
            <a:off x="1003956" y="4015863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FA33CF1-4A37-43C2-910D-E6A2A3EE9869}"/>
              </a:ext>
            </a:extLst>
          </p:cNvPr>
          <p:cNvSpPr/>
          <p:nvPr/>
        </p:nvSpPr>
        <p:spPr>
          <a:xfrm>
            <a:off x="861202" y="4333743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E9A1EC-4DB5-4193-B06C-E476AF4C30C6}"/>
              </a:ext>
            </a:extLst>
          </p:cNvPr>
          <p:cNvSpPr/>
          <p:nvPr/>
        </p:nvSpPr>
        <p:spPr>
          <a:xfrm>
            <a:off x="1190421" y="4354376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F805664-ED5B-411B-985D-9058F66E9110}"/>
              </a:ext>
            </a:extLst>
          </p:cNvPr>
          <p:cNvCxnSpPr>
            <a:cxnSpLocks/>
            <a:stCxn id="95" idx="2"/>
            <a:endCxn id="97" idx="0"/>
          </p:cNvCxnSpPr>
          <p:nvPr/>
        </p:nvCxnSpPr>
        <p:spPr>
          <a:xfrm flipH="1">
            <a:off x="975787" y="4186680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DAB181B-8A1D-4A8D-8B4F-F3B7D27FDBF9}"/>
              </a:ext>
            </a:extLst>
          </p:cNvPr>
          <p:cNvCxnSpPr>
            <a:cxnSpLocks/>
            <a:stCxn id="95" idx="2"/>
            <a:endCxn id="105" idx="0"/>
          </p:cNvCxnSpPr>
          <p:nvPr/>
        </p:nvCxnSpPr>
        <p:spPr>
          <a:xfrm>
            <a:off x="1118540" y="4186680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C5E8A1A-31EC-4611-A8C3-764D4AD6A92A}"/>
              </a:ext>
            </a:extLst>
          </p:cNvPr>
          <p:cNvSpPr/>
          <p:nvPr/>
        </p:nvSpPr>
        <p:spPr>
          <a:xfrm>
            <a:off x="735378" y="2970953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B92018C-0F6A-490E-B764-20B6C8FED9CC}"/>
              </a:ext>
            </a:extLst>
          </p:cNvPr>
          <p:cNvSpPr/>
          <p:nvPr/>
        </p:nvSpPr>
        <p:spPr>
          <a:xfrm>
            <a:off x="400406" y="3494424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91B3D41-498B-4D4D-AA0C-E82AF93E6B59}"/>
              </a:ext>
            </a:extLst>
          </p:cNvPr>
          <p:cNvSpPr/>
          <p:nvPr/>
        </p:nvSpPr>
        <p:spPr>
          <a:xfrm>
            <a:off x="1254331" y="3486298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ADCD54A-07E3-4EEF-98DD-5486403B2527}"/>
              </a:ext>
            </a:extLst>
          </p:cNvPr>
          <p:cNvCxnSpPr>
            <a:cxnSpLocks/>
            <a:stCxn id="120" idx="2"/>
            <a:endCxn id="121" idx="0"/>
          </p:cNvCxnSpPr>
          <p:nvPr/>
        </p:nvCxnSpPr>
        <p:spPr>
          <a:xfrm flipH="1">
            <a:off x="740696" y="3219599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485C437-D204-4680-87FB-D49878AB8DA4}"/>
              </a:ext>
            </a:extLst>
          </p:cNvPr>
          <p:cNvCxnSpPr>
            <a:cxnSpLocks/>
            <a:stCxn id="120" idx="2"/>
            <a:endCxn id="127" idx="0"/>
          </p:cNvCxnSpPr>
          <p:nvPr/>
        </p:nvCxnSpPr>
        <p:spPr>
          <a:xfrm>
            <a:off x="1090371" y="3219599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9328AE9-A757-4E42-821D-2C5D974314C6}"/>
              </a:ext>
            </a:extLst>
          </p:cNvPr>
          <p:cNvSpPr/>
          <p:nvPr/>
        </p:nvSpPr>
        <p:spPr>
          <a:xfrm>
            <a:off x="7537945" y="3147785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33A1E13-F5BC-4818-B38E-DAADFDF79657}"/>
              </a:ext>
            </a:extLst>
          </p:cNvPr>
          <p:cNvSpPr/>
          <p:nvPr/>
        </p:nvSpPr>
        <p:spPr>
          <a:xfrm>
            <a:off x="7395191" y="3465665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F68D7C0-77E5-41A5-92EC-FE1D983D4B19}"/>
              </a:ext>
            </a:extLst>
          </p:cNvPr>
          <p:cNvSpPr/>
          <p:nvPr/>
        </p:nvSpPr>
        <p:spPr>
          <a:xfrm>
            <a:off x="7724410" y="3486298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6534E4A-0650-493F-99B0-13F101EEB4DE}"/>
              </a:ext>
            </a:extLst>
          </p:cNvPr>
          <p:cNvCxnSpPr>
            <a:cxnSpLocks/>
            <a:stCxn id="131" idx="2"/>
            <a:endCxn id="132" idx="0"/>
          </p:cNvCxnSpPr>
          <p:nvPr/>
        </p:nvCxnSpPr>
        <p:spPr>
          <a:xfrm flipH="1">
            <a:off x="7509776" y="3318602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42590F7-0BBE-4772-901C-B785C0D4304A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7652529" y="3318602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A8796D0-148F-4EA7-895A-A530555A958B}"/>
              </a:ext>
            </a:extLst>
          </p:cNvPr>
          <p:cNvSpPr/>
          <p:nvPr/>
        </p:nvSpPr>
        <p:spPr>
          <a:xfrm>
            <a:off x="817170" y="4626687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5F7EE87-00C5-43DC-A92A-088A0878651B}"/>
              </a:ext>
            </a:extLst>
          </p:cNvPr>
          <p:cNvSpPr/>
          <p:nvPr/>
        </p:nvSpPr>
        <p:spPr>
          <a:xfrm>
            <a:off x="482198" y="5150158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A471971-5C42-4FAA-A2DA-13351BBE0247}"/>
              </a:ext>
            </a:extLst>
          </p:cNvPr>
          <p:cNvSpPr/>
          <p:nvPr/>
        </p:nvSpPr>
        <p:spPr>
          <a:xfrm>
            <a:off x="1336123" y="5142032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F105327-2AD2-4B20-84F4-05ECB20FF2D2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 flipH="1">
            <a:off x="822488" y="4875333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76482AA-35FD-4A5E-A388-1F1B5FC64397}"/>
              </a:ext>
            </a:extLst>
          </p:cNvPr>
          <p:cNvCxnSpPr>
            <a:cxnSpLocks/>
            <a:stCxn id="138" idx="2"/>
            <a:endCxn id="140" idx="0"/>
          </p:cNvCxnSpPr>
          <p:nvPr/>
        </p:nvCxnSpPr>
        <p:spPr>
          <a:xfrm>
            <a:off x="1172163" y="4875333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CA4B853-1ADB-4F4C-855A-8C2CEC1AE3F4}"/>
              </a:ext>
            </a:extLst>
          </p:cNvPr>
          <p:cNvSpPr/>
          <p:nvPr/>
        </p:nvSpPr>
        <p:spPr>
          <a:xfrm>
            <a:off x="7351159" y="4046641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689E88A-0E0E-4340-9B50-AC54E80544F1}"/>
              </a:ext>
            </a:extLst>
          </p:cNvPr>
          <p:cNvSpPr/>
          <p:nvPr/>
        </p:nvSpPr>
        <p:spPr>
          <a:xfrm>
            <a:off x="7016187" y="4570112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FAEA670-F4B8-46B0-9DE6-F130A43C1682}"/>
              </a:ext>
            </a:extLst>
          </p:cNvPr>
          <p:cNvSpPr/>
          <p:nvPr/>
        </p:nvSpPr>
        <p:spPr>
          <a:xfrm>
            <a:off x="7870112" y="4561986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9F52566-EDBD-46CE-BE66-4027FEF58017}"/>
              </a:ext>
            </a:extLst>
          </p:cNvPr>
          <p:cNvCxnSpPr>
            <a:cxnSpLocks/>
            <a:stCxn id="144" idx="2"/>
            <a:endCxn id="145" idx="0"/>
          </p:cNvCxnSpPr>
          <p:nvPr/>
        </p:nvCxnSpPr>
        <p:spPr>
          <a:xfrm flipH="1">
            <a:off x="7356477" y="4295287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431A9B2-6B1B-4949-9B68-209E860533F4}"/>
              </a:ext>
            </a:extLst>
          </p:cNvPr>
          <p:cNvCxnSpPr>
            <a:cxnSpLocks/>
            <a:stCxn id="144" idx="2"/>
            <a:endCxn id="146" idx="0"/>
          </p:cNvCxnSpPr>
          <p:nvPr/>
        </p:nvCxnSpPr>
        <p:spPr>
          <a:xfrm>
            <a:off x="7706152" y="4295287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CCE3813-E2A8-4F17-8F5E-32D93BADC9D6}"/>
              </a:ext>
            </a:extLst>
          </p:cNvPr>
          <p:cNvSpPr/>
          <p:nvPr/>
        </p:nvSpPr>
        <p:spPr>
          <a:xfrm>
            <a:off x="1113036" y="5616253"/>
            <a:ext cx="457722" cy="2066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E507752-3F48-4749-BFC7-30B91D19D712}"/>
              </a:ext>
            </a:extLst>
          </p:cNvPr>
          <p:cNvSpPr/>
          <p:nvPr/>
        </p:nvSpPr>
        <p:spPr>
          <a:xfrm>
            <a:off x="895000" y="6065402"/>
            <a:ext cx="469177" cy="2066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7256229-880A-44EB-AA03-963FA395EB09}"/>
              </a:ext>
            </a:extLst>
          </p:cNvPr>
          <p:cNvSpPr/>
          <p:nvPr/>
        </p:nvSpPr>
        <p:spPr>
          <a:xfrm>
            <a:off x="1526477" y="6027450"/>
            <a:ext cx="469177" cy="24457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614FF84-E85B-4846-8652-D7F3DAB318C6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 flipH="1">
            <a:off x="1129589" y="5822874"/>
            <a:ext cx="212308" cy="242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CAD4E8E-499D-4879-8855-3BEB3905B8A9}"/>
              </a:ext>
            </a:extLst>
          </p:cNvPr>
          <p:cNvCxnSpPr>
            <a:cxnSpLocks/>
            <a:stCxn id="150" idx="2"/>
            <a:endCxn id="152" idx="0"/>
          </p:cNvCxnSpPr>
          <p:nvPr/>
        </p:nvCxnSpPr>
        <p:spPr>
          <a:xfrm>
            <a:off x="1341897" y="5822874"/>
            <a:ext cx="419169" cy="204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1DECC-FA56-4354-9A79-15FD0BE9D8EC}"/>
              </a:ext>
            </a:extLst>
          </p:cNvPr>
          <p:cNvCxnSpPr>
            <a:cxnSpLocks/>
          </p:cNvCxnSpPr>
          <p:nvPr/>
        </p:nvCxnSpPr>
        <p:spPr>
          <a:xfrm>
            <a:off x="5584852" y="2181152"/>
            <a:ext cx="30173" cy="3945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副標題 2">
            <a:extLst>
              <a:ext uri="{FF2B5EF4-FFF2-40B4-BE49-F238E27FC236}">
                <a16:creationId xmlns:a16="http://schemas.microsoft.com/office/drawing/2014/main" id="{35D70974-E9AC-4B24-8003-02E94CCCC2EE}"/>
              </a:ext>
            </a:extLst>
          </p:cNvPr>
          <p:cNvSpPr txBox="1">
            <a:spLocks/>
          </p:cNvSpPr>
          <p:nvPr/>
        </p:nvSpPr>
        <p:spPr>
          <a:xfrm>
            <a:off x="262470" y="1298884"/>
            <a:ext cx="3589450" cy="90423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These are the </a:t>
            </a:r>
            <a:r>
              <a:rPr lang="en-US" sz="1800" b="1" dirty="0">
                <a:solidFill>
                  <a:srgbClr val="C00000"/>
                </a:solidFill>
              </a:rPr>
              <a:t>Amount of Say </a:t>
            </a:r>
            <a:r>
              <a:rPr lang="en-US" sz="1800" b="1" dirty="0">
                <a:solidFill>
                  <a:schemeClr val="tx1"/>
                </a:solidFill>
              </a:rPr>
              <a:t>for these stumps.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Has Heart Disease,  Total = 2.7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18CF7EC-63E8-427A-AE3C-C567602DADBD}"/>
              </a:ext>
            </a:extLst>
          </p:cNvPr>
          <p:cNvCxnSpPr>
            <a:cxnSpLocks/>
          </p:cNvCxnSpPr>
          <p:nvPr/>
        </p:nvCxnSpPr>
        <p:spPr>
          <a:xfrm>
            <a:off x="3059832" y="2203122"/>
            <a:ext cx="0" cy="3725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副標題 2">
            <a:extLst>
              <a:ext uri="{FF2B5EF4-FFF2-40B4-BE49-F238E27FC236}">
                <a16:creationId xmlns:a16="http://schemas.microsoft.com/office/drawing/2014/main" id="{65BE2583-0563-4192-89DF-EBA50412B9E4}"/>
              </a:ext>
            </a:extLst>
          </p:cNvPr>
          <p:cNvSpPr txBox="1">
            <a:spLocks/>
          </p:cNvSpPr>
          <p:nvPr/>
        </p:nvSpPr>
        <p:spPr>
          <a:xfrm>
            <a:off x="1629883" y="2575715"/>
            <a:ext cx="1934001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Amount of Say</a:t>
            </a:r>
            <a:endParaRPr lang="en-US" sz="18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2AAFD16-01B8-4369-AE02-F4415C6100A2}"/>
              </a:ext>
            </a:extLst>
          </p:cNvPr>
          <p:cNvCxnSpPr>
            <a:cxnSpLocks/>
          </p:cNvCxnSpPr>
          <p:nvPr/>
        </p:nvCxnSpPr>
        <p:spPr>
          <a:xfrm>
            <a:off x="1986776" y="3364231"/>
            <a:ext cx="768610" cy="22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副標題 2">
            <a:extLst>
              <a:ext uri="{FF2B5EF4-FFF2-40B4-BE49-F238E27FC236}">
                <a16:creationId xmlns:a16="http://schemas.microsoft.com/office/drawing/2014/main" id="{E1239C36-CE98-4DE2-976C-38AF42D12559}"/>
              </a:ext>
            </a:extLst>
          </p:cNvPr>
          <p:cNvSpPr txBox="1">
            <a:spLocks/>
          </p:cNvSpPr>
          <p:nvPr/>
        </p:nvSpPr>
        <p:spPr>
          <a:xfrm>
            <a:off x="2738259" y="3183799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0.97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7B6C130-8E3D-4CB8-821A-1F853A4C47BC}"/>
              </a:ext>
            </a:extLst>
          </p:cNvPr>
          <p:cNvCxnSpPr>
            <a:cxnSpLocks/>
          </p:cNvCxnSpPr>
          <p:nvPr/>
        </p:nvCxnSpPr>
        <p:spPr>
          <a:xfrm>
            <a:off x="2048593" y="4296402"/>
            <a:ext cx="759732" cy="10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副標題 2">
            <a:extLst>
              <a:ext uri="{FF2B5EF4-FFF2-40B4-BE49-F238E27FC236}">
                <a16:creationId xmlns:a16="http://schemas.microsoft.com/office/drawing/2014/main" id="{6E6DDB1E-1CFC-49DE-8541-6C3C7D368881}"/>
              </a:ext>
            </a:extLst>
          </p:cNvPr>
          <p:cNvSpPr txBox="1">
            <a:spLocks/>
          </p:cNvSpPr>
          <p:nvPr/>
        </p:nvSpPr>
        <p:spPr>
          <a:xfrm>
            <a:off x="2791198" y="4103751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0.32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97E710-E513-4B37-B1A7-5975958E2BED}"/>
              </a:ext>
            </a:extLst>
          </p:cNvPr>
          <p:cNvCxnSpPr>
            <a:cxnSpLocks/>
          </p:cNvCxnSpPr>
          <p:nvPr/>
        </p:nvCxnSpPr>
        <p:spPr>
          <a:xfrm>
            <a:off x="2087606" y="5072413"/>
            <a:ext cx="759732" cy="10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副標題 2">
            <a:extLst>
              <a:ext uri="{FF2B5EF4-FFF2-40B4-BE49-F238E27FC236}">
                <a16:creationId xmlns:a16="http://schemas.microsoft.com/office/drawing/2014/main" id="{BE849D8B-6918-47CC-A0A9-784AF5552D0F}"/>
              </a:ext>
            </a:extLst>
          </p:cNvPr>
          <p:cNvSpPr txBox="1">
            <a:spLocks/>
          </p:cNvSpPr>
          <p:nvPr/>
        </p:nvSpPr>
        <p:spPr>
          <a:xfrm>
            <a:off x="2858518" y="4879762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0.78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2227D4B-EB74-49F1-B891-FD8BDCEE586C}"/>
              </a:ext>
            </a:extLst>
          </p:cNvPr>
          <p:cNvCxnSpPr>
            <a:cxnSpLocks/>
          </p:cNvCxnSpPr>
          <p:nvPr/>
        </p:nvCxnSpPr>
        <p:spPr>
          <a:xfrm>
            <a:off x="2087606" y="5904841"/>
            <a:ext cx="759732" cy="10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副標題 2">
            <a:extLst>
              <a:ext uri="{FF2B5EF4-FFF2-40B4-BE49-F238E27FC236}">
                <a16:creationId xmlns:a16="http://schemas.microsoft.com/office/drawing/2014/main" id="{BD201D14-B5A7-4A56-9797-D673748473FB}"/>
              </a:ext>
            </a:extLst>
          </p:cNvPr>
          <p:cNvSpPr txBox="1">
            <a:spLocks/>
          </p:cNvSpPr>
          <p:nvPr/>
        </p:nvSpPr>
        <p:spPr>
          <a:xfrm>
            <a:off x="2858518" y="5712190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0.63</a:t>
            </a:r>
          </a:p>
        </p:txBody>
      </p:sp>
      <p:sp>
        <p:nvSpPr>
          <p:cNvPr id="57" name="副標題 2">
            <a:extLst>
              <a:ext uri="{FF2B5EF4-FFF2-40B4-BE49-F238E27FC236}">
                <a16:creationId xmlns:a16="http://schemas.microsoft.com/office/drawing/2014/main" id="{3B002DB7-7184-40B8-BF31-8C784DBE613F}"/>
              </a:ext>
            </a:extLst>
          </p:cNvPr>
          <p:cNvSpPr txBox="1">
            <a:spLocks/>
          </p:cNvSpPr>
          <p:nvPr/>
        </p:nvSpPr>
        <p:spPr>
          <a:xfrm>
            <a:off x="4792764" y="2528920"/>
            <a:ext cx="1934001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Amount of Say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9" name="副標題 2">
            <a:extLst>
              <a:ext uri="{FF2B5EF4-FFF2-40B4-BE49-F238E27FC236}">
                <a16:creationId xmlns:a16="http://schemas.microsoft.com/office/drawing/2014/main" id="{F9177D67-6997-413D-815C-C81A936809AD}"/>
              </a:ext>
            </a:extLst>
          </p:cNvPr>
          <p:cNvSpPr txBox="1">
            <a:spLocks/>
          </p:cNvSpPr>
          <p:nvPr/>
        </p:nvSpPr>
        <p:spPr>
          <a:xfrm>
            <a:off x="5220072" y="3261990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0.41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31BF0E2-AEF7-43A7-A344-A724DB61CDEF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5930059" y="3454641"/>
            <a:ext cx="1003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副標題 2">
            <a:extLst>
              <a:ext uri="{FF2B5EF4-FFF2-40B4-BE49-F238E27FC236}">
                <a16:creationId xmlns:a16="http://schemas.microsoft.com/office/drawing/2014/main" id="{91A4FEFC-BCA3-4F5A-B05F-221FBBD877AC}"/>
              </a:ext>
            </a:extLst>
          </p:cNvPr>
          <p:cNvSpPr txBox="1">
            <a:spLocks/>
          </p:cNvSpPr>
          <p:nvPr/>
        </p:nvSpPr>
        <p:spPr>
          <a:xfrm>
            <a:off x="5260198" y="4186680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0.82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E338ACC-ECD9-468F-9454-3B38C6C99306}"/>
              </a:ext>
            </a:extLst>
          </p:cNvPr>
          <p:cNvCxnSpPr>
            <a:cxnSpLocks/>
          </p:cNvCxnSpPr>
          <p:nvPr/>
        </p:nvCxnSpPr>
        <p:spPr>
          <a:xfrm flipH="1">
            <a:off x="5957908" y="4308506"/>
            <a:ext cx="1003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1669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49.15 Stump Created by AdaBoost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381318" y="1957661"/>
            <a:ext cx="4489548" cy="38200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Does not Have Heart Disease, Total = 1.23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73</a:t>
            </a:fld>
            <a:endParaRPr lang="zh-TW" alt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5BCE98-F78E-4ACC-891B-8B951F195827}"/>
              </a:ext>
            </a:extLst>
          </p:cNvPr>
          <p:cNvSpPr/>
          <p:nvPr/>
        </p:nvSpPr>
        <p:spPr>
          <a:xfrm>
            <a:off x="1003956" y="4015863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FA33CF1-4A37-43C2-910D-E6A2A3EE9869}"/>
              </a:ext>
            </a:extLst>
          </p:cNvPr>
          <p:cNvSpPr/>
          <p:nvPr/>
        </p:nvSpPr>
        <p:spPr>
          <a:xfrm>
            <a:off x="861202" y="4333743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E9A1EC-4DB5-4193-B06C-E476AF4C30C6}"/>
              </a:ext>
            </a:extLst>
          </p:cNvPr>
          <p:cNvSpPr/>
          <p:nvPr/>
        </p:nvSpPr>
        <p:spPr>
          <a:xfrm>
            <a:off x="1190421" y="4354376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F805664-ED5B-411B-985D-9058F66E9110}"/>
              </a:ext>
            </a:extLst>
          </p:cNvPr>
          <p:cNvCxnSpPr>
            <a:cxnSpLocks/>
            <a:stCxn id="95" idx="2"/>
            <a:endCxn id="97" idx="0"/>
          </p:cNvCxnSpPr>
          <p:nvPr/>
        </p:nvCxnSpPr>
        <p:spPr>
          <a:xfrm flipH="1">
            <a:off x="975787" y="4186680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DAB181B-8A1D-4A8D-8B4F-F3B7D27FDBF9}"/>
              </a:ext>
            </a:extLst>
          </p:cNvPr>
          <p:cNvCxnSpPr>
            <a:cxnSpLocks/>
            <a:stCxn id="95" idx="2"/>
            <a:endCxn id="105" idx="0"/>
          </p:cNvCxnSpPr>
          <p:nvPr/>
        </p:nvCxnSpPr>
        <p:spPr>
          <a:xfrm>
            <a:off x="1118540" y="4186680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C5E8A1A-31EC-4611-A8C3-764D4AD6A92A}"/>
              </a:ext>
            </a:extLst>
          </p:cNvPr>
          <p:cNvSpPr/>
          <p:nvPr/>
        </p:nvSpPr>
        <p:spPr>
          <a:xfrm>
            <a:off x="735378" y="2970953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B92018C-0F6A-490E-B764-20B6C8FED9CC}"/>
              </a:ext>
            </a:extLst>
          </p:cNvPr>
          <p:cNvSpPr/>
          <p:nvPr/>
        </p:nvSpPr>
        <p:spPr>
          <a:xfrm>
            <a:off x="400406" y="3494424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91B3D41-498B-4D4D-AA0C-E82AF93E6B59}"/>
              </a:ext>
            </a:extLst>
          </p:cNvPr>
          <p:cNvSpPr/>
          <p:nvPr/>
        </p:nvSpPr>
        <p:spPr>
          <a:xfrm>
            <a:off x="1254331" y="3486298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ADCD54A-07E3-4EEF-98DD-5486403B2527}"/>
              </a:ext>
            </a:extLst>
          </p:cNvPr>
          <p:cNvCxnSpPr>
            <a:cxnSpLocks/>
            <a:stCxn id="120" idx="2"/>
            <a:endCxn id="121" idx="0"/>
          </p:cNvCxnSpPr>
          <p:nvPr/>
        </p:nvCxnSpPr>
        <p:spPr>
          <a:xfrm flipH="1">
            <a:off x="740696" y="3219599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485C437-D204-4680-87FB-D49878AB8DA4}"/>
              </a:ext>
            </a:extLst>
          </p:cNvPr>
          <p:cNvCxnSpPr>
            <a:cxnSpLocks/>
            <a:stCxn id="120" idx="2"/>
            <a:endCxn id="127" idx="0"/>
          </p:cNvCxnSpPr>
          <p:nvPr/>
        </p:nvCxnSpPr>
        <p:spPr>
          <a:xfrm>
            <a:off x="1090371" y="3219599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9328AE9-A757-4E42-821D-2C5D974314C6}"/>
              </a:ext>
            </a:extLst>
          </p:cNvPr>
          <p:cNvSpPr/>
          <p:nvPr/>
        </p:nvSpPr>
        <p:spPr>
          <a:xfrm>
            <a:off x="7537945" y="3147785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33A1E13-F5BC-4818-B38E-DAADFDF79657}"/>
              </a:ext>
            </a:extLst>
          </p:cNvPr>
          <p:cNvSpPr/>
          <p:nvPr/>
        </p:nvSpPr>
        <p:spPr>
          <a:xfrm>
            <a:off x="7395191" y="3465665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F68D7C0-77E5-41A5-92EC-FE1D983D4B19}"/>
              </a:ext>
            </a:extLst>
          </p:cNvPr>
          <p:cNvSpPr/>
          <p:nvPr/>
        </p:nvSpPr>
        <p:spPr>
          <a:xfrm>
            <a:off x="7724410" y="3486298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6534E4A-0650-493F-99B0-13F101EEB4DE}"/>
              </a:ext>
            </a:extLst>
          </p:cNvPr>
          <p:cNvCxnSpPr>
            <a:cxnSpLocks/>
            <a:stCxn id="131" idx="2"/>
            <a:endCxn id="132" idx="0"/>
          </p:cNvCxnSpPr>
          <p:nvPr/>
        </p:nvCxnSpPr>
        <p:spPr>
          <a:xfrm flipH="1">
            <a:off x="7509776" y="3318602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42590F7-0BBE-4772-901C-B785C0D4304A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7652529" y="3318602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A8796D0-148F-4EA7-895A-A530555A958B}"/>
              </a:ext>
            </a:extLst>
          </p:cNvPr>
          <p:cNvSpPr/>
          <p:nvPr/>
        </p:nvSpPr>
        <p:spPr>
          <a:xfrm>
            <a:off x="817170" y="4626687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5F7EE87-00C5-43DC-A92A-088A0878651B}"/>
              </a:ext>
            </a:extLst>
          </p:cNvPr>
          <p:cNvSpPr/>
          <p:nvPr/>
        </p:nvSpPr>
        <p:spPr>
          <a:xfrm>
            <a:off x="482198" y="5150158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A471971-5C42-4FAA-A2DA-13351BBE0247}"/>
              </a:ext>
            </a:extLst>
          </p:cNvPr>
          <p:cNvSpPr/>
          <p:nvPr/>
        </p:nvSpPr>
        <p:spPr>
          <a:xfrm>
            <a:off x="1336123" y="5142032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F105327-2AD2-4B20-84F4-05ECB20FF2D2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 flipH="1">
            <a:off x="822488" y="4875333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76482AA-35FD-4A5E-A388-1F1B5FC64397}"/>
              </a:ext>
            </a:extLst>
          </p:cNvPr>
          <p:cNvCxnSpPr>
            <a:cxnSpLocks/>
            <a:stCxn id="138" idx="2"/>
            <a:endCxn id="140" idx="0"/>
          </p:cNvCxnSpPr>
          <p:nvPr/>
        </p:nvCxnSpPr>
        <p:spPr>
          <a:xfrm>
            <a:off x="1172163" y="4875333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CA4B853-1ADB-4F4C-855A-8C2CEC1AE3F4}"/>
              </a:ext>
            </a:extLst>
          </p:cNvPr>
          <p:cNvSpPr/>
          <p:nvPr/>
        </p:nvSpPr>
        <p:spPr>
          <a:xfrm>
            <a:off x="7351159" y="4046641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689E88A-0E0E-4340-9B50-AC54E80544F1}"/>
              </a:ext>
            </a:extLst>
          </p:cNvPr>
          <p:cNvSpPr/>
          <p:nvPr/>
        </p:nvSpPr>
        <p:spPr>
          <a:xfrm>
            <a:off x="7016187" y="4570112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FAEA670-F4B8-46B0-9DE6-F130A43C1682}"/>
              </a:ext>
            </a:extLst>
          </p:cNvPr>
          <p:cNvSpPr/>
          <p:nvPr/>
        </p:nvSpPr>
        <p:spPr>
          <a:xfrm>
            <a:off x="7870112" y="4561986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9F52566-EDBD-46CE-BE66-4027FEF58017}"/>
              </a:ext>
            </a:extLst>
          </p:cNvPr>
          <p:cNvCxnSpPr>
            <a:cxnSpLocks/>
            <a:stCxn id="144" idx="2"/>
            <a:endCxn id="145" idx="0"/>
          </p:cNvCxnSpPr>
          <p:nvPr/>
        </p:nvCxnSpPr>
        <p:spPr>
          <a:xfrm flipH="1">
            <a:off x="7356477" y="4295287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431A9B2-6B1B-4949-9B68-209E860533F4}"/>
              </a:ext>
            </a:extLst>
          </p:cNvPr>
          <p:cNvCxnSpPr>
            <a:cxnSpLocks/>
            <a:stCxn id="144" idx="2"/>
            <a:endCxn id="146" idx="0"/>
          </p:cNvCxnSpPr>
          <p:nvPr/>
        </p:nvCxnSpPr>
        <p:spPr>
          <a:xfrm>
            <a:off x="7706152" y="4295287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CCE3813-E2A8-4F17-8F5E-32D93BADC9D6}"/>
              </a:ext>
            </a:extLst>
          </p:cNvPr>
          <p:cNvSpPr/>
          <p:nvPr/>
        </p:nvSpPr>
        <p:spPr>
          <a:xfrm>
            <a:off x="1113036" y="5616253"/>
            <a:ext cx="457722" cy="2066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E507752-3F48-4749-BFC7-30B91D19D712}"/>
              </a:ext>
            </a:extLst>
          </p:cNvPr>
          <p:cNvSpPr/>
          <p:nvPr/>
        </p:nvSpPr>
        <p:spPr>
          <a:xfrm>
            <a:off x="895000" y="6065402"/>
            <a:ext cx="469177" cy="2066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7256229-880A-44EB-AA03-963FA395EB09}"/>
              </a:ext>
            </a:extLst>
          </p:cNvPr>
          <p:cNvSpPr/>
          <p:nvPr/>
        </p:nvSpPr>
        <p:spPr>
          <a:xfrm>
            <a:off x="1526477" y="6027450"/>
            <a:ext cx="469177" cy="24457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614FF84-E85B-4846-8652-D7F3DAB318C6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 flipH="1">
            <a:off x="1129589" y="5822874"/>
            <a:ext cx="212308" cy="242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CAD4E8E-499D-4879-8855-3BEB3905B8A9}"/>
              </a:ext>
            </a:extLst>
          </p:cNvPr>
          <p:cNvCxnSpPr>
            <a:cxnSpLocks/>
            <a:stCxn id="150" idx="2"/>
            <a:endCxn id="152" idx="0"/>
          </p:cNvCxnSpPr>
          <p:nvPr/>
        </p:nvCxnSpPr>
        <p:spPr>
          <a:xfrm>
            <a:off x="1341897" y="5822874"/>
            <a:ext cx="419169" cy="204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1DECC-FA56-4354-9A79-15FD0BE9D8EC}"/>
              </a:ext>
            </a:extLst>
          </p:cNvPr>
          <p:cNvCxnSpPr>
            <a:cxnSpLocks/>
          </p:cNvCxnSpPr>
          <p:nvPr/>
        </p:nvCxnSpPr>
        <p:spPr>
          <a:xfrm>
            <a:off x="5615025" y="2309019"/>
            <a:ext cx="0" cy="2666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副標題 2">
            <a:extLst>
              <a:ext uri="{FF2B5EF4-FFF2-40B4-BE49-F238E27FC236}">
                <a16:creationId xmlns:a16="http://schemas.microsoft.com/office/drawing/2014/main" id="{35D70974-E9AC-4B24-8003-02E94CCCC2EE}"/>
              </a:ext>
            </a:extLst>
          </p:cNvPr>
          <p:cNvSpPr txBox="1">
            <a:spLocks/>
          </p:cNvSpPr>
          <p:nvPr/>
        </p:nvSpPr>
        <p:spPr>
          <a:xfrm>
            <a:off x="262468" y="1298884"/>
            <a:ext cx="8619061" cy="38105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Ultimately, the patient is classified as </a:t>
            </a:r>
            <a:r>
              <a:rPr lang="en-US" sz="1800" b="1" dirty="0">
                <a:solidFill>
                  <a:srgbClr val="C00000"/>
                </a:solidFill>
              </a:rPr>
              <a:t>Has Heart Disease </a:t>
            </a:r>
            <a:r>
              <a:rPr lang="en-US" sz="1800" b="1" dirty="0">
                <a:solidFill>
                  <a:schemeClr val="tx1"/>
                </a:solidFill>
              </a:rPr>
              <a:t>because 2.7 the larger Sum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18CF7EC-63E8-427A-AE3C-C567602DADBD}"/>
              </a:ext>
            </a:extLst>
          </p:cNvPr>
          <p:cNvCxnSpPr>
            <a:cxnSpLocks/>
            <a:endCxn id="72" idx="3"/>
          </p:cNvCxnSpPr>
          <p:nvPr/>
        </p:nvCxnSpPr>
        <p:spPr>
          <a:xfrm flipH="1">
            <a:off x="3635895" y="1679942"/>
            <a:ext cx="576065" cy="4625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副標題 2">
            <a:extLst>
              <a:ext uri="{FF2B5EF4-FFF2-40B4-BE49-F238E27FC236}">
                <a16:creationId xmlns:a16="http://schemas.microsoft.com/office/drawing/2014/main" id="{65BE2583-0563-4192-89DF-EBA50412B9E4}"/>
              </a:ext>
            </a:extLst>
          </p:cNvPr>
          <p:cNvSpPr txBox="1">
            <a:spLocks/>
          </p:cNvSpPr>
          <p:nvPr/>
        </p:nvSpPr>
        <p:spPr>
          <a:xfrm>
            <a:off x="1629883" y="2575715"/>
            <a:ext cx="1934001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Amount of Say</a:t>
            </a:r>
            <a:endParaRPr lang="en-US" sz="18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2AAFD16-01B8-4369-AE02-F4415C6100A2}"/>
              </a:ext>
            </a:extLst>
          </p:cNvPr>
          <p:cNvCxnSpPr>
            <a:cxnSpLocks/>
          </p:cNvCxnSpPr>
          <p:nvPr/>
        </p:nvCxnSpPr>
        <p:spPr>
          <a:xfrm>
            <a:off x="1986776" y="3364231"/>
            <a:ext cx="768610" cy="22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副標題 2">
            <a:extLst>
              <a:ext uri="{FF2B5EF4-FFF2-40B4-BE49-F238E27FC236}">
                <a16:creationId xmlns:a16="http://schemas.microsoft.com/office/drawing/2014/main" id="{E1239C36-CE98-4DE2-976C-38AF42D12559}"/>
              </a:ext>
            </a:extLst>
          </p:cNvPr>
          <p:cNvSpPr txBox="1">
            <a:spLocks/>
          </p:cNvSpPr>
          <p:nvPr/>
        </p:nvSpPr>
        <p:spPr>
          <a:xfrm>
            <a:off x="2738259" y="3183799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0.97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7B6C130-8E3D-4CB8-821A-1F853A4C47BC}"/>
              </a:ext>
            </a:extLst>
          </p:cNvPr>
          <p:cNvCxnSpPr>
            <a:cxnSpLocks/>
          </p:cNvCxnSpPr>
          <p:nvPr/>
        </p:nvCxnSpPr>
        <p:spPr>
          <a:xfrm>
            <a:off x="2048593" y="4296402"/>
            <a:ext cx="759732" cy="10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副標題 2">
            <a:extLst>
              <a:ext uri="{FF2B5EF4-FFF2-40B4-BE49-F238E27FC236}">
                <a16:creationId xmlns:a16="http://schemas.microsoft.com/office/drawing/2014/main" id="{6E6DDB1E-1CFC-49DE-8541-6C3C7D368881}"/>
              </a:ext>
            </a:extLst>
          </p:cNvPr>
          <p:cNvSpPr txBox="1">
            <a:spLocks/>
          </p:cNvSpPr>
          <p:nvPr/>
        </p:nvSpPr>
        <p:spPr>
          <a:xfrm>
            <a:off x="2791198" y="4103751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0.32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97E710-E513-4B37-B1A7-5975958E2BED}"/>
              </a:ext>
            </a:extLst>
          </p:cNvPr>
          <p:cNvCxnSpPr>
            <a:cxnSpLocks/>
          </p:cNvCxnSpPr>
          <p:nvPr/>
        </p:nvCxnSpPr>
        <p:spPr>
          <a:xfrm>
            <a:off x="2087606" y="5072413"/>
            <a:ext cx="759732" cy="10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副標題 2">
            <a:extLst>
              <a:ext uri="{FF2B5EF4-FFF2-40B4-BE49-F238E27FC236}">
                <a16:creationId xmlns:a16="http://schemas.microsoft.com/office/drawing/2014/main" id="{BE849D8B-6918-47CC-A0A9-784AF5552D0F}"/>
              </a:ext>
            </a:extLst>
          </p:cNvPr>
          <p:cNvSpPr txBox="1">
            <a:spLocks/>
          </p:cNvSpPr>
          <p:nvPr/>
        </p:nvSpPr>
        <p:spPr>
          <a:xfrm>
            <a:off x="2858518" y="4879762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0.78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2227D4B-EB74-49F1-B891-FD8BDCEE586C}"/>
              </a:ext>
            </a:extLst>
          </p:cNvPr>
          <p:cNvCxnSpPr>
            <a:cxnSpLocks/>
          </p:cNvCxnSpPr>
          <p:nvPr/>
        </p:nvCxnSpPr>
        <p:spPr>
          <a:xfrm>
            <a:off x="2087606" y="5904841"/>
            <a:ext cx="759732" cy="10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副標題 2">
            <a:extLst>
              <a:ext uri="{FF2B5EF4-FFF2-40B4-BE49-F238E27FC236}">
                <a16:creationId xmlns:a16="http://schemas.microsoft.com/office/drawing/2014/main" id="{BD201D14-B5A7-4A56-9797-D673748473FB}"/>
              </a:ext>
            </a:extLst>
          </p:cNvPr>
          <p:cNvSpPr txBox="1">
            <a:spLocks/>
          </p:cNvSpPr>
          <p:nvPr/>
        </p:nvSpPr>
        <p:spPr>
          <a:xfrm>
            <a:off x="2858518" y="5712190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0.63</a:t>
            </a:r>
          </a:p>
        </p:txBody>
      </p:sp>
      <p:sp>
        <p:nvSpPr>
          <p:cNvPr id="57" name="副標題 2">
            <a:extLst>
              <a:ext uri="{FF2B5EF4-FFF2-40B4-BE49-F238E27FC236}">
                <a16:creationId xmlns:a16="http://schemas.microsoft.com/office/drawing/2014/main" id="{3B002DB7-7184-40B8-BF31-8C784DBE613F}"/>
              </a:ext>
            </a:extLst>
          </p:cNvPr>
          <p:cNvSpPr txBox="1">
            <a:spLocks/>
          </p:cNvSpPr>
          <p:nvPr/>
        </p:nvSpPr>
        <p:spPr>
          <a:xfrm>
            <a:off x="4792764" y="2528920"/>
            <a:ext cx="1934001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Amount of Say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9" name="副標題 2">
            <a:extLst>
              <a:ext uri="{FF2B5EF4-FFF2-40B4-BE49-F238E27FC236}">
                <a16:creationId xmlns:a16="http://schemas.microsoft.com/office/drawing/2014/main" id="{F9177D67-6997-413D-815C-C81A936809AD}"/>
              </a:ext>
            </a:extLst>
          </p:cNvPr>
          <p:cNvSpPr txBox="1">
            <a:spLocks/>
          </p:cNvSpPr>
          <p:nvPr/>
        </p:nvSpPr>
        <p:spPr>
          <a:xfrm>
            <a:off x="5220072" y="3261990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0.41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31BF0E2-AEF7-43A7-A344-A724DB61CDEF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5930059" y="3454641"/>
            <a:ext cx="1003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副標題 2">
            <a:extLst>
              <a:ext uri="{FF2B5EF4-FFF2-40B4-BE49-F238E27FC236}">
                <a16:creationId xmlns:a16="http://schemas.microsoft.com/office/drawing/2014/main" id="{91A4FEFC-BCA3-4F5A-B05F-221FBBD877AC}"/>
              </a:ext>
            </a:extLst>
          </p:cNvPr>
          <p:cNvSpPr txBox="1">
            <a:spLocks/>
          </p:cNvSpPr>
          <p:nvPr/>
        </p:nvSpPr>
        <p:spPr>
          <a:xfrm>
            <a:off x="5260198" y="4186680"/>
            <a:ext cx="709987" cy="38530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0.82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E338ACC-ECD9-468F-9454-3B38C6C99306}"/>
              </a:ext>
            </a:extLst>
          </p:cNvPr>
          <p:cNvCxnSpPr>
            <a:cxnSpLocks/>
          </p:cNvCxnSpPr>
          <p:nvPr/>
        </p:nvCxnSpPr>
        <p:spPr>
          <a:xfrm flipH="1">
            <a:off x="5957908" y="4308506"/>
            <a:ext cx="1003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副標題 2">
            <a:extLst>
              <a:ext uri="{FF2B5EF4-FFF2-40B4-BE49-F238E27FC236}">
                <a16:creationId xmlns:a16="http://schemas.microsoft.com/office/drawing/2014/main" id="{3DF2A27A-1FC7-475B-89FE-EBD704B193A8}"/>
              </a:ext>
            </a:extLst>
          </p:cNvPr>
          <p:cNvSpPr txBox="1">
            <a:spLocks/>
          </p:cNvSpPr>
          <p:nvPr/>
        </p:nvSpPr>
        <p:spPr>
          <a:xfrm>
            <a:off x="203396" y="1959955"/>
            <a:ext cx="3432499" cy="36512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Has Heart Disease,  Total = 2.7</a:t>
            </a:r>
          </a:p>
        </p:txBody>
      </p:sp>
    </p:spTree>
    <p:extLst>
      <p:ext uri="{BB962C8B-B14F-4D97-AF65-F5344CB8AC3E}">
        <p14:creationId xmlns:p14="http://schemas.microsoft.com/office/powerpoint/2010/main" val="7898471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49.16 Summary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74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372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49.16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87434" y="1334872"/>
            <a:ext cx="4316284" cy="67627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Summary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three ideas behind AdaBoost are: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75</a:t>
            </a:fld>
            <a:endParaRPr lang="zh-TW" alt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13EAB20-EA62-457A-974A-11EFD10B3371}"/>
              </a:ext>
            </a:extLst>
          </p:cNvPr>
          <p:cNvSpPr/>
          <p:nvPr/>
        </p:nvSpPr>
        <p:spPr>
          <a:xfrm>
            <a:off x="1619672" y="3828846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460954F-6B23-4E33-A512-F95CE97BA6EF}"/>
              </a:ext>
            </a:extLst>
          </p:cNvPr>
          <p:cNvSpPr/>
          <p:nvPr/>
        </p:nvSpPr>
        <p:spPr>
          <a:xfrm>
            <a:off x="1385125" y="427285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050BE2D-FECF-4485-AE29-9065BA3A4C46}"/>
              </a:ext>
            </a:extLst>
          </p:cNvPr>
          <p:cNvSpPr/>
          <p:nvPr/>
        </p:nvSpPr>
        <p:spPr>
          <a:xfrm>
            <a:off x="1943510" y="426089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728042E-E155-4F6E-B2C5-F63B0FD7030B}"/>
              </a:ext>
            </a:extLst>
          </p:cNvPr>
          <p:cNvCxnSpPr>
            <a:cxnSpLocks/>
            <a:stCxn id="60" idx="2"/>
            <a:endCxn id="61" idx="0"/>
          </p:cNvCxnSpPr>
          <p:nvPr/>
        </p:nvCxnSpPr>
        <p:spPr>
          <a:xfrm flipH="1">
            <a:off x="1614293" y="4044870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A1135CD-FBFB-4642-AB84-BEF64EA1CCBA}"/>
              </a:ext>
            </a:extLst>
          </p:cNvPr>
          <p:cNvCxnSpPr>
            <a:cxnSpLocks/>
            <a:stCxn id="60" idx="2"/>
            <a:endCxn id="63" idx="0"/>
          </p:cNvCxnSpPr>
          <p:nvPr/>
        </p:nvCxnSpPr>
        <p:spPr>
          <a:xfrm>
            <a:off x="1848840" y="4044870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ACD56F06-9020-4516-A3E1-6456FA4A334B}"/>
              </a:ext>
            </a:extLst>
          </p:cNvPr>
          <p:cNvSpPr/>
          <p:nvPr/>
        </p:nvSpPr>
        <p:spPr>
          <a:xfrm>
            <a:off x="1724239" y="468249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E7F698-384D-42E6-B3C7-4F75D5E1006F}"/>
              </a:ext>
            </a:extLst>
          </p:cNvPr>
          <p:cNvSpPr/>
          <p:nvPr/>
        </p:nvSpPr>
        <p:spPr>
          <a:xfrm>
            <a:off x="1489692" y="512649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B55BA00-6DCC-45A8-8CEB-7F1985A8E044}"/>
              </a:ext>
            </a:extLst>
          </p:cNvPr>
          <p:cNvSpPr/>
          <p:nvPr/>
        </p:nvSpPr>
        <p:spPr>
          <a:xfrm>
            <a:off x="2048077" y="511454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AEF812B-22E8-40D2-9457-59EBC750467E}"/>
              </a:ext>
            </a:extLst>
          </p:cNvPr>
          <p:cNvCxnSpPr>
            <a:cxnSpLocks/>
            <a:stCxn id="66" idx="2"/>
            <a:endCxn id="67" idx="0"/>
          </p:cNvCxnSpPr>
          <p:nvPr/>
        </p:nvCxnSpPr>
        <p:spPr>
          <a:xfrm flipH="1">
            <a:off x="1718860" y="4898516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1BD1CAC-F337-4AC8-B1A3-B3F3D7A72D21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>
            <a:off x="1953407" y="4898516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2EC083A6-A6F2-4164-B145-35AC2033E852}"/>
              </a:ext>
            </a:extLst>
          </p:cNvPr>
          <p:cNvSpPr/>
          <p:nvPr/>
        </p:nvSpPr>
        <p:spPr>
          <a:xfrm>
            <a:off x="1796247" y="554658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C5FD49-1222-47A7-A2B6-1B6A8CDE5711}"/>
              </a:ext>
            </a:extLst>
          </p:cNvPr>
          <p:cNvSpPr/>
          <p:nvPr/>
        </p:nvSpPr>
        <p:spPr>
          <a:xfrm>
            <a:off x="1561700" y="599059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D6D5BE1-689E-4632-98C1-248D56EDD001}"/>
              </a:ext>
            </a:extLst>
          </p:cNvPr>
          <p:cNvSpPr/>
          <p:nvPr/>
        </p:nvSpPr>
        <p:spPr>
          <a:xfrm>
            <a:off x="2120085" y="597863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4D1BEDB-A3F8-4822-A871-6C6040842E39}"/>
              </a:ext>
            </a:extLst>
          </p:cNvPr>
          <p:cNvCxnSpPr>
            <a:cxnSpLocks/>
            <a:stCxn id="74" idx="2"/>
            <a:endCxn id="75" idx="0"/>
          </p:cNvCxnSpPr>
          <p:nvPr/>
        </p:nvCxnSpPr>
        <p:spPr>
          <a:xfrm flipH="1">
            <a:off x="1790868" y="5762612"/>
            <a:ext cx="234547" cy="2279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2D6F116-7F36-4A0F-BBF8-28F27A75C775}"/>
              </a:ext>
            </a:extLst>
          </p:cNvPr>
          <p:cNvCxnSpPr>
            <a:cxnSpLocks/>
            <a:stCxn id="74" idx="2"/>
            <a:endCxn id="76" idx="0"/>
          </p:cNvCxnSpPr>
          <p:nvPr/>
        </p:nvCxnSpPr>
        <p:spPr>
          <a:xfrm>
            <a:off x="2025415" y="5762612"/>
            <a:ext cx="323838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D98800B-8806-45D1-B9FA-F0EB2A4E586C}"/>
              </a:ext>
            </a:extLst>
          </p:cNvPr>
          <p:cNvSpPr/>
          <p:nvPr/>
        </p:nvSpPr>
        <p:spPr>
          <a:xfrm>
            <a:off x="4803718" y="4024663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5A9A2F3-9ACE-4CD2-B96B-9009039194AF}"/>
              </a:ext>
            </a:extLst>
          </p:cNvPr>
          <p:cNvSpPr/>
          <p:nvPr/>
        </p:nvSpPr>
        <p:spPr>
          <a:xfrm>
            <a:off x="4660964" y="4342543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6A0968-6B44-4583-8E8F-BE1153D8CFE4}"/>
              </a:ext>
            </a:extLst>
          </p:cNvPr>
          <p:cNvSpPr/>
          <p:nvPr/>
        </p:nvSpPr>
        <p:spPr>
          <a:xfrm>
            <a:off x="4990183" y="4363176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573CA28-A474-46C2-94CF-FA08558D9AEE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 flipH="1">
            <a:off x="4775549" y="4195480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8B10D7D-A556-480D-82A9-FEB30EC31D09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>
            <a:off x="4918302" y="4195480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5AE60FE-7F12-42CB-97D6-A2973AC9B927}"/>
              </a:ext>
            </a:extLst>
          </p:cNvPr>
          <p:cNvSpPr/>
          <p:nvPr/>
        </p:nvSpPr>
        <p:spPr>
          <a:xfrm>
            <a:off x="4629111" y="4717276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2EDE67B-A277-4956-8CE7-B276CC8DFE79}"/>
              </a:ext>
            </a:extLst>
          </p:cNvPr>
          <p:cNvSpPr/>
          <p:nvPr/>
        </p:nvSpPr>
        <p:spPr>
          <a:xfrm>
            <a:off x="4294139" y="5240747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28F08DA-C79A-4886-8DDF-7F566CA91A89}"/>
              </a:ext>
            </a:extLst>
          </p:cNvPr>
          <p:cNvSpPr/>
          <p:nvPr/>
        </p:nvSpPr>
        <p:spPr>
          <a:xfrm>
            <a:off x="5148064" y="5232621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D21F469-6307-4DFC-81B7-C21FD2DD4FF9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4634429" y="4965922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FD5614B-A398-4108-9426-7B73D3DD372F}"/>
              </a:ext>
            </a:extLst>
          </p:cNvPr>
          <p:cNvCxnSpPr>
            <a:cxnSpLocks/>
            <a:stCxn id="84" idx="2"/>
            <a:endCxn id="86" idx="0"/>
          </p:cNvCxnSpPr>
          <p:nvPr/>
        </p:nvCxnSpPr>
        <p:spPr>
          <a:xfrm>
            <a:off x="4984104" y="4965922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73C397EE-E148-487E-B8AF-87BC7EE3EA78}"/>
              </a:ext>
            </a:extLst>
          </p:cNvPr>
          <p:cNvSpPr/>
          <p:nvPr/>
        </p:nvSpPr>
        <p:spPr>
          <a:xfrm>
            <a:off x="4895140" y="5806007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407C3CE-5154-4475-AD15-C35A353EC98C}"/>
              </a:ext>
            </a:extLst>
          </p:cNvPr>
          <p:cNvSpPr/>
          <p:nvPr/>
        </p:nvSpPr>
        <p:spPr>
          <a:xfrm>
            <a:off x="4721203" y="6171078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B5E2C0B-A7D4-4CB7-83CE-77C0746909EF}"/>
              </a:ext>
            </a:extLst>
          </p:cNvPr>
          <p:cNvSpPr/>
          <p:nvPr/>
        </p:nvSpPr>
        <p:spPr>
          <a:xfrm>
            <a:off x="5145090" y="6191712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9DFB1AA-A2CA-47E8-8322-7C75C4D5EAA3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4883122" y="5950425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42466FF-F860-4B24-AAFE-2EE62FFC3748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5057059" y="5950425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副標題 2">
            <a:extLst>
              <a:ext uri="{FF2B5EF4-FFF2-40B4-BE49-F238E27FC236}">
                <a16:creationId xmlns:a16="http://schemas.microsoft.com/office/drawing/2014/main" id="{D8D8977B-6FC7-4165-ABAE-A8CBB349DC75}"/>
              </a:ext>
            </a:extLst>
          </p:cNvPr>
          <p:cNvSpPr txBox="1">
            <a:spLocks/>
          </p:cNvSpPr>
          <p:nvPr/>
        </p:nvSpPr>
        <p:spPr>
          <a:xfrm>
            <a:off x="611560" y="2132358"/>
            <a:ext cx="3096344" cy="155585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1)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 combines a lot “Weak Learners” to make classification.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weak leaners are almost always </a:t>
            </a:r>
            <a:r>
              <a:rPr lang="en-US" sz="1800" b="1" dirty="0">
                <a:solidFill>
                  <a:srgbClr val="C00000"/>
                </a:solidFill>
              </a:rPr>
              <a:t>stumps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6" name="副標題 2">
            <a:extLst>
              <a:ext uri="{FF2B5EF4-FFF2-40B4-BE49-F238E27FC236}">
                <a16:creationId xmlns:a16="http://schemas.microsoft.com/office/drawing/2014/main" id="{E23D243F-14B4-42BA-8CAE-811BF5C965D6}"/>
              </a:ext>
            </a:extLst>
          </p:cNvPr>
          <p:cNvSpPr txBox="1">
            <a:spLocks/>
          </p:cNvSpPr>
          <p:nvPr/>
        </p:nvSpPr>
        <p:spPr>
          <a:xfrm>
            <a:off x="3790925" y="2778220"/>
            <a:ext cx="2581275" cy="115730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2) Some Stumps get more say in the classification than others. </a:t>
            </a:r>
          </a:p>
        </p:txBody>
      </p:sp>
      <p:sp>
        <p:nvSpPr>
          <p:cNvPr id="98" name="副標題 2">
            <a:extLst>
              <a:ext uri="{FF2B5EF4-FFF2-40B4-BE49-F238E27FC236}">
                <a16:creationId xmlns:a16="http://schemas.microsoft.com/office/drawing/2014/main" id="{9141597A-1A21-4C5C-86C4-240A901276D6}"/>
              </a:ext>
            </a:extLst>
          </p:cNvPr>
          <p:cNvSpPr txBox="1">
            <a:spLocks/>
          </p:cNvSpPr>
          <p:nvPr/>
        </p:nvSpPr>
        <p:spPr>
          <a:xfrm>
            <a:off x="6335232" y="1357960"/>
            <a:ext cx="2581275" cy="115730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3) Each </a:t>
            </a:r>
            <a:r>
              <a:rPr lang="en-US" sz="1800" b="1" dirty="0">
                <a:solidFill>
                  <a:srgbClr val="C00000"/>
                </a:solidFill>
              </a:rPr>
              <a:t>Stump </a:t>
            </a:r>
            <a:r>
              <a:rPr lang="en-US" sz="1800" b="1" dirty="0">
                <a:solidFill>
                  <a:schemeClr val="tx1"/>
                </a:solidFill>
              </a:rPr>
              <a:t>is made by taking the previous </a:t>
            </a:r>
            <a:r>
              <a:rPr lang="en-US" sz="1800" b="1" dirty="0">
                <a:solidFill>
                  <a:srgbClr val="C00000"/>
                </a:solidFill>
              </a:rPr>
              <a:t>stump’s</a:t>
            </a:r>
            <a:r>
              <a:rPr lang="en-US" sz="1800" b="1" dirty="0">
                <a:solidFill>
                  <a:schemeClr val="tx1"/>
                </a:solidFill>
              </a:rPr>
              <a:t> mistakes into account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1588AE8-A607-44FF-A1D8-D0C1BA85CB79}"/>
              </a:ext>
            </a:extLst>
          </p:cNvPr>
          <p:cNvSpPr/>
          <p:nvPr/>
        </p:nvSpPr>
        <p:spPr>
          <a:xfrm>
            <a:off x="7384547" y="2708920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03D87FF-885A-4B9F-81E7-3E9112336B97}"/>
              </a:ext>
            </a:extLst>
          </p:cNvPr>
          <p:cNvSpPr/>
          <p:nvPr/>
        </p:nvSpPr>
        <p:spPr>
          <a:xfrm>
            <a:off x="7241793" y="3026800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3760650-4800-483C-AB48-D4EB972A9E99}"/>
              </a:ext>
            </a:extLst>
          </p:cNvPr>
          <p:cNvSpPr/>
          <p:nvPr/>
        </p:nvSpPr>
        <p:spPr>
          <a:xfrm>
            <a:off x="7571012" y="3047433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10B184C-A975-47F9-AA79-7AA8EF6263E3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 flipH="1">
            <a:off x="7356378" y="2879737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530F813-5DF1-4F93-BC78-48A317873AC6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>
            <a:off x="7499131" y="2879737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23BCFA2-6CB9-4A55-8DB7-01AAB1AFA8EB}"/>
              </a:ext>
            </a:extLst>
          </p:cNvPr>
          <p:cNvSpPr/>
          <p:nvPr/>
        </p:nvSpPr>
        <p:spPr>
          <a:xfrm>
            <a:off x="7209940" y="4005064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7E915ED-EEC3-4672-BDA0-0CE12C669439}"/>
              </a:ext>
            </a:extLst>
          </p:cNvPr>
          <p:cNvSpPr/>
          <p:nvPr/>
        </p:nvSpPr>
        <p:spPr>
          <a:xfrm>
            <a:off x="6874968" y="4528535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1EADCD5-A2DA-4D4D-A722-5D590D33733E}"/>
              </a:ext>
            </a:extLst>
          </p:cNvPr>
          <p:cNvSpPr/>
          <p:nvPr/>
        </p:nvSpPr>
        <p:spPr>
          <a:xfrm>
            <a:off x="7728893" y="4520409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9521086-5943-4CF9-BAAC-AE221891FC22}"/>
              </a:ext>
            </a:extLst>
          </p:cNvPr>
          <p:cNvCxnSpPr>
            <a:cxnSpLocks/>
            <a:stCxn id="104" idx="2"/>
            <a:endCxn id="107" idx="0"/>
          </p:cNvCxnSpPr>
          <p:nvPr/>
        </p:nvCxnSpPr>
        <p:spPr>
          <a:xfrm flipH="1">
            <a:off x="7215258" y="4253710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66A63A1-9EF9-413F-896A-5205AFF15798}"/>
              </a:ext>
            </a:extLst>
          </p:cNvPr>
          <p:cNvCxnSpPr>
            <a:cxnSpLocks/>
            <a:stCxn id="104" idx="2"/>
            <a:endCxn id="108" idx="0"/>
          </p:cNvCxnSpPr>
          <p:nvPr/>
        </p:nvCxnSpPr>
        <p:spPr>
          <a:xfrm>
            <a:off x="7564933" y="4253710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800F7FD-C55D-46D1-8377-ABFDEF4E4222}"/>
              </a:ext>
            </a:extLst>
          </p:cNvPr>
          <p:cNvSpPr/>
          <p:nvPr/>
        </p:nvSpPr>
        <p:spPr>
          <a:xfrm>
            <a:off x="7475969" y="5591248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ADC3BCF-39F6-4873-99FD-7AA6BA687731}"/>
              </a:ext>
            </a:extLst>
          </p:cNvPr>
          <p:cNvSpPr/>
          <p:nvPr/>
        </p:nvSpPr>
        <p:spPr>
          <a:xfrm>
            <a:off x="7302032" y="5956319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B976523-1049-45A9-8FBB-E69A5F0434CE}"/>
              </a:ext>
            </a:extLst>
          </p:cNvPr>
          <p:cNvSpPr/>
          <p:nvPr/>
        </p:nvSpPr>
        <p:spPr>
          <a:xfrm>
            <a:off x="7725919" y="5976953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5B0372-F10D-4766-B1BE-E3C17D1C2A22}"/>
              </a:ext>
            </a:extLst>
          </p:cNvPr>
          <p:cNvCxnSpPr>
            <a:cxnSpLocks/>
            <a:stCxn id="112" idx="2"/>
            <a:endCxn id="113" idx="0"/>
          </p:cNvCxnSpPr>
          <p:nvPr/>
        </p:nvCxnSpPr>
        <p:spPr>
          <a:xfrm flipH="1">
            <a:off x="7463951" y="5735666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376E0D5-B998-4CFD-BE34-E402FD843FB9}"/>
              </a:ext>
            </a:extLst>
          </p:cNvPr>
          <p:cNvCxnSpPr>
            <a:cxnSpLocks/>
            <a:stCxn id="112" idx="2"/>
            <a:endCxn id="114" idx="0"/>
          </p:cNvCxnSpPr>
          <p:nvPr/>
        </p:nvCxnSpPr>
        <p:spPr>
          <a:xfrm>
            <a:off x="7637888" y="5735666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7CE6830-3F0B-4B25-B5EA-ED87676C9DB1}"/>
              </a:ext>
            </a:extLst>
          </p:cNvPr>
          <p:cNvSpPr/>
          <p:nvPr/>
        </p:nvSpPr>
        <p:spPr>
          <a:xfrm>
            <a:off x="7362999" y="3368447"/>
            <a:ext cx="375840" cy="4929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D227B170-AE2F-466F-B961-78EF99792B45}"/>
              </a:ext>
            </a:extLst>
          </p:cNvPr>
          <p:cNvSpPr/>
          <p:nvPr/>
        </p:nvSpPr>
        <p:spPr>
          <a:xfrm>
            <a:off x="7417954" y="4986169"/>
            <a:ext cx="375840" cy="4929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065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49.16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87434" y="1334872"/>
            <a:ext cx="4316284" cy="36004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https://www.youtube.com/watch?v=LsK-xG1cLYA&amp;list=PLblh5JKOoLUICTaGLRoHQDuF_7q2GfuJF&amp;index=52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76</a:t>
            </a:fld>
            <a:endParaRPr lang="zh-TW" altLang="en-US"/>
          </a:p>
        </p:txBody>
      </p:sp>
      <p:sp>
        <p:nvSpPr>
          <p:cNvPr id="98" name="副標題 2">
            <a:extLst>
              <a:ext uri="{FF2B5EF4-FFF2-40B4-BE49-F238E27FC236}">
                <a16:creationId xmlns:a16="http://schemas.microsoft.com/office/drawing/2014/main" id="{9141597A-1A21-4C5C-86C4-240A901276D6}"/>
              </a:ext>
            </a:extLst>
          </p:cNvPr>
          <p:cNvSpPr txBox="1">
            <a:spLocks/>
          </p:cNvSpPr>
          <p:nvPr/>
        </p:nvSpPr>
        <p:spPr>
          <a:xfrm>
            <a:off x="6335232" y="1357960"/>
            <a:ext cx="2581275" cy="115730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3) Each </a:t>
            </a:r>
            <a:r>
              <a:rPr lang="en-US" sz="1800" b="1" dirty="0">
                <a:solidFill>
                  <a:srgbClr val="C00000"/>
                </a:solidFill>
              </a:rPr>
              <a:t>Stump </a:t>
            </a:r>
            <a:r>
              <a:rPr lang="en-US" sz="1800" b="1" dirty="0">
                <a:solidFill>
                  <a:schemeClr val="tx1"/>
                </a:solidFill>
              </a:rPr>
              <a:t>is made by taking the previous </a:t>
            </a:r>
            <a:r>
              <a:rPr lang="en-US" sz="1800" b="1" dirty="0">
                <a:solidFill>
                  <a:srgbClr val="C00000"/>
                </a:solidFill>
              </a:rPr>
              <a:t>stump’s</a:t>
            </a:r>
            <a:r>
              <a:rPr lang="en-US" sz="1800" b="1" dirty="0">
                <a:solidFill>
                  <a:schemeClr val="tx1"/>
                </a:solidFill>
              </a:rPr>
              <a:t> mistakes into account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1588AE8-A607-44FF-A1D8-D0C1BA85CB79}"/>
              </a:ext>
            </a:extLst>
          </p:cNvPr>
          <p:cNvSpPr/>
          <p:nvPr/>
        </p:nvSpPr>
        <p:spPr>
          <a:xfrm>
            <a:off x="7384547" y="2708920"/>
            <a:ext cx="229168" cy="17081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03D87FF-885A-4B9F-81E7-3E9112336B97}"/>
              </a:ext>
            </a:extLst>
          </p:cNvPr>
          <p:cNvSpPr/>
          <p:nvPr/>
        </p:nvSpPr>
        <p:spPr>
          <a:xfrm>
            <a:off x="7241793" y="3026800"/>
            <a:ext cx="229169" cy="17081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3760650-4800-483C-AB48-D4EB972A9E99}"/>
              </a:ext>
            </a:extLst>
          </p:cNvPr>
          <p:cNvSpPr/>
          <p:nvPr/>
        </p:nvSpPr>
        <p:spPr>
          <a:xfrm>
            <a:off x="7571012" y="3047433"/>
            <a:ext cx="229169" cy="1382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10B184C-A975-47F9-AA79-7AA8EF6263E3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 flipH="1">
            <a:off x="7356378" y="2879737"/>
            <a:ext cx="142753" cy="14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530F813-5DF1-4F93-BC78-48A317873AC6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>
            <a:off x="7499131" y="2879737"/>
            <a:ext cx="186466" cy="167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23BCFA2-6CB9-4A55-8DB7-01AAB1AFA8EB}"/>
              </a:ext>
            </a:extLst>
          </p:cNvPr>
          <p:cNvSpPr/>
          <p:nvPr/>
        </p:nvSpPr>
        <p:spPr>
          <a:xfrm>
            <a:off x="7209940" y="4005064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7E915ED-EEC3-4672-BDA0-0CE12C669439}"/>
              </a:ext>
            </a:extLst>
          </p:cNvPr>
          <p:cNvSpPr/>
          <p:nvPr/>
        </p:nvSpPr>
        <p:spPr>
          <a:xfrm>
            <a:off x="6874968" y="4528535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1EADCD5-A2DA-4D4D-A722-5D590D33733E}"/>
              </a:ext>
            </a:extLst>
          </p:cNvPr>
          <p:cNvSpPr/>
          <p:nvPr/>
        </p:nvSpPr>
        <p:spPr>
          <a:xfrm>
            <a:off x="7728893" y="4520409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9521086-5943-4CF9-BAAC-AE221891FC22}"/>
              </a:ext>
            </a:extLst>
          </p:cNvPr>
          <p:cNvCxnSpPr>
            <a:cxnSpLocks/>
            <a:stCxn id="104" idx="2"/>
            <a:endCxn id="107" idx="0"/>
          </p:cNvCxnSpPr>
          <p:nvPr/>
        </p:nvCxnSpPr>
        <p:spPr>
          <a:xfrm flipH="1">
            <a:off x="7215258" y="4253710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66A63A1-9EF9-413F-896A-5205AFF15798}"/>
              </a:ext>
            </a:extLst>
          </p:cNvPr>
          <p:cNvCxnSpPr>
            <a:cxnSpLocks/>
            <a:stCxn id="104" idx="2"/>
            <a:endCxn id="108" idx="0"/>
          </p:cNvCxnSpPr>
          <p:nvPr/>
        </p:nvCxnSpPr>
        <p:spPr>
          <a:xfrm>
            <a:off x="7564933" y="4253710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800F7FD-C55D-46D1-8377-ABFDEF4E4222}"/>
              </a:ext>
            </a:extLst>
          </p:cNvPr>
          <p:cNvSpPr/>
          <p:nvPr/>
        </p:nvSpPr>
        <p:spPr>
          <a:xfrm>
            <a:off x="7475969" y="5591248"/>
            <a:ext cx="323838" cy="1444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ADC3BCF-39F6-4873-99FD-7AA6BA687731}"/>
              </a:ext>
            </a:extLst>
          </p:cNvPr>
          <p:cNvSpPr/>
          <p:nvPr/>
        </p:nvSpPr>
        <p:spPr>
          <a:xfrm>
            <a:off x="7302032" y="5956319"/>
            <a:ext cx="323838" cy="191479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B976523-1049-45A9-8FBB-E69A5F0434CE}"/>
              </a:ext>
            </a:extLst>
          </p:cNvPr>
          <p:cNvSpPr/>
          <p:nvPr/>
        </p:nvSpPr>
        <p:spPr>
          <a:xfrm>
            <a:off x="7725919" y="5976953"/>
            <a:ext cx="388014" cy="18835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5B0372-F10D-4766-B1BE-E3C17D1C2A22}"/>
              </a:ext>
            </a:extLst>
          </p:cNvPr>
          <p:cNvCxnSpPr>
            <a:cxnSpLocks/>
            <a:stCxn id="112" idx="2"/>
            <a:endCxn id="113" idx="0"/>
          </p:cNvCxnSpPr>
          <p:nvPr/>
        </p:nvCxnSpPr>
        <p:spPr>
          <a:xfrm flipH="1">
            <a:off x="7463951" y="5735666"/>
            <a:ext cx="173937" cy="220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376E0D5-B998-4CFD-BE34-E402FD843FB9}"/>
              </a:ext>
            </a:extLst>
          </p:cNvPr>
          <p:cNvCxnSpPr>
            <a:cxnSpLocks/>
            <a:stCxn id="112" idx="2"/>
            <a:endCxn id="114" idx="0"/>
          </p:cNvCxnSpPr>
          <p:nvPr/>
        </p:nvCxnSpPr>
        <p:spPr>
          <a:xfrm>
            <a:off x="7637888" y="5735666"/>
            <a:ext cx="282038" cy="241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7CE6830-3F0B-4B25-B5EA-ED87676C9DB1}"/>
              </a:ext>
            </a:extLst>
          </p:cNvPr>
          <p:cNvSpPr/>
          <p:nvPr/>
        </p:nvSpPr>
        <p:spPr>
          <a:xfrm>
            <a:off x="7362999" y="3368447"/>
            <a:ext cx="375840" cy="4929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D227B170-AE2F-466F-B961-78EF99792B45}"/>
              </a:ext>
            </a:extLst>
          </p:cNvPr>
          <p:cNvSpPr/>
          <p:nvPr/>
        </p:nvSpPr>
        <p:spPr>
          <a:xfrm>
            <a:off x="7417954" y="4986169"/>
            <a:ext cx="375840" cy="4929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副標題 2">
            <a:extLst>
              <a:ext uri="{FF2B5EF4-FFF2-40B4-BE49-F238E27FC236}">
                <a16:creationId xmlns:a16="http://schemas.microsoft.com/office/drawing/2014/main" id="{069024C7-6F70-4D13-9947-A04AE1E5419A}"/>
              </a:ext>
            </a:extLst>
          </p:cNvPr>
          <p:cNvSpPr txBox="1">
            <a:spLocks/>
          </p:cNvSpPr>
          <p:nvPr/>
        </p:nvSpPr>
        <p:spPr>
          <a:xfrm>
            <a:off x="342722" y="3748764"/>
            <a:ext cx="4948662" cy="127659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If we have a </a:t>
            </a:r>
            <a:r>
              <a:rPr lang="en-US" sz="1800" b="1" dirty="0">
                <a:solidFill>
                  <a:srgbClr val="C00000"/>
                </a:solidFill>
              </a:rPr>
              <a:t>Weighted Gini Function</a:t>
            </a:r>
            <a:r>
              <a:rPr lang="en-US" sz="1800" b="1" dirty="0">
                <a:solidFill>
                  <a:schemeClr val="tx1"/>
                </a:solidFill>
              </a:rPr>
              <a:t>, then we use it with the</a:t>
            </a:r>
            <a:r>
              <a:rPr lang="en-US" sz="1800" b="1" dirty="0">
                <a:solidFill>
                  <a:srgbClr val="C00000"/>
                </a:solidFill>
              </a:rPr>
              <a:t> Sample Weights</a:t>
            </a:r>
            <a:r>
              <a:rPr lang="en-US" sz="1800" b="1" dirty="0">
                <a:solidFill>
                  <a:schemeClr val="tx1"/>
                </a:solidFill>
              </a:rPr>
              <a:t>, otherwise, we use the </a:t>
            </a:r>
            <a:r>
              <a:rPr lang="en-US" sz="1800" b="1" dirty="0">
                <a:solidFill>
                  <a:srgbClr val="C00000"/>
                </a:solidFill>
              </a:rPr>
              <a:t>Sample Weights </a:t>
            </a:r>
            <a:r>
              <a:rPr lang="en-US" sz="1800" b="1" dirty="0">
                <a:solidFill>
                  <a:schemeClr val="tx1"/>
                </a:solidFill>
              </a:rPr>
              <a:t>to make a new dataset that reflect those weights.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E24F59B-B093-4272-B7D5-D0EC0DF2FBF4}"/>
              </a:ext>
            </a:extLst>
          </p:cNvPr>
          <p:cNvCxnSpPr>
            <a:cxnSpLocks/>
            <a:stCxn id="118" idx="3"/>
          </p:cNvCxnSpPr>
          <p:nvPr/>
        </p:nvCxnSpPr>
        <p:spPr>
          <a:xfrm flipV="1">
            <a:off x="5291384" y="3614898"/>
            <a:ext cx="2136370" cy="77216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33D5110-7F4A-49FD-ACD3-8799BE3CB3B6}"/>
              </a:ext>
            </a:extLst>
          </p:cNvPr>
          <p:cNvCxnSpPr>
            <a:cxnSpLocks/>
            <a:stCxn id="118" idx="3"/>
            <a:endCxn id="117" idx="1"/>
          </p:cNvCxnSpPr>
          <p:nvPr/>
        </p:nvCxnSpPr>
        <p:spPr>
          <a:xfrm>
            <a:off x="5291384" y="4387059"/>
            <a:ext cx="2126570" cy="9040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812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3555</TotalTime>
  <Words>5916</Words>
  <Application>Microsoft Office PowerPoint</Application>
  <PresentationFormat>On-screen Show (4:3)</PresentationFormat>
  <Paragraphs>2287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Arial</vt:lpstr>
      <vt:lpstr>Calibri</vt:lpstr>
      <vt:lpstr>Cambria Math</vt:lpstr>
      <vt:lpstr>Wingdings</vt:lpstr>
      <vt:lpstr>Office 佈景主題</vt:lpstr>
      <vt:lpstr>49 AdaBoost</vt:lpstr>
      <vt:lpstr>49 AdaBoost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49.1 Decision Tree and Random Forest</vt:lpstr>
      <vt:lpstr>49.2 Stump of Trees by AdaBoost</vt:lpstr>
      <vt:lpstr>49.2 Stump of Trees by AdaBoost</vt:lpstr>
      <vt:lpstr>49.2 Stump of Trees by AdaBoost</vt:lpstr>
      <vt:lpstr>49.2 Stump of Trees by AdaBoost</vt:lpstr>
      <vt:lpstr>49.3 Create Detail of Stump of Trees</vt:lpstr>
      <vt:lpstr>49.3 Create Detail of Stump of Trees</vt:lpstr>
      <vt:lpstr>49.3 Create Detail of Stump of Trees</vt:lpstr>
      <vt:lpstr>49.3 Create Detail of Stump of Trees</vt:lpstr>
      <vt:lpstr>49.3 Create Detail of Stump of Trees</vt:lpstr>
      <vt:lpstr>49.3 Create Detail of Stump of Trees</vt:lpstr>
      <vt:lpstr>49.3 Create Detail of Stump of Trees</vt:lpstr>
      <vt:lpstr>49.4 Create Chest Pain Stump</vt:lpstr>
      <vt:lpstr>49.4 Create Chest Pain Stump</vt:lpstr>
      <vt:lpstr>49.4 Create Chest Pain Stump</vt:lpstr>
      <vt:lpstr>49.4 Create Chest Pain Stump</vt:lpstr>
      <vt:lpstr>49.4 Create Chest Pain Stump</vt:lpstr>
      <vt:lpstr>49.4 Create Chest Pain Stump</vt:lpstr>
      <vt:lpstr>49.5 Create Blocked Arteries Stump</vt:lpstr>
      <vt:lpstr>49.5 Create Blocked Arteries Stump</vt:lpstr>
      <vt:lpstr>49.6 Create Weight Stump</vt:lpstr>
      <vt:lpstr>49.6 Create Weight Stump</vt:lpstr>
      <vt:lpstr>49.7 Calculate Gini Impurity</vt:lpstr>
      <vt:lpstr>49.7 Calculate Gini Impurity</vt:lpstr>
      <vt:lpstr>49.7 Calculate Gini Impurity</vt:lpstr>
      <vt:lpstr>49.8 Select Weight as First Stump</vt:lpstr>
      <vt:lpstr>49.8 Select Weight as First Stump</vt:lpstr>
      <vt:lpstr>49.8 Select Weight as First Stump</vt:lpstr>
      <vt:lpstr>49.9 Calculate Say for Weight</vt:lpstr>
      <vt:lpstr>49.9 Calculate Say for Weight</vt:lpstr>
      <vt:lpstr>49.9 Calculate Say for Weight</vt:lpstr>
      <vt:lpstr>49.9 Calculate Say for Weight</vt:lpstr>
      <vt:lpstr>49.9 Calculate Say for Weight</vt:lpstr>
      <vt:lpstr>49.10 Calculate Say for Chest Pain</vt:lpstr>
      <vt:lpstr>49.10 Calculate Say for Chest Pain</vt:lpstr>
      <vt:lpstr>49.10 Calculate Say for Chest Pain</vt:lpstr>
      <vt:lpstr>49.11 Calculate Say for Blocked Arteries</vt:lpstr>
      <vt:lpstr>49.11 Calculate Say for Blocked Arteries</vt:lpstr>
      <vt:lpstr>49.12 Account for Current Stump</vt:lpstr>
      <vt:lpstr>49.11 Calculate Say for Blocked Arteries</vt:lpstr>
      <vt:lpstr>49.12 Account for Current Stump</vt:lpstr>
      <vt:lpstr>49.12 Account for Current Stump</vt:lpstr>
      <vt:lpstr>49.13 Adjust Sample Weight</vt:lpstr>
      <vt:lpstr>49.13 Adjust Sample Weight</vt:lpstr>
      <vt:lpstr>49.13 Adjust Sample Weight</vt:lpstr>
      <vt:lpstr>49.13 Adjust Sample Weight</vt:lpstr>
      <vt:lpstr>49.13 Adjust Sample Weight</vt:lpstr>
      <vt:lpstr>49.13 Adjust Sample Weight</vt:lpstr>
      <vt:lpstr>49.13 Adjust Sample Weight</vt:lpstr>
      <vt:lpstr>49.13 Adjust Sample Weight</vt:lpstr>
      <vt:lpstr>49.13 Adjust Sample Weight</vt:lpstr>
      <vt:lpstr>49.13 Adjust Sample Weight</vt:lpstr>
      <vt:lpstr>49.14 Calculate Gini Index</vt:lpstr>
      <vt:lpstr>49.14 Calculate Gini Index</vt:lpstr>
      <vt:lpstr>49.14 Calculate Gini Index</vt:lpstr>
      <vt:lpstr>49.15 Stump Created by AdaBoost </vt:lpstr>
      <vt:lpstr>49.15 Stump Created by AdaBoost </vt:lpstr>
      <vt:lpstr>49.15 Stump Created by AdaBoost </vt:lpstr>
      <vt:lpstr>49.15 Stump Created by AdaBoost </vt:lpstr>
      <vt:lpstr>49.15 Stump Created by AdaBoost </vt:lpstr>
      <vt:lpstr>49.16 Summary</vt:lpstr>
      <vt:lpstr>49.16 Summary</vt:lpstr>
      <vt:lpstr>49.16 Summary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1373</cp:revision>
  <dcterms:created xsi:type="dcterms:W3CDTF">2018-09-28T16:40:41Z</dcterms:created>
  <dcterms:modified xsi:type="dcterms:W3CDTF">2021-02-08T03:35:44Z</dcterms:modified>
</cp:coreProperties>
</file>