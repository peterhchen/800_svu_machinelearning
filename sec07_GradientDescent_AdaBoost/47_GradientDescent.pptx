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63" r:id="rId4"/>
    <p:sldId id="264" r:id="rId5"/>
    <p:sldId id="265" r:id="rId6"/>
    <p:sldId id="262" r:id="rId7"/>
    <p:sldId id="260" r:id="rId8"/>
    <p:sldId id="266" r:id="rId9"/>
    <p:sldId id="272" r:id="rId10"/>
    <p:sldId id="267" r:id="rId11"/>
    <p:sldId id="268" r:id="rId12"/>
    <p:sldId id="273" r:id="rId13"/>
    <p:sldId id="269" r:id="rId14"/>
    <p:sldId id="274" r:id="rId15"/>
    <p:sldId id="270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9" r:id="rId25"/>
    <p:sldId id="286" r:id="rId26"/>
    <p:sldId id="287" r:id="rId27"/>
    <p:sldId id="288" r:id="rId28"/>
    <p:sldId id="275" r:id="rId29"/>
    <p:sldId id="271" r:id="rId30"/>
    <p:sldId id="259" r:id="rId3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4088587657" initials="1" lastIdx="2" clrIdx="0">
    <p:extLst>
      <p:ext uri="{19B8F6BF-5375-455C-9EA6-DF929625EA0E}">
        <p15:presenceInfo xmlns:p15="http://schemas.microsoft.com/office/powerpoint/2012/main" userId="46f8387d243ddec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6" autoAdjust="0"/>
    <p:restoredTop sz="96806" autoAdjust="0"/>
  </p:normalViewPr>
  <p:slideViewPr>
    <p:cSldViewPr>
      <p:cViewPr varScale="1">
        <p:scale>
          <a:sx n="86" d="100"/>
          <a:sy n="86" d="100"/>
        </p:scale>
        <p:origin x="144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47 Gradient Descent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59632" y="4581128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 Gradient Descent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8352928" cy="93610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 </a:t>
            </a:r>
            <a:r>
              <a:rPr lang="en-US" sz="1800" b="1" dirty="0">
                <a:solidFill>
                  <a:schemeClr val="tx1"/>
                </a:solidFill>
              </a:rPr>
              <a:t>Machine Learning </a:t>
            </a:r>
            <a:r>
              <a:rPr lang="en-US" sz="1800" dirty="0">
                <a:solidFill>
                  <a:schemeClr val="tx1"/>
                </a:solidFill>
              </a:rPr>
              <a:t>and </a:t>
            </a:r>
            <a:r>
              <a:rPr lang="en-US" sz="1800" b="1" dirty="0">
                <a:solidFill>
                  <a:schemeClr val="tx1"/>
                </a:solidFill>
              </a:rPr>
              <a:t>Statistic</a:t>
            </a:r>
            <a:r>
              <a:rPr lang="en-US" sz="1800" dirty="0">
                <a:solidFill>
                  <a:schemeClr val="tx1"/>
                </a:solidFill>
              </a:rPr>
              <a:t>, we find optimize solution for objective function.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When we fit a line with </a:t>
            </a:r>
            <a:r>
              <a:rPr lang="en-US" sz="1800" b="1" dirty="0">
                <a:solidFill>
                  <a:schemeClr val="tx1"/>
                </a:solidFill>
              </a:rPr>
              <a:t>Linear Regression</a:t>
            </a:r>
            <a:r>
              <a:rPr lang="en-US" sz="1800" dirty="0">
                <a:solidFill>
                  <a:schemeClr val="tx1"/>
                </a:solidFill>
              </a:rPr>
              <a:t>, we optimize the </a:t>
            </a:r>
            <a:r>
              <a:rPr lang="en-US" sz="1800" b="1" dirty="0">
                <a:solidFill>
                  <a:schemeClr val="tx1"/>
                </a:solidFill>
              </a:rPr>
              <a:t>intercept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chemeClr val="tx1"/>
                </a:solidFill>
              </a:rPr>
              <a:t>slope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https://www.youtube.com/watch?v=sDv4f4s2SB8&amp;list=PLblh5JKOoLUICTaGLRoHQDuF_7q2GfuJF&amp;index=50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2536A5-9266-40D5-9C4B-2C080418A5E9}"/>
              </a:ext>
            </a:extLst>
          </p:cNvPr>
          <p:cNvCxnSpPr>
            <a:cxnSpLocks/>
          </p:cNvCxnSpPr>
          <p:nvPr/>
        </p:nvCxnSpPr>
        <p:spPr>
          <a:xfrm>
            <a:off x="2339752" y="5445224"/>
            <a:ext cx="39604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681D65-E013-405C-8FE5-81F8905AF155}"/>
              </a:ext>
            </a:extLst>
          </p:cNvPr>
          <p:cNvCxnSpPr/>
          <p:nvPr/>
        </p:nvCxnSpPr>
        <p:spPr>
          <a:xfrm flipV="1">
            <a:off x="2339752" y="2780928"/>
            <a:ext cx="0" cy="26642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2CEE4E2-AF10-4FE4-A856-FDE3B6AB9FBD}"/>
              </a:ext>
            </a:extLst>
          </p:cNvPr>
          <p:cNvCxnSpPr/>
          <p:nvPr/>
        </p:nvCxnSpPr>
        <p:spPr>
          <a:xfrm>
            <a:off x="3059832" y="537259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C5840C-E001-4F7C-A4B2-0C85F0BAEF82}"/>
              </a:ext>
            </a:extLst>
          </p:cNvPr>
          <p:cNvCxnSpPr>
            <a:cxnSpLocks/>
          </p:cNvCxnSpPr>
          <p:nvPr/>
        </p:nvCxnSpPr>
        <p:spPr>
          <a:xfrm>
            <a:off x="2142220" y="321297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7761AA-E40A-48D7-84DD-0A6FAC6D3518}"/>
              </a:ext>
            </a:extLst>
          </p:cNvPr>
          <p:cNvCxnSpPr/>
          <p:nvPr/>
        </p:nvCxnSpPr>
        <p:spPr>
          <a:xfrm>
            <a:off x="4716016" y="537259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7ED33DD-CE47-4691-9764-4FBB94FF5327}"/>
              </a:ext>
            </a:extLst>
          </p:cNvPr>
          <p:cNvCxnSpPr/>
          <p:nvPr/>
        </p:nvCxnSpPr>
        <p:spPr>
          <a:xfrm>
            <a:off x="5580112" y="537259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385C1D-6477-41D5-A25B-CC6347C9161E}"/>
              </a:ext>
            </a:extLst>
          </p:cNvPr>
          <p:cNvCxnSpPr/>
          <p:nvPr/>
        </p:nvCxnSpPr>
        <p:spPr>
          <a:xfrm>
            <a:off x="3923928" y="541370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2D5579A-B2FB-4872-82C8-CE3BF0A7D52E}"/>
              </a:ext>
            </a:extLst>
          </p:cNvPr>
          <p:cNvCxnSpPr>
            <a:cxnSpLocks/>
          </p:cNvCxnSpPr>
          <p:nvPr/>
        </p:nvCxnSpPr>
        <p:spPr>
          <a:xfrm>
            <a:off x="2142220" y="3717032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4B376AA-E4B0-4921-9864-8BB4D662F699}"/>
              </a:ext>
            </a:extLst>
          </p:cNvPr>
          <p:cNvCxnSpPr>
            <a:cxnSpLocks/>
          </p:cNvCxnSpPr>
          <p:nvPr/>
        </p:nvCxnSpPr>
        <p:spPr>
          <a:xfrm>
            <a:off x="2142220" y="4797152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747ABD-A0DF-4FAA-8C1F-D04BB6B66582}"/>
              </a:ext>
            </a:extLst>
          </p:cNvPr>
          <p:cNvCxnSpPr>
            <a:cxnSpLocks/>
          </p:cNvCxnSpPr>
          <p:nvPr/>
        </p:nvCxnSpPr>
        <p:spPr>
          <a:xfrm>
            <a:off x="2142220" y="422108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4C9DE3A-8C2D-461E-ABA3-A54252018329}"/>
              </a:ext>
            </a:extLst>
          </p:cNvPr>
          <p:cNvCxnSpPr/>
          <p:nvPr/>
        </p:nvCxnSpPr>
        <p:spPr>
          <a:xfrm flipH="1">
            <a:off x="2142220" y="2780928"/>
            <a:ext cx="3077852" cy="23762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4D20816-DE46-4297-8124-D1E125A03297}"/>
              </a:ext>
            </a:extLst>
          </p:cNvPr>
          <p:cNvSpPr/>
          <p:nvPr/>
        </p:nvSpPr>
        <p:spPr>
          <a:xfrm>
            <a:off x="3923928" y="2996952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5CB2E46-F54D-4181-BBA6-19B2E41D5721}"/>
              </a:ext>
            </a:extLst>
          </p:cNvPr>
          <p:cNvSpPr/>
          <p:nvPr/>
        </p:nvSpPr>
        <p:spPr>
          <a:xfrm>
            <a:off x="3796616" y="408702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2EAA3B-BC86-4F0C-ADAB-E7A46CD228E4}"/>
              </a:ext>
            </a:extLst>
          </p:cNvPr>
          <p:cNvSpPr/>
          <p:nvPr/>
        </p:nvSpPr>
        <p:spPr>
          <a:xfrm>
            <a:off x="2789311" y="4195024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E42F52-D080-4F2E-8FB1-86638BC5A6B1}"/>
              </a:ext>
            </a:extLst>
          </p:cNvPr>
          <p:cNvSpPr txBox="1"/>
          <p:nvPr/>
        </p:nvSpPr>
        <p:spPr>
          <a:xfrm>
            <a:off x="4572001" y="3861048"/>
            <a:ext cx="3960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  = Intercept + slope x Weight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24BF48-1949-45F6-AC91-534D4AF11314}"/>
              </a:ext>
            </a:extLst>
          </p:cNvPr>
          <p:cNvSpPr txBox="1"/>
          <p:nvPr/>
        </p:nvSpPr>
        <p:spPr>
          <a:xfrm>
            <a:off x="5940156" y="5660624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6F2A0A-E935-4998-974E-D4B1A336457A}"/>
              </a:ext>
            </a:extLst>
          </p:cNvPr>
          <p:cNvSpPr txBox="1"/>
          <p:nvPr/>
        </p:nvSpPr>
        <p:spPr>
          <a:xfrm>
            <a:off x="1043608" y="3523074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E795CD5-B1F5-4C1E-B92F-83B2C4AA7822}"/>
              </a:ext>
            </a:extLst>
          </p:cNvPr>
          <p:cNvCxnSpPr>
            <a:cxnSpLocks/>
          </p:cNvCxnSpPr>
          <p:nvPr/>
        </p:nvCxnSpPr>
        <p:spPr>
          <a:xfrm flipH="1">
            <a:off x="2339752" y="4195024"/>
            <a:ext cx="3600404" cy="1106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04A00EB-68CA-4E05-B08A-27F5CFB51410}"/>
              </a:ext>
            </a:extLst>
          </p:cNvPr>
          <p:cNvCxnSpPr>
            <a:cxnSpLocks/>
          </p:cNvCxnSpPr>
          <p:nvPr/>
        </p:nvCxnSpPr>
        <p:spPr>
          <a:xfrm flipH="1" flipV="1">
            <a:off x="4897016" y="2996952"/>
            <a:ext cx="1907233" cy="895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 Gradient Descent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8352928" cy="50405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When we use </a:t>
            </a:r>
            <a:r>
              <a:rPr lang="en-US" sz="1800" b="1" dirty="0">
                <a:solidFill>
                  <a:schemeClr val="tx1"/>
                </a:solidFill>
              </a:rPr>
              <a:t>Logistic Regression</a:t>
            </a:r>
            <a:r>
              <a:rPr lang="en-US" sz="1800" dirty="0">
                <a:solidFill>
                  <a:schemeClr val="tx1"/>
                </a:solidFill>
              </a:rPr>
              <a:t>, we optimize a </a:t>
            </a:r>
            <a:r>
              <a:rPr lang="en-US" sz="1800" b="1" dirty="0">
                <a:solidFill>
                  <a:schemeClr val="tx1"/>
                </a:solidFill>
              </a:rPr>
              <a:t>Squiggle (S-curve).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https://www.youtube.com/watch?v=sDv4f4s2SB8&amp;list=PLblh5JKOoLUICTaGLRoHQDuF_7q2GfuJF&amp;index=50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2536A5-9266-40D5-9C4B-2C080418A5E9}"/>
              </a:ext>
            </a:extLst>
          </p:cNvPr>
          <p:cNvCxnSpPr>
            <a:cxnSpLocks/>
          </p:cNvCxnSpPr>
          <p:nvPr/>
        </p:nvCxnSpPr>
        <p:spPr>
          <a:xfrm>
            <a:off x="2339752" y="5445224"/>
            <a:ext cx="39604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681D65-E013-405C-8FE5-81F8905AF155}"/>
              </a:ext>
            </a:extLst>
          </p:cNvPr>
          <p:cNvCxnSpPr/>
          <p:nvPr/>
        </p:nvCxnSpPr>
        <p:spPr>
          <a:xfrm flipV="1">
            <a:off x="2339752" y="2780928"/>
            <a:ext cx="0" cy="26642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2CEE4E2-AF10-4FE4-A856-FDE3B6AB9FBD}"/>
              </a:ext>
            </a:extLst>
          </p:cNvPr>
          <p:cNvCxnSpPr/>
          <p:nvPr/>
        </p:nvCxnSpPr>
        <p:spPr>
          <a:xfrm>
            <a:off x="3059832" y="537259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C5840C-E001-4F7C-A4B2-0C85F0BAEF82}"/>
              </a:ext>
            </a:extLst>
          </p:cNvPr>
          <p:cNvCxnSpPr>
            <a:cxnSpLocks/>
          </p:cNvCxnSpPr>
          <p:nvPr/>
        </p:nvCxnSpPr>
        <p:spPr>
          <a:xfrm>
            <a:off x="2142220" y="321297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7761AA-E40A-48D7-84DD-0A6FAC6D3518}"/>
              </a:ext>
            </a:extLst>
          </p:cNvPr>
          <p:cNvCxnSpPr/>
          <p:nvPr/>
        </p:nvCxnSpPr>
        <p:spPr>
          <a:xfrm>
            <a:off x="4716016" y="537259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7ED33DD-CE47-4691-9764-4FBB94FF5327}"/>
              </a:ext>
            </a:extLst>
          </p:cNvPr>
          <p:cNvCxnSpPr/>
          <p:nvPr/>
        </p:nvCxnSpPr>
        <p:spPr>
          <a:xfrm>
            <a:off x="5580112" y="537259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385C1D-6477-41D5-A25B-CC6347C9161E}"/>
              </a:ext>
            </a:extLst>
          </p:cNvPr>
          <p:cNvCxnSpPr/>
          <p:nvPr/>
        </p:nvCxnSpPr>
        <p:spPr>
          <a:xfrm>
            <a:off x="3923928" y="541370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4B376AA-E4B0-4921-9864-8BB4D662F699}"/>
              </a:ext>
            </a:extLst>
          </p:cNvPr>
          <p:cNvCxnSpPr>
            <a:cxnSpLocks/>
          </p:cNvCxnSpPr>
          <p:nvPr/>
        </p:nvCxnSpPr>
        <p:spPr>
          <a:xfrm>
            <a:off x="2142220" y="4797152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4D20816-DE46-4297-8124-D1E125A03297}"/>
              </a:ext>
            </a:extLst>
          </p:cNvPr>
          <p:cNvSpPr/>
          <p:nvPr/>
        </p:nvSpPr>
        <p:spPr>
          <a:xfrm>
            <a:off x="3923928" y="2996952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5CB2E46-F54D-4181-BBA6-19B2E41D5721}"/>
              </a:ext>
            </a:extLst>
          </p:cNvPr>
          <p:cNvSpPr/>
          <p:nvPr/>
        </p:nvSpPr>
        <p:spPr>
          <a:xfrm>
            <a:off x="2996497" y="4742112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2EAA3B-BC86-4F0C-ADAB-E7A46CD228E4}"/>
              </a:ext>
            </a:extLst>
          </p:cNvPr>
          <p:cNvSpPr/>
          <p:nvPr/>
        </p:nvSpPr>
        <p:spPr>
          <a:xfrm>
            <a:off x="2560113" y="4742112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24BF48-1949-45F6-AC91-534D4AF11314}"/>
              </a:ext>
            </a:extLst>
          </p:cNvPr>
          <p:cNvSpPr txBox="1"/>
          <p:nvPr/>
        </p:nvSpPr>
        <p:spPr>
          <a:xfrm>
            <a:off x="4067948" y="5764625"/>
            <a:ext cx="115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6F2A0A-E935-4998-974E-D4B1A336457A}"/>
              </a:ext>
            </a:extLst>
          </p:cNvPr>
          <p:cNvSpPr txBox="1"/>
          <p:nvPr/>
        </p:nvSpPr>
        <p:spPr>
          <a:xfrm>
            <a:off x="953108" y="3075614"/>
            <a:ext cx="1131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Obese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F6224DF-757C-42BA-94FD-AB4FCFB5B0C6}"/>
              </a:ext>
            </a:extLst>
          </p:cNvPr>
          <p:cNvSpPr/>
          <p:nvPr/>
        </p:nvSpPr>
        <p:spPr>
          <a:xfrm>
            <a:off x="3614091" y="4725156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8495489-7B6A-4135-817D-15CC76548279}"/>
              </a:ext>
            </a:extLst>
          </p:cNvPr>
          <p:cNvSpPr/>
          <p:nvPr/>
        </p:nvSpPr>
        <p:spPr>
          <a:xfrm>
            <a:off x="4319972" y="4725156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963FB86-37B1-438E-8B64-3D16ADC96E0E}"/>
              </a:ext>
            </a:extLst>
          </p:cNvPr>
          <p:cNvSpPr/>
          <p:nvPr/>
        </p:nvSpPr>
        <p:spPr>
          <a:xfrm>
            <a:off x="4499992" y="298448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0ED9E9C-9946-4F6A-9C4E-CF1CD228CA27}"/>
              </a:ext>
            </a:extLst>
          </p:cNvPr>
          <p:cNvSpPr/>
          <p:nvPr/>
        </p:nvSpPr>
        <p:spPr>
          <a:xfrm>
            <a:off x="5004050" y="298448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9D6F551-1C84-444C-89E9-543A22E3E7A1}"/>
              </a:ext>
            </a:extLst>
          </p:cNvPr>
          <p:cNvSpPr/>
          <p:nvPr/>
        </p:nvSpPr>
        <p:spPr>
          <a:xfrm>
            <a:off x="5526596" y="298448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FEB1A35C-DAAC-44FB-90F9-D5538E4B4508}"/>
              </a:ext>
            </a:extLst>
          </p:cNvPr>
          <p:cNvSpPr/>
          <p:nvPr/>
        </p:nvSpPr>
        <p:spPr>
          <a:xfrm>
            <a:off x="2339752" y="4751433"/>
            <a:ext cx="45719" cy="4571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FE9780E-072E-4178-9CAB-E0BDF03C9A1B}"/>
              </a:ext>
            </a:extLst>
          </p:cNvPr>
          <p:cNvSpPr/>
          <p:nvPr/>
        </p:nvSpPr>
        <p:spPr>
          <a:xfrm>
            <a:off x="2372810" y="3059478"/>
            <a:ext cx="3831220" cy="1780911"/>
          </a:xfrm>
          <a:custGeom>
            <a:avLst/>
            <a:gdLst>
              <a:gd name="connsiteX0" fmla="*/ 0 w 3831220"/>
              <a:gd name="connsiteY0" fmla="*/ 1732441 h 1780911"/>
              <a:gd name="connsiteX1" fmla="*/ 1620456 w 3831220"/>
              <a:gd name="connsiteY1" fmla="*/ 1686142 h 1780911"/>
              <a:gd name="connsiteX2" fmla="*/ 2048719 w 3831220"/>
              <a:gd name="connsiteY2" fmla="*/ 875914 h 1780911"/>
              <a:gd name="connsiteX3" fmla="*/ 2314937 w 3831220"/>
              <a:gd name="connsiteY3" fmla="*/ 111985 h 1780911"/>
              <a:gd name="connsiteX4" fmla="*/ 3831220 w 3831220"/>
              <a:gd name="connsiteY4" fmla="*/ 19388 h 178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1220" h="1780911">
                <a:moveTo>
                  <a:pt x="0" y="1732441"/>
                </a:moveTo>
                <a:cubicBezTo>
                  <a:pt x="639501" y="1780669"/>
                  <a:pt x="1279003" y="1828897"/>
                  <a:pt x="1620456" y="1686142"/>
                </a:cubicBezTo>
                <a:cubicBezTo>
                  <a:pt x="1961909" y="1543387"/>
                  <a:pt x="1932972" y="1138273"/>
                  <a:pt x="2048719" y="875914"/>
                </a:cubicBezTo>
                <a:cubicBezTo>
                  <a:pt x="2164466" y="613554"/>
                  <a:pt x="2017854" y="254739"/>
                  <a:pt x="2314937" y="111985"/>
                </a:cubicBezTo>
                <a:cubicBezTo>
                  <a:pt x="2612020" y="-30769"/>
                  <a:pt x="3221620" y="-5691"/>
                  <a:pt x="3831220" y="19388"/>
                </a:cubicBezTo>
              </a:path>
            </a:pathLst>
          </a:cu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F69F6D-7C0C-49D9-B388-4981744AD393}"/>
              </a:ext>
            </a:extLst>
          </p:cNvPr>
          <p:cNvSpPr txBox="1"/>
          <p:nvPr/>
        </p:nvSpPr>
        <p:spPr>
          <a:xfrm>
            <a:off x="977590" y="4594298"/>
            <a:ext cx="1131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Normal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37B103-13C8-498C-ACDA-C6CE71FF6338}"/>
              </a:ext>
            </a:extLst>
          </p:cNvPr>
          <p:cNvCxnSpPr>
            <a:endCxn id="13" idx="2"/>
          </p:cNvCxnSpPr>
          <p:nvPr/>
        </p:nvCxnSpPr>
        <p:spPr>
          <a:xfrm flipH="1" flipV="1">
            <a:off x="4421529" y="3935392"/>
            <a:ext cx="2131671" cy="141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32C7CCA-A866-45D1-9741-C9FFE7E6205C}"/>
              </a:ext>
            </a:extLst>
          </p:cNvPr>
          <p:cNvSpPr txBox="1"/>
          <p:nvPr/>
        </p:nvSpPr>
        <p:spPr>
          <a:xfrm>
            <a:off x="6488331" y="3892406"/>
            <a:ext cx="1180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Squiggle</a:t>
            </a:r>
          </a:p>
        </p:txBody>
      </p:sp>
    </p:spTree>
    <p:extLst>
      <p:ext uri="{BB962C8B-B14F-4D97-AF65-F5344CB8AC3E}">
        <p14:creationId xmlns:p14="http://schemas.microsoft.com/office/powerpoint/2010/main" val="1336257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 Gradient Descent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95536" y="1458725"/>
            <a:ext cx="8352928" cy="78559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When we use </a:t>
            </a:r>
            <a:r>
              <a:rPr lang="en-US" sz="1800" b="1" dirty="0">
                <a:solidFill>
                  <a:schemeClr val="tx1"/>
                </a:solidFill>
              </a:rPr>
              <a:t>t-SNE (Distributed Stochastic Neighbor Embedding), </a:t>
            </a:r>
            <a:r>
              <a:rPr lang="en-US" sz="1800" dirty="0">
                <a:solidFill>
                  <a:schemeClr val="tx1"/>
                </a:solidFill>
              </a:rPr>
              <a:t>we optimize Clusters.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https://www.youtube.com/watch?v=sDv4f4s2SB8&amp;list=PLblh5JKOoLUICTaGLRoHQDuF_7q2GfuJF&amp;index=50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4D20816-DE46-4297-8124-D1E125A03297}"/>
              </a:ext>
            </a:extLst>
          </p:cNvPr>
          <p:cNvSpPr/>
          <p:nvPr/>
        </p:nvSpPr>
        <p:spPr>
          <a:xfrm>
            <a:off x="7001599" y="3231154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5CB2E46-F54D-4181-BBA6-19B2E41D5721}"/>
              </a:ext>
            </a:extLst>
          </p:cNvPr>
          <p:cNvSpPr/>
          <p:nvPr/>
        </p:nvSpPr>
        <p:spPr>
          <a:xfrm>
            <a:off x="4132885" y="3212998"/>
            <a:ext cx="216024" cy="216002"/>
          </a:xfrm>
          <a:prstGeom prst="ellipse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2EAA3B-BC86-4F0C-ADAB-E7A46CD228E4}"/>
              </a:ext>
            </a:extLst>
          </p:cNvPr>
          <p:cNvSpPr/>
          <p:nvPr/>
        </p:nvSpPr>
        <p:spPr>
          <a:xfrm>
            <a:off x="4258834" y="3559690"/>
            <a:ext cx="216024" cy="216002"/>
          </a:xfrm>
          <a:prstGeom prst="ellipse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F6224DF-757C-42BA-94FD-AB4FCFB5B0C6}"/>
              </a:ext>
            </a:extLst>
          </p:cNvPr>
          <p:cNvSpPr/>
          <p:nvPr/>
        </p:nvSpPr>
        <p:spPr>
          <a:xfrm>
            <a:off x="4716016" y="3400084"/>
            <a:ext cx="216024" cy="216002"/>
          </a:xfrm>
          <a:prstGeom prst="ellipse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8495489-7B6A-4135-817D-15CC76548279}"/>
              </a:ext>
            </a:extLst>
          </p:cNvPr>
          <p:cNvSpPr/>
          <p:nvPr/>
        </p:nvSpPr>
        <p:spPr>
          <a:xfrm>
            <a:off x="4421529" y="2899477"/>
            <a:ext cx="216024" cy="216002"/>
          </a:xfrm>
          <a:prstGeom prst="ellipse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963FB86-37B1-438E-8B64-3D16ADC96E0E}"/>
              </a:ext>
            </a:extLst>
          </p:cNvPr>
          <p:cNvSpPr/>
          <p:nvPr/>
        </p:nvSpPr>
        <p:spPr>
          <a:xfrm>
            <a:off x="6098303" y="2766811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0ED9E9C-9946-4F6A-9C4E-CF1CD228CA27}"/>
              </a:ext>
            </a:extLst>
          </p:cNvPr>
          <p:cNvSpPr/>
          <p:nvPr/>
        </p:nvSpPr>
        <p:spPr>
          <a:xfrm>
            <a:off x="6445188" y="3146138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9D6F551-1C84-444C-89E9-543A22E3E7A1}"/>
              </a:ext>
            </a:extLst>
          </p:cNvPr>
          <p:cNvSpPr/>
          <p:nvPr/>
        </p:nvSpPr>
        <p:spPr>
          <a:xfrm>
            <a:off x="6862313" y="2624446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37B103-13C8-498C-ACDA-C6CE71FF6338}"/>
              </a:ext>
            </a:extLst>
          </p:cNvPr>
          <p:cNvCxnSpPr>
            <a:cxnSpLocks/>
            <a:stCxn id="40" idx="0"/>
            <a:endCxn id="30" idx="4"/>
          </p:cNvCxnSpPr>
          <p:nvPr/>
        </p:nvCxnSpPr>
        <p:spPr>
          <a:xfrm flipH="1" flipV="1">
            <a:off x="4824028" y="3616086"/>
            <a:ext cx="467660" cy="12030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32C7CCA-A866-45D1-9741-C9FFE7E6205C}"/>
              </a:ext>
            </a:extLst>
          </p:cNvPr>
          <p:cNvSpPr txBox="1"/>
          <p:nvPr/>
        </p:nvSpPr>
        <p:spPr>
          <a:xfrm>
            <a:off x="4824028" y="4819099"/>
            <a:ext cx="935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Clusters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53EACF8-0E83-45F1-9C89-1FB0581ED47C}"/>
              </a:ext>
            </a:extLst>
          </p:cNvPr>
          <p:cNvSpPr/>
          <p:nvPr/>
        </p:nvSpPr>
        <p:spPr>
          <a:xfrm>
            <a:off x="2708948" y="3871035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8B5151B-01D2-4E3F-92D4-1C6C3DAAE4EF}"/>
              </a:ext>
            </a:extLst>
          </p:cNvPr>
          <p:cNvSpPr/>
          <p:nvPr/>
        </p:nvSpPr>
        <p:spPr>
          <a:xfrm>
            <a:off x="2834897" y="4217727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7897CCE-94C0-4CBC-8B2F-2CE567406272}"/>
              </a:ext>
            </a:extLst>
          </p:cNvPr>
          <p:cNvSpPr/>
          <p:nvPr/>
        </p:nvSpPr>
        <p:spPr>
          <a:xfrm>
            <a:off x="3292079" y="4058121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6690F48-81BF-4995-A471-D8C10FA26DAC}"/>
              </a:ext>
            </a:extLst>
          </p:cNvPr>
          <p:cNvSpPr/>
          <p:nvPr/>
        </p:nvSpPr>
        <p:spPr>
          <a:xfrm>
            <a:off x="2997592" y="3557514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48BE603-36A5-4358-874B-81CFAB4CB948}"/>
              </a:ext>
            </a:extLst>
          </p:cNvPr>
          <p:cNvCxnSpPr>
            <a:cxnSpLocks/>
            <a:stCxn id="40" idx="0"/>
            <a:endCxn id="41" idx="4"/>
          </p:cNvCxnSpPr>
          <p:nvPr/>
        </p:nvCxnSpPr>
        <p:spPr>
          <a:xfrm flipH="1" flipV="1">
            <a:off x="3400091" y="4274123"/>
            <a:ext cx="1891597" cy="544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E2E2DC2-8FAD-42F6-B1E8-98925328BFAB}"/>
              </a:ext>
            </a:extLst>
          </p:cNvPr>
          <p:cNvCxnSpPr>
            <a:cxnSpLocks/>
            <a:stCxn id="40" idx="0"/>
            <a:endCxn id="37" idx="4"/>
          </p:cNvCxnSpPr>
          <p:nvPr/>
        </p:nvCxnSpPr>
        <p:spPr>
          <a:xfrm flipV="1">
            <a:off x="5291688" y="3362140"/>
            <a:ext cx="1261512" cy="14569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84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 Gradient Descent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7"/>
            <a:ext cx="8352928" cy="152993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few examples we optimize.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</a:t>
            </a:r>
            <a:r>
              <a:rPr lang="en-US" sz="1800" b="1" dirty="0">
                <a:solidFill>
                  <a:schemeClr val="tx1"/>
                </a:solidFill>
              </a:rPr>
              <a:t>Gradient Descent </a:t>
            </a:r>
            <a:r>
              <a:rPr lang="en-US" sz="1800" dirty="0">
                <a:solidFill>
                  <a:schemeClr val="tx1"/>
                </a:solidFill>
              </a:rPr>
              <a:t>can optimize all of the followings (Linear Regression, Squiggle, and Clustering).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…and many more of the optimization problems in statistics, Data Science, and Machine Learning.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https://www.youtube.com/watch?v=sDv4f4s2SB8&amp;list=PLblh5JKOoLUICTaGLRoHQDuF_7q2GfuJF&amp;index=50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4D20816-DE46-4297-8124-D1E125A03297}"/>
              </a:ext>
            </a:extLst>
          </p:cNvPr>
          <p:cNvSpPr/>
          <p:nvPr/>
        </p:nvSpPr>
        <p:spPr>
          <a:xfrm>
            <a:off x="8196832" y="3387196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5CB2E46-F54D-4181-BBA6-19B2E41D5721}"/>
              </a:ext>
            </a:extLst>
          </p:cNvPr>
          <p:cNvSpPr/>
          <p:nvPr/>
        </p:nvSpPr>
        <p:spPr>
          <a:xfrm>
            <a:off x="6606430" y="3922152"/>
            <a:ext cx="216024" cy="216002"/>
          </a:xfrm>
          <a:prstGeom prst="ellipse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2EAA3B-BC86-4F0C-ADAB-E7A46CD228E4}"/>
              </a:ext>
            </a:extLst>
          </p:cNvPr>
          <p:cNvSpPr/>
          <p:nvPr/>
        </p:nvSpPr>
        <p:spPr>
          <a:xfrm>
            <a:off x="6732379" y="4268844"/>
            <a:ext cx="216024" cy="216002"/>
          </a:xfrm>
          <a:prstGeom prst="ellipse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F6224DF-757C-42BA-94FD-AB4FCFB5B0C6}"/>
              </a:ext>
            </a:extLst>
          </p:cNvPr>
          <p:cNvSpPr/>
          <p:nvPr/>
        </p:nvSpPr>
        <p:spPr>
          <a:xfrm>
            <a:off x="7189561" y="4109238"/>
            <a:ext cx="216024" cy="216002"/>
          </a:xfrm>
          <a:prstGeom prst="ellipse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8495489-7B6A-4135-817D-15CC76548279}"/>
              </a:ext>
            </a:extLst>
          </p:cNvPr>
          <p:cNvSpPr/>
          <p:nvPr/>
        </p:nvSpPr>
        <p:spPr>
          <a:xfrm>
            <a:off x="6895074" y="3608631"/>
            <a:ext cx="216024" cy="216002"/>
          </a:xfrm>
          <a:prstGeom prst="ellipse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963FB86-37B1-438E-8B64-3D16ADC96E0E}"/>
              </a:ext>
            </a:extLst>
          </p:cNvPr>
          <p:cNvSpPr/>
          <p:nvPr/>
        </p:nvSpPr>
        <p:spPr>
          <a:xfrm>
            <a:off x="7293536" y="2922853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0ED9E9C-9946-4F6A-9C4E-CF1CD228CA27}"/>
              </a:ext>
            </a:extLst>
          </p:cNvPr>
          <p:cNvSpPr/>
          <p:nvPr/>
        </p:nvSpPr>
        <p:spPr>
          <a:xfrm>
            <a:off x="7640421" y="3302180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9D6F551-1C84-444C-89E9-543A22E3E7A1}"/>
              </a:ext>
            </a:extLst>
          </p:cNvPr>
          <p:cNvSpPr/>
          <p:nvPr/>
        </p:nvSpPr>
        <p:spPr>
          <a:xfrm>
            <a:off x="8057546" y="2780488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53EACF8-0E83-45F1-9C89-1FB0581ED47C}"/>
              </a:ext>
            </a:extLst>
          </p:cNvPr>
          <p:cNvSpPr/>
          <p:nvPr/>
        </p:nvSpPr>
        <p:spPr>
          <a:xfrm>
            <a:off x="7228787" y="4875157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8B5151B-01D2-4E3F-92D4-1C6C3DAAE4EF}"/>
              </a:ext>
            </a:extLst>
          </p:cNvPr>
          <p:cNvSpPr/>
          <p:nvPr/>
        </p:nvSpPr>
        <p:spPr>
          <a:xfrm>
            <a:off x="7354736" y="5221849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7897CCE-94C0-4CBC-8B2F-2CE567406272}"/>
              </a:ext>
            </a:extLst>
          </p:cNvPr>
          <p:cNvSpPr/>
          <p:nvPr/>
        </p:nvSpPr>
        <p:spPr>
          <a:xfrm>
            <a:off x="7811918" y="5062243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6690F48-81BF-4995-A471-D8C10FA26DAC}"/>
              </a:ext>
            </a:extLst>
          </p:cNvPr>
          <p:cNvSpPr/>
          <p:nvPr/>
        </p:nvSpPr>
        <p:spPr>
          <a:xfrm>
            <a:off x="7517431" y="4561636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1EEA9B7-3AB5-4180-9068-57078BF49330}"/>
              </a:ext>
            </a:extLst>
          </p:cNvPr>
          <p:cNvCxnSpPr>
            <a:cxnSpLocks/>
          </p:cNvCxnSpPr>
          <p:nvPr/>
        </p:nvCxnSpPr>
        <p:spPr>
          <a:xfrm>
            <a:off x="651166" y="5877548"/>
            <a:ext cx="2207449" cy="305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35D6C53-0791-4DFB-89BA-DC4D197011ED}"/>
              </a:ext>
            </a:extLst>
          </p:cNvPr>
          <p:cNvCxnSpPr>
            <a:cxnSpLocks/>
          </p:cNvCxnSpPr>
          <p:nvPr/>
        </p:nvCxnSpPr>
        <p:spPr>
          <a:xfrm flipV="1">
            <a:off x="662921" y="3886393"/>
            <a:ext cx="0" cy="20215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F6464B3-4ED2-46CC-BEB1-140A84ACCE41}"/>
              </a:ext>
            </a:extLst>
          </p:cNvPr>
          <p:cNvCxnSpPr/>
          <p:nvPr/>
        </p:nvCxnSpPr>
        <p:spPr>
          <a:xfrm>
            <a:off x="1371246" y="580491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AB0526E-8484-4115-B992-01493663461F}"/>
              </a:ext>
            </a:extLst>
          </p:cNvPr>
          <p:cNvCxnSpPr/>
          <p:nvPr/>
        </p:nvCxnSpPr>
        <p:spPr>
          <a:xfrm>
            <a:off x="2235342" y="5846027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00ECEF6-3838-4300-AE67-D7C4E08D3193}"/>
              </a:ext>
            </a:extLst>
          </p:cNvPr>
          <p:cNvCxnSpPr>
            <a:cxnSpLocks/>
          </p:cNvCxnSpPr>
          <p:nvPr/>
        </p:nvCxnSpPr>
        <p:spPr>
          <a:xfrm>
            <a:off x="453634" y="414935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4587595-7C65-4E1D-85CF-0DDE2AA0141C}"/>
              </a:ext>
            </a:extLst>
          </p:cNvPr>
          <p:cNvCxnSpPr>
            <a:cxnSpLocks/>
          </p:cNvCxnSpPr>
          <p:nvPr/>
        </p:nvCxnSpPr>
        <p:spPr>
          <a:xfrm>
            <a:off x="453634" y="522947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357B7DE-D18A-4A86-B91E-9410081B9539}"/>
              </a:ext>
            </a:extLst>
          </p:cNvPr>
          <p:cNvCxnSpPr>
            <a:cxnSpLocks/>
          </p:cNvCxnSpPr>
          <p:nvPr/>
        </p:nvCxnSpPr>
        <p:spPr>
          <a:xfrm>
            <a:off x="453634" y="4653412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FF16412-91CF-4778-B77C-F35ED5A9491D}"/>
              </a:ext>
            </a:extLst>
          </p:cNvPr>
          <p:cNvCxnSpPr>
            <a:cxnSpLocks/>
          </p:cNvCxnSpPr>
          <p:nvPr/>
        </p:nvCxnSpPr>
        <p:spPr>
          <a:xfrm flipH="1">
            <a:off x="453634" y="3874196"/>
            <a:ext cx="2069088" cy="17650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E4656754-50DE-4455-AC7E-CC1844840F0F}"/>
              </a:ext>
            </a:extLst>
          </p:cNvPr>
          <p:cNvSpPr/>
          <p:nvPr/>
        </p:nvSpPr>
        <p:spPr>
          <a:xfrm>
            <a:off x="1836591" y="384705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ADECCBB-54A1-4DF7-AD14-5B0CC120CFC8}"/>
              </a:ext>
            </a:extLst>
          </p:cNvPr>
          <p:cNvSpPr/>
          <p:nvPr/>
        </p:nvSpPr>
        <p:spPr>
          <a:xfrm>
            <a:off x="2108030" y="4519347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6BDB478-AF1A-4748-9DC5-8E1BAD81092F}"/>
              </a:ext>
            </a:extLst>
          </p:cNvPr>
          <p:cNvSpPr/>
          <p:nvPr/>
        </p:nvSpPr>
        <p:spPr>
          <a:xfrm>
            <a:off x="1100725" y="4627348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98B741E-C5BE-4F0A-B50F-FE0CEA18378F}"/>
              </a:ext>
            </a:extLst>
          </p:cNvPr>
          <p:cNvCxnSpPr>
            <a:cxnSpLocks/>
          </p:cNvCxnSpPr>
          <p:nvPr/>
        </p:nvCxnSpPr>
        <p:spPr>
          <a:xfrm>
            <a:off x="3422898" y="5939503"/>
            <a:ext cx="248888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EF1385D-7227-4489-813B-8A4E7E9D6C0C}"/>
              </a:ext>
            </a:extLst>
          </p:cNvPr>
          <p:cNvCxnSpPr>
            <a:cxnSpLocks/>
          </p:cNvCxnSpPr>
          <p:nvPr/>
        </p:nvCxnSpPr>
        <p:spPr>
          <a:xfrm flipV="1">
            <a:off x="3422898" y="3818882"/>
            <a:ext cx="0" cy="21206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C50667C-8277-4EB2-8617-78448AADCE39}"/>
              </a:ext>
            </a:extLst>
          </p:cNvPr>
          <p:cNvCxnSpPr/>
          <p:nvPr/>
        </p:nvCxnSpPr>
        <p:spPr>
          <a:xfrm>
            <a:off x="4142978" y="586687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1B225D3-5A73-4C7E-9297-554EC378CEC0}"/>
              </a:ext>
            </a:extLst>
          </p:cNvPr>
          <p:cNvCxnSpPr>
            <a:cxnSpLocks/>
          </p:cNvCxnSpPr>
          <p:nvPr/>
        </p:nvCxnSpPr>
        <p:spPr>
          <a:xfrm>
            <a:off x="3225366" y="412309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8EE08CF-94F3-4934-ABA6-67C52DC0E0A7}"/>
              </a:ext>
            </a:extLst>
          </p:cNvPr>
          <p:cNvCxnSpPr/>
          <p:nvPr/>
        </p:nvCxnSpPr>
        <p:spPr>
          <a:xfrm>
            <a:off x="5007074" y="590798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6E8DA16-0548-4530-9DE4-86929721C7F2}"/>
              </a:ext>
            </a:extLst>
          </p:cNvPr>
          <p:cNvCxnSpPr>
            <a:cxnSpLocks/>
          </p:cNvCxnSpPr>
          <p:nvPr/>
        </p:nvCxnSpPr>
        <p:spPr>
          <a:xfrm>
            <a:off x="3225366" y="5291431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C50F57BA-FFA0-4187-B155-57468719619F}"/>
              </a:ext>
            </a:extLst>
          </p:cNvPr>
          <p:cNvSpPr/>
          <p:nvPr/>
        </p:nvSpPr>
        <p:spPr>
          <a:xfrm>
            <a:off x="5120660" y="3977037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61E96F2-31C6-40F8-8F86-E29456297950}"/>
              </a:ext>
            </a:extLst>
          </p:cNvPr>
          <p:cNvSpPr/>
          <p:nvPr/>
        </p:nvSpPr>
        <p:spPr>
          <a:xfrm>
            <a:off x="4079643" y="523639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70C2348-32E9-42EC-A9F7-DCE08D1DDA6B}"/>
              </a:ext>
            </a:extLst>
          </p:cNvPr>
          <p:cNvSpPr/>
          <p:nvPr/>
        </p:nvSpPr>
        <p:spPr>
          <a:xfrm>
            <a:off x="3643259" y="523639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8F0165CA-F544-4823-8C9C-4CCF709DBBDF}"/>
              </a:ext>
            </a:extLst>
          </p:cNvPr>
          <p:cNvSpPr/>
          <p:nvPr/>
        </p:nvSpPr>
        <p:spPr>
          <a:xfrm>
            <a:off x="4516027" y="524507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DB55AD4-8C8F-4809-9457-5D9281722D55}"/>
              </a:ext>
            </a:extLst>
          </p:cNvPr>
          <p:cNvSpPr/>
          <p:nvPr/>
        </p:nvSpPr>
        <p:spPr>
          <a:xfrm>
            <a:off x="4972511" y="5220020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34C54E0-1B74-4DCB-8E87-85E99E97C018}"/>
              </a:ext>
            </a:extLst>
          </p:cNvPr>
          <p:cNvSpPr/>
          <p:nvPr/>
        </p:nvSpPr>
        <p:spPr>
          <a:xfrm>
            <a:off x="4657706" y="393981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25886D4-629E-4AD0-98A7-33464078DF5C}"/>
              </a:ext>
            </a:extLst>
          </p:cNvPr>
          <p:cNvSpPr/>
          <p:nvPr/>
        </p:nvSpPr>
        <p:spPr>
          <a:xfrm>
            <a:off x="5415664" y="3977037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4AC6B88-B4A2-458E-835C-F557FE62CFC5}"/>
              </a:ext>
            </a:extLst>
          </p:cNvPr>
          <p:cNvSpPr/>
          <p:nvPr/>
        </p:nvSpPr>
        <p:spPr>
          <a:xfrm>
            <a:off x="5695759" y="3993837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Arc 74">
            <a:extLst>
              <a:ext uri="{FF2B5EF4-FFF2-40B4-BE49-F238E27FC236}">
                <a16:creationId xmlns:a16="http://schemas.microsoft.com/office/drawing/2014/main" id="{DF3421E5-3B41-4F7A-96B3-02C98F87C9B7}"/>
              </a:ext>
            </a:extLst>
          </p:cNvPr>
          <p:cNvSpPr/>
          <p:nvPr/>
        </p:nvSpPr>
        <p:spPr>
          <a:xfrm>
            <a:off x="3422898" y="5245712"/>
            <a:ext cx="45719" cy="4571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4D11B2A8-E58D-4F96-9432-1AB80984E372}"/>
              </a:ext>
            </a:extLst>
          </p:cNvPr>
          <p:cNvSpPr/>
          <p:nvPr/>
        </p:nvSpPr>
        <p:spPr>
          <a:xfrm>
            <a:off x="3422897" y="4138154"/>
            <a:ext cx="2532932" cy="1225236"/>
          </a:xfrm>
          <a:custGeom>
            <a:avLst/>
            <a:gdLst>
              <a:gd name="connsiteX0" fmla="*/ 0 w 3831220"/>
              <a:gd name="connsiteY0" fmla="*/ 1732441 h 1780911"/>
              <a:gd name="connsiteX1" fmla="*/ 1620456 w 3831220"/>
              <a:gd name="connsiteY1" fmla="*/ 1686142 h 1780911"/>
              <a:gd name="connsiteX2" fmla="*/ 2048719 w 3831220"/>
              <a:gd name="connsiteY2" fmla="*/ 875914 h 1780911"/>
              <a:gd name="connsiteX3" fmla="*/ 2314937 w 3831220"/>
              <a:gd name="connsiteY3" fmla="*/ 111985 h 1780911"/>
              <a:gd name="connsiteX4" fmla="*/ 3831220 w 3831220"/>
              <a:gd name="connsiteY4" fmla="*/ 19388 h 178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1220" h="1780911">
                <a:moveTo>
                  <a:pt x="0" y="1732441"/>
                </a:moveTo>
                <a:cubicBezTo>
                  <a:pt x="639501" y="1780669"/>
                  <a:pt x="1279003" y="1828897"/>
                  <a:pt x="1620456" y="1686142"/>
                </a:cubicBezTo>
                <a:cubicBezTo>
                  <a:pt x="1961909" y="1543387"/>
                  <a:pt x="1932972" y="1138273"/>
                  <a:pt x="2048719" y="875914"/>
                </a:cubicBezTo>
                <a:cubicBezTo>
                  <a:pt x="2164466" y="613554"/>
                  <a:pt x="2017854" y="254739"/>
                  <a:pt x="2314937" y="111985"/>
                </a:cubicBezTo>
                <a:cubicBezTo>
                  <a:pt x="2612020" y="-30769"/>
                  <a:pt x="3221620" y="-5691"/>
                  <a:pt x="3831220" y="19388"/>
                </a:cubicBezTo>
              </a:path>
            </a:pathLst>
          </a:cu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03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47.1 Simple Dataset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021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47.1 Simple Dataset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8352928" cy="100811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Start with Simple Data set.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have slope 0.64 from least square.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Predicted Height = intercept + 0.64 x Weight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https://www.youtube.com/watch?v=sDv4f4s2SB8&amp;list=PLblh5JKOoLUICTaGLRoHQDuF_7q2GfuJF&amp;index=50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A62D1B-B7C2-4152-B986-1B4F41FF64C3}"/>
              </a:ext>
            </a:extLst>
          </p:cNvPr>
          <p:cNvCxnSpPr>
            <a:cxnSpLocks/>
          </p:cNvCxnSpPr>
          <p:nvPr/>
        </p:nvCxnSpPr>
        <p:spPr>
          <a:xfrm>
            <a:off x="2339752" y="5445224"/>
            <a:ext cx="39604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FE84D1-3A77-4730-80C9-BD13BEC5BABA}"/>
              </a:ext>
            </a:extLst>
          </p:cNvPr>
          <p:cNvCxnSpPr/>
          <p:nvPr/>
        </p:nvCxnSpPr>
        <p:spPr>
          <a:xfrm flipV="1">
            <a:off x="2339752" y="2780928"/>
            <a:ext cx="0" cy="26642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6BADAD-16A4-45A0-A6F1-1ABB6E2D5DA1}"/>
              </a:ext>
            </a:extLst>
          </p:cNvPr>
          <p:cNvCxnSpPr/>
          <p:nvPr/>
        </p:nvCxnSpPr>
        <p:spPr>
          <a:xfrm>
            <a:off x="3059832" y="537259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64BA3A-CA68-49DB-A0E0-9496FB72B925}"/>
              </a:ext>
            </a:extLst>
          </p:cNvPr>
          <p:cNvCxnSpPr>
            <a:cxnSpLocks/>
          </p:cNvCxnSpPr>
          <p:nvPr/>
        </p:nvCxnSpPr>
        <p:spPr>
          <a:xfrm>
            <a:off x="2142220" y="321297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B39E34-7B37-4A6F-B244-50175F6E83F4}"/>
              </a:ext>
            </a:extLst>
          </p:cNvPr>
          <p:cNvCxnSpPr/>
          <p:nvPr/>
        </p:nvCxnSpPr>
        <p:spPr>
          <a:xfrm>
            <a:off x="4716016" y="537259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F9D219-BA1D-4949-A6CE-BF5323D00C53}"/>
              </a:ext>
            </a:extLst>
          </p:cNvPr>
          <p:cNvCxnSpPr/>
          <p:nvPr/>
        </p:nvCxnSpPr>
        <p:spPr>
          <a:xfrm>
            <a:off x="5580112" y="537259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7041A7-765E-4CA2-BCE7-4D6DC871110B}"/>
              </a:ext>
            </a:extLst>
          </p:cNvPr>
          <p:cNvCxnSpPr/>
          <p:nvPr/>
        </p:nvCxnSpPr>
        <p:spPr>
          <a:xfrm>
            <a:off x="3923928" y="541370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951A84-C84F-452A-B6B2-708EA622C790}"/>
              </a:ext>
            </a:extLst>
          </p:cNvPr>
          <p:cNvCxnSpPr>
            <a:cxnSpLocks/>
          </p:cNvCxnSpPr>
          <p:nvPr/>
        </p:nvCxnSpPr>
        <p:spPr>
          <a:xfrm>
            <a:off x="2142220" y="3717032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C7695DD-6E3F-4598-A073-E86C5DBBAEE5}"/>
              </a:ext>
            </a:extLst>
          </p:cNvPr>
          <p:cNvCxnSpPr>
            <a:cxnSpLocks/>
          </p:cNvCxnSpPr>
          <p:nvPr/>
        </p:nvCxnSpPr>
        <p:spPr>
          <a:xfrm>
            <a:off x="2142220" y="4797152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B7DB390-A324-4864-B0C8-A76694B7EBF8}"/>
              </a:ext>
            </a:extLst>
          </p:cNvPr>
          <p:cNvCxnSpPr>
            <a:cxnSpLocks/>
          </p:cNvCxnSpPr>
          <p:nvPr/>
        </p:nvCxnSpPr>
        <p:spPr>
          <a:xfrm>
            <a:off x="2142220" y="422108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230B0A-0639-400A-B3A6-AE6D54207BD7}"/>
              </a:ext>
            </a:extLst>
          </p:cNvPr>
          <p:cNvCxnSpPr/>
          <p:nvPr/>
        </p:nvCxnSpPr>
        <p:spPr>
          <a:xfrm flipH="1">
            <a:off x="2142220" y="2780928"/>
            <a:ext cx="3077852" cy="23762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F7DEEF6-7E15-48EB-86DC-63D49C341ECE}"/>
              </a:ext>
            </a:extLst>
          </p:cNvPr>
          <p:cNvSpPr/>
          <p:nvPr/>
        </p:nvSpPr>
        <p:spPr>
          <a:xfrm>
            <a:off x="3923928" y="2996952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0831C15-B79D-4B97-A5DD-725B2A68BA3B}"/>
              </a:ext>
            </a:extLst>
          </p:cNvPr>
          <p:cNvSpPr/>
          <p:nvPr/>
        </p:nvSpPr>
        <p:spPr>
          <a:xfrm>
            <a:off x="3796616" y="408702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C38BA0-8DD9-4E9C-8780-C4A4320A97BB}"/>
              </a:ext>
            </a:extLst>
          </p:cNvPr>
          <p:cNvSpPr/>
          <p:nvPr/>
        </p:nvSpPr>
        <p:spPr>
          <a:xfrm>
            <a:off x="2789311" y="4195024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9AD06D-0461-459E-B54D-E35510AFD281}"/>
              </a:ext>
            </a:extLst>
          </p:cNvPr>
          <p:cNvSpPr txBox="1"/>
          <p:nvPr/>
        </p:nvSpPr>
        <p:spPr>
          <a:xfrm>
            <a:off x="5940156" y="5660624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85BE5A-4531-4DC4-BB65-B2329FEA48EB}"/>
              </a:ext>
            </a:extLst>
          </p:cNvPr>
          <p:cNvSpPr txBox="1"/>
          <p:nvPr/>
        </p:nvSpPr>
        <p:spPr>
          <a:xfrm>
            <a:off x="1043608" y="3523074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25E5DCF-CF62-44B1-8A10-8D07710F3326}"/>
              </a:ext>
            </a:extLst>
          </p:cNvPr>
          <p:cNvSpPr/>
          <p:nvPr/>
        </p:nvSpPr>
        <p:spPr>
          <a:xfrm>
            <a:off x="3419872" y="5337223"/>
            <a:ext cx="216024" cy="21600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DAF4C6B-89D9-4798-BF9F-7459CC34F2F4}"/>
              </a:ext>
            </a:extLst>
          </p:cNvPr>
          <p:cNvSpPr/>
          <p:nvPr/>
        </p:nvSpPr>
        <p:spPr>
          <a:xfrm>
            <a:off x="3396257" y="4040767"/>
            <a:ext cx="216024" cy="21600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D0D784-E0D9-4FEE-A95E-2CAE47AFD3D0}"/>
              </a:ext>
            </a:extLst>
          </p:cNvPr>
          <p:cNvCxnSpPr>
            <a:stCxn id="25" idx="0"/>
            <a:endCxn id="26" idx="4"/>
          </p:cNvCxnSpPr>
          <p:nvPr/>
        </p:nvCxnSpPr>
        <p:spPr>
          <a:xfrm flipH="1" flipV="1">
            <a:off x="3504269" y="4256769"/>
            <a:ext cx="23615" cy="1080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092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47.1 Simple Dataset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352928" cy="192029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Predicted Height = intercept + 0.64 x Weight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move the line to find the Gradient Descent to find the optimal value for the intercept.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can pick a initial random value for the intercept. We can start with intercept = 0.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Predicted Height = </a:t>
            </a:r>
            <a:r>
              <a:rPr lang="en-US" sz="1800" b="1" dirty="0">
                <a:solidFill>
                  <a:srgbClr val="FF0000"/>
                </a:solidFill>
              </a:rPr>
              <a:t>0</a:t>
            </a:r>
            <a:r>
              <a:rPr lang="en-US" sz="1800" b="1" dirty="0">
                <a:solidFill>
                  <a:schemeClr val="tx1"/>
                </a:solidFill>
              </a:rPr>
              <a:t> + 0.64 x Weight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https://www.youtube.com/watch?v=sDv4f4s2SB8&amp;list=PLblh5JKOoLUICTaGLRoHQDuF_7q2GfuJF&amp;index=50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8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A62D1B-B7C2-4152-B986-1B4F41FF64C3}"/>
              </a:ext>
            </a:extLst>
          </p:cNvPr>
          <p:cNvCxnSpPr>
            <a:cxnSpLocks/>
          </p:cNvCxnSpPr>
          <p:nvPr/>
        </p:nvCxnSpPr>
        <p:spPr>
          <a:xfrm>
            <a:off x="2493822" y="6114060"/>
            <a:ext cx="39604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FE84D1-3A77-4730-80C9-BD13BEC5BABA}"/>
              </a:ext>
            </a:extLst>
          </p:cNvPr>
          <p:cNvCxnSpPr/>
          <p:nvPr/>
        </p:nvCxnSpPr>
        <p:spPr>
          <a:xfrm flipV="1">
            <a:off x="2493822" y="3449764"/>
            <a:ext cx="0" cy="26642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6BADAD-16A4-45A0-A6F1-1ABB6E2D5DA1}"/>
              </a:ext>
            </a:extLst>
          </p:cNvPr>
          <p:cNvCxnSpPr/>
          <p:nvPr/>
        </p:nvCxnSpPr>
        <p:spPr>
          <a:xfrm>
            <a:off x="3213902" y="6041428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64BA3A-CA68-49DB-A0E0-9496FB72B925}"/>
              </a:ext>
            </a:extLst>
          </p:cNvPr>
          <p:cNvCxnSpPr>
            <a:cxnSpLocks/>
          </p:cNvCxnSpPr>
          <p:nvPr/>
        </p:nvCxnSpPr>
        <p:spPr>
          <a:xfrm>
            <a:off x="2296290" y="3881812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B39E34-7B37-4A6F-B244-50175F6E83F4}"/>
              </a:ext>
            </a:extLst>
          </p:cNvPr>
          <p:cNvCxnSpPr/>
          <p:nvPr/>
        </p:nvCxnSpPr>
        <p:spPr>
          <a:xfrm>
            <a:off x="4870086" y="6041428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F9D219-BA1D-4949-A6CE-BF5323D00C53}"/>
              </a:ext>
            </a:extLst>
          </p:cNvPr>
          <p:cNvCxnSpPr/>
          <p:nvPr/>
        </p:nvCxnSpPr>
        <p:spPr>
          <a:xfrm>
            <a:off x="5734182" y="6041428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7041A7-765E-4CA2-BCE7-4D6DC871110B}"/>
              </a:ext>
            </a:extLst>
          </p:cNvPr>
          <p:cNvCxnSpPr/>
          <p:nvPr/>
        </p:nvCxnSpPr>
        <p:spPr>
          <a:xfrm>
            <a:off x="4077998" y="608253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951A84-C84F-452A-B6B2-708EA622C790}"/>
              </a:ext>
            </a:extLst>
          </p:cNvPr>
          <p:cNvCxnSpPr>
            <a:cxnSpLocks/>
          </p:cNvCxnSpPr>
          <p:nvPr/>
        </p:nvCxnSpPr>
        <p:spPr>
          <a:xfrm>
            <a:off x="2296290" y="438586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C7695DD-6E3F-4598-A073-E86C5DBBAEE5}"/>
              </a:ext>
            </a:extLst>
          </p:cNvPr>
          <p:cNvCxnSpPr>
            <a:cxnSpLocks/>
          </p:cNvCxnSpPr>
          <p:nvPr/>
        </p:nvCxnSpPr>
        <p:spPr>
          <a:xfrm>
            <a:off x="2296290" y="546598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B7DB390-A324-4864-B0C8-A76694B7EBF8}"/>
              </a:ext>
            </a:extLst>
          </p:cNvPr>
          <p:cNvCxnSpPr>
            <a:cxnSpLocks/>
          </p:cNvCxnSpPr>
          <p:nvPr/>
        </p:nvCxnSpPr>
        <p:spPr>
          <a:xfrm>
            <a:off x="2296290" y="4889924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230B0A-0639-400A-B3A6-AE6D54207BD7}"/>
              </a:ext>
            </a:extLst>
          </p:cNvPr>
          <p:cNvCxnSpPr/>
          <p:nvPr/>
        </p:nvCxnSpPr>
        <p:spPr>
          <a:xfrm flipH="1">
            <a:off x="2296290" y="3449764"/>
            <a:ext cx="3077852" cy="23762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F7DEEF6-7E15-48EB-86DC-63D49C341ECE}"/>
              </a:ext>
            </a:extLst>
          </p:cNvPr>
          <p:cNvSpPr/>
          <p:nvPr/>
        </p:nvSpPr>
        <p:spPr>
          <a:xfrm>
            <a:off x="4077998" y="3665788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0831C15-B79D-4B97-A5DD-725B2A68BA3B}"/>
              </a:ext>
            </a:extLst>
          </p:cNvPr>
          <p:cNvSpPr/>
          <p:nvPr/>
        </p:nvSpPr>
        <p:spPr>
          <a:xfrm>
            <a:off x="3950686" y="4755859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C38BA0-8DD9-4E9C-8780-C4A4320A97BB}"/>
              </a:ext>
            </a:extLst>
          </p:cNvPr>
          <p:cNvSpPr/>
          <p:nvPr/>
        </p:nvSpPr>
        <p:spPr>
          <a:xfrm>
            <a:off x="2943381" y="4863860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9AD06D-0461-459E-B54D-E35510AFD281}"/>
              </a:ext>
            </a:extLst>
          </p:cNvPr>
          <p:cNvSpPr txBox="1"/>
          <p:nvPr/>
        </p:nvSpPr>
        <p:spPr>
          <a:xfrm>
            <a:off x="4847163" y="6248160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85BE5A-4531-4DC4-BB65-B2329FEA48EB}"/>
              </a:ext>
            </a:extLst>
          </p:cNvPr>
          <p:cNvSpPr txBox="1"/>
          <p:nvPr/>
        </p:nvSpPr>
        <p:spPr>
          <a:xfrm>
            <a:off x="1197678" y="4191910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F78BBF9-7833-4B8B-AAAA-9401CE38A4E6}"/>
              </a:ext>
            </a:extLst>
          </p:cNvPr>
          <p:cNvCxnSpPr/>
          <p:nvPr/>
        </p:nvCxnSpPr>
        <p:spPr>
          <a:xfrm flipH="1">
            <a:off x="2411760" y="3785666"/>
            <a:ext cx="3077852" cy="23762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CC706F4-F25E-4DD8-B340-0F59BC89ADA4}"/>
              </a:ext>
            </a:extLst>
          </p:cNvPr>
          <p:cNvCxnSpPr>
            <a:cxnSpLocks/>
          </p:cNvCxnSpPr>
          <p:nvPr/>
        </p:nvCxnSpPr>
        <p:spPr>
          <a:xfrm flipH="1">
            <a:off x="2195220" y="3308929"/>
            <a:ext cx="2682788" cy="20445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064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47.2 Sum of Square residual Curve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59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47.2 Sum of Square residual Curve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352928" cy="101677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We assume intercept = 0 and calculate the Sum of the Square Residuals.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Note: In Machine Learning lingo, the </a:t>
            </a:r>
            <a:r>
              <a:rPr lang="en-US" sz="1600" b="1" dirty="0">
                <a:solidFill>
                  <a:schemeClr val="tx1"/>
                </a:solidFill>
              </a:rPr>
              <a:t>sum of the Squared Residuals </a:t>
            </a:r>
            <a:r>
              <a:rPr lang="en-US" sz="1600" dirty="0">
                <a:solidFill>
                  <a:schemeClr val="tx1"/>
                </a:solidFill>
              </a:rPr>
              <a:t>is a type of </a:t>
            </a:r>
            <a:r>
              <a:rPr lang="en-US" sz="1600" b="1" dirty="0">
                <a:solidFill>
                  <a:srgbClr val="C00000"/>
                </a:solidFill>
              </a:rPr>
              <a:t>Loss Function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Sum of the Squared Residuals = 1.1</a:t>
            </a:r>
            <a:r>
              <a:rPr lang="en-US" sz="1600" baseline="30000" dirty="0">
                <a:solidFill>
                  <a:schemeClr val="tx1"/>
                </a:solidFill>
              </a:rPr>
              <a:t>2</a:t>
            </a:r>
            <a:r>
              <a:rPr lang="en-US" sz="1600" dirty="0">
                <a:solidFill>
                  <a:schemeClr val="tx1"/>
                </a:solidFill>
              </a:rPr>
              <a:t> + 0.4</a:t>
            </a:r>
            <a:r>
              <a:rPr lang="en-US" sz="1600" baseline="30000" dirty="0">
                <a:solidFill>
                  <a:schemeClr val="tx1"/>
                </a:solidFill>
              </a:rPr>
              <a:t>2 </a:t>
            </a:r>
            <a:r>
              <a:rPr lang="en-US" sz="1600" dirty="0">
                <a:solidFill>
                  <a:schemeClr val="tx1"/>
                </a:solidFill>
              </a:rPr>
              <a:t>+ 1.3</a:t>
            </a:r>
            <a:r>
              <a:rPr lang="en-US" sz="1600" baseline="30000" dirty="0">
                <a:solidFill>
                  <a:schemeClr val="tx1"/>
                </a:solidFill>
              </a:rPr>
              <a:t>2</a:t>
            </a:r>
            <a:r>
              <a:rPr lang="en-US" sz="1600" dirty="0">
                <a:solidFill>
                  <a:schemeClr val="tx1"/>
                </a:solidFill>
              </a:rPr>
              <a:t> = 3.1 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https://www.youtube.com/watch?v=sDv4f4s2SB8&amp;list=PLblh5JKOoLUICTaGLRoHQDuF_7q2GfuJF&amp;index=50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10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A62D1B-B7C2-4152-B986-1B4F41FF64C3}"/>
              </a:ext>
            </a:extLst>
          </p:cNvPr>
          <p:cNvCxnSpPr>
            <a:cxnSpLocks/>
          </p:cNvCxnSpPr>
          <p:nvPr/>
        </p:nvCxnSpPr>
        <p:spPr>
          <a:xfrm>
            <a:off x="1293352" y="5935103"/>
            <a:ext cx="2956079" cy="713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FE84D1-3A77-4730-80C9-BD13BEC5BABA}"/>
              </a:ext>
            </a:extLst>
          </p:cNvPr>
          <p:cNvCxnSpPr>
            <a:cxnSpLocks/>
          </p:cNvCxnSpPr>
          <p:nvPr/>
        </p:nvCxnSpPr>
        <p:spPr>
          <a:xfrm flipV="1">
            <a:off x="1293352" y="2745987"/>
            <a:ext cx="0" cy="31891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6BADAD-16A4-45A0-A6F1-1ABB6E2D5DA1}"/>
              </a:ext>
            </a:extLst>
          </p:cNvPr>
          <p:cNvCxnSpPr/>
          <p:nvPr/>
        </p:nvCxnSpPr>
        <p:spPr>
          <a:xfrm>
            <a:off x="2013432" y="586247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64BA3A-CA68-49DB-A0E0-9496FB72B925}"/>
              </a:ext>
            </a:extLst>
          </p:cNvPr>
          <p:cNvCxnSpPr>
            <a:cxnSpLocks/>
          </p:cNvCxnSpPr>
          <p:nvPr/>
        </p:nvCxnSpPr>
        <p:spPr>
          <a:xfrm>
            <a:off x="1095820" y="3587550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B39E34-7B37-4A6F-B244-50175F6E83F4}"/>
              </a:ext>
            </a:extLst>
          </p:cNvPr>
          <p:cNvCxnSpPr/>
          <p:nvPr/>
        </p:nvCxnSpPr>
        <p:spPr>
          <a:xfrm>
            <a:off x="3669616" y="586247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7041A7-765E-4CA2-BCE7-4D6DC871110B}"/>
              </a:ext>
            </a:extLst>
          </p:cNvPr>
          <p:cNvCxnSpPr/>
          <p:nvPr/>
        </p:nvCxnSpPr>
        <p:spPr>
          <a:xfrm>
            <a:off x="2877528" y="590358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951A84-C84F-452A-B6B2-708EA622C790}"/>
              </a:ext>
            </a:extLst>
          </p:cNvPr>
          <p:cNvCxnSpPr>
            <a:cxnSpLocks/>
          </p:cNvCxnSpPr>
          <p:nvPr/>
        </p:nvCxnSpPr>
        <p:spPr>
          <a:xfrm>
            <a:off x="1093891" y="433504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C7695DD-6E3F-4598-A073-E86C5DBBAEE5}"/>
              </a:ext>
            </a:extLst>
          </p:cNvPr>
          <p:cNvCxnSpPr>
            <a:cxnSpLocks/>
          </p:cNvCxnSpPr>
          <p:nvPr/>
        </p:nvCxnSpPr>
        <p:spPr>
          <a:xfrm>
            <a:off x="1105466" y="505536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F7DEEF6-7E15-48EB-86DC-63D49C341ECE}"/>
              </a:ext>
            </a:extLst>
          </p:cNvPr>
          <p:cNvSpPr/>
          <p:nvPr/>
        </p:nvSpPr>
        <p:spPr>
          <a:xfrm>
            <a:off x="2877528" y="348683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0831C15-B79D-4B97-A5DD-725B2A68BA3B}"/>
              </a:ext>
            </a:extLst>
          </p:cNvPr>
          <p:cNvSpPr/>
          <p:nvPr/>
        </p:nvSpPr>
        <p:spPr>
          <a:xfrm>
            <a:off x="2399781" y="466237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C38BA0-8DD9-4E9C-8780-C4A4320A97BB}"/>
              </a:ext>
            </a:extLst>
          </p:cNvPr>
          <p:cNvSpPr/>
          <p:nvPr/>
        </p:nvSpPr>
        <p:spPr>
          <a:xfrm>
            <a:off x="1742911" y="468490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9AD06D-0461-459E-B54D-E35510AFD281}"/>
              </a:ext>
            </a:extLst>
          </p:cNvPr>
          <p:cNvSpPr txBox="1"/>
          <p:nvPr/>
        </p:nvSpPr>
        <p:spPr>
          <a:xfrm>
            <a:off x="3077402" y="6150503"/>
            <a:ext cx="1008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85BE5A-4531-4DC4-BB65-B2329FEA48EB}"/>
              </a:ext>
            </a:extLst>
          </p:cNvPr>
          <p:cNvSpPr txBox="1"/>
          <p:nvPr/>
        </p:nvSpPr>
        <p:spPr>
          <a:xfrm>
            <a:off x="391785" y="4038168"/>
            <a:ext cx="901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Height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F78BBF9-7833-4B8B-AAAA-9401CE38A4E6}"/>
              </a:ext>
            </a:extLst>
          </p:cNvPr>
          <p:cNvCxnSpPr>
            <a:cxnSpLocks/>
          </p:cNvCxnSpPr>
          <p:nvPr/>
        </p:nvCxnSpPr>
        <p:spPr>
          <a:xfrm flipH="1">
            <a:off x="1297103" y="4144961"/>
            <a:ext cx="2349590" cy="18261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71472BC-BB93-4398-A85A-EDA2C1C6A965}"/>
              </a:ext>
            </a:extLst>
          </p:cNvPr>
          <p:cNvCxnSpPr>
            <a:stCxn id="20" idx="4"/>
          </p:cNvCxnSpPr>
          <p:nvPr/>
        </p:nvCxnSpPr>
        <p:spPr>
          <a:xfrm>
            <a:off x="1850923" y="4900905"/>
            <a:ext cx="8439" cy="581386"/>
          </a:xfrm>
          <a:prstGeom prst="line">
            <a:avLst/>
          </a:prstGeom>
          <a:ln w="381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0953751-C285-4E47-AE47-1DC6F90C0421}"/>
              </a:ext>
            </a:extLst>
          </p:cNvPr>
          <p:cNvCxnSpPr>
            <a:cxnSpLocks/>
          </p:cNvCxnSpPr>
          <p:nvPr/>
        </p:nvCxnSpPr>
        <p:spPr>
          <a:xfrm>
            <a:off x="2984559" y="3713454"/>
            <a:ext cx="981" cy="971449"/>
          </a:xfrm>
          <a:prstGeom prst="line">
            <a:avLst/>
          </a:prstGeom>
          <a:ln w="381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C65CFD5-0B80-43C7-B156-45C14D2124DC}"/>
              </a:ext>
            </a:extLst>
          </p:cNvPr>
          <p:cNvCxnSpPr>
            <a:cxnSpLocks/>
          </p:cNvCxnSpPr>
          <p:nvPr/>
        </p:nvCxnSpPr>
        <p:spPr>
          <a:xfrm>
            <a:off x="2526309" y="4662375"/>
            <a:ext cx="0" cy="387868"/>
          </a:xfrm>
          <a:prstGeom prst="line">
            <a:avLst/>
          </a:prstGeom>
          <a:ln w="381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FD92355-2AD4-451F-B106-C2BA18DF67EB}"/>
              </a:ext>
            </a:extLst>
          </p:cNvPr>
          <p:cNvCxnSpPr>
            <a:cxnSpLocks/>
          </p:cNvCxnSpPr>
          <p:nvPr/>
        </p:nvCxnSpPr>
        <p:spPr>
          <a:xfrm>
            <a:off x="1033566" y="289000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2E1A021-B105-4505-BE65-3D80A46CE816}"/>
              </a:ext>
            </a:extLst>
          </p:cNvPr>
          <p:cNvCxnSpPr>
            <a:cxnSpLocks/>
          </p:cNvCxnSpPr>
          <p:nvPr/>
        </p:nvCxnSpPr>
        <p:spPr>
          <a:xfrm>
            <a:off x="5138768" y="5971096"/>
            <a:ext cx="2956079" cy="713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AFF44EF-4FC2-431F-BD2F-DEB6C6D02AAC}"/>
              </a:ext>
            </a:extLst>
          </p:cNvPr>
          <p:cNvCxnSpPr>
            <a:cxnSpLocks/>
          </p:cNvCxnSpPr>
          <p:nvPr/>
        </p:nvCxnSpPr>
        <p:spPr>
          <a:xfrm flipV="1">
            <a:off x="5138768" y="2781980"/>
            <a:ext cx="0" cy="31891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17AD352-BD74-4C18-8D4C-8A9CDBF5F279}"/>
              </a:ext>
            </a:extLst>
          </p:cNvPr>
          <p:cNvCxnSpPr>
            <a:cxnSpLocks/>
          </p:cNvCxnSpPr>
          <p:nvPr/>
        </p:nvCxnSpPr>
        <p:spPr>
          <a:xfrm>
            <a:off x="4941236" y="362354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F238D25-32E4-45EB-9CBF-8FE8CEF7C464}"/>
              </a:ext>
            </a:extLst>
          </p:cNvPr>
          <p:cNvCxnSpPr/>
          <p:nvPr/>
        </p:nvCxnSpPr>
        <p:spPr>
          <a:xfrm>
            <a:off x="7515032" y="589846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E3B0022-16DB-4CCC-AC57-692532E7D3EC}"/>
              </a:ext>
            </a:extLst>
          </p:cNvPr>
          <p:cNvCxnSpPr/>
          <p:nvPr/>
        </p:nvCxnSpPr>
        <p:spPr>
          <a:xfrm>
            <a:off x="6339114" y="5880327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C01A7DC-E52D-4E69-9767-B584DFAF80E0}"/>
              </a:ext>
            </a:extLst>
          </p:cNvPr>
          <p:cNvCxnSpPr>
            <a:cxnSpLocks/>
          </p:cNvCxnSpPr>
          <p:nvPr/>
        </p:nvCxnSpPr>
        <p:spPr>
          <a:xfrm>
            <a:off x="4939307" y="4371042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73C17CD-49C1-4E0B-B4D9-C41B997D3CC7}"/>
              </a:ext>
            </a:extLst>
          </p:cNvPr>
          <p:cNvCxnSpPr>
            <a:cxnSpLocks/>
          </p:cNvCxnSpPr>
          <p:nvPr/>
        </p:nvCxnSpPr>
        <p:spPr>
          <a:xfrm>
            <a:off x="4950882" y="509135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427BCBA3-33BE-4FB1-A65F-C6BD154BBB2E}"/>
              </a:ext>
            </a:extLst>
          </p:cNvPr>
          <p:cNvSpPr/>
          <p:nvPr/>
        </p:nvSpPr>
        <p:spPr>
          <a:xfrm>
            <a:off x="7174793" y="405524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08EA2F0-EA68-4644-B3DD-1D68E471152E}"/>
              </a:ext>
            </a:extLst>
          </p:cNvPr>
          <p:cNvSpPr/>
          <p:nvPr/>
        </p:nvSpPr>
        <p:spPr>
          <a:xfrm>
            <a:off x="5290258" y="3830088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F4CC17C-399C-4E6A-A0EF-C8DD96A149E1}"/>
              </a:ext>
            </a:extLst>
          </p:cNvPr>
          <p:cNvSpPr/>
          <p:nvPr/>
        </p:nvSpPr>
        <p:spPr>
          <a:xfrm>
            <a:off x="5028827" y="323931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1C8CA47-CFD3-4ED3-A074-456B66D097AD}"/>
              </a:ext>
            </a:extLst>
          </p:cNvPr>
          <p:cNvCxnSpPr>
            <a:cxnSpLocks/>
          </p:cNvCxnSpPr>
          <p:nvPr/>
        </p:nvCxnSpPr>
        <p:spPr>
          <a:xfrm>
            <a:off x="4878982" y="292599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7E49E36-04FD-45B1-BF40-F91021AA36DA}"/>
              </a:ext>
            </a:extLst>
          </p:cNvPr>
          <p:cNvSpPr txBox="1"/>
          <p:nvPr/>
        </p:nvSpPr>
        <p:spPr>
          <a:xfrm>
            <a:off x="3892492" y="3133167"/>
            <a:ext cx="1064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Sum of</a:t>
            </a:r>
          </a:p>
          <a:p>
            <a:r>
              <a:rPr lang="en-US" sz="1600" dirty="0"/>
              <a:t>Squared</a:t>
            </a:r>
          </a:p>
          <a:p>
            <a:r>
              <a:rPr lang="en-US" sz="1600" dirty="0"/>
              <a:t>Residuals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59E2F5-2255-4DAE-9150-40D2253176AA}"/>
              </a:ext>
            </a:extLst>
          </p:cNvPr>
          <p:cNvSpPr txBox="1"/>
          <p:nvPr/>
        </p:nvSpPr>
        <p:spPr>
          <a:xfrm>
            <a:off x="7652236" y="6047598"/>
            <a:ext cx="1123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Intercept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7CC7C9-2A8D-4362-82FD-4680393FF5C1}"/>
              </a:ext>
            </a:extLst>
          </p:cNvPr>
          <p:cNvSpPr txBox="1"/>
          <p:nvPr/>
        </p:nvSpPr>
        <p:spPr>
          <a:xfrm>
            <a:off x="4988362" y="6018513"/>
            <a:ext cx="416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AB445C5-DD25-494B-9539-02A0A96F4256}"/>
              </a:ext>
            </a:extLst>
          </p:cNvPr>
          <p:cNvSpPr txBox="1"/>
          <p:nvPr/>
        </p:nvSpPr>
        <p:spPr>
          <a:xfrm>
            <a:off x="6130683" y="6056325"/>
            <a:ext cx="416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5F3D08-EB46-4D67-BB39-FE8492864BC6}"/>
              </a:ext>
            </a:extLst>
          </p:cNvPr>
          <p:cNvSpPr txBox="1"/>
          <p:nvPr/>
        </p:nvSpPr>
        <p:spPr>
          <a:xfrm>
            <a:off x="7275701" y="6093198"/>
            <a:ext cx="416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0B24B5E-1A63-4F90-BC86-16F5C8CF8193}"/>
              </a:ext>
            </a:extLst>
          </p:cNvPr>
          <p:cNvCxnSpPr>
            <a:cxnSpLocks/>
          </p:cNvCxnSpPr>
          <p:nvPr/>
        </p:nvCxnSpPr>
        <p:spPr>
          <a:xfrm flipH="1">
            <a:off x="1291423" y="3861404"/>
            <a:ext cx="2349590" cy="18261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9926C4E-A59D-40CF-8417-2F78A7D2EE7C}"/>
              </a:ext>
            </a:extLst>
          </p:cNvPr>
          <p:cNvCxnSpPr>
            <a:cxnSpLocks/>
          </p:cNvCxnSpPr>
          <p:nvPr/>
        </p:nvCxnSpPr>
        <p:spPr>
          <a:xfrm flipH="1">
            <a:off x="1309121" y="3668961"/>
            <a:ext cx="2317976" cy="17434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48F57FF-E6B4-4F0C-A614-94D98C5CDA5E}"/>
              </a:ext>
            </a:extLst>
          </p:cNvPr>
          <p:cNvCxnSpPr>
            <a:cxnSpLocks/>
          </p:cNvCxnSpPr>
          <p:nvPr/>
        </p:nvCxnSpPr>
        <p:spPr>
          <a:xfrm flipH="1">
            <a:off x="1293352" y="3355578"/>
            <a:ext cx="2317976" cy="17434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3BC78E9B-F8E5-4501-8F7F-606180F8FF4B}"/>
              </a:ext>
            </a:extLst>
          </p:cNvPr>
          <p:cNvSpPr/>
          <p:nvPr/>
        </p:nvSpPr>
        <p:spPr>
          <a:xfrm>
            <a:off x="5576922" y="4310707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24A6F6B-F03A-4102-B5C7-5C9F00CB1589}"/>
              </a:ext>
            </a:extLst>
          </p:cNvPr>
          <p:cNvSpPr/>
          <p:nvPr/>
        </p:nvSpPr>
        <p:spPr>
          <a:xfrm>
            <a:off x="5914659" y="4845918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612D0C5-5E83-458C-9CD7-7FB4DBC36725}"/>
              </a:ext>
            </a:extLst>
          </p:cNvPr>
          <p:cNvSpPr/>
          <p:nvPr/>
        </p:nvSpPr>
        <p:spPr>
          <a:xfrm>
            <a:off x="6231100" y="5114627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3554C57-748A-4A29-A515-F03C683F6BDE}"/>
              </a:ext>
            </a:extLst>
          </p:cNvPr>
          <p:cNvSpPr/>
          <p:nvPr/>
        </p:nvSpPr>
        <p:spPr>
          <a:xfrm>
            <a:off x="6601687" y="485774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BB0A4B1-3BEA-4D0C-9EB0-B2153783A0D9}"/>
              </a:ext>
            </a:extLst>
          </p:cNvPr>
          <p:cNvSpPr/>
          <p:nvPr/>
        </p:nvSpPr>
        <p:spPr>
          <a:xfrm>
            <a:off x="6948264" y="447909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4E76DA8-6292-4C86-AC73-9552BE1E52A2}"/>
              </a:ext>
            </a:extLst>
          </p:cNvPr>
          <p:cNvSpPr/>
          <p:nvPr/>
        </p:nvSpPr>
        <p:spPr>
          <a:xfrm>
            <a:off x="7390817" y="346806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2583DE0-8AC0-4844-89C4-BF224DFFFB7F}"/>
              </a:ext>
            </a:extLst>
          </p:cNvPr>
          <p:cNvSpPr/>
          <p:nvPr/>
        </p:nvSpPr>
        <p:spPr>
          <a:xfrm>
            <a:off x="3423424" y="3401122"/>
            <a:ext cx="1628078" cy="1123809"/>
          </a:xfrm>
          <a:custGeom>
            <a:avLst/>
            <a:gdLst>
              <a:gd name="connsiteX0" fmla="*/ 0 w 1628078"/>
              <a:gd name="connsiteY0" fmla="*/ 959005 h 1123809"/>
              <a:gd name="connsiteX1" fmla="*/ 1081669 w 1628078"/>
              <a:gd name="connsiteY1" fmla="*/ 1048215 h 1123809"/>
              <a:gd name="connsiteX2" fmla="*/ 1628078 w 1628078"/>
              <a:gd name="connsiteY2" fmla="*/ 0 h 1123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8078" h="1123809">
                <a:moveTo>
                  <a:pt x="0" y="959005"/>
                </a:moveTo>
                <a:cubicBezTo>
                  <a:pt x="405161" y="1083527"/>
                  <a:pt x="810323" y="1208049"/>
                  <a:pt x="1081669" y="1048215"/>
                </a:cubicBezTo>
                <a:cubicBezTo>
                  <a:pt x="1353015" y="888381"/>
                  <a:pt x="1490546" y="444190"/>
                  <a:pt x="1628078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261E12-FF65-428C-BC8A-DCED7EE61426}"/>
              </a:ext>
            </a:extLst>
          </p:cNvPr>
          <p:cNvSpPr txBox="1"/>
          <p:nvPr/>
        </p:nvSpPr>
        <p:spPr>
          <a:xfrm>
            <a:off x="3534800" y="4637622"/>
            <a:ext cx="13807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Intercept = 0</a:t>
            </a:r>
          </a:p>
        </p:txBody>
      </p:sp>
    </p:spTree>
    <p:extLst>
      <p:ext uri="{BB962C8B-B14F-4D97-AF65-F5344CB8AC3E}">
        <p14:creationId xmlns:p14="http://schemas.microsoft.com/office/powerpoint/2010/main" val="886434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47.2 Sum of Square residual Curve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352928" cy="125007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We have optimal solution by using Gradient Descent.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We start with random value.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When close to the optimal value, gradient descent getting slow.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Finally, Gradient Descent find the optimal point.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https://www.youtube.com/watch?v=sDv4f4s2SB8&amp;list=PLblh5JKOoLUICTaGLRoHQDuF_7q2GfuJF&amp;index=50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11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A62D1B-B7C2-4152-B986-1B4F41FF64C3}"/>
              </a:ext>
            </a:extLst>
          </p:cNvPr>
          <p:cNvCxnSpPr>
            <a:cxnSpLocks/>
          </p:cNvCxnSpPr>
          <p:nvPr/>
        </p:nvCxnSpPr>
        <p:spPr>
          <a:xfrm>
            <a:off x="1293352" y="5935103"/>
            <a:ext cx="2956079" cy="713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FE84D1-3A77-4730-80C9-BD13BEC5BABA}"/>
              </a:ext>
            </a:extLst>
          </p:cNvPr>
          <p:cNvCxnSpPr>
            <a:cxnSpLocks/>
          </p:cNvCxnSpPr>
          <p:nvPr/>
        </p:nvCxnSpPr>
        <p:spPr>
          <a:xfrm flipV="1">
            <a:off x="1293352" y="2745987"/>
            <a:ext cx="0" cy="31891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6BADAD-16A4-45A0-A6F1-1ABB6E2D5DA1}"/>
              </a:ext>
            </a:extLst>
          </p:cNvPr>
          <p:cNvCxnSpPr/>
          <p:nvPr/>
        </p:nvCxnSpPr>
        <p:spPr>
          <a:xfrm>
            <a:off x="2013432" y="586247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64BA3A-CA68-49DB-A0E0-9496FB72B925}"/>
              </a:ext>
            </a:extLst>
          </p:cNvPr>
          <p:cNvCxnSpPr>
            <a:cxnSpLocks/>
          </p:cNvCxnSpPr>
          <p:nvPr/>
        </p:nvCxnSpPr>
        <p:spPr>
          <a:xfrm>
            <a:off x="1095820" y="3587550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B39E34-7B37-4A6F-B244-50175F6E83F4}"/>
              </a:ext>
            </a:extLst>
          </p:cNvPr>
          <p:cNvCxnSpPr/>
          <p:nvPr/>
        </p:nvCxnSpPr>
        <p:spPr>
          <a:xfrm>
            <a:off x="3669616" y="586247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7041A7-765E-4CA2-BCE7-4D6DC871110B}"/>
              </a:ext>
            </a:extLst>
          </p:cNvPr>
          <p:cNvCxnSpPr/>
          <p:nvPr/>
        </p:nvCxnSpPr>
        <p:spPr>
          <a:xfrm>
            <a:off x="2877528" y="590358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951A84-C84F-452A-B6B2-708EA622C790}"/>
              </a:ext>
            </a:extLst>
          </p:cNvPr>
          <p:cNvCxnSpPr>
            <a:cxnSpLocks/>
          </p:cNvCxnSpPr>
          <p:nvPr/>
        </p:nvCxnSpPr>
        <p:spPr>
          <a:xfrm>
            <a:off x="1093891" y="433504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C7695DD-6E3F-4598-A073-E86C5DBBAEE5}"/>
              </a:ext>
            </a:extLst>
          </p:cNvPr>
          <p:cNvCxnSpPr>
            <a:cxnSpLocks/>
          </p:cNvCxnSpPr>
          <p:nvPr/>
        </p:nvCxnSpPr>
        <p:spPr>
          <a:xfrm>
            <a:off x="1105466" y="505536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F7DEEF6-7E15-48EB-86DC-63D49C341ECE}"/>
              </a:ext>
            </a:extLst>
          </p:cNvPr>
          <p:cNvSpPr/>
          <p:nvPr/>
        </p:nvSpPr>
        <p:spPr>
          <a:xfrm>
            <a:off x="2877528" y="348683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0831C15-B79D-4B97-A5DD-725B2A68BA3B}"/>
              </a:ext>
            </a:extLst>
          </p:cNvPr>
          <p:cNvSpPr/>
          <p:nvPr/>
        </p:nvSpPr>
        <p:spPr>
          <a:xfrm>
            <a:off x="2399781" y="466237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C38BA0-8DD9-4E9C-8780-C4A4320A97BB}"/>
              </a:ext>
            </a:extLst>
          </p:cNvPr>
          <p:cNvSpPr/>
          <p:nvPr/>
        </p:nvSpPr>
        <p:spPr>
          <a:xfrm>
            <a:off x="1742911" y="468490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9AD06D-0461-459E-B54D-E35510AFD281}"/>
              </a:ext>
            </a:extLst>
          </p:cNvPr>
          <p:cNvSpPr txBox="1"/>
          <p:nvPr/>
        </p:nvSpPr>
        <p:spPr>
          <a:xfrm>
            <a:off x="3077402" y="6150503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85BE5A-4531-4DC4-BB65-B2329FEA48EB}"/>
              </a:ext>
            </a:extLst>
          </p:cNvPr>
          <p:cNvSpPr txBox="1"/>
          <p:nvPr/>
        </p:nvSpPr>
        <p:spPr>
          <a:xfrm>
            <a:off x="391785" y="4038168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F78BBF9-7833-4B8B-AAAA-9401CE38A4E6}"/>
              </a:ext>
            </a:extLst>
          </p:cNvPr>
          <p:cNvCxnSpPr>
            <a:cxnSpLocks/>
          </p:cNvCxnSpPr>
          <p:nvPr/>
        </p:nvCxnSpPr>
        <p:spPr>
          <a:xfrm flipH="1">
            <a:off x="1297103" y="4144961"/>
            <a:ext cx="2349590" cy="18261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71472BC-BB93-4398-A85A-EDA2C1C6A965}"/>
              </a:ext>
            </a:extLst>
          </p:cNvPr>
          <p:cNvCxnSpPr>
            <a:stCxn id="20" idx="4"/>
          </p:cNvCxnSpPr>
          <p:nvPr/>
        </p:nvCxnSpPr>
        <p:spPr>
          <a:xfrm>
            <a:off x="1850923" y="4900905"/>
            <a:ext cx="8439" cy="581386"/>
          </a:xfrm>
          <a:prstGeom prst="line">
            <a:avLst/>
          </a:prstGeom>
          <a:ln w="381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0953751-C285-4E47-AE47-1DC6F90C0421}"/>
              </a:ext>
            </a:extLst>
          </p:cNvPr>
          <p:cNvCxnSpPr>
            <a:cxnSpLocks/>
          </p:cNvCxnSpPr>
          <p:nvPr/>
        </p:nvCxnSpPr>
        <p:spPr>
          <a:xfrm>
            <a:off x="2984559" y="3713454"/>
            <a:ext cx="981" cy="971449"/>
          </a:xfrm>
          <a:prstGeom prst="line">
            <a:avLst/>
          </a:prstGeom>
          <a:ln w="381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C65CFD5-0B80-43C7-B156-45C14D2124DC}"/>
              </a:ext>
            </a:extLst>
          </p:cNvPr>
          <p:cNvCxnSpPr>
            <a:cxnSpLocks/>
          </p:cNvCxnSpPr>
          <p:nvPr/>
        </p:nvCxnSpPr>
        <p:spPr>
          <a:xfrm>
            <a:off x="2526309" y="4662375"/>
            <a:ext cx="0" cy="387868"/>
          </a:xfrm>
          <a:prstGeom prst="line">
            <a:avLst/>
          </a:prstGeom>
          <a:ln w="381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FD92355-2AD4-451F-B106-C2BA18DF67EB}"/>
              </a:ext>
            </a:extLst>
          </p:cNvPr>
          <p:cNvCxnSpPr>
            <a:cxnSpLocks/>
          </p:cNvCxnSpPr>
          <p:nvPr/>
        </p:nvCxnSpPr>
        <p:spPr>
          <a:xfrm>
            <a:off x="1033566" y="289000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2E1A021-B105-4505-BE65-3D80A46CE816}"/>
              </a:ext>
            </a:extLst>
          </p:cNvPr>
          <p:cNvCxnSpPr>
            <a:cxnSpLocks/>
          </p:cNvCxnSpPr>
          <p:nvPr/>
        </p:nvCxnSpPr>
        <p:spPr>
          <a:xfrm>
            <a:off x="5138768" y="5971096"/>
            <a:ext cx="2956079" cy="713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AFF44EF-4FC2-431F-BD2F-DEB6C6D02AAC}"/>
              </a:ext>
            </a:extLst>
          </p:cNvPr>
          <p:cNvCxnSpPr>
            <a:cxnSpLocks/>
          </p:cNvCxnSpPr>
          <p:nvPr/>
        </p:nvCxnSpPr>
        <p:spPr>
          <a:xfrm flipV="1">
            <a:off x="5138768" y="2781980"/>
            <a:ext cx="0" cy="31891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17AD352-BD74-4C18-8D4C-8A9CDBF5F279}"/>
              </a:ext>
            </a:extLst>
          </p:cNvPr>
          <p:cNvCxnSpPr>
            <a:cxnSpLocks/>
          </p:cNvCxnSpPr>
          <p:nvPr/>
        </p:nvCxnSpPr>
        <p:spPr>
          <a:xfrm>
            <a:off x="4941236" y="362354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F238D25-32E4-45EB-9CBF-8FE8CEF7C464}"/>
              </a:ext>
            </a:extLst>
          </p:cNvPr>
          <p:cNvCxnSpPr/>
          <p:nvPr/>
        </p:nvCxnSpPr>
        <p:spPr>
          <a:xfrm>
            <a:off x="7515032" y="589846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E3B0022-16DB-4CCC-AC57-692532E7D3EC}"/>
              </a:ext>
            </a:extLst>
          </p:cNvPr>
          <p:cNvCxnSpPr/>
          <p:nvPr/>
        </p:nvCxnSpPr>
        <p:spPr>
          <a:xfrm>
            <a:off x="6339114" y="5880327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C01A7DC-E52D-4E69-9767-B584DFAF80E0}"/>
              </a:ext>
            </a:extLst>
          </p:cNvPr>
          <p:cNvCxnSpPr>
            <a:cxnSpLocks/>
          </p:cNvCxnSpPr>
          <p:nvPr/>
        </p:nvCxnSpPr>
        <p:spPr>
          <a:xfrm>
            <a:off x="4939307" y="4371042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73C17CD-49C1-4E0B-B4D9-C41B997D3CC7}"/>
              </a:ext>
            </a:extLst>
          </p:cNvPr>
          <p:cNvCxnSpPr>
            <a:cxnSpLocks/>
          </p:cNvCxnSpPr>
          <p:nvPr/>
        </p:nvCxnSpPr>
        <p:spPr>
          <a:xfrm>
            <a:off x="4950882" y="509135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427BCBA3-33BE-4FB1-A65F-C6BD154BBB2E}"/>
              </a:ext>
            </a:extLst>
          </p:cNvPr>
          <p:cNvSpPr/>
          <p:nvPr/>
        </p:nvSpPr>
        <p:spPr>
          <a:xfrm>
            <a:off x="7174793" y="405524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08EA2F0-EA68-4644-B3DD-1D68E471152E}"/>
              </a:ext>
            </a:extLst>
          </p:cNvPr>
          <p:cNvSpPr/>
          <p:nvPr/>
        </p:nvSpPr>
        <p:spPr>
          <a:xfrm>
            <a:off x="5290258" y="3830088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F4CC17C-399C-4E6A-A0EF-C8DD96A149E1}"/>
              </a:ext>
            </a:extLst>
          </p:cNvPr>
          <p:cNvSpPr/>
          <p:nvPr/>
        </p:nvSpPr>
        <p:spPr>
          <a:xfrm>
            <a:off x="5028827" y="323931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1C8CA47-CFD3-4ED3-A074-456B66D097AD}"/>
              </a:ext>
            </a:extLst>
          </p:cNvPr>
          <p:cNvCxnSpPr>
            <a:cxnSpLocks/>
          </p:cNvCxnSpPr>
          <p:nvPr/>
        </p:nvCxnSpPr>
        <p:spPr>
          <a:xfrm>
            <a:off x="4878982" y="292599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7E49E36-04FD-45B1-BF40-F91021AA36DA}"/>
              </a:ext>
            </a:extLst>
          </p:cNvPr>
          <p:cNvSpPr txBox="1"/>
          <p:nvPr/>
        </p:nvSpPr>
        <p:spPr>
          <a:xfrm>
            <a:off x="3892492" y="3133167"/>
            <a:ext cx="1064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Sum of</a:t>
            </a:r>
          </a:p>
          <a:p>
            <a:r>
              <a:rPr lang="en-US" dirty="0"/>
              <a:t>Squared</a:t>
            </a:r>
          </a:p>
          <a:p>
            <a:r>
              <a:rPr lang="en-US" dirty="0"/>
              <a:t>Residuals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59E2F5-2255-4DAE-9150-40D2253176AA}"/>
              </a:ext>
            </a:extLst>
          </p:cNvPr>
          <p:cNvSpPr txBox="1"/>
          <p:nvPr/>
        </p:nvSpPr>
        <p:spPr>
          <a:xfrm>
            <a:off x="7652236" y="6047598"/>
            <a:ext cx="1123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Intercept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7CC7C9-2A8D-4362-82FD-4680393FF5C1}"/>
              </a:ext>
            </a:extLst>
          </p:cNvPr>
          <p:cNvSpPr txBox="1"/>
          <p:nvPr/>
        </p:nvSpPr>
        <p:spPr>
          <a:xfrm>
            <a:off x="4988362" y="6018513"/>
            <a:ext cx="416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AB445C5-DD25-494B-9539-02A0A96F4256}"/>
              </a:ext>
            </a:extLst>
          </p:cNvPr>
          <p:cNvSpPr txBox="1"/>
          <p:nvPr/>
        </p:nvSpPr>
        <p:spPr>
          <a:xfrm>
            <a:off x="6130683" y="6056325"/>
            <a:ext cx="416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5F3D08-EB46-4D67-BB39-FE8492864BC6}"/>
              </a:ext>
            </a:extLst>
          </p:cNvPr>
          <p:cNvSpPr txBox="1"/>
          <p:nvPr/>
        </p:nvSpPr>
        <p:spPr>
          <a:xfrm>
            <a:off x="7275701" y="6093198"/>
            <a:ext cx="416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0B24B5E-1A63-4F90-BC86-16F5C8CF8193}"/>
              </a:ext>
            </a:extLst>
          </p:cNvPr>
          <p:cNvCxnSpPr>
            <a:cxnSpLocks/>
          </p:cNvCxnSpPr>
          <p:nvPr/>
        </p:nvCxnSpPr>
        <p:spPr>
          <a:xfrm flipH="1">
            <a:off x="1291423" y="3861404"/>
            <a:ext cx="2349590" cy="18261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9926C4E-A59D-40CF-8417-2F78A7D2EE7C}"/>
              </a:ext>
            </a:extLst>
          </p:cNvPr>
          <p:cNvCxnSpPr>
            <a:cxnSpLocks/>
          </p:cNvCxnSpPr>
          <p:nvPr/>
        </p:nvCxnSpPr>
        <p:spPr>
          <a:xfrm flipH="1">
            <a:off x="1309121" y="3668961"/>
            <a:ext cx="2317976" cy="17434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48F57FF-E6B4-4F0C-A614-94D98C5CDA5E}"/>
              </a:ext>
            </a:extLst>
          </p:cNvPr>
          <p:cNvCxnSpPr>
            <a:cxnSpLocks/>
          </p:cNvCxnSpPr>
          <p:nvPr/>
        </p:nvCxnSpPr>
        <p:spPr>
          <a:xfrm flipH="1">
            <a:off x="1293352" y="3355578"/>
            <a:ext cx="2317976" cy="17434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3BC78E9B-F8E5-4501-8F7F-606180F8FF4B}"/>
              </a:ext>
            </a:extLst>
          </p:cNvPr>
          <p:cNvSpPr/>
          <p:nvPr/>
        </p:nvSpPr>
        <p:spPr>
          <a:xfrm>
            <a:off x="5576922" y="4310707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24A6F6B-F03A-4102-B5C7-5C9F00CB1589}"/>
              </a:ext>
            </a:extLst>
          </p:cNvPr>
          <p:cNvSpPr/>
          <p:nvPr/>
        </p:nvSpPr>
        <p:spPr>
          <a:xfrm>
            <a:off x="5914659" y="4845918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612D0C5-5E83-458C-9CD7-7FB4DBC36725}"/>
              </a:ext>
            </a:extLst>
          </p:cNvPr>
          <p:cNvSpPr/>
          <p:nvPr/>
        </p:nvSpPr>
        <p:spPr>
          <a:xfrm>
            <a:off x="6231100" y="5114627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3554C57-748A-4A29-A515-F03C683F6BDE}"/>
              </a:ext>
            </a:extLst>
          </p:cNvPr>
          <p:cNvSpPr/>
          <p:nvPr/>
        </p:nvSpPr>
        <p:spPr>
          <a:xfrm>
            <a:off x="6601687" y="485774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BB0A4B1-3BEA-4D0C-9EB0-B2153783A0D9}"/>
              </a:ext>
            </a:extLst>
          </p:cNvPr>
          <p:cNvSpPr/>
          <p:nvPr/>
        </p:nvSpPr>
        <p:spPr>
          <a:xfrm>
            <a:off x="6948264" y="447909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4E76DA8-6292-4C86-AC73-9552BE1E52A2}"/>
              </a:ext>
            </a:extLst>
          </p:cNvPr>
          <p:cNvSpPr/>
          <p:nvPr/>
        </p:nvSpPr>
        <p:spPr>
          <a:xfrm>
            <a:off x="7390817" y="346806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F2820E-2ECD-4878-8912-27E8FA1E3F81}"/>
              </a:ext>
            </a:extLst>
          </p:cNvPr>
          <p:cNvSpPr/>
          <p:nvPr/>
        </p:nvSpPr>
        <p:spPr>
          <a:xfrm>
            <a:off x="3211551" y="4215161"/>
            <a:ext cx="3123046" cy="1073821"/>
          </a:xfrm>
          <a:custGeom>
            <a:avLst/>
            <a:gdLst>
              <a:gd name="connsiteX0" fmla="*/ 0 w 3123046"/>
              <a:gd name="connsiteY0" fmla="*/ 0 h 1073821"/>
              <a:gd name="connsiteX1" fmla="*/ 1561171 w 3123046"/>
              <a:gd name="connsiteY1" fmla="*/ 702527 h 1073821"/>
              <a:gd name="connsiteX2" fmla="*/ 3021981 w 3123046"/>
              <a:gd name="connsiteY2" fmla="*/ 1048215 h 1073821"/>
              <a:gd name="connsiteX3" fmla="*/ 2999678 w 3123046"/>
              <a:gd name="connsiteY3" fmla="*/ 1048215 h 1073821"/>
              <a:gd name="connsiteX4" fmla="*/ 3055434 w 3123046"/>
              <a:gd name="connsiteY4" fmla="*/ 1048215 h 107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3046" h="1073821">
                <a:moveTo>
                  <a:pt x="0" y="0"/>
                </a:moveTo>
                <a:cubicBezTo>
                  <a:pt x="528753" y="263912"/>
                  <a:pt x="1057507" y="527824"/>
                  <a:pt x="1561171" y="702527"/>
                </a:cubicBezTo>
                <a:cubicBezTo>
                  <a:pt x="2064835" y="877230"/>
                  <a:pt x="3021981" y="1048215"/>
                  <a:pt x="3021981" y="1048215"/>
                </a:cubicBezTo>
                <a:cubicBezTo>
                  <a:pt x="3261732" y="1105830"/>
                  <a:pt x="2999678" y="1048215"/>
                  <a:pt x="2999678" y="1048215"/>
                </a:cubicBezTo>
                <a:lnTo>
                  <a:pt x="3055434" y="1048215"/>
                </a:ln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21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47.3 Find Minimum Point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12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22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47.3 Find Minimum Point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352928" cy="1421832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We have an equation for the curve and take partial derivative (slope = 0) of each individual point to get the optimal value.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Take derivative (</a:t>
            </a:r>
            <a:r>
              <a:rPr lang="en-US" sz="1600" dirty="0">
                <a:solidFill>
                  <a:srgbClr val="C00000"/>
                </a:solidFill>
              </a:rPr>
              <a:t>loss function </a:t>
            </a:r>
            <a:r>
              <a:rPr lang="en-US" sz="1600" dirty="0">
                <a:solidFill>
                  <a:schemeClr val="tx1"/>
                </a:solidFill>
              </a:rPr>
              <a:t>or </a:t>
            </a:r>
            <a:r>
              <a:rPr lang="en-US" sz="1600" dirty="0">
                <a:solidFill>
                  <a:srgbClr val="C00000"/>
                </a:solidFill>
              </a:rPr>
              <a:t>sum of squared residuals</a:t>
            </a:r>
            <a:r>
              <a:rPr lang="en-US" sz="1600" dirty="0">
                <a:solidFill>
                  <a:schemeClr val="tx1"/>
                </a:solidFill>
              </a:rPr>
              <a:t>) with chain rule for each individual points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rgbClr val="C00000"/>
                </a:solidFill>
              </a:rPr>
              <a:t>When close to the optimal point, we take small step size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https://www.youtube.com/watch?v=sDv4f4s2SB8&amp;list=PLblh5JKOoLUICTaGLRoHQDuF_7q2GfuJF&amp;index=50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13</a:t>
            </a:fld>
            <a:endParaRPr lang="zh-TW" alt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2E1A021-B105-4505-BE65-3D80A46CE816}"/>
              </a:ext>
            </a:extLst>
          </p:cNvPr>
          <p:cNvCxnSpPr>
            <a:cxnSpLocks/>
          </p:cNvCxnSpPr>
          <p:nvPr/>
        </p:nvCxnSpPr>
        <p:spPr>
          <a:xfrm>
            <a:off x="4886259" y="5948024"/>
            <a:ext cx="2956079" cy="713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AFF44EF-4FC2-431F-BD2F-DEB6C6D02AAC}"/>
              </a:ext>
            </a:extLst>
          </p:cNvPr>
          <p:cNvCxnSpPr>
            <a:cxnSpLocks/>
          </p:cNvCxnSpPr>
          <p:nvPr/>
        </p:nvCxnSpPr>
        <p:spPr>
          <a:xfrm flipV="1">
            <a:off x="4886259" y="2758908"/>
            <a:ext cx="0" cy="31891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17AD352-BD74-4C18-8D4C-8A9CDBF5F279}"/>
              </a:ext>
            </a:extLst>
          </p:cNvPr>
          <p:cNvCxnSpPr>
            <a:cxnSpLocks/>
          </p:cNvCxnSpPr>
          <p:nvPr/>
        </p:nvCxnSpPr>
        <p:spPr>
          <a:xfrm>
            <a:off x="4688727" y="3600471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F238D25-32E4-45EB-9CBF-8FE8CEF7C464}"/>
              </a:ext>
            </a:extLst>
          </p:cNvPr>
          <p:cNvCxnSpPr/>
          <p:nvPr/>
        </p:nvCxnSpPr>
        <p:spPr>
          <a:xfrm>
            <a:off x="7262523" y="587539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E3B0022-16DB-4CCC-AC57-692532E7D3EC}"/>
              </a:ext>
            </a:extLst>
          </p:cNvPr>
          <p:cNvCxnSpPr/>
          <p:nvPr/>
        </p:nvCxnSpPr>
        <p:spPr>
          <a:xfrm>
            <a:off x="6086605" y="585725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C01A7DC-E52D-4E69-9767-B584DFAF80E0}"/>
              </a:ext>
            </a:extLst>
          </p:cNvPr>
          <p:cNvCxnSpPr>
            <a:cxnSpLocks/>
          </p:cNvCxnSpPr>
          <p:nvPr/>
        </p:nvCxnSpPr>
        <p:spPr>
          <a:xfrm>
            <a:off x="4686798" y="4347970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73C17CD-49C1-4E0B-B4D9-C41B997D3CC7}"/>
              </a:ext>
            </a:extLst>
          </p:cNvPr>
          <p:cNvCxnSpPr>
            <a:cxnSpLocks/>
          </p:cNvCxnSpPr>
          <p:nvPr/>
        </p:nvCxnSpPr>
        <p:spPr>
          <a:xfrm>
            <a:off x="4698373" y="5068287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427BCBA3-33BE-4FB1-A65F-C6BD154BBB2E}"/>
              </a:ext>
            </a:extLst>
          </p:cNvPr>
          <p:cNvSpPr/>
          <p:nvPr/>
        </p:nvSpPr>
        <p:spPr>
          <a:xfrm>
            <a:off x="6922284" y="4032169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08EA2F0-EA68-4644-B3DD-1D68E471152E}"/>
              </a:ext>
            </a:extLst>
          </p:cNvPr>
          <p:cNvSpPr/>
          <p:nvPr/>
        </p:nvSpPr>
        <p:spPr>
          <a:xfrm>
            <a:off x="5037749" y="3807016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F4CC17C-399C-4E6A-A0EF-C8DD96A149E1}"/>
              </a:ext>
            </a:extLst>
          </p:cNvPr>
          <p:cNvSpPr/>
          <p:nvPr/>
        </p:nvSpPr>
        <p:spPr>
          <a:xfrm>
            <a:off x="4776318" y="3216239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1C8CA47-CFD3-4ED3-A074-456B66D097AD}"/>
              </a:ext>
            </a:extLst>
          </p:cNvPr>
          <p:cNvCxnSpPr>
            <a:cxnSpLocks/>
          </p:cNvCxnSpPr>
          <p:nvPr/>
        </p:nvCxnSpPr>
        <p:spPr>
          <a:xfrm>
            <a:off x="4626473" y="2902924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7E49E36-04FD-45B1-BF40-F91021AA36DA}"/>
              </a:ext>
            </a:extLst>
          </p:cNvPr>
          <p:cNvSpPr txBox="1"/>
          <p:nvPr/>
        </p:nvSpPr>
        <p:spPr>
          <a:xfrm>
            <a:off x="3639983" y="3110095"/>
            <a:ext cx="1064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Sum of</a:t>
            </a:r>
          </a:p>
          <a:p>
            <a:r>
              <a:rPr lang="en-US" sz="1600" dirty="0"/>
              <a:t>Squared</a:t>
            </a:r>
          </a:p>
          <a:p>
            <a:r>
              <a:rPr lang="en-US" sz="1600" dirty="0"/>
              <a:t>Residuals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59E2F5-2255-4DAE-9150-40D2253176AA}"/>
              </a:ext>
            </a:extLst>
          </p:cNvPr>
          <p:cNvSpPr txBox="1"/>
          <p:nvPr/>
        </p:nvSpPr>
        <p:spPr>
          <a:xfrm>
            <a:off x="7399727" y="6024526"/>
            <a:ext cx="1123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Intercept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7CC7C9-2A8D-4362-82FD-4680393FF5C1}"/>
              </a:ext>
            </a:extLst>
          </p:cNvPr>
          <p:cNvSpPr txBox="1"/>
          <p:nvPr/>
        </p:nvSpPr>
        <p:spPr>
          <a:xfrm>
            <a:off x="4735853" y="5995441"/>
            <a:ext cx="416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AB445C5-DD25-494B-9539-02A0A96F4256}"/>
              </a:ext>
            </a:extLst>
          </p:cNvPr>
          <p:cNvSpPr txBox="1"/>
          <p:nvPr/>
        </p:nvSpPr>
        <p:spPr>
          <a:xfrm>
            <a:off x="5878174" y="6033253"/>
            <a:ext cx="416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5F3D08-EB46-4D67-BB39-FE8492864BC6}"/>
              </a:ext>
            </a:extLst>
          </p:cNvPr>
          <p:cNvSpPr txBox="1"/>
          <p:nvPr/>
        </p:nvSpPr>
        <p:spPr>
          <a:xfrm>
            <a:off x="6456895" y="6144014"/>
            <a:ext cx="416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BC78E9B-F8E5-4501-8F7F-606180F8FF4B}"/>
              </a:ext>
            </a:extLst>
          </p:cNvPr>
          <p:cNvSpPr/>
          <p:nvPr/>
        </p:nvSpPr>
        <p:spPr>
          <a:xfrm>
            <a:off x="5324413" y="428763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24A6F6B-F03A-4102-B5C7-5C9F00CB1589}"/>
              </a:ext>
            </a:extLst>
          </p:cNvPr>
          <p:cNvSpPr/>
          <p:nvPr/>
        </p:nvSpPr>
        <p:spPr>
          <a:xfrm>
            <a:off x="5662150" y="4822846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612D0C5-5E83-458C-9CD7-7FB4DBC36725}"/>
              </a:ext>
            </a:extLst>
          </p:cNvPr>
          <p:cNvSpPr/>
          <p:nvPr/>
        </p:nvSpPr>
        <p:spPr>
          <a:xfrm>
            <a:off x="5978591" y="509155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3554C57-748A-4A29-A515-F03C683F6BDE}"/>
              </a:ext>
            </a:extLst>
          </p:cNvPr>
          <p:cNvSpPr/>
          <p:nvPr/>
        </p:nvSpPr>
        <p:spPr>
          <a:xfrm>
            <a:off x="6349178" y="483467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BB0A4B1-3BEA-4D0C-9EB0-B2153783A0D9}"/>
              </a:ext>
            </a:extLst>
          </p:cNvPr>
          <p:cNvSpPr/>
          <p:nvPr/>
        </p:nvSpPr>
        <p:spPr>
          <a:xfrm>
            <a:off x="6695755" y="445602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4E76DA8-6292-4C86-AC73-9552BE1E52A2}"/>
              </a:ext>
            </a:extLst>
          </p:cNvPr>
          <p:cNvSpPr/>
          <p:nvPr/>
        </p:nvSpPr>
        <p:spPr>
          <a:xfrm>
            <a:off x="7138308" y="344499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677FB8-247C-4E49-989E-9B1F312EB325}"/>
              </a:ext>
            </a:extLst>
          </p:cNvPr>
          <p:cNvCxnSpPr/>
          <p:nvPr/>
        </p:nvCxnSpPr>
        <p:spPr>
          <a:xfrm>
            <a:off x="4686798" y="5199556"/>
            <a:ext cx="26642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EE56200-2CAF-4AF8-BDFF-4D7706EF9C0E}"/>
              </a:ext>
            </a:extLst>
          </p:cNvPr>
          <p:cNvSpPr txBox="1"/>
          <p:nvPr/>
        </p:nvSpPr>
        <p:spPr>
          <a:xfrm>
            <a:off x="7397681" y="4988333"/>
            <a:ext cx="1082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Slope = 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BFB15FF-1BFA-4C01-A221-FAEA87857660}"/>
              </a:ext>
            </a:extLst>
          </p:cNvPr>
          <p:cNvCxnSpPr>
            <a:cxnSpLocks/>
          </p:cNvCxnSpPr>
          <p:nvPr/>
        </p:nvCxnSpPr>
        <p:spPr>
          <a:xfrm>
            <a:off x="4787301" y="3083683"/>
            <a:ext cx="466472" cy="17990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99F843B-32EF-4A10-B5B8-8DD546072A3A}"/>
              </a:ext>
            </a:extLst>
          </p:cNvPr>
          <p:cNvCxnSpPr>
            <a:cxnSpLocks/>
            <a:stCxn id="47" idx="2"/>
            <a:endCxn id="64" idx="1"/>
          </p:cNvCxnSpPr>
          <p:nvPr/>
        </p:nvCxnSpPr>
        <p:spPr>
          <a:xfrm>
            <a:off x="5037749" y="3915017"/>
            <a:ext cx="656037" cy="9394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1E0FD688-FD51-4E28-8815-D8B03315C573}"/>
              </a:ext>
            </a:extLst>
          </p:cNvPr>
          <p:cNvSpPr/>
          <p:nvPr/>
        </p:nvSpPr>
        <p:spPr>
          <a:xfrm>
            <a:off x="4802672" y="5834110"/>
            <a:ext cx="216024" cy="21600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84D2C3C-D8AC-46BF-8A75-B6A6AD8AACE7}"/>
              </a:ext>
            </a:extLst>
          </p:cNvPr>
          <p:cNvSpPr/>
          <p:nvPr/>
        </p:nvSpPr>
        <p:spPr>
          <a:xfrm>
            <a:off x="5523932" y="5834110"/>
            <a:ext cx="216024" cy="21600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411C543-C347-4C65-8A45-F6A8842CE513}"/>
              </a:ext>
            </a:extLst>
          </p:cNvPr>
          <p:cNvSpPr/>
          <p:nvPr/>
        </p:nvSpPr>
        <p:spPr>
          <a:xfrm>
            <a:off x="5950370" y="5834110"/>
            <a:ext cx="216024" cy="21600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34737C9-5FCD-4254-9D42-628F90377515}"/>
              </a:ext>
            </a:extLst>
          </p:cNvPr>
          <p:cNvCxnSpPr>
            <a:cxnSpLocks/>
          </p:cNvCxnSpPr>
          <p:nvPr/>
        </p:nvCxnSpPr>
        <p:spPr>
          <a:xfrm flipV="1">
            <a:off x="5739956" y="5725171"/>
            <a:ext cx="346647" cy="93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A75BBCC-9769-426D-98AE-1E0F9931B470}"/>
              </a:ext>
            </a:extLst>
          </p:cNvPr>
          <p:cNvSpPr txBox="1"/>
          <p:nvPr/>
        </p:nvSpPr>
        <p:spPr>
          <a:xfrm>
            <a:off x="5545102" y="5373468"/>
            <a:ext cx="3481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Small Step when close to optimal point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7D724B8-3EA6-4D8B-8E73-9B543CB585B2}"/>
              </a:ext>
            </a:extLst>
          </p:cNvPr>
          <p:cNvCxnSpPr>
            <a:cxnSpLocks/>
          </p:cNvCxnSpPr>
          <p:nvPr/>
        </p:nvCxnSpPr>
        <p:spPr>
          <a:xfrm>
            <a:off x="881067" y="5995441"/>
            <a:ext cx="2956079" cy="713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C36D41A-66D8-407C-B760-15A5C31D87EF}"/>
              </a:ext>
            </a:extLst>
          </p:cNvPr>
          <p:cNvCxnSpPr>
            <a:cxnSpLocks/>
          </p:cNvCxnSpPr>
          <p:nvPr/>
        </p:nvCxnSpPr>
        <p:spPr>
          <a:xfrm flipV="1">
            <a:off x="881067" y="2806325"/>
            <a:ext cx="0" cy="31891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EA9D92D-E197-4BA7-8F4B-6A40F90EA1C6}"/>
              </a:ext>
            </a:extLst>
          </p:cNvPr>
          <p:cNvCxnSpPr/>
          <p:nvPr/>
        </p:nvCxnSpPr>
        <p:spPr>
          <a:xfrm>
            <a:off x="1601147" y="592280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98F87FA-62B8-48BF-922E-F0E78D3DBB09}"/>
              </a:ext>
            </a:extLst>
          </p:cNvPr>
          <p:cNvCxnSpPr>
            <a:cxnSpLocks/>
          </p:cNvCxnSpPr>
          <p:nvPr/>
        </p:nvCxnSpPr>
        <p:spPr>
          <a:xfrm>
            <a:off x="683535" y="364788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472BC10-AFD5-41CE-987B-7C4B0A69CC4D}"/>
              </a:ext>
            </a:extLst>
          </p:cNvPr>
          <p:cNvCxnSpPr/>
          <p:nvPr/>
        </p:nvCxnSpPr>
        <p:spPr>
          <a:xfrm>
            <a:off x="3257331" y="592280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7A557D4-A5F4-4473-BB36-F4D372596DBC}"/>
              </a:ext>
            </a:extLst>
          </p:cNvPr>
          <p:cNvCxnSpPr/>
          <p:nvPr/>
        </p:nvCxnSpPr>
        <p:spPr>
          <a:xfrm>
            <a:off x="2465243" y="596392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34773CE-D32F-440B-9ED9-03F4F40FD3DC}"/>
              </a:ext>
            </a:extLst>
          </p:cNvPr>
          <p:cNvCxnSpPr>
            <a:cxnSpLocks/>
          </p:cNvCxnSpPr>
          <p:nvPr/>
        </p:nvCxnSpPr>
        <p:spPr>
          <a:xfrm>
            <a:off x="681606" y="4395387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D2BF091-510F-4700-979B-B5BF1940F23E}"/>
              </a:ext>
            </a:extLst>
          </p:cNvPr>
          <p:cNvCxnSpPr>
            <a:cxnSpLocks/>
          </p:cNvCxnSpPr>
          <p:nvPr/>
        </p:nvCxnSpPr>
        <p:spPr>
          <a:xfrm>
            <a:off x="693181" y="5115704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4B5AB071-53D6-41F5-9CF4-4EC377E5E1D0}"/>
              </a:ext>
            </a:extLst>
          </p:cNvPr>
          <p:cNvSpPr/>
          <p:nvPr/>
        </p:nvSpPr>
        <p:spPr>
          <a:xfrm>
            <a:off x="2465243" y="3547169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26C96C2-4F6B-4F5D-8C24-E203E157FC90}"/>
              </a:ext>
            </a:extLst>
          </p:cNvPr>
          <p:cNvSpPr/>
          <p:nvPr/>
        </p:nvSpPr>
        <p:spPr>
          <a:xfrm>
            <a:off x="1987496" y="472271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2D1662C-CC90-4792-B921-0B73CF69B7C4}"/>
              </a:ext>
            </a:extLst>
          </p:cNvPr>
          <p:cNvSpPr/>
          <p:nvPr/>
        </p:nvSpPr>
        <p:spPr>
          <a:xfrm>
            <a:off x="1330626" y="474524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8E2C532-4616-400F-B9F1-4B3A13906370}"/>
              </a:ext>
            </a:extLst>
          </p:cNvPr>
          <p:cNvSpPr txBox="1"/>
          <p:nvPr/>
        </p:nvSpPr>
        <p:spPr>
          <a:xfrm>
            <a:off x="2665117" y="6210841"/>
            <a:ext cx="1008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Weight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1B35772-8BA0-4D8F-A704-D4D23E687528}"/>
              </a:ext>
            </a:extLst>
          </p:cNvPr>
          <p:cNvSpPr txBox="1"/>
          <p:nvPr/>
        </p:nvSpPr>
        <p:spPr>
          <a:xfrm>
            <a:off x="-20500" y="4098506"/>
            <a:ext cx="901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Height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99E1A19-7E07-4B01-8E84-0225752D0378}"/>
              </a:ext>
            </a:extLst>
          </p:cNvPr>
          <p:cNvCxnSpPr>
            <a:cxnSpLocks/>
          </p:cNvCxnSpPr>
          <p:nvPr/>
        </p:nvCxnSpPr>
        <p:spPr>
          <a:xfrm flipH="1">
            <a:off x="884818" y="4205299"/>
            <a:ext cx="2349590" cy="18261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E84C1A6-3806-48CB-B099-ADE6157A4596}"/>
              </a:ext>
            </a:extLst>
          </p:cNvPr>
          <p:cNvCxnSpPr>
            <a:stCxn id="76" idx="4"/>
          </p:cNvCxnSpPr>
          <p:nvPr/>
        </p:nvCxnSpPr>
        <p:spPr>
          <a:xfrm>
            <a:off x="1438638" y="4961243"/>
            <a:ext cx="8439" cy="581386"/>
          </a:xfrm>
          <a:prstGeom prst="line">
            <a:avLst/>
          </a:prstGeom>
          <a:ln w="381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AD384A2-B50C-402A-8ABF-4F29BC83B010}"/>
              </a:ext>
            </a:extLst>
          </p:cNvPr>
          <p:cNvCxnSpPr>
            <a:cxnSpLocks/>
          </p:cNvCxnSpPr>
          <p:nvPr/>
        </p:nvCxnSpPr>
        <p:spPr>
          <a:xfrm>
            <a:off x="2572274" y="3773792"/>
            <a:ext cx="981" cy="971449"/>
          </a:xfrm>
          <a:prstGeom prst="line">
            <a:avLst/>
          </a:prstGeom>
          <a:ln w="381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D97278C-D7E4-4A1B-98D8-C30460E6DB74}"/>
              </a:ext>
            </a:extLst>
          </p:cNvPr>
          <p:cNvCxnSpPr>
            <a:cxnSpLocks/>
          </p:cNvCxnSpPr>
          <p:nvPr/>
        </p:nvCxnSpPr>
        <p:spPr>
          <a:xfrm>
            <a:off x="2114024" y="4722713"/>
            <a:ext cx="0" cy="387868"/>
          </a:xfrm>
          <a:prstGeom prst="line">
            <a:avLst/>
          </a:prstGeom>
          <a:ln w="381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B425D0B-B7B2-4284-AB02-2F32449A0DC8}"/>
              </a:ext>
            </a:extLst>
          </p:cNvPr>
          <p:cNvCxnSpPr>
            <a:cxnSpLocks/>
          </p:cNvCxnSpPr>
          <p:nvPr/>
        </p:nvCxnSpPr>
        <p:spPr>
          <a:xfrm>
            <a:off x="621281" y="2950341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5B8758F-7780-4E9E-B23A-51CC4910D86B}"/>
              </a:ext>
            </a:extLst>
          </p:cNvPr>
          <p:cNvCxnSpPr>
            <a:cxnSpLocks/>
          </p:cNvCxnSpPr>
          <p:nvPr/>
        </p:nvCxnSpPr>
        <p:spPr>
          <a:xfrm flipH="1">
            <a:off x="879138" y="3921742"/>
            <a:ext cx="2349590" cy="18261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80ADFA4-E9D5-4B54-9F76-1D59AD9BCDEA}"/>
              </a:ext>
            </a:extLst>
          </p:cNvPr>
          <p:cNvCxnSpPr>
            <a:cxnSpLocks/>
          </p:cNvCxnSpPr>
          <p:nvPr/>
        </p:nvCxnSpPr>
        <p:spPr>
          <a:xfrm flipH="1">
            <a:off x="896836" y="3729299"/>
            <a:ext cx="2317976" cy="17434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57312A5-BFC3-457F-8331-719644268988}"/>
              </a:ext>
            </a:extLst>
          </p:cNvPr>
          <p:cNvCxnSpPr>
            <a:cxnSpLocks/>
          </p:cNvCxnSpPr>
          <p:nvPr/>
        </p:nvCxnSpPr>
        <p:spPr>
          <a:xfrm flipH="1">
            <a:off x="881067" y="3415916"/>
            <a:ext cx="2317976" cy="17434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E9D5F03-F48A-4099-8742-A0162B1877EF}"/>
              </a:ext>
            </a:extLst>
          </p:cNvPr>
          <p:cNvSpPr/>
          <p:nvPr/>
        </p:nvSpPr>
        <p:spPr>
          <a:xfrm>
            <a:off x="3334215" y="2609385"/>
            <a:ext cx="2531326" cy="3859661"/>
          </a:xfrm>
          <a:custGeom>
            <a:avLst/>
            <a:gdLst>
              <a:gd name="connsiteX0" fmla="*/ 0 w 2531326"/>
              <a:gd name="connsiteY0" fmla="*/ 0 h 3859661"/>
              <a:gd name="connsiteX1" fmla="*/ 401444 w 2531326"/>
              <a:gd name="connsiteY1" fmla="*/ 2442117 h 3859661"/>
              <a:gd name="connsiteX2" fmla="*/ 1594624 w 2531326"/>
              <a:gd name="connsiteY2" fmla="*/ 3813717 h 3859661"/>
              <a:gd name="connsiteX3" fmla="*/ 2531326 w 2531326"/>
              <a:gd name="connsiteY3" fmla="*/ 3401122 h 3859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1326" h="3859661">
                <a:moveTo>
                  <a:pt x="0" y="0"/>
                </a:moveTo>
                <a:cubicBezTo>
                  <a:pt x="67836" y="903249"/>
                  <a:pt x="135673" y="1806498"/>
                  <a:pt x="401444" y="2442117"/>
                </a:cubicBezTo>
                <a:cubicBezTo>
                  <a:pt x="667215" y="3077736"/>
                  <a:pt x="1239644" y="3653883"/>
                  <a:pt x="1594624" y="3813717"/>
                </a:cubicBezTo>
                <a:cubicBezTo>
                  <a:pt x="1949604" y="3973551"/>
                  <a:pt x="2240465" y="3687336"/>
                  <a:pt x="2531326" y="3401122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4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47.4 Take Partial Derivative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492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47.4 Take Partial Derivative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95536" y="1313449"/>
                <a:ext cx="8352928" cy="1836920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Example: Take partial derivative of the slope by the chain rule.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Slope</m:t>
                        </m:r>
                      </m:den>
                    </m:f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Sqaured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baseline="30000" dirty="0">
                    <a:solidFill>
                      <a:schemeClr val="tx1"/>
                    </a:solidFill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Slope</m:t>
                        </m:r>
                      </m:den>
                    </m:f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[1.4 −(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intercept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slope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0.5)]2</m:t>
                    </m:r>
                  </m:oMath>
                </a14:m>
                <a:r>
                  <a:rPr lang="en-US" sz="1600" baseline="30000" dirty="0">
                    <a:solidFill>
                      <a:schemeClr val="tx1"/>
                    </a:solidFill>
                  </a:rPr>
                  <a:t> </a:t>
                </a:r>
                <a:endParaRPr lang="en-US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Slope</m:t>
                        </m:r>
                      </m:den>
                    </m:f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Sqaured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baseline="30000" dirty="0">
                    <a:solidFill>
                      <a:schemeClr val="tx1"/>
                    </a:solidFill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= 2 x [1.4 – (0 + slope x 0.5)] x (-0.5)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Slope</m:t>
                        </m:r>
                      </m:den>
                    </m:f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Sqaured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baseline="30000" dirty="0">
                    <a:solidFill>
                      <a:schemeClr val="tx1"/>
                    </a:solidFill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= 2 x [1.4 – (0 + (-1) x 0.5)] x (-0.5)</a:t>
                </a:r>
                <a:endParaRPr lang="en-US" sz="1600" baseline="300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95536" y="1313449"/>
                <a:ext cx="8352928" cy="1836920"/>
              </a:xfrm>
              <a:blipFill>
                <a:blip r:embed="rId2"/>
                <a:stretch>
                  <a:fillRect t="-658" b="-1316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https://www.youtube.com/watch?v=sDv4f4s2SB8&amp;list=PLblh5JKOoLUICTaGLRoHQDuF_7q2GfuJF&amp;index=50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15</a:t>
            </a:fld>
            <a:endParaRPr lang="zh-TW" alt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2E1A021-B105-4505-BE65-3D80A46CE816}"/>
              </a:ext>
            </a:extLst>
          </p:cNvPr>
          <p:cNvCxnSpPr>
            <a:cxnSpLocks/>
          </p:cNvCxnSpPr>
          <p:nvPr/>
        </p:nvCxnSpPr>
        <p:spPr>
          <a:xfrm>
            <a:off x="4439563" y="5968648"/>
            <a:ext cx="2956079" cy="713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AFF44EF-4FC2-431F-BD2F-DEB6C6D02AAC}"/>
              </a:ext>
            </a:extLst>
          </p:cNvPr>
          <p:cNvCxnSpPr>
            <a:cxnSpLocks/>
          </p:cNvCxnSpPr>
          <p:nvPr/>
        </p:nvCxnSpPr>
        <p:spPr>
          <a:xfrm flipH="1" flipV="1">
            <a:off x="4439566" y="3150369"/>
            <a:ext cx="1" cy="28182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17AD352-BD74-4C18-8D4C-8A9CDBF5F279}"/>
              </a:ext>
            </a:extLst>
          </p:cNvPr>
          <p:cNvCxnSpPr>
            <a:cxnSpLocks/>
          </p:cNvCxnSpPr>
          <p:nvPr/>
        </p:nvCxnSpPr>
        <p:spPr>
          <a:xfrm>
            <a:off x="4176936" y="4043642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F238D25-32E4-45EB-9CBF-8FE8CEF7C464}"/>
              </a:ext>
            </a:extLst>
          </p:cNvPr>
          <p:cNvCxnSpPr/>
          <p:nvPr/>
        </p:nvCxnSpPr>
        <p:spPr>
          <a:xfrm>
            <a:off x="6815827" y="589601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E3B0022-16DB-4CCC-AC57-692532E7D3EC}"/>
              </a:ext>
            </a:extLst>
          </p:cNvPr>
          <p:cNvCxnSpPr/>
          <p:nvPr/>
        </p:nvCxnSpPr>
        <p:spPr>
          <a:xfrm>
            <a:off x="5639909" y="58778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73C17CD-49C1-4E0B-B4D9-C41B997D3CC7}"/>
              </a:ext>
            </a:extLst>
          </p:cNvPr>
          <p:cNvCxnSpPr>
            <a:cxnSpLocks/>
          </p:cNvCxnSpPr>
          <p:nvPr/>
        </p:nvCxnSpPr>
        <p:spPr>
          <a:xfrm>
            <a:off x="4195989" y="4927970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427BCBA3-33BE-4FB1-A65F-C6BD154BBB2E}"/>
              </a:ext>
            </a:extLst>
          </p:cNvPr>
          <p:cNvSpPr/>
          <p:nvPr/>
        </p:nvSpPr>
        <p:spPr>
          <a:xfrm>
            <a:off x="6475588" y="405279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08EA2F0-EA68-4644-B3DD-1D68E471152E}"/>
              </a:ext>
            </a:extLst>
          </p:cNvPr>
          <p:cNvSpPr/>
          <p:nvPr/>
        </p:nvSpPr>
        <p:spPr>
          <a:xfrm>
            <a:off x="4591053" y="3827640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E49E36-04FD-45B1-BF40-F91021AA36DA}"/>
              </a:ext>
            </a:extLst>
          </p:cNvPr>
          <p:cNvSpPr txBox="1"/>
          <p:nvPr/>
        </p:nvSpPr>
        <p:spPr>
          <a:xfrm>
            <a:off x="2905379" y="4303628"/>
            <a:ext cx="1064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Sum of</a:t>
            </a:r>
          </a:p>
          <a:p>
            <a:r>
              <a:rPr lang="en-US" sz="1600" dirty="0"/>
              <a:t>Squared</a:t>
            </a:r>
          </a:p>
          <a:p>
            <a:r>
              <a:rPr lang="en-US" sz="1600" dirty="0"/>
              <a:t>Residuals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59E2F5-2255-4DAE-9150-40D2253176AA}"/>
              </a:ext>
            </a:extLst>
          </p:cNvPr>
          <p:cNvSpPr txBox="1"/>
          <p:nvPr/>
        </p:nvSpPr>
        <p:spPr>
          <a:xfrm>
            <a:off x="5659907" y="6185342"/>
            <a:ext cx="1031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Intercept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7CC7C9-2A8D-4362-82FD-4680393FF5C1}"/>
              </a:ext>
            </a:extLst>
          </p:cNvPr>
          <p:cNvSpPr txBox="1"/>
          <p:nvPr/>
        </p:nvSpPr>
        <p:spPr>
          <a:xfrm>
            <a:off x="4289157" y="6016065"/>
            <a:ext cx="416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AB445C5-DD25-494B-9539-02A0A96F4256}"/>
              </a:ext>
            </a:extLst>
          </p:cNvPr>
          <p:cNvSpPr txBox="1"/>
          <p:nvPr/>
        </p:nvSpPr>
        <p:spPr>
          <a:xfrm>
            <a:off x="5431478" y="6053877"/>
            <a:ext cx="416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5F3D08-EB46-4D67-BB39-FE8492864BC6}"/>
              </a:ext>
            </a:extLst>
          </p:cNvPr>
          <p:cNvSpPr txBox="1"/>
          <p:nvPr/>
        </p:nvSpPr>
        <p:spPr>
          <a:xfrm>
            <a:off x="6702361" y="6153946"/>
            <a:ext cx="416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BC78E9B-F8E5-4501-8F7F-606180F8FF4B}"/>
              </a:ext>
            </a:extLst>
          </p:cNvPr>
          <p:cNvSpPr/>
          <p:nvPr/>
        </p:nvSpPr>
        <p:spPr>
          <a:xfrm>
            <a:off x="4890223" y="446982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24A6F6B-F03A-4102-B5C7-5C9F00CB1589}"/>
              </a:ext>
            </a:extLst>
          </p:cNvPr>
          <p:cNvSpPr/>
          <p:nvPr/>
        </p:nvSpPr>
        <p:spPr>
          <a:xfrm>
            <a:off x="5215454" y="4843470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612D0C5-5E83-458C-9CD7-7FB4DBC36725}"/>
              </a:ext>
            </a:extLst>
          </p:cNvPr>
          <p:cNvSpPr/>
          <p:nvPr/>
        </p:nvSpPr>
        <p:spPr>
          <a:xfrm>
            <a:off x="5531895" y="5112179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3554C57-748A-4A29-A515-F03C683F6BDE}"/>
              </a:ext>
            </a:extLst>
          </p:cNvPr>
          <p:cNvSpPr/>
          <p:nvPr/>
        </p:nvSpPr>
        <p:spPr>
          <a:xfrm>
            <a:off x="5902482" y="4855297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BB0A4B1-3BEA-4D0C-9EB0-B2153783A0D9}"/>
              </a:ext>
            </a:extLst>
          </p:cNvPr>
          <p:cNvSpPr/>
          <p:nvPr/>
        </p:nvSpPr>
        <p:spPr>
          <a:xfrm>
            <a:off x="6249059" y="447664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677FB8-247C-4E49-989E-9B1F312EB325}"/>
              </a:ext>
            </a:extLst>
          </p:cNvPr>
          <p:cNvCxnSpPr/>
          <p:nvPr/>
        </p:nvCxnSpPr>
        <p:spPr>
          <a:xfrm>
            <a:off x="4240102" y="5220180"/>
            <a:ext cx="26642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99F843B-32EF-4A10-B5B8-8DD546072A3A}"/>
              </a:ext>
            </a:extLst>
          </p:cNvPr>
          <p:cNvCxnSpPr>
            <a:cxnSpLocks/>
            <a:endCxn id="64" idx="1"/>
          </p:cNvCxnSpPr>
          <p:nvPr/>
        </p:nvCxnSpPr>
        <p:spPr>
          <a:xfrm>
            <a:off x="4761153" y="4160794"/>
            <a:ext cx="485937" cy="714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1E0FD688-FD51-4E28-8815-D8B03315C573}"/>
              </a:ext>
            </a:extLst>
          </p:cNvPr>
          <p:cNvSpPr/>
          <p:nvPr/>
        </p:nvSpPr>
        <p:spPr>
          <a:xfrm>
            <a:off x="4355976" y="5854734"/>
            <a:ext cx="216024" cy="21600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84D2C3C-D8AC-46BF-8A75-B6A6AD8AACE7}"/>
              </a:ext>
            </a:extLst>
          </p:cNvPr>
          <p:cNvSpPr/>
          <p:nvPr/>
        </p:nvSpPr>
        <p:spPr>
          <a:xfrm>
            <a:off x="4879616" y="5854734"/>
            <a:ext cx="216024" cy="21600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411C543-C347-4C65-8A45-F6A8842CE513}"/>
              </a:ext>
            </a:extLst>
          </p:cNvPr>
          <p:cNvSpPr/>
          <p:nvPr/>
        </p:nvSpPr>
        <p:spPr>
          <a:xfrm>
            <a:off x="5503674" y="5854734"/>
            <a:ext cx="216024" cy="21600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14355F-828A-4600-8A97-44F842DBDF7E}"/>
              </a:ext>
            </a:extLst>
          </p:cNvPr>
          <p:cNvSpPr txBox="1"/>
          <p:nvPr/>
        </p:nvSpPr>
        <p:spPr>
          <a:xfrm>
            <a:off x="3895063" y="4375156"/>
            <a:ext cx="500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FE5DCA-71CD-46D8-A207-AEA45AF9C52E}"/>
              </a:ext>
            </a:extLst>
          </p:cNvPr>
          <p:cNvCxnSpPr>
            <a:cxnSpLocks/>
            <a:stCxn id="71" idx="0"/>
          </p:cNvCxnSpPr>
          <p:nvPr/>
        </p:nvCxnSpPr>
        <p:spPr>
          <a:xfrm flipV="1">
            <a:off x="4987628" y="4367209"/>
            <a:ext cx="18162" cy="1487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E230D74-09FE-4A44-AFDC-9F1FBE373367}"/>
              </a:ext>
            </a:extLst>
          </p:cNvPr>
          <p:cNvSpPr txBox="1"/>
          <p:nvPr/>
        </p:nvSpPr>
        <p:spPr>
          <a:xfrm>
            <a:off x="4778014" y="6065857"/>
            <a:ext cx="476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0.5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DBE2966-85CC-4496-88E6-99D40BEF5A19}"/>
              </a:ext>
            </a:extLst>
          </p:cNvPr>
          <p:cNvCxnSpPr>
            <a:cxnSpLocks/>
          </p:cNvCxnSpPr>
          <p:nvPr/>
        </p:nvCxnSpPr>
        <p:spPr>
          <a:xfrm flipH="1">
            <a:off x="4384050" y="4567541"/>
            <a:ext cx="604428" cy="20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4E9298D9-9242-4C57-A2F7-1FD7A9C56886}"/>
              </a:ext>
            </a:extLst>
          </p:cNvPr>
          <p:cNvSpPr/>
          <p:nvPr/>
        </p:nvSpPr>
        <p:spPr>
          <a:xfrm>
            <a:off x="4322941" y="3279672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B1B2B9-B585-476F-A49D-1F31BDB53C62}"/>
              </a:ext>
            </a:extLst>
          </p:cNvPr>
          <p:cNvSpPr/>
          <p:nvPr/>
        </p:nvSpPr>
        <p:spPr>
          <a:xfrm>
            <a:off x="4527395" y="2430966"/>
            <a:ext cx="671644" cy="922065"/>
          </a:xfrm>
          <a:custGeom>
            <a:avLst/>
            <a:gdLst>
              <a:gd name="connsiteX0" fmla="*/ 579864 w 671644"/>
              <a:gd name="connsiteY0" fmla="*/ 0 h 1159727"/>
              <a:gd name="connsiteX1" fmla="*/ 624468 w 671644"/>
              <a:gd name="connsiteY1" fmla="*/ 947854 h 1159727"/>
              <a:gd name="connsiteX2" fmla="*/ 0 w 671644"/>
              <a:gd name="connsiteY2" fmla="*/ 1159727 h 1159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1644" h="1159727">
                <a:moveTo>
                  <a:pt x="579864" y="0"/>
                </a:moveTo>
                <a:cubicBezTo>
                  <a:pt x="650488" y="377283"/>
                  <a:pt x="721112" y="754566"/>
                  <a:pt x="624468" y="947854"/>
                </a:cubicBezTo>
                <a:cubicBezTo>
                  <a:pt x="527824" y="1141142"/>
                  <a:pt x="263912" y="1150434"/>
                  <a:pt x="0" y="1159727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415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47.5 Minimize Slope and Intercept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16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48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47.5 Minimize Slope and Intercept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9"/>
            <a:ext cx="8352928" cy="1440160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In Gradient Descent, we have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chemeClr val="tx1"/>
                </a:solidFill>
              </a:rPr>
              <a:t>Predicted Height = intercept + slope x Weight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rgbClr val="C00000"/>
                </a:solidFill>
              </a:rPr>
              <a:t>Our goal is to find the optimal value for intercept and slope.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For example, If we start with intercept = 0 and slope = 1, then we can use weight to predict height.</a:t>
            </a:r>
          </a:p>
          <a:p>
            <a:pPr algn="l">
              <a:buClr>
                <a:srgbClr val="0070C0"/>
              </a:buClr>
              <a:buSzPct val="80000"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https://www.youtube.com/watch?v=sDv4f4s2SB8&amp;list=PLblh5JKOoLUICTaGLRoHQDuF_7q2GfuJF&amp;index=50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17</a:t>
            </a:fld>
            <a:endParaRPr lang="zh-TW" alt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967411-432F-48F2-9BDA-628CD9F400F8}"/>
              </a:ext>
            </a:extLst>
          </p:cNvPr>
          <p:cNvCxnSpPr>
            <a:cxnSpLocks/>
          </p:cNvCxnSpPr>
          <p:nvPr/>
        </p:nvCxnSpPr>
        <p:spPr>
          <a:xfrm>
            <a:off x="1828058" y="5996311"/>
            <a:ext cx="26642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5DB7EE-4883-4459-9817-EF52644849AF}"/>
              </a:ext>
            </a:extLst>
          </p:cNvPr>
          <p:cNvCxnSpPr>
            <a:cxnSpLocks/>
          </p:cNvCxnSpPr>
          <p:nvPr/>
        </p:nvCxnSpPr>
        <p:spPr>
          <a:xfrm flipV="1">
            <a:off x="1828058" y="3764041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7EB611-F7B1-444F-A1CB-25EB3613E670}"/>
              </a:ext>
            </a:extLst>
          </p:cNvPr>
          <p:cNvCxnSpPr/>
          <p:nvPr/>
        </p:nvCxnSpPr>
        <p:spPr>
          <a:xfrm>
            <a:off x="2548138" y="59236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821BD6-21B7-4ABA-A86B-D9F0D95C50D1}"/>
              </a:ext>
            </a:extLst>
          </p:cNvPr>
          <p:cNvCxnSpPr/>
          <p:nvPr/>
        </p:nvCxnSpPr>
        <p:spPr>
          <a:xfrm>
            <a:off x="4204322" y="59236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FF755CB-E43C-47E7-B6DA-8DBFE3A93CAF}"/>
              </a:ext>
            </a:extLst>
          </p:cNvPr>
          <p:cNvCxnSpPr/>
          <p:nvPr/>
        </p:nvCxnSpPr>
        <p:spPr>
          <a:xfrm>
            <a:off x="3412234" y="596479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67C220-32E9-4DDC-9E7C-3DBD1D4074C3}"/>
              </a:ext>
            </a:extLst>
          </p:cNvPr>
          <p:cNvCxnSpPr>
            <a:cxnSpLocks/>
          </p:cNvCxnSpPr>
          <p:nvPr/>
        </p:nvCxnSpPr>
        <p:spPr>
          <a:xfrm>
            <a:off x="1630526" y="426811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2B6E92-51F0-4D73-B3DC-3198E91ED3EB}"/>
              </a:ext>
            </a:extLst>
          </p:cNvPr>
          <p:cNvCxnSpPr>
            <a:cxnSpLocks/>
          </p:cNvCxnSpPr>
          <p:nvPr/>
        </p:nvCxnSpPr>
        <p:spPr>
          <a:xfrm>
            <a:off x="1630526" y="534823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3D18E3-A5A8-421F-A0B6-3AB72B67C4F8}"/>
              </a:ext>
            </a:extLst>
          </p:cNvPr>
          <p:cNvCxnSpPr>
            <a:cxnSpLocks/>
          </p:cNvCxnSpPr>
          <p:nvPr/>
        </p:nvCxnSpPr>
        <p:spPr>
          <a:xfrm>
            <a:off x="1630526" y="4772175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BF0EE7-55F7-44AE-8F65-24483ED2EA6A}"/>
              </a:ext>
            </a:extLst>
          </p:cNvPr>
          <p:cNvCxnSpPr>
            <a:cxnSpLocks/>
          </p:cNvCxnSpPr>
          <p:nvPr/>
        </p:nvCxnSpPr>
        <p:spPr>
          <a:xfrm flipH="1">
            <a:off x="1630526" y="3909275"/>
            <a:ext cx="2359732" cy="182398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B0B4E20-0B2C-4446-8EEB-DFDB9BA8DF04}"/>
              </a:ext>
            </a:extLst>
          </p:cNvPr>
          <p:cNvSpPr/>
          <p:nvPr/>
        </p:nvSpPr>
        <p:spPr>
          <a:xfrm>
            <a:off x="2945389" y="5057344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DC8034C-9910-42B5-926A-5DCEF182A86E}"/>
              </a:ext>
            </a:extLst>
          </p:cNvPr>
          <p:cNvSpPr/>
          <p:nvPr/>
        </p:nvSpPr>
        <p:spPr>
          <a:xfrm>
            <a:off x="3441843" y="3699322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2901A95-0CD4-4651-8B53-18B3006C7DA0}"/>
              </a:ext>
            </a:extLst>
          </p:cNvPr>
          <p:cNvSpPr/>
          <p:nvPr/>
        </p:nvSpPr>
        <p:spPr>
          <a:xfrm>
            <a:off x="2302397" y="442246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8A2BC2-AE58-427B-89F0-7CCC7DED53AE}"/>
              </a:ext>
            </a:extLst>
          </p:cNvPr>
          <p:cNvSpPr txBox="1"/>
          <p:nvPr/>
        </p:nvSpPr>
        <p:spPr>
          <a:xfrm>
            <a:off x="3593457" y="4892669"/>
            <a:ext cx="4680505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Predicted Height  = Intercept + slope x Weight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8F7DD9-AFA8-4E59-88C8-D39C6192A475}"/>
              </a:ext>
            </a:extLst>
          </p:cNvPr>
          <p:cNvSpPr txBox="1"/>
          <p:nvPr/>
        </p:nvSpPr>
        <p:spPr>
          <a:xfrm>
            <a:off x="3994424" y="6238284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E0BCC4-1A64-4273-93F5-63D1B9CCCD9E}"/>
              </a:ext>
            </a:extLst>
          </p:cNvPr>
          <p:cNvSpPr txBox="1"/>
          <p:nvPr/>
        </p:nvSpPr>
        <p:spPr>
          <a:xfrm>
            <a:off x="842653" y="4288269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2DA0EB-2D6E-4D8D-ADC3-0205ECDEFE8C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1828058" y="5057344"/>
            <a:ext cx="3637607" cy="675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BD0C29-9EFD-4A62-8FAC-9D24170D4709}"/>
              </a:ext>
            </a:extLst>
          </p:cNvPr>
          <p:cNvCxnSpPr>
            <a:cxnSpLocks/>
            <a:stCxn id="36" idx="0"/>
          </p:cNvCxnSpPr>
          <p:nvPr/>
        </p:nvCxnSpPr>
        <p:spPr>
          <a:xfrm flipH="1" flipV="1">
            <a:off x="3844282" y="4031764"/>
            <a:ext cx="2953527" cy="88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966910D-C8CF-41ED-8D92-113430AC5FB6}"/>
              </a:ext>
            </a:extLst>
          </p:cNvPr>
          <p:cNvSpPr/>
          <p:nvPr/>
        </p:nvSpPr>
        <p:spPr>
          <a:xfrm>
            <a:off x="5465665" y="4888043"/>
            <a:ext cx="936104" cy="3386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C90DAD-0C15-4EB3-95AE-7F3F7771241E}"/>
              </a:ext>
            </a:extLst>
          </p:cNvPr>
          <p:cNvSpPr/>
          <p:nvPr/>
        </p:nvSpPr>
        <p:spPr>
          <a:xfrm>
            <a:off x="6545777" y="4914107"/>
            <a:ext cx="504064" cy="3386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35760CB-3C23-4649-B9B8-7629CB357A18}"/>
              </a:ext>
            </a:extLst>
          </p:cNvPr>
          <p:cNvSpPr/>
          <p:nvPr/>
        </p:nvSpPr>
        <p:spPr>
          <a:xfrm>
            <a:off x="4591053" y="3827640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47.5 Minimize Slope and Intercept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75348"/>
            <a:ext cx="8352928" cy="1930280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Then we can use </a:t>
            </a:r>
            <a:r>
              <a:rPr lang="en-US" sz="1600" b="1" dirty="0">
                <a:solidFill>
                  <a:schemeClr val="tx1"/>
                </a:solidFill>
              </a:rPr>
              <a:t>sum of the squared residuals </a:t>
            </a:r>
            <a:r>
              <a:rPr lang="en-US" sz="1600" dirty="0">
                <a:solidFill>
                  <a:schemeClr val="tx1"/>
                </a:solidFill>
              </a:rPr>
              <a:t>as the </a:t>
            </a:r>
            <a:r>
              <a:rPr lang="en-US" sz="1600" b="1" dirty="0">
                <a:solidFill>
                  <a:schemeClr val="tx1"/>
                </a:solidFill>
              </a:rPr>
              <a:t>Loss Function </a:t>
            </a:r>
            <a:r>
              <a:rPr lang="en-US" sz="1600" dirty="0">
                <a:solidFill>
                  <a:schemeClr val="tx1"/>
                </a:solidFill>
              </a:rPr>
              <a:t>to determine how well of the initial line fit the data.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Note: In Machine Learning ling, the </a:t>
            </a:r>
            <a:r>
              <a:rPr lang="en-US" sz="1600" b="1" dirty="0">
                <a:solidFill>
                  <a:schemeClr val="tx1"/>
                </a:solidFill>
              </a:rPr>
              <a:t>Sum of the squared Residuals </a:t>
            </a:r>
            <a:r>
              <a:rPr lang="en-US" sz="1600" dirty="0">
                <a:solidFill>
                  <a:schemeClr val="tx1"/>
                </a:solidFill>
              </a:rPr>
              <a:t>is a type of </a:t>
            </a:r>
            <a:r>
              <a:rPr lang="en-US" sz="1600" b="1" dirty="0">
                <a:solidFill>
                  <a:schemeClr val="tx1"/>
                </a:solidFill>
              </a:rPr>
              <a:t>Loss Function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Sum of the squared residuals = (Observed Height – Predicted Height)</a:t>
            </a:r>
            <a:r>
              <a:rPr lang="en-US" sz="1600" baseline="30000" dirty="0">
                <a:solidFill>
                  <a:schemeClr val="tx1"/>
                </a:solidFill>
              </a:rPr>
              <a:t>2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To find the optimal value, we plug in the equation for the prediction.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Sum of the squared residuals = (Observed Height – (Intercept + slope x Weight))</a:t>
            </a:r>
            <a:r>
              <a:rPr lang="en-US" sz="1600" baseline="30000" dirty="0">
                <a:solidFill>
                  <a:schemeClr val="tx1"/>
                </a:solidFill>
              </a:rPr>
              <a:t>2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https://www.youtube.com/watch?v=sDv4f4s2SB8&amp;list=PLblh5JKOoLUICTaGLRoHQDuF_7q2GfuJF&amp;index=50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18</a:t>
            </a:fld>
            <a:endParaRPr lang="zh-TW" alt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967411-432F-48F2-9BDA-628CD9F400F8}"/>
              </a:ext>
            </a:extLst>
          </p:cNvPr>
          <p:cNvCxnSpPr>
            <a:cxnSpLocks/>
          </p:cNvCxnSpPr>
          <p:nvPr/>
        </p:nvCxnSpPr>
        <p:spPr>
          <a:xfrm>
            <a:off x="1828058" y="5996311"/>
            <a:ext cx="26642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5DB7EE-4883-4459-9817-EF52644849AF}"/>
              </a:ext>
            </a:extLst>
          </p:cNvPr>
          <p:cNvCxnSpPr>
            <a:cxnSpLocks/>
          </p:cNvCxnSpPr>
          <p:nvPr/>
        </p:nvCxnSpPr>
        <p:spPr>
          <a:xfrm flipV="1">
            <a:off x="1828058" y="3764041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7EB611-F7B1-444F-A1CB-25EB3613E670}"/>
              </a:ext>
            </a:extLst>
          </p:cNvPr>
          <p:cNvCxnSpPr/>
          <p:nvPr/>
        </p:nvCxnSpPr>
        <p:spPr>
          <a:xfrm>
            <a:off x="2548138" y="59236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821BD6-21B7-4ABA-A86B-D9F0D95C50D1}"/>
              </a:ext>
            </a:extLst>
          </p:cNvPr>
          <p:cNvCxnSpPr/>
          <p:nvPr/>
        </p:nvCxnSpPr>
        <p:spPr>
          <a:xfrm>
            <a:off x="4204322" y="59236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FF755CB-E43C-47E7-B6DA-8DBFE3A93CAF}"/>
              </a:ext>
            </a:extLst>
          </p:cNvPr>
          <p:cNvCxnSpPr/>
          <p:nvPr/>
        </p:nvCxnSpPr>
        <p:spPr>
          <a:xfrm>
            <a:off x="3412234" y="596479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67C220-32E9-4DDC-9E7C-3DBD1D4074C3}"/>
              </a:ext>
            </a:extLst>
          </p:cNvPr>
          <p:cNvCxnSpPr>
            <a:cxnSpLocks/>
          </p:cNvCxnSpPr>
          <p:nvPr/>
        </p:nvCxnSpPr>
        <p:spPr>
          <a:xfrm>
            <a:off x="1630526" y="426811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2B6E92-51F0-4D73-B3DC-3198E91ED3EB}"/>
              </a:ext>
            </a:extLst>
          </p:cNvPr>
          <p:cNvCxnSpPr>
            <a:cxnSpLocks/>
          </p:cNvCxnSpPr>
          <p:nvPr/>
        </p:nvCxnSpPr>
        <p:spPr>
          <a:xfrm>
            <a:off x="1630526" y="534823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3D18E3-A5A8-421F-A0B6-3AB72B67C4F8}"/>
              </a:ext>
            </a:extLst>
          </p:cNvPr>
          <p:cNvCxnSpPr>
            <a:cxnSpLocks/>
          </p:cNvCxnSpPr>
          <p:nvPr/>
        </p:nvCxnSpPr>
        <p:spPr>
          <a:xfrm>
            <a:off x="1630526" y="4772175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BF0EE7-55F7-44AE-8F65-24483ED2EA6A}"/>
              </a:ext>
            </a:extLst>
          </p:cNvPr>
          <p:cNvCxnSpPr>
            <a:cxnSpLocks/>
          </p:cNvCxnSpPr>
          <p:nvPr/>
        </p:nvCxnSpPr>
        <p:spPr>
          <a:xfrm flipH="1">
            <a:off x="1630526" y="3909275"/>
            <a:ext cx="2359732" cy="17990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B0B4E20-0B2C-4446-8EEB-DFDB9BA8DF04}"/>
              </a:ext>
            </a:extLst>
          </p:cNvPr>
          <p:cNvSpPr/>
          <p:nvPr/>
        </p:nvSpPr>
        <p:spPr>
          <a:xfrm>
            <a:off x="2945389" y="5057344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DC8034C-9910-42B5-926A-5DCEF182A86E}"/>
              </a:ext>
            </a:extLst>
          </p:cNvPr>
          <p:cNvSpPr/>
          <p:nvPr/>
        </p:nvSpPr>
        <p:spPr>
          <a:xfrm>
            <a:off x="3441843" y="3699322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2901A95-0CD4-4651-8B53-18B3006C7DA0}"/>
              </a:ext>
            </a:extLst>
          </p:cNvPr>
          <p:cNvSpPr/>
          <p:nvPr/>
        </p:nvSpPr>
        <p:spPr>
          <a:xfrm>
            <a:off x="2302397" y="442246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8A2BC2-AE58-427B-89F0-7CCC7DED53AE}"/>
              </a:ext>
            </a:extLst>
          </p:cNvPr>
          <p:cNvSpPr txBox="1"/>
          <p:nvPr/>
        </p:nvSpPr>
        <p:spPr>
          <a:xfrm>
            <a:off x="3593457" y="4892669"/>
            <a:ext cx="4680505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Predicted Height  = Intercept + slope x Weight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8F7DD9-AFA8-4E59-88C8-D39C6192A475}"/>
              </a:ext>
            </a:extLst>
          </p:cNvPr>
          <p:cNvSpPr txBox="1"/>
          <p:nvPr/>
        </p:nvSpPr>
        <p:spPr>
          <a:xfrm>
            <a:off x="3994424" y="6238284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E0BCC4-1A64-4273-93F5-63D1B9CCCD9E}"/>
              </a:ext>
            </a:extLst>
          </p:cNvPr>
          <p:cNvSpPr txBox="1"/>
          <p:nvPr/>
        </p:nvSpPr>
        <p:spPr>
          <a:xfrm>
            <a:off x="842653" y="4288269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2DA0EB-2D6E-4D8D-ADC3-0205ECDEFE8C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1828058" y="5057344"/>
            <a:ext cx="3637607" cy="761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BD0C29-9EFD-4A62-8FAC-9D24170D4709}"/>
              </a:ext>
            </a:extLst>
          </p:cNvPr>
          <p:cNvCxnSpPr>
            <a:cxnSpLocks/>
            <a:stCxn id="36" idx="0"/>
          </p:cNvCxnSpPr>
          <p:nvPr/>
        </p:nvCxnSpPr>
        <p:spPr>
          <a:xfrm flipH="1" flipV="1">
            <a:off x="3844282" y="4031764"/>
            <a:ext cx="2953527" cy="88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966910D-C8CF-41ED-8D92-113430AC5FB6}"/>
              </a:ext>
            </a:extLst>
          </p:cNvPr>
          <p:cNvSpPr/>
          <p:nvPr/>
        </p:nvSpPr>
        <p:spPr>
          <a:xfrm>
            <a:off x="5465665" y="4888043"/>
            <a:ext cx="936104" cy="3386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C90DAD-0C15-4EB3-95AE-7F3F7771241E}"/>
              </a:ext>
            </a:extLst>
          </p:cNvPr>
          <p:cNvSpPr/>
          <p:nvPr/>
        </p:nvSpPr>
        <p:spPr>
          <a:xfrm>
            <a:off x="6545777" y="4914107"/>
            <a:ext cx="504064" cy="3386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B8BE1F0-D2FA-4118-BB88-068762E62629}"/>
              </a:ext>
            </a:extLst>
          </p:cNvPr>
          <p:cNvCxnSpPr>
            <a:cxnSpLocks/>
          </p:cNvCxnSpPr>
          <p:nvPr/>
        </p:nvCxnSpPr>
        <p:spPr>
          <a:xfrm>
            <a:off x="2428256" y="4657815"/>
            <a:ext cx="0" cy="49384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2D220F4-7897-4899-9705-D7BDA5C7C503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053401" y="4657601"/>
            <a:ext cx="0" cy="39974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2300E58-F0AA-4693-ABF3-B8EBF28D605C}"/>
              </a:ext>
            </a:extLst>
          </p:cNvPr>
          <p:cNvCxnSpPr>
            <a:cxnSpLocks/>
          </p:cNvCxnSpPr>
          <p:nvPr/>
        </p:nvCxnSpPr>
        <p:spPr>
          <a:xfrm>
            <a:off x="3575613" y="3909275"/>
            <a:ext cx="0" cy="39974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224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47.5 Minimize Slope and Intercept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8"/>
                <a:ext cx="8352928" cy="1605738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Find the optimal value for intercept and Slope</a:t>
                </a:r>
                <a:r>
                  <a:rPr lang="en-US" sz="16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Sum of the squared residuals = (Observed Height – (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Intercept + slope </a:t>
                </a:r>
                <a:r>
                  <a:rPr lang="en-US" sz="1600" dirty="0">
                    <a:solidFill>
                      <a:schemeClr val="tx1"/>
                    </a:solidFill>
                  </a:rPr>
                  <a:t>x Weight))</a:t>
                </a:r>
                <a:r>
                  <a:rPr lang="en-US" sz="1600" baseline="30000" dirty="0">
                    <a:solidFill>
                      <a:schemeClr val="tx1"/>
                    </a:solidFill>
                  </a:rPr>
                  <a:t>2</a:t>
                </a:r>
                <a:endParaRPr lang="en-US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Then, we take the derivate of the sum of the residuals with respect to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intercept</a:t>
                </a:r>
                <a:r>
                  <a:rPr lang="en-US" sz="1600" dirty="0">
                    <a:solidFill>
                      <a:schemeClr val="tx1"/>
                    </a:solidFill>
                  </a:rPr>
                  <a:t>.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Intecpet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(Observed Height – (Intercept + slope x Weight))</a:t>
                </a: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8"/>
                <a:ext cx="8352928" cy="1605738"/>
              </a:xfrm>
              <a:blipFill>
                <a:blip r:embed="rId2"/>
                <a:stretch>
                  <a:fillRect t="-755" b="-8679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https://www.youtube.com/watch?v=vMh0zPT0tLI&amp;list=PLblh5JKOoLUICTaGLRoHQDuF_7q2GfuJF&amp;index=48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19</a:t>
            </a:fld>
            <a:endParaRPr lang="zh-TW" alt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967411-432F-48F2-9BDA-628CD9F400F8}"/>
              </a:ext>
            </a:extLst>
          </p:cNvPr>
          <p:cNvCxnSpPr>
            <a:cxnSpLocks/>
          </p:cNvCxnSpPr>
          <p:nvPr/>
        </p:nvCxnSpPr>
        <p:spPr>
          <a:xfrm>
            <a:off x="1828058" y="5996311"/>
            <a:ext cx="26642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5DB7EE-4883-4459-9817-EF52644849AF}"/>
              </a:ext>
            </a:extLst>
          </p:cNvPr>
          <p:cNvCxnSpPr>
            <a:cxnSpLocks/>
          </p:cNvCxnSpPr>
          <p:nvPr/>
        </p:nvCxnSpPr>
        <p:spPr>
          <a:xfrm flipV="1">
            <a:off x="1828058" y="3764041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7EB611-F7B1-444F-A1CB-25EB3613E670}"/>
              </a:ext>
            </a:extLst>
          </p:cNvPr>
          <p:cNvCxnSpPr/>
          <p:nvPr/>
        </p:nvCxnSpPr>
        <p:spPr>
          <a:xfrm>
            <a:off x="2548138" y="59236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821BD6-21B7-4ABA-A86B-D9F0D95C50D1}"/>
              </a:ext>
            </a:extLst>
          </p:cNvPr>
          <p:cNvCxnSpPr/>
          <p:nvPr/>
        </p:nvCxnSpPr>
        <p:spPr>
          <a:xfrm>
            <a:off x="4204322" y="59236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FF755CB-E43C-47E7-B6DA-8DBFE3A93CAF}"/>
              </a:ext>
            </a:extLst>
          </p:cNvPr>
          <p:cNvCxnSpPr/>
          <p:nvPr/>
        </p:nvCxnSpPr>
        <p:spPr>
          <a:xfrm>
            <a:off x="3412234" y="596479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67C220-32E9-4DDC-9E7C-3DBD1D4074C3}"/>
              </a:ext>
            </a:extLst>
          </p:cNvPr>
          <p:cNvCxnSpPr>
            <a:cxnSpLocks/>
          </p:cNvCxnSpPr>
          <p:nvPr/>
        </p:nvCxnSpPr>
        <p:spPr>
          <a:xfrm>
            <a:off x="1630526" y="426811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2B6E92-51F0-4D73-B3DC-3198E91ED3EB}"/>
              </a:ext>
            </a:extLst>
          </p:cNvPr>
          <p:cNvCxnSpPr>
            <a:cxnSpLocks/>
          </p:cNvCxnSpPr>
          <p:nvPr/>
        </p:nvCxnSpPr>
        <p:spPr>
          <a:xfrm>
            <a:off x="1630526" y="534823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3D18E3-A5A8-421F-A0B6-3AB72B67C4F8}"/>
              </a:ext>
            </a:extLst>
          </p:cNvPr>
          <p:cNvCxnSpPr>
            <a:cxnSpLocks/>
          </p:cNvCxnSpPr>
          <p:nvPr/>
        </p:nvCxnSpPr>
        <p:spPr>
          <a:xfrm>
            <a:off x="1630526" y="4772175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BF0EE7-55F7-44AE-8F65-24483ED2EA6A}"/>
              </a:ext>
            </a:extLst>
          </p:cNvPr>
          <p:cNvCxnSpPr>
            <a:cxnSpLocks/>
          </p:cNvCxnSpPr>
          <p:nvPr/>
        </p:nvCxnSpPr>
        <p:spPr>
          <a:xfrm flipH="1">
            <a:off x="1630526" y="3909275"/>
            <a:ext cx="2359732" cy="17990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B0B4E20-0B2C-4446-8EEB-DFDB9BA8DF04}"/>
              </a:ext>
            </a:extLst>
          </p:cNvPr>
          <p:cNvSpPr/>
          <p:nvPr/>
        </p:nvSpPr>
        <p:spPr>
          <a:xfrm>
            <a:off x="2945389" y="5057344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DC8034C-9910-42B5-926A-5DCEF182A86E}"/>
              </a:ext>
            </a:extLst>
          </p:cNvPr>
          <p:cNvSpPr/>
          <p:nvPr/>
        </p:nvSpPr>
        <p:spPr>
          <a:xfrm>
            <a:off x="3441843" y="3699322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2901A95-0CD4-4651-8B53-18B3006C7DA0}"/>
              </a:ext>
            </a:extLst>
          </p:cNvPr>
          <p:cNvSpPr/>
          <p:nvPr/>
        </p:nvSpPr>
        <p:spPr>
          <a:xfrm>
            <a:off x="2302397" y="442246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8A2BC2-AE58-427B-89F0-7CCC7DED53AE}"/>
              </a:ext>
            </a:extLst>
          </p:cNvPr>
          <p:cNvSpPr txBox="1"/>
          <p:nvPr/>
        </p:nvSpPr>
        <p:spPr>
          <a:xfrm>
            <a:off x="3593457" y="4892669"/>
            <a:ext cx="4680505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Predicted Height  = Intercept + slope x Weight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8F7DD9-AFA8-4E59-88C8-D39C6192A475}"/>
              </a:ext>
            </a:extLst>
          </p:cNvPr>
          <p:cNvSpPr txBox="1"/>
          <p:nvPr/>
        </p:nvSpPr>
        <p:spPr>
          <a:xfrm>
            <a:off x="3994424" y="6238284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E0BCC4-1A64-4273-93F5-63D1B9CCCD9E}"/>
              </a:ext>
            </a:extLst>
          </p:cNvPr>
          <p:cNvSpPr txBox="1"/>
          <p:nvPr/>
        </p:nvSpPr>
        <p:spPr>
          <a:xfrm>
            <a:off x="842653" y="4288269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2DA0EB-2D6E-4D8D-ADC3-0205ECDEFE8C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1828058" y="5057344"/>
            <a:ext cx="3637607" cy="761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BD0C29-9EFD-4A62-8FAC-9D24170D4709}"/>
              </a:ext>
            </a:extLst>
          </p:cNvPr>
          <p:cNvCxnSpPr>
            <a:cxnSpLocks/>
            <a:stCxn id="36" idx="0"/>
          </p:cNvCxnSpPr>
          <p:nvPr/>
        </p:nvCxnSpPr>
        <p:spPr>
          <a:xfrm flipH="1" flipV="1">
            <a:off x="3844282" y="4031764"/>
            <a:ext cx="2953527" cy="88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966910D-C8CF-41ED-8D92-113430AC5FB6}"/>
              </a:ext>
            </a:extLst>
          </p:cNvPr>
          <p:cNvSpPr/>
          <p:nvPr/>
        </p:nvSpPr>
        <p:spPr>
          <a:xfrm>
            <a:off x="5465665" y="4888043"/>
            <a:ext cx="936104" cy="3386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C90DAD-0C15-4EB3-95AE-7F3F7771241E}"/>
              </a:ext>
            </a:extLst>
          </p:cNvPr>
          <p:cNvSpPr/>
          <p:nvPr/>
        </p:nvSpPr>
        <p:spPr>
          <a:xfrm>
            <a:off x="6545777" y="4914107"/>
            <a:ext cx="504064" cy="3386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B8BE1F0-D2FA-4118-BB88-068762E62629}"/>
              </a:ext>
            </a:extLst>
          </p:cNvPr>
          <p:cNvCxnSpPr>
            <a:cxnSpLocks/>
          </p:cNvCxnSpPr>
          <p:nvPr/>
        </p:nvCxnSpPr>
        <p:spPr>
          <a:xfrm>
            <a:off x="2428256" y="4657815"/>
            <a:ext cx="0" cy="49384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2D220F4-7897-4899-9705-D7BDA5C7C503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053401" y="4657601"/>
            <a:ext cx="0" cy="39974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2300E58-F0AA-4693-ABF3-B8EBF28D605C}"/>
              </a:ext>
            </a:extLst>
          </p:cNvPr>
          <p:cNvCxnSpPr>
            <a:cxnSpLocks/>
          </p:cNvCxnSpPr>
          <p:nvPr/>
        </p:nvCxnSpPr>
        <p:spPr>
          <a:xfrm>
            <a:off x="3575613" y="3909275"/>
            <a:ext cx="0" cy="39974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541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47.5 Minimize Slope and Intercept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2493852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Find the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Optimal value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of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Sum of Squared Residual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for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Intercept:</a:t>
                </a:r>
                <a:endParaRPr lang="en-US" sz="1600" baseline="300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Intercept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(Observed Height – (Intercept + slope x Weight))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For the above equation, plug in the data in the below diagram with initial intercept = 0 and slope = 1: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Intercept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(1.4 - (0 + 1 x 0.5))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(1.9– (0 + 1 x 2.3)) + -2 (3.2– (0 + 1 x 2.9))</a:t>
                </a: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2493852"/>
              </a:xfrm>
              <a:blipFill>
                <a:blip r:embed="rId2"/>
                <a:stretch>
                  <a:fillRect t="-487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https://www.youtube.com/watch?v=vMh0zPT0tLI&amp;list=PLblh5JKOoLUICTaGLRoHQDuF_7q2GfuJF&amp;index=48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20</a:t>
            </a:fld>
            <a:endParaRPr lang="zh-TW" alt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967411-432F-48F2-9BDA-628CD9F400F8}"/>
              </a:ext>
            </a:extLst>
          </p:cNvPr>
          <p:cNvCxnSpPr>
            <a:cxnSpLocks/>
          </p:cNvCxnSpPr>
          <p:nvPr/>
        </p:nvCxnSpPr>
        <p:spPr>
          <a:xfrm>
            <a:off x="2699792" y="6332717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5DB7EE-4883-4459-9817-EF52644849AF}"/>
              </a:ext>
            </a:extLst>
          </p:cNvPr>
          <p:cNvCxnSpPr>
            <a:cxnSpLocks/>
          </p:cNvCxnSpPr>
          <p:nvPr/>
        </p:nvCxnSpPr>
        <p:spPr>
          <a:xfrm flipV="1">
            <a:off x="2699792" y="4100447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7EB611-F7B1-444F-A1CB-25EB3613E670}"/>
              </a:ext>
            </a:extLst>
          </p:cNvPr>
          <p:cNvCxnSpPr/>
          <p:nvPr/>
        </p:nvCxnSpPr>
        <p:spPr>
          <a:xfrm>
            <a:off x="3715542" y="630119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821BD6-21B7-4ABA-A86B-D9F0D95C50D1}"/>
              </a:ext>
            </a:extLst>
          </p:cNvPr>
          <p:cNvCxnSpPr/>
          <p:nvPr/>
        </p:nvCxnSpPr>
        <p:spPr>
          <a:xfrm>
            <a:off x="5346902" y="6241948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FF755CB-E43C-47E7-B6DA-8DBFE3A93CAF}"/>
              </a:ext>
            </a:extLst>
          </p:cNvPr>
          <p:cNvCxnSpPr/>
          <p:nvPr/>
        </p:nvCxnSpPr>
        <p:spPr>
          <a:xfrm>
            <a:off x="4518266" y="630119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67C220-32E9-4DDC-9E7C-3DBD1D4074C3}"/>
              </a:ext>
            </a:extLst>
          </p:cNvPr>
          <p:cNvCxnSpPr>
            <a:cxnSpLocks/>
          </p:cNvCxnSpPr>
          <p:nvPr/>
        </p:nvCxnSpPr>
        <p:spPr>
          <a:xfrm>
            <a:off x="2483768" y="4604525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2B6E92-51F0-4D73-B3DC-3198E91ED3EB}"/>
              </a:ext>
            </a:extLst>
          </p:cNvPr>
          <p:cNvCxnSpPr>
            <a:cxnSpLocks/>
          </p:cNvCxnSpPr>
          <p:nvPr/>
        </p:nvCxnSpPr>
        <p:spPr>
          <a:xfrm>
            <a:off x="2502260" y="5837300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3D18E3-A5A8-421F-A0B6-3AB72B67C4F8}"/>
              </a:ext>
            </a:extLst>
          </p:cNvPr>
          <p:cNvCxnSpPr>
            <a:cxnSpLocks/>
          </p:cNvCxnSpPr>
          <p:nvPr/>
        </p:nvCxnSpPr>
        <p:spPr>
          <a:xfrm>
            <a:off x="2483768" y="519734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BF0EE7-55F7-44AE-8F65-24483ED2EA6A}"/>
              </a:ext>
            </a:extLst>
          </p:cNvPr>
          <p:cNvCxnSpPr>
            <a:cxnSpLocks/>
          </p:cNvCxnSpPr>
          <p:nvPr/>
        </p:nvCxnSpPr>
        <p:spPr>
          <a:xfrm flipH="1">
            <a:off x="2699792" y="3976234"/>
            <a:ext cx="3100163" cy="23249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B0B4E20-0B2C-4446-8EEB-DFDB9BA8DF04}"/>
              </a:ext>
            </a:extLst>
          </p:cNvPr>
          <p:cNvSpPr/>
          <p:nvPr/>
        </p:nvSpPr>
        <p:spPr>
          <a:xfrm>
            <a:off x="4536110" y="501767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DC8034C-9910-42B5-926A-5DCEF182A86E}"/>
              </a:ext>
            </a:extLst>
          </p:cNvPr>
          <p:cNvSpPr/>
          <p:nvPr/>
        </p:nvSpPr>
        <p:spPr>
          <a:xfrm>
            <a:off x="5011686" y="4100447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2901A95-0CD4-4651-8B53-18B3006C7DA0}"/>
              </a:ext>
            </a:extLst>
          </p:cNvPr>
          <p:cNvSpPr/>
          <p:nvPr/>
        </p:nvSpPr>
        <p:spPr>
          <a:xfrm>
            <a:off x="3239457" y="548265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8F7DD9-AFA8-4E59-88C8-D39C6192A475}"/>
              </a:ext>
            </a:extLst>
          </p:cNvPr>
          <p:cNvSpPr txBox="1"/>
          <p:nvPr/>
        </p:nvSpPr>
        <p:spPr>
          <a:xfrm>
            <a:off x="5671484" y="6481785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E0BCC4-1A64-4273-93F5-63D1B9CCCD9E}"/>
              </a:ext>
            </a:extLst>
          </p:cNvPr>
          <p:cNvSpPr txBox="1"/>
          <p:nvPr/>
        </p:nvSpPr>
        <p:spPr>
          <a:xfrm>
            <a:off x="1714387" y="4624675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B8BE1F0-D2FA-4118-BB88-068762E62629}"/>
              </a:ext>
            </a:extLst>
          </p:cNvPr>
          <p:cNvCxnSpPr>
            <a:cxnSpLocks/>
          </p:cNvCxnSpPr>
          <p:nvPr/>
        </p:nvCxnSpPr>
        <p:spPr>
          <a:xfrm flipV="1">
            <a:off x="3347469" y="5680210"/>
            <a:ext cx="0" cy="12505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2D220F4-7897-4899-9705-D7BDA5C7C503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4644122" y="4831218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2300E58-F0AA-4693-ABF3-B8EBF28D605C}"/>
              </a:ext>
            </a:extLst>
          </p:cNvPr>
          <p:cNvCxnSpPr>
            <a:cxnSpLocks/>
          </p:cNvCxnSpPr>
          <p:nvPr/>
        </p:nvCxnSpPr>
        <p:spPr>
          <a:xfrm>
            <a:off x="5145456" y="4310400"/>
            <a:ext cx="0" cy="1987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2A14916-2726-402A-BF4A-F274D931BC8D}"/>
              </a:ext>
            </a:extLst>
          </p:cNvPr>
          <p:cNvSpPr txBox="1"/>
          <p:nvPr/>
        </p:nvSpPr>
        <p:spPr>
          <a:xfrm>
            <a:off x="6037382" y="4871420"/>
            <a:ext cx="2440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with intercept = 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ED8A9-3F22-4C35-A12B-DF46C63300B9}"/>
              </a:ext>
            </a:extLst>
          </p:cNvPr>
          <p:cNvSpPr txBox="1"/>
          <p:nvPr/>
        </p:nvSpPr>
        <p:spPr>
          <a:xfrm>
            <a:off x="5671483" y="5435932"/>
            <a:ext cx="3220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optimal value of Sum of Residual for Intercept</a:t>
            </a:r>
          </a:p>
        </p:txBody>
      </p:sp>
      <p:sp>
        <p:nvSpPr>
          <p:cNvPr id="30" name="Multiplication Sign 29">
            <a:extLst>
              <a:ext uri="{FF2B5EF4-FFF2-40B4-BE49-F238E27FC236}">
                <a16:creationId xmlns:a16="http://schemas.microsoft.com/office/drawing/2014/main" id="{EF35C03E-3216-4E13-9F56-25397B2B6E33}"/>
              </a:ext>
            </a:extLst>
          </p:cNvPr>
          <p:cNvSpPr/>
          <p:nvPr/>
        </p:nvSpPr>
        <p:spPr>
          <a:xfrm>
            <a:off x="3208530" y="6265007"/>
            <a:ext cx="211997" cy="192206"/>
          </a:xfrm>
          <a:prstGeom prst="mathMultiply">
            <a:avLst/>
          </a:pr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1388BC-69A4-462B-89C2-5E69E90A0C15}"/>
              </a:ext>
            </a:extLst>
          </p:cNvPr>
          <p:cNvSpPr txBox="1"/>
          <p:nvPr/>
        </p:nvSpPr>
        <p:spPr>
          <a:xfrm>
            <a:off x="3141702" y="6010163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0.5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EA389E-0F61-4724-BB3A-AC1D7A391342}"/>
              </a:ext>
            </a:extLst>
          </p:cNvPr>
          <p:cNvSpPr txBox="1"/>
          <p:nvPr/>
        </p:nvSpPr>
        <p:spPr>
          <a:xfrm>
            <a:off x="5088120" y="5946712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286B2F-A2AD-4A46-AB9D-9E1728FAFF94}"/>
              </a:ext>
            </a:extLst>
          </p:cNvPr>
          <p:cNvSpPr txBox="1"/>
          <p:nvPr/>
        </p:nvSpPr>
        <p:spPr>
          <a:xfrm>
            <a:off x="4465984" y="5926453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2.3</a:t>
            </a:r>
          </a:p>
        </p:txBody>
      </p:sp>
      <p:sp>
        <p:nvSpPr>
          <p:cNvPr id="34" name="Multiplication Sign 33">
            <a:extLst>
              <a:ext uri="{FF2B5EF4-FFF2-40B4-BE49-F238E27FC236}">
                <a16:creationId xmlns:a16="http://schemas.microsoft.com/office/drawing/2014/main" id="{6EAD11A1-5545-4D70-A127-9378682A2606}"/>
              </a:ext>
            </a:extLst>
          </p:cNvPr>
          <p:cNvSpPr/>
          <p:nvPr/>
        </p:nvSpPr>
        <p:spPr>
          <a:xfrm>
            <a:off x="4528636" y="6214181"/>
            <a:ext cx="211997" cy="192206"/>
          </a:xfrm>
          <a:prstGeom prst="mathMultiply">
            <a:avLst/>
          </a:pr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5" name="Multiplication Sign 34">
            <a:extLst>
              <a:ext uri="{FF2B5EF4-FFF2-40B4-BE49-F238E27FC236}">
                <a16:creationId xmlns:a16="http://schemas.microsoft.com/office/drawing/2014/main" id="{4D60E213-AD70-4F97-803A-4C9BD1936807}"/>
              </a:ext>
            </a:extLst>
          </p:cNvPr>
          <p:cNvSpPr/>
          <p:nvPr/>
        </p:nvSpPr>
        <p:spPr>
          <a:xfrm>
            <a:off x="5104873" y="6247187"/>
            <a:ext cx="211997" cy="192206"/>
          </a:xfrm>
          <a:prstGeom prst="mathMultiply">
            <a:avLst/>
          </a:pr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2638BB-CA62-4459-9FFE-DA9F760687B1}"/>
              </a:ext>
            </a:extLst>
          </p:cNvPr>
          <p:cNvSpPr txBox="1"/>
          <p:nvPr/>
        </p:nvSpPr>
        <p:spPr>
          <a:xfrm>
            <a:off x="2699074" y="4065910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3.2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9B583B-9711-4243-9401-ADD3D7ECB718}"/>
              </a:ext>
            </a:extLst>
          </p:cNvPr>
          <p:cNvSpPr txBox="1"/>
          <p:nvPr/>
        </p:nvSpPr>
        <p:spPr>
          <a:xfrm>
            <a:off x="2681131" y="5168820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DAB8F9-5A41-46C7-809B-5BC110400691}"/>
              </a:ext>
            </a:extLst>
          </p:cNvPr>
          <p:cNvSpPr txBox="1"/>
          <p:nvPr/>
        </p:nvSpPr>
        <p:spPr>
          <a:xfrm>
            <a:off x="2714259" y="5471691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1.4</a:t>
            </a:r>
          </a:p>
        </p:txBody>
      </p:sp>
      <p:sp>
        <p:nvSpPr>
          <p:cNvPr id="39" name="Multiplication Sign 38">
            <a:extLst>
              <a:ext uri="{FF2B5EF4-FFF2-40B4-BE49-F238E27FC236}">
                <a16:creationId xmlns:a16="http://schemas.microsoft.com/office/drawing/2014/main" id="{89D21190-C78B-4744-AFF6-FE085045B8AD}"/>
              </a:ext>
            </a:extLst>
          </p:cNvPr>
          <p:cNvSpPr/>
          <p:nvPr/>
        </p:nvSpPr>
        <p:spPr>
          <a:xfrm>
            <a:off x="2616910" y="4204796"/>
            <a:ext cx="211997" cy="192206"/>
          </a:xfrm>
          <a:prstGeom prst="mathMultiply">
            <a:avLst/>
          </a:pr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0" name="Multiplication Sign 39">
            <a:extLst>
              <a:ext uri="{FF2B5EF4-FFF2-40B4-BE49-F238E27FC236}">
                <a16:creationId xmlns:a16="http://schemas.microsoft.com/office/drawing/2014/main" id="{91D70A95-932E-4858-A367-E924C0155DBC}"/>
              </a:ext>
            </a:extLst>
          </p:cNvPr>
          <p:cNvSpPr/>
          <p:nvPr/>
        </p:nvSpPr>
        <p:spPr>
          <a:xfrm>
            <a:off x="2612975" y="5171281"/>
            <a:ext cx="211997" cy="192206"/>
          </a:xfrm>
          <a:prstGeom prst="mathMultiply">
            <a:avLst/>
          </a:pr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1" name="Multiplication Sign 40">
            <a:extLst>
              <a:ext uri="{FF2B5EF4-FFF2-40B4-BE49-F238E27FC236}">
                <a16:creationId xmlns:a16="http://schemas.microsoft.com/office/drawing/2014/main" id="{7DF5C870-212B-488F-8898-08B0F8D7776B}"/>
              </a:ext>
            </a:extLst>
          </p:cNvPr>
          <p:cNvSpPr/>
          <p:nvPr/>
        </p:nvSpPr>
        <p:spPr>
          <a:xfrm>
            <a:off x="2575132" y="5534949"/>
            <a:ext cx="211997" cy="192206"/>
          </a:xfrm>
          <a:prstGeom prst="mathMultiply">
            <a:avLst/>
          </a:pr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BDF02FA-D4B1-431A-BBB5-CF36E7B36911}"/>
              </a:ext>
            </a:extLst>
          </p:cNvPr>
          <p:cNvSpPr/>
          <p:nvPr/>
        </p:nvSpPr>
        <p:spPr>
          <a:xfrm>
            <a:off x="3229040" y="3401122"/>
            <a:ext cx="3117118" cy="2825644"/>
          </a:xfrm>
          <a:custGeom>
            <a:avLst/>
            <a:gdLst>
              <a:gd name="connsiteX0" fmla="*/ 172082 w 3117118"/>
              <a:gd name="connsiteY0" fmla="*/ 2698595 h 2825644"/>
              <a:gd name="connsiteX1" fmla="*/ 294745 w 3117118"/>
              <a:gd name="connsiteY1" fmla="*/ 2665141 h 2825644"/>
              <a:gd name="connsiteX2" fmla="*/ 2904131 w 3117118"/>
              <a:gd name="connsiteY2" fmla="*/ 1115122 h 2825644"/>
              <a:gd name="connsiteX3" fmla="*/ 2959887 w 3117118"/>
              <a:gd name="connsiteY3" fmla="*/ 0 h 2825644"/>
              <a:gd name="connsiteX4" fmla="*/ 2959887 w 3117118"/>
              <a:gd name="connsiteY4" fmla="*/ 0 h 2825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7118" h="2825644">
                <a:moveTo>
                  <a:pt x="172082" y="2698595"/>
                </a:moveTo>
                <a:cubicBezTo>
                  <a:pt x="5743" y="2813824"/>
                  <a:pt x="-160596" y="2929053"/>
                  <a:pt x="294745" y="2665141"/>
                </a:cubicBezTo>
                <a:cubicBezTo>
                  <a:pt x="750086" y="2401229"/>
                  <a:pt x="2459941" y="1559312"/>
                  <a:pt x="2904131" y="1115122"/>
                </a:cubicBezTo>
                <a:cubicBezTo>
                  <a:pt x="3348321" y="670932"/>
                  <a:pt x="2959887" y="0"/>
                  <a:pt x="2959887" y="0"/>
                </a:cubicBezTo>
                <a:lnTo>
                  <a:pt x="2959887" y="0"/>
                </a:ln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47C6F8-2CF2-4DDA-905E-13BAE82896DE}"/>
              </a:ext>
            </a:extLst>
          </p:cNvPr>
          <p:cNvSpPr/>
          <p:nvPr/>
        </p:nvSpPr>
        <p:spPr>
          <a:xfrm>
            <a:off x="2743200" y="3389971"/>
            <a:ext cx="2286000" cy="2163336"/>
          </a:xfrm>
          <a:custGeom>
            <a:avLst/>
            <a:gdLst>
              <a:gd name="connsiteX0" fmla="*/ 0 w 2286000"/>
              <a:gd name="connsiteY0" fmla="*/ 2163336 h 2163336"/>
              <a:gd name="connsiteX1" fmla="*/ 1784195 w 2286000"/>
              <a:gd name="connsiteY1" fmla="*/ 959005 h 2163336"/>
              <a:gd name="connsiteX2" fmla="*/ 2286000 w 2286000"/>
              <a:gd name="connsiteY2" fmla="*/ 0 h 2163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0" h="2163336">
                <a:moveTo>
                  <a:pt x="0" y="2163336"/>
                </a:moveTo>
                <a:cubicBezTo>
                  <a:pt x="701597" y="1741448"/>
                  <a:pt x="1403195" y="1319561"/>
                  <a:pt x="1784195" y="959005"/>
                </a:cubicBezTo>
                <a:cubicBezTo>
                  <a:pt x="2165195" y="598449"/>
                  <a:pt x="2225597" y="299224"/>
                  <a:pt x="2286000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34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47.5 Minimize Slope and Intercept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8"/>
                <a:ext cx="8352928" cy="1629490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Find the optimal value of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Sum of Squared Residuals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for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Slope</a:t>
                </a:r>
                <a:r>
                  <a:rPr lang="en-US" sz="16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Sum of the squared residuals = (Observed Height – (Intercept + slope x Weight))</a:t>
                </a:r>
                <a:r>
                  <a:rPr lang="en-US" sz="1600" baseline="30000" dirty="0">
                    <a:solidFill>
                      <a:schemeClr val="tx1"/>
                    </a:solidFill>
                  </a:rPr>
                  <a:t>2</a:t>
                </a:r>
                <a:endParaRPr lang="en-US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Take Derivative for the slope: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x Weight x (Observed Height – (Intercept + slope x Weight))</a:t>
                </a:r>
              </a:p>
              <a:p>
                <a:pPr algn="l">
                  <a:buClr>
                    <a:srgbClr val="0070C0"/>
                  </a:buClr>
                  <a:buSzPct val="80000"/>
                </a:pP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8"/>
                <a:ext cx="8352928" cy="1629490"/>
              </a:xfrm>
              <a:blipFill>
                <a:blip r:embed="rId2"/>
                <a:stretch>
                  <a:fillRect t="-743" r="-656" b="-7063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https://www.youtube.com/watch?v=vMh0zPT0tLI&amp;list=PLblh5JKOoLUICTaGLRoHQDuF_7q2GfuJF&amp;index=48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21</a:t>
            </a:fld>
            <a:endParaRPr lang="zh-TW" alt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57A94B-43C3-4D73-A45C-1C6AD7C612A5}"/>
              </a:ext>
            </a:extLst>
          </p:cNvPr>
          <p:cNvCxnSpPr>
            <a:cxnSpLocks/>
          </p:cNvCxnSpPr>
          <p:nvPr/>
        </p:nvCxnSpPr>
        <p:spPr>
          <a:xfrm>
            <a:off x="3012561" y="5581354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513C76-F18A-4E9F-BE51-78781B13505A}"/>
              </a:ext>
            </a:extLst>
          </p:cNvPr>
          <p:cNvCxnSpPr>
            <a:cxnSpLocks/>
          </p:cNvCxnSpPr>
          <p:nvPr/>
        </p:nvCxnSpPr>
        <p:spPr>
          <a:xfrm flipV="1">
            <a:off x="3012561" y="3349084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B7D55C8-B996-4684-8240-833E9BF66927}"/>
              </a:ext>
            </a:extLst>
          </p:cNvPr>
          <p:cNvCxnSpPr/>
          <p:nvPr/>
        </p:nvCxnSpPr>
        <p:spPr>
          <a:xfrm>
            <a:off x="4028311" y="554983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3708923-3375-4BE4-8DF4-F1530554AA73}"/>
              </a:ext>
            </a:extLst>
          </p:cNvPr>
          <p:cNvCxnSpPr/>
          <p:nvPr/>
        </p:nvCxnSpPr>
        <p:spPr>
          <a:xfrm>
            <a:off x="5659671" y="549058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D80C794-7C17-46F2-A05F-87B56E85D607}"/>
              </a:ext>
            </a:extLst>
          </p:cNvPr>
          <p:cNvCxnSpPr/>
          <p:nvPr/>
        </p:nvCxnSpPr>
        <p:spPr>
          <a:xfrm>
            <a:off x="4831035" y="554983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9CCAE1-B1D8-4B2D-99D2-9031C573D463}"/>
              </a:ext>
            </a:extLst>
          </p:cNvPr>
          <p:cNvCxnSpPr>
            <a:cxnSpLocks/>
          </p:cNvCxnSpPr>
          <p:nvPr/>
        </p:nvCxnSpPr>
        <p:spPr>
          <a:xfrm>
            <a:off x="2815029" y="3853162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DFCEBDF-B157-4B48-8837-5A3F6194BE09}"/>
              </a:ext>
            </a:extLst>
          </p:cNvPr>
          <p:cNvCxnSpPr>
            <a:cxnSpLocks/>
          </p:cNvCxnSpPr>
          <p:nvPr/>
        </p:nvCxnSpPr>
        <p:spPr>
          <a:xfrm>
            <a:off x="2815029" y="5085937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74D4D24-05AA-4148-8EB1-ECEAADFA4C79}"/>
              </a:ext>
            </a:extLst>
          </p:cNvPr>
          <p:cNvCxnSpPr>
            <a:cxnSpLocks/>
          </p:cNvCxnSpPr>
          <p:nvPr/>
        </p:nvCxnSpPr>
        <p:spPr>
          <a:xfrm>
            <a:off x="2815029" y="444598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EB2308-8630-466F-841A-E52281419958}"/>
              </a:ext>
            </a:extLst>
          </p:cNvPr>
          <p:cNvCxnSpPr>
            <a:cxnSpLocks/>
          </p:cNvCxnSpPr>
          <p:nvPr/>
        </p:nvCxnSpPr>
        <p:spPr>
          <a:xfrm flipH="1">
            <a:off x="3012561" y="3210051"/>
            <a:ext cx="3118878" cy="24135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A233967D-24FA-4BED-9179-05E1BB8C158F}"/>
              </a:ext>
            </a:extLst>
          </p:cNvPr>
          <p:cNvSpPr/>
          <p:nvPr/>
        </p:nvSpPr>
        <p:spPr>
          <a:xfrm>
            <a:off x="4848879" y="4266310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111215F-F709-450D-A0CD-08711FC78795}"/>
              </a:ext>
            </a:extLst>
          </p:cNvPr>
          <p:cNvSpPr/>
          <p:nvPr/>
        </p:nvSpPr>
        <p:spPr>
          <a:xfrm>
            <a:off x="5324455" y="3349084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2ED7DF1-A149-47B6-85AE-CF872D95A8CE}"/>
              </a:ext>
            </a:extLst>
          </p:cNvPr>
          <p:cNvSpPr/>
          <p:nvPr/>
        </p:nvSpPr>
        <p:spPr>
          <a:xfrm>
            <a:off x="3538041" y="4846050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480A85-65B7-4225-8845-7E10C0A42BD5}"/>
              </a:ext>
            </a:extLst>
          </p:cNvPr>
          <p:cNvSpPr txBox="1"/>
          <p:nvPr/>
        </p:nvSpPr>
        <p:spPr>
          <a:xfrm>
            <a:off x="5984253" y="5730422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421777-52AE-4D79-AE2C-AC0BF47005B7}"/>
              </a:ext>
            </a:extLst>
          </p:cNvPr>
          <p:cNvSpPr txBox="1"/>
          <p:nvPr/>
        </p:nvSpPr>
        <p:spPr>
          <a:xfrm>
            <a:off x="2027156" y="3873312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047CB3B-DE52-4E8A-B908-161A3868F62F}"/>
              </a:ext>
            </a:extLst>
          </p:cNvPr>
          <p:cNvCxnSpPr>
            <a:cxnSpLocks/>
          </p:cNvCxnSpPr>
          <p:nvPr/>
        </p:nvCxnSpPr>
        <p:spPr>
          <a:xfrm flipV="1">
            <a:off x="3646053" y="4936996"/>
            <a:ext cx="0" cy="2795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7B35B3A-83E2-4BC6-B413-0DFB449D1800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4956891" y="4079855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F4D1253-AAEB-401F-B931-91E8D37FFBB7}"/>
              </a:ext>
            </a:extLst>
          </p:cNvPr>
          <p:cNvCxnSpPr>
            <a:cxnSpLocks/>
          </p:cNvCxnSpPr>
          <p:nvPr/>
        </p:nvCxnSpPr>
        <p:spPr>
          <a:xfrm>
            <a:off x="5458225" y="3559037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223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47.5 Minimize Slope and Intercept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2421033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Find the optimal value for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Slope</a:t>
                </a:r>
                <a:r>
                  <a:rPr lang="en-US" sz="1600" dirty="0">
                    <a:solidFill>
                      <a:schemeClr val="tx1"/>
                    </a:solidFill>
                  </a:rPr>
                  <a:t>:</a:t>
                </a:r>
                <a:endParaRPr lang="en-US" sz="1600" baseline="300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x Weight x (Observed Height – (Intercept + slope x Weight))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For the above equation, plug in the data in the below diagram with initial slope = 1: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x 0.5 x (1.4 – (0 + 1 x 0.5))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x 2.3 x (1.9 – (0 +1 x 2.3))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x 2.9 x (3.2 – (0 + 1 x 2.9)) </a:t>
                </a: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2421033"/>
              </a:xfrm>
              <a:blipFill>
                <a:blip r:embed="rId2"/>
                <a:stretch>
                  <a:fillRect t="-501" r="-656" b="-476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https://www.youtube.com/watch?v=vMh0zPT0tLI&amp;list=PLblh5JKOoLUICTaGLRoHQDuF_7q2GfuJF&amp;index=48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22</a:t>
            </a:fld>
            <a:endParaRPr lang="zh-TW" alt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57A94B-43C3-4D73-A45C-1C6AD7C612A5}"/>
              </a:ext>
            </a:extLst>
          </p:cNvPr>
          <p:cNvCxnSpPr>
            <a:cxnSpLocks/>
          </p:cNvCxnSpPr>
          <p:nvPr/>
        </p:nvCxnSpPr>
        <p:spPr>
          <a:xfrm>
            <a:off x="3109306" y="6314113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513C76-F18A-4E9F-BE51-78781B13505A}"/>
              </a:ext>
            </a:extLst>
          </p:cNvPr>
          <p:cNvCxnSpPr>
            <a:cxnSpLocks/>
          </p:cNvCxnSpPr>
          <p:nvPr/>
        </p:nvCxnSpPr>
        <p:spPr>
          <a:xfrm flipV="1">
            <a:off x="3109306" y="4081843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B7D55C8-B996-4684-8240-833E9BF66927}"/>
              </a:ext>
            </a:extLst>
          </p:cNvPr>
          <p:cNvCxnSpPr/>
          <p:nvPr/>
        </p:nvCxnSpPr>
        <p:spPr>
          <a:xfrm>
            <a:off x="4125056" y="628259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3708923-3375-4BE4-8DF4-F1530554AA73}"/>
              </a:ext>
            </a:extLst>
          </p:cNvPr>
          <p:cNvCxnSpPr/>
          <p:nvPr/>
        </p:nvCxnSpPr>
        <p:spPr>
          <a:xfrm>
            <a:off x="5756416" y="622334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D80C794-7C17-46F2-A05F-87B56E85D607}"/>
              </a:ext>
            </a:extLst>
          </p:cNvPr>
          <p:cNvCxnSpPr/>
          <p:nvPr/>
        </p:nvCxnSpPr>
        <p:spPr>
          <a:xfrm>
            <a:off x="4927780" y="628259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9CCAE1-B1D8-4B2D-99D2-9031C573D463}"/>
              </a:ext>
            </a:extLst>
          </p:cNvPr>
          <p:cNvCxnSpPr>
            <a:cxnSpLocks/>
          </p:cNvCxnSpPr>
          <p:nvPr/>
        </p:nvCxnSpPr>
        <p:spPr>
          <a:xfrm>
            <a:off x="2911774" y="4509120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DFCEBDF-B157-4B48-8837-5A3F6194BE09}"/>
              </a:ext>
            </a:extLst>
          </p:cNvPr>
          <p:cNvCxnSpPr>
            <a:cxnSpLocks/>
          </p:cNvCxnSpPr>
          <p:nvPr/>
        </p:nvCxnSpPr>
        <p:spPr>
          <a:xfrm>
            <a:off x="2911774" y="581869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74D4D24-05AA-4148-8EB1-ECEAADFA4C79}"/>
              </a:ext>
            </a:extLst>
          </p:cNvPr>
          <p:cNvCxnSpPr>
            <a:cxnSpLocks/>
          </p:cNvCxnSpPr>
          <p:nvPr/>
        </p:nvCxnSpPr>
        <p:spPr>
          <a:xfrm>
            <a:off x="2911774" y="5085184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EB2308-8630-466F-841A-E52281419958}"/>
              </a:ext>
            </a:extLst>
          </p:cNvPr>
          <p:cNvCxnSpPr>
            <a:cxnSpLocks/>
          </p:cNvCxnSpPr>
          <p:nvPr/>
        </p:nvCxnSpPr>
        <p:spPr>
          <a:xfrm flipH="1">
            <a:off x="3109306" y="3942810"/>
            <a:ext cx="3118878" cy="24135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A233967D-24FA-4BED-9179-05E1BB8C158F}"/>
              </a:ext>
            </a:extLst>
          </p:cNvPr>
          <p:cNvSpPr/>
          <p:nvPr/>
        </p:nvSpPr>
        <p:spPr>
          <a:xfrm>
            <a:off x="4945624" y="4999069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111215F-F709-450D-A0CD-08711FC78795}"/>
              </a:ext>
            </a:extLst>
          </p:cNvPr>
          <p:cNvSpPr/>
          <p:nvPr/>
        </p:nvSpPr>
        <p:spPr>
          <a:xfrm>
            <a:off x="5421200" y="408184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2ED7DF1-A149-47B6-85AE-CF872D95A8CE}"/>
              </a:ext>
            </a:extLst>
          </p:cNvPr>
          <p:cNvSpPr/>
          <p:nvPr/>
        </p:nvSpPr>
        <p:spPr>
          <a:xfrm>
            <a:off x="3634786" y="5578809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480A85-65B7-4225-8845-7E10C0A42BD5}"/>
              </a:ext>
            </a:extLst>
          </p:cNvPr>
          <p:cNvSpPr txBox="1"/>
          <p:nvPr/>
        </p:nvSpPr>
        <p:spPr>
          <a:xfrm>
            <a:off x="5892780" y="6353162"/>
            <a:ext cx="1008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Weight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421777-52AE-4D79-AE2C-AC0BF47005B7}"/>
              </a:ext>
            </a:extLst>
          </p:cNvPr>
          <p:cNvSpPr txBox="1"/>
          <p:nvPr/>
        </p:nvSpPr>
        <p:spPr>
          <a:xfrm>
            <a:off x="2123901" y="4606071"/>
            <a:ext cx="901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Height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047CB3B-DE52-4E8A-B908-161A3868F62F}"/>
              </a:ext>
            </a:extLst>
          </p:cNvPr>
          <p:cNvCxnSpPr>
            <a:cxnSpLocks/>
            <a:endCxn id="36" idx="4"/>
          </p:cNvCxnSpPr>
          <p:nvPr/>
        </p:nvCxnSpPr>
        <p:spPr>
          <a:xfrm flipV="1">
            <a:off x="3742798" y="5794811"/>
            <a:ext cx="0" cy="15447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7B35B3A-83E2-4BC6-B413-0DFB449D1800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5053636" y="4812614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F4D1253-AAEB-401F-B931-91E8D37FFBB7}"/>
              </a:ext>
            </a:extLst>
          </p:cNvPr>
          <p:cNvCxnSpPr>
            <a:cxnSpLocks/>
          </p:cNvCxnSpPr>
          <p:nvPr/>
        </p:nvCxnSpPr>
        <p:spPr>
          <a:xfrm>
            <a:off x="5554970" y="4291796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197BFDE-839F-4FA1-BD79-3522E246CFFE}"/>
              </a:ext>
            </a:extLst>
          </p:cNvPr>
          <p:cNvSpPr txBox="1"/>
          <p:nvPr/>
        </p:nvSpPr>
        <p:spPr>
          <a:xfrm>
            <a:off x="5554970" y="5949280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B29E9C-8C96-432D-A173-164EB7C70E0B}"/>
              </a:ext>
            </a:extLst>
          </p:cNvPr>
          <p:cNvSpPr txBox="1"/>
          <p:nvPr/>
        </p:nvSpPr>
        <p:spPr>
          <a:xfrm>
            <a:off x="4932834" y="5929021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4A4757-3A33-4636-A152-E39873EDAAF5}"/>
              </a:ext>
            </a:extLst>
          </p:cNvPr>
          <p:cNvSpPr txBox="1"/>
          <p:nvPr/>
        </p:nvSpPr>
        <p:spPr>
          <a:xfrm>
            <a:off x="3066978" y="4019698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3.2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6C4143-21AF-4032-AE13-D6ECF80F114A}"/>
              </a:ext>
            </a:extLst>
          </p:cNvPr>
          <p:cNvSpPr txBox="1"/>
          <p:nvPr/>
        </p:nvSpPr>
        <p:spPr>
          <a:xfrm>
            <a:off x="3067527" y="5122608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2C268F-9205-471A-BE7E-BEFCB355DD51}"/>
              </a:ext>
            </a:extLst>
          </p:cNvPr>
          <p:cNvSpPr txBox="1"/>
          <p:nvPr/>
        </p:nvSpPr>
        <p:spPr>
          <a:xfrm>
            <a:off x="3082163" y="5425479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9E99AE-0F6E-4900-8EC5-63A4913771DC}"/>
              </a:ext>
            </a:extLst>
          </p:cNvPr>
          <p:cNvSpPr txBox="1"/>
          <p:nvPr/>
        </p:nvSpPr>
        <p:spPr>
          <a:xfrm>
            <a:off x="3476687" y="6040226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0.5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5C3E266-E7C8-4DD4-8174-F9F3EE08D5B7}"/>
              </a:ext>
            </a:extLst>
          </p:cNvPr>
          <p:cNvSpPr/>
          <p:nvPr/>
        </p:nvSpPr>
        <p:spPr>
          <a:xfrm>
            <a:off x="3735659" y="3077737"/>
            <a:ext cx="1976853" cy="3233853"/>
          </a:xfrm>
          <a:custGeom>
            <a:avLst/>
            <a:gdLst>
              <a:gd name="connsiteX0" fmla="*/ 0 w 1976853"/>
              <a:gd name="connsiteY0" fmla="*/ 3233853 h 3233853"/>
              <a:gd name="connsiteX1" fmla="*/ 858643 w 1976853"/>
              <a:gd name="connsiteY1" fmla="*/ 2732048 h 3233853"/>
              <a:gd name="connsiteX2" fmla="*/ 1973765 w 1976853"/>
              <a:gd name="connsiteY2" fmla="*/ 2252546 h 3233853"/>
              <a:gd name="connsiteX3" fmla="*/ 1126273 w 1976853"/>
              <a:gd name="connsiteY3" fmla="*/ 0 h 323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6853" h="3233853">
                <a:moveTo>
                  <a:pt x="0" y="3233853"/>
                </a:moveTo>
                <a:cubicBezTo>
                  <a:pt x="264841" y="3064726"/>
                  <a:pt x="529682" y="2895599"/>
                  <a:pt x="858643" y="2732048"/>
                </a:cubicBezTo>
                <a:cubicBezTo>
                  <a:pt x="1187604" y="2568497"/>
                  <a:pt x="1929160" y="2707887"/>
                  <a:pt x="1973765" y="2252546"/>
                </a:cubicBezTo>
                <a:cubicBezTo>
                  <a:pt x="2018370" y="1797205"/>
                  <a:pt x="1572321" y="898602"/>
                  <a:pt x="1126273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010F2066-2756-42F4-ACC8-F0F2DB1F12BF}"/>
              </a:ext>
            </a:extLst>
          </p:cNvPr>
          <p:cNvSpPr/>
          <p:nvPr/>
        </p:nvSpPr>
        <p:spPr>
          <a:xfrm>
            <a:off x="3657198" y="6243001"/>
            <a:ext cx="211997" cy="192206"/>
          </a:xfrm>
          <a:prstGeom prst="mathMultiply">
            <a:avLst/>
          </a:pr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7" name="Multiplication Sign 46">
            <a:extLst>
              <a:ext uri="{FF2B5EF4-FFF2-40B4-BE49-F238E27FC236}">
                <a16:creationId xmlns:a16="http://schemas.microsoft.com/office/drawing/2014/main" id="{FD1D1E93-8C14-440A-A952-765B234B205B}"/>
              </a:ext>
            </a:extLst>
          </p:cNvPr>
          <p:cNvSpPr/>
          <p:nvPr/>
        </p:nvSpPr>
        <p:spPr>
          <a:xfrm>
            <a:off x="2982144" y="5494604"/>
            <a:ext cx="211997" cy="192206"/>
          </a:xfrm>
          <a:prstGeom prst="mathMultiply">
            <a:avLst/>
          </a:pr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9F073A-F919-4F66-B48D-62D940FC8CCD}"/>
              </a:ext>
            </a:extLst>
          </p:cNvPr>
          <p:cNvSpPr/>
          <p:nvPr/>
        </p:nvSpPr>
        <p:spPr>
          <a:xfrm>
            <a:off x="3166946" y="3111190"/>
            <a:ext cx="2219093" cy="2453269"/>
          </a:xfrm>
          <a:custGeom>
            <a:avLst/>
            <a:gdLst>
              <a:gd name="connsiteX0" fmla="*/ 0 w 2219093"/>
              <a:gd name="connsiteY0" fmla="*/ 2453269 h 2453269"/>
              <a:gd name="connsiteX1" fmla="*/ 1706137 w 2219093"/>
              <a:gd name="connsiteY1" fmla="*/ 1025912 h 2453269"/>
              <a:gd name="connsiteX2" fmla="*/ 2219093 w 2219093"/>
              <a:gd name="connsiteY2" fmla="*/ 0 h 245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19093" h="2453269">
                <a:moveTo>
                  <a:pt x="0" y="2453269"/>
                </a:moveTo>
                <a:cubicBezTo>
                  <a:pt x="668144" y="1944029"/>
                  <a:pt x="1336288" y="1434790"/>
                  <a:pt x="1706137" y="1025912"/>
                </a:cubicBezTo>
                <a:cubicBezTo>
                  <a:pt x="2075986" y="617034"/>
                  <a:pt x="2147539" y="308517"/>
                  <a:pt x="2219093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Multiplication Sign 47">
            <a:extLst>
              <a:ext uri="{FF2B5EF4-FFF2-40B4-BE49-F238E27FC236}">
                <a16:creationId xmlns:a16="http://schemas.microsoft.com/office/drawing/2014/main" id="{18CB39D5-A163-49B9-9F2F-21299A8EC5A2}"/>
              </a:ext>
            </a:extLst>
          </p:cNvPr>
          <p:cNvSpPr/>
          <p:nvPr/>
        </p:nvSpPr>
        <p:spPr>
          <a:xfrm>
            <a:off x="4995486" y="6216749"/>
            <a:ext cx="211997" cy="192206"/>
          </a:xfrm>
          <a:prstGeom prst="mathMultiply">
            <a:avLst/>
          </a:pr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9" name="Multiplication Sign 48">
            <a:extLst>
              <a:ext uri="{FF2B5EF4-FFF2-40B4-BE49-F238E27FC236}">
                <a16:creationId xmlns:a16="http://schemas.microsoft.com/office/drawing/2014/main" id="{55B5F5F2-C2B6-4AED-B2FF-42BB8A738482}"/>
              </a:ext>
            </a:extLst>
          </p:cNvPr>
          <p:cNvSpPr/>
          <p:nvPr/>
        </p:nvSpPr>
        <p:spPr>
          <a:xfrm>
            <a:off x="5571723" y="6249755"/>
            <a:ext cx="211997" cy="192206"/>
          </a:xfrm>
          <a:prstGeom prst="mathMultiply">
            <a:avLst/>
          </a:pr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0" name="Multiplication Sign 49">
            <a:extLst>
              <a:ext uri="{FF2B5EF4-FFF2-40B4-BE49-F238E27FC236}">
                <a16:creationId xmlns:a16="http://schemas.microsoft.com/office/drawing/2014/main" id="{BDD641DC-D88F-45F1-8B98-404F6EB5982F}"/>
              </a:ext>
            </a:extLst>
          </p:cNvPr>
          <p:cNvSpPr/>
          <p:nvPr/>
        </p:nvSpPr>
        <p:spPr>
          <a:xfrm>
            <a:off x="3003306" y="4158584"/>
            <a:ext cx="211997" cy="192206"/>
          </a:xfrm>
          <a:prstGeom prst="mathMultiply">
            <a:avLst/>
          </a:pr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1" name="Multiplication Sign 50">
            <a:extLst>
              <a:ext uri="{FF2B5EF4-FFF2-40B4-BE49-F238E27FC236}">
                <a16:creationId xmlns:a16="http://schemas.microsoft.com/office/drawing/2014/main" id="{EB4B4316-11F1-4D51-B476-B5719529681F}"/>
              </a:ext>
            </a:extLst>
          </p:cNvPr>
          <p:cNvSpPr/>
          <p:nvPr/>
        </p:nvSpPr>
        <p:spPr>
          <a:xfrm>
            <a:off x="2999371" y="5125069"/>
            <a:ext cx="211997" cy="192206"/>
          </a:xfrm>
          <a:prstGeom prst="mathMultiply">
            <a:avLst/>
          </a:pr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7912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47.5 Minimize Slope and Intercept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8"/>
                <a:ext cx="8352928" cy="1871308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We have the derivatives for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intercept and slope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: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𝐼𝑛𝑡𝑒𝑟𝑐𝑒𝑝𝑡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𝑆𝑢𝑚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𝑠𝑞𝑢𝑎𝑟𝑒𝑑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𝑟𝑒𝑠𝑖𝑑𝑢𝑎𝑙𝑠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(1.4– (0 + 1 x 0.5))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(1.9– (0 + 1 x 2.3)) + -2 (3.2– (0 + 1 x 2.9)) = -1.6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𝑆𝑙𝑜𝑝𝑒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𝑆𝑢𝑚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𝑠𝑞𝑢𝑎𝑟𝑒𝑑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𝑟𝑒𝑠𝑖𝑑𝑢𝑎𝑙𝑠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x 0.5 x (1.4 – (0 + 1 x 0.5))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x 2.3 x (1.9 – (0 +1 x 2.3)) + -2 x 2.9 x (3.2 – (0 + 1 x 2.9))  = -0.8</a:t>
                </a: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8"/>
                <a:ext cx="8352928" cy="1871308"/>
              </a:xfrm>
              <a:blipFill>
                <a:blip r:embed="rId2"/>
                <a:stretch>
                  <a:fillRect t="-647" b="-647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https://www.youtube.com/watch?v=vMh0zPT0tLI&amp;list=PLblh5JKOoLUICTaGLRoHQDuF_7q2GfuJF&amp;index=48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168614" y="6356350"/>
            <a:ext cx="518186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23</a:t>
            </a:fld>
            <a:endParaRPr lang="zh-TW" alt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57A94B-43C3-4D73-A45C-1C6AD7C612A5}"/>
              </a:ext>
            </a:extLst>
          </p:cNvPr>
          <p:cNvCxnSpPr>
            <a:cxnSpLocks/>
          </p:cNvCxnSpPr>
          <p:nvPr/>
        </p:nvCxnSpPr>
        <p:spPr>
          <a:xfrm>
            <a:off x="1187254" y="5914582"/>
            <a:ext cx="228805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513C76-F18A-4E9F-BE51-78781B13505A}"/>
              </a:ext>
            </a:extLst>
          </p:cNvPr>
          <p:cNvCxnSpPr>
            <a:cxnSpLocks/>
          </p:cNvCxnSpPr>
          <p:nvPr/>
        </p:nvCxnSpPr>
        <p:spPr>
          <a:xfrm flipV="1">
            <a:off x="1187254" y="3682312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B7D55C8-B996-4684-8240-833E9BF66927}"/>
              </a:ext>
            </a:extLst>
          </p:cNvPr>
          <p:cNvCxnSpPr/>
          <p:nvPr/>
        </p:nvCxnSpPr>
        <p:spPr>
          <a:xfrm>
            <a:off x="1820746" y="580824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3708923-3375-4BE4-8DF4-F1530554AA73}"/>
              </a:ext>
            </a:extLst>
          </p:cNvPr>
          <p:cNvCxnSpPr/>
          <p:nvPr/>
        </p:nvCxnSpPr>
        <p:spPr>
          <a:xfrm>
            <a:off x="2873431" y="57946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D80C794-7C17-46F2-A05F-87B56E85D607}"/>
              </a:ext>
            </a:extLst>
          </p:cNvPr>
          <p:cNvCxnSpPr/>
          <p:nvPr/>
        </p:nvCxnSpPr>
        <p:spPr>
          <a:xfrm>
            <a:off x="2331283" y="582123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9CCAE1-B1D8-4B2D-99D2-9031C573D463}"/>
              </a:ext>
            </a:extLst>
          </p:cNvPr>
          <p:cNvCxnSpPr>
            <a:cxnSpLocks/>
          </p:cNvCxnSpPr>
          <p:nvPr/>
        </p:nvCxnSpPr>
        <p:spPr>
          <a:xfrm>
            <a:off x="905398" y="410891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DFCEBDF-B157-4B48-8837-5A3F6194BE09}"/>
              </a:ext>
            </a:extLst>
          </p:cNvPr>
          <p:cNvCxnSpPr>
            <a:cxnSpLocks/>
          </p:cNvCxnSpPr>
          <p:nvPr/>
        </p:nvCxnSpPr>
        <p:spPr>
          <a:xfrm>
            <a:off x="905398" y="5377250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74D4D24-05AA-4148-8EB1-ECEAADFA4C79}"/>
              </a:ext>
            </a:extLst>
          </p:cNvPr>
          <p:cNvCxnSpPr>
            <a:cxnSpLocks/>
          </p:cNvCxnSpPr>
          <p:nvPr/>
        </p:nvCxnSpPr>
        <p:spPr>
          <a:xfrm>
            <a:off x="929019" y="467309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EB2308-8630-466F-841A-E52281419958}"/>
              </a:ext>
            </a:extLst>
          </p:cNvPr>
          <p:cNvCxnSpPr>
            <a:cxnSpLocks/>
          </p:cNvCxnSpPr>
          <p:nvPr/>
        </p:nvCxnSpPr>
        <p:spPr>
          <a:xfrm flipH="1">
            <a:off x="1187254" y="3840944"/>
            <a:ext cx="1981393" cy="21158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A233967D-24FA-4BED-9179-05E1BB8C158F}"/>
              </a:ext>
            </a:extLst>
          </p:cNvPr>
          <p:cNvSpPr/>
          <p:nvPr/>
        </p:nvSpPr>
        <p:spPr>
          <a:xfrm>
            <a:off x="2278504" y="4819088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111215F-F709-450D-A0CD-08711FC78795}"/>
              </a:ext>
            </a:extLst>
          </p:cNvPr>
          <p:cNvSpPr/>
          <p:nvPr/>
        </p:nvSpPr>
        <p:spPr>
          <a:xfrm>
            <a:off x="2754080" y="381572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2ED7DF1-A149-47B6-85AE-CF872D95A8CE}"/>
              </a:ext>
            </a:extLst>
          </p:cNvPr>
          <p:cNvSpPr/>
          <p:nvPr/>
        </p:nvSpPr>
        <p:spPr>
          <a:xfrm>
            <a:off x="1515024" y="5101407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480A85-65B7-4225-8845-7E10C0A42BD5}"/>
              </a:ext>
            </a:extLst>
          </p:cNvPr>
          <p:cNvSpPr txBox="1"/>
          <p:nvPr/>
        </p:nvSpPr>
        <p:spPr>
          <a:xfrm>
            <a:off x="2205344" y="6181887"/>
            <a:ext cx="1008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Weight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421777-52AE-4D79-AE2C-AC0BF47005B7}"/>
              </a:ext>
            </a:extLst>
          </p:cNvPr>
          <p:cNvSpPr txBox="1"/>
          <p:nvPr/>
        </p:nvSpPr>
        <p:spPr>
          <a:xfrm>
            <a:off x="201849" y="4206540"/>
            <a:ext cx="901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Height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047CB3B-DE52-4E8A-B908-161A3868F62F}"/>
              </a:ext>
            </a:extLst>
          </p:cNvPr>
          <p:cNvCxnSpPr>
            <a:cxnSpLocks/>
          </p:cNvCxnSpPr>
          <p:nvPr/>
        </p:nvCxnSpPr>
        <p:spPr>
          <a:xfrm flipV="1">
            <a:off x="1655676" y="5270224"/>
            <a:ext cx="0" cy="2795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7B35B3A-83E2-4BC6-B413-0DFB449D1800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2386516" y="4632633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F4D1253-AAEB-401F-B931-91E8D37FFBB7}"/>
              </a:ext>
            </a:extLst>
          </p:cNvPr>
          <p:cNvCxnSpPr>
            <a:cxnSpLocks/>
          </p:cNvCxnSpPr>
          <p:nvPr/>
        </p:nvCxnSpPr>
        <p:spPr>
          <a:xfrm>
            <a:off x="2887850" y="4025678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197BFDE-839F-4FA1-BD79-3522E246CFFE}"/>
              </a:ext>
            </a:extLst>
          </p:cNvPr>
          <p:cNvSpPr txBox="1"/>
          <p:nvPr/>
        </p:nvSpPr>
        <p:spPr>
          <a:xfrm>
            <a:off x="2555776" y="5877272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B29E9C-8C96-432D-A173-164EB7C70E0B}"/>
              </a:ext>
            </a:extLst>
          </p:cNvPr>
          <p:cNvSpPr txBox="1"/>
          <p:nvPr/>
        </p:nvSpPr>
        <p:spPr>
          <a:xfrm>
            <a:off x="2325242" y="5904833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4A4757-3A33-4636-A152-E39873EDAAF5}"/>
              </a:ext>
            </a:extLst>
          </p:cNvPr>
          <p:cNvSpPr txBox="1"/>
          <p:nvPr/>
        </p:nvSpPr>
        <p:spPr>
          <a:xfrm>
            <a:off x="766764" y="3620167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6C4143-21AF-4032-AE13-D6ECF80F114A}"/>
              </a:ext>
            </a:extLst>
          </p:cNvPr>
          <p:cNvSpPr txBox="1"/>
          <p:nvPr/>
        </p:nvSpPr>
        <p:spPr>
          <a:xfrm>
            <a:off x="767313" y="4723077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2C268F-9205-471A-BE7E-BEFCB355DD51}"/>
              </a:ext>
            </a:extLst>
          </p:cNvPr>
          <p:cNvSpPr txBox="1"/>
          <p:nvPr/>
        </p:nvSpPr>
        <p:spPr>
          <a:xfrm>
            <a:off x="781949" y="5025948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9E99AE-0F6E-4900-8EC5-63A4913771DC}"/>
              </a:ext>
            </a:extLst>
          </p:cNvPr>
          <p:cNvSpPr txBox="1"/>
          <p:nvPr/>
        </p:nvSpPr>
        <p:spPr>
          <a:xfrm>
            <a:off x="1475656" y="5918274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83C40E-D8BB-40AE-B730-ADB58805024A}"/>
              </a:ext>
            </a:extLst>
          </p:cNvPr>
          <p:cNvSpPr/>
          <p:nvPr/>
        </p:nvSpPr>
        <p:spPr>
          <a:xfrm>
            <a:off x="4758092" y="2138472"/>
            <a:ext cx="533988" cy="36483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02FEDA-3F58-4FDE-8953-55B7893D603D}"/>
              </a:ext>
            </a:extLst>
          </p:cNvPr>
          <p:cNvSpPr/>
          <p:nvPr/>
        </p:nvSpPr>
        <p:spPr>
          <a:xfrm>
            <a:off x="5904226" y="2913792"/>
            <a:ext cx="556300" cy="36483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7506F75-9A23-4FC5-96A2-B559E534DE45}"/>
              </a:ext>
            </a:extLst>
          </p:cNvPr>
          <p:cNvCxnSpPr>
            <a:cxnSpLocks/>
          </p:cNvCxnSpPr>
          <p:nvPr/>
        </p:nvCxnSpPr>
        <p:spPr>
          <a:xfrm flipV="1">
            <a:off x="4157160" y="5770811"/>
            <a:ext cx="2036025" cy="119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A0123C2-7A74-4BD6-815A-B0546B66117A}"/>
              </a:ext>
            </a:extLst>
          </p:cNvPr>
          <p:cNvCxnSpPr>
            <a:cxnSpLocks/>
          </p:cNvCxnSpPr>
          <p:nvPr/>
        </p:nvCxnSpPr>
        <p:spPr>
          <a:xfrm flipH="1" flipV="1">
            <a:off x="4139382" y="3501008"/>
            <a:ext cx="17783" cy="22817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5E10B10-C64C-459E-B7A0-4BB6B0601522}"/>
              </a:ext>
            </a:extLst>
          </p:cNvPr>
          <p:cNvCxnSpPr>
            <a:cxnSpLocks/>
          </p:cNvCxnSpPr>
          <p:nvPr/>
        </p:nvCxnSpPr>
        <p:spPr>
          <a:xfrm>
            <a:off x="3894533" y="3857787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C9BE0B3-3B51-4965-8554-4C6A7D4B5887}"/>
              </a:ext>
            </a:extLst>
          </p:cNvPr>
          <p:cNvCxnSpPr/>
          <p:nvPr/>
        </p:nvCxnSpPr>
        <p:spPr>
          <a:xfrm>
            <a:off x="5795670" y="570374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BE6345A-EE52-4D78-99DA-A6DB41C23C38}"/>
              </a:ext>
            </a:extLst>
          </p:cNvPr>
          <p:cNvCxnSpPr/>
          <p:nvPr/>
        </p:nvCxnSpPr>
        <p:spPr>
          <a:xfrm>
            <a:off x="5031972" y="566671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A0552C5-8CFF-4F7C-8717-C5E0A285E093}"/>
              </a:ext>
            </a:extLst>
          </p:cNvPr>
          <p:cNvCxnSpPr>
            <a:cxnSpLocks/>
          </p:cNvCxnSpPr>
          <p:nvPr/>
        </p:nvCxnSpPr>
        <p:spPr>
          <a:xfrm>
            <a:off x="3913586" y="4742115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EBB1285A-8F26-4F8C-9A76-B06D673757D9}"/>
              </a:ext>
            </a:extLst>
          </p:cNvPr>
          <p:cNvSpPr/>
          <p:nvPr/>
        </p:nvSpPr>
        <p:spPr>
          <a:xfrm>
            <a:off x="5714335" y="4010344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6A52A87-5AC1-4626-AFB7-460D62922753}"/>
              </a:ext>
            </a:extLst>
          </p:cNvPr>
          <p:cNvSpPr/>
          <p:nvPr/>
        </p:nvSpPr>
        <p:spPr>
          <a:xfrm>
            <a:off x="4218314" y="410891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1B253E9-BB52-4E29-99EF-B69462391C2E}"/>
              </a:ext>
            </a:extLst>
          </p:cNvPr>
          <p:cNvSpPr txBox="1"/>
          <p:nvPr/>
        </p:nvSpPr>
        <p:spPr>
          <a:xfrm>
            <a:off x="3583733" y="5038696"/>
            <a:ext cx="517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SSR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4E5296-6184-45FF-9F2B-3B4CC322214D}"/>
              </a:ext>
            </a:extLst>
          </p:cNvPr>
          <p:cNvSpPr txBox="1"/>
          <p:nvPr/>
        </p:nvSpPr>
        <p:spPr>
          <a:xfrm>
            <a:off x="4937660" y="6135146"/>
            <a:ext cx="1031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Intercept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F9B765-07CA-4891-970E-1A9351B7BD25}"/>
              </a:ext>
            </a:extLst>
          </p:cNvPr>
          <p:cNvSpPr txBox="1"/>
          <p:nvPr/>
        </p:nvSpPr>
        <p:spPr>
          <a:xfrm>
            <a:off x="4006754" y="5830210"/>
            <a:ext cx="416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32E352-456C-4A06-ADF0-7DBFD72D8568}"/>
              </a:ext>
            </a:extLst>
          </p:cNvPr>
          <p:cNvSpPr txBox="1"/>
          <p:nvPr/>
        </p:nvSpPr>
        <p:spPr>
          <a:xfrm>
            <a:off x="4969612" y="5867170"/>
            <a:ext cx="416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850519-9B22-46B3-8693-DC6D71CA04A8}"/>
              </a:ext>
            </a:extLst>
          </p:cNvPr>
          <p:cNvSpPr txBox="1"/>
          <p:nvPr/>
        </p:nvSpPr>
        <p:spPr>
          <a:xfrm flipH="1">
            <a:off x="5787546" y="5894153"/>
            <a:ext cx="518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A1608BA-0FC2-4FB9-B719-463C6A594874}"/>
              </a:ext>
            </a:extLst>
          </p:cNvPr>
          <p:cNvSpPr/>
          <p:nvPr/>
        </p:nvSpPr>
        <p:spPr>
          <a:xfrm>
            <a:off x="4420913" y="4370936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B06A098-6B18-4154-A20E-F160906CEEF1}"/>
              </a:ext>
            </a:extLst>
          </p:cNvPr>
          <p:cNvSpPr/>
          <p:nvPr/>
        </p:nvSpPr>
        <p:spPr>
          <a:xfrm>
            <a:off x="4680741" y="465761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3F11A58-BA91-4985-AAB8-97224F0A2351}"/>
              </a:ext>
            </a:extLst>
          </p:cNvPr>
          <p:cNvSpPr/>
          <p:nvPr/>
        </p:nvSpPr>
        <p:spPr>
          <a:xfrm>
            <a:off x="4997182" y="4926324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CDDD60A-0F66-49F9-BE49-F279D4B56587}"/>
              </a:ext>
            </a:extLst>
          </p:cNvPr>
          <p:cNvSpPr/>
          <p:nvPr/>
        </p:nvSpPr>
        <p:spPr>
          <a:xfrm>
            <a:off x="5316483" y="4673096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99A9E95-0A95-4BE1-8458-5BDD4544AEB4}"/>
              </a:ext>
            </a:extLst>
          </p:cNvPr>
          <p:cNvSpPr/>
          <p:nvPr/>
        </p:nvSpPr>
        <p:spPr>
          <a:xfrm>
            <a:off x="5524004" y="4345058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AE57007-958E-4925-B2B0-6E044DBEF135}"/>
              </a:ext>
            </a:extLst>
          </p:cNvPr>
          <p:cNvCxnSpPr>
            <a:cxnSpLocks/>
          </p:cNvCxnSpPr>
          <p:nvPr/>
        </p:nvCxnSpPr>
        <p:spPr>
          <a:xfrm>
            <a:off x="4139382" y="3784780"/>
            <a:ext cx="132332" cy="74948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7FF44EE8-F84B-44BD-961D-F86FEA551ED2}"/>
              </a:ext>
            </a:extLst>
          </p:cNvPr>
          <p:cNvSpPr/>
          <p:nvPr/>
        </p:nvSpPr>
        <p:spPr>
          <a:xfrm>
            <a:off x="4073573" y="5668879"/>
            <a:ext cx="216024" cy="21600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897E83-7C22-4680-8A48-DA1E319BF8F2}"/>
              </a:ext>
            </a:extLst>
          </p:cNvPr>
          <p:cNvSpPr txBox="1"/>
          <p:nvPr/>
        </p:nvSpPr>
        <p:spPr>
          <a:xfrm>
            <a:off x="4495611" y="5880002"/>
            <a:ext cx="476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0.5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4B094FB-73A2-4E74-A2D6-E1CAA8E6B847}"/>
              </a:ext>
            </a:extLst>
          </p:cNvPr>
          <p:cNvSpPr/>
          <p:nvPr/>
        </p:nvSpPr>
        <p:spPr>
          <a:xfrm>
            <a:off x="4040210" y="3875256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796AF83-270D-4E28-A1AD-CFDB68EAE734}"/>
                  </a:ext>
                </a:extLst>
              </p:cNvPr>
              <p:cNvSpPr txBox="1"/>
              <p:nvPr/>
            </p:nvSpPr>
            <p:spPr>
              <a:xfrm>
                <a:off x="2980048" y="4440830"/>
                <a:ext cx="1319801" cy="592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2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𝐼𝑛𝑡𝑒𝑟𝑐𝑒𝑝𝑡</m:t>
                        </m:r>
                      </m:den>
                    </m:f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𝑆𝑆𝑅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</a:rPr>
                  <a:t>= -1.6 </a:t>
                </a:r>
                <a:endParaRPr lang="en-US" sz="12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796AF83-270D-4E28-A1AD-CFDB68EAE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048" y="4440830"/>
                <a:ext cx="1319801" cy="592791"/>
              </a:xfrm>
              <a:prstGeom prst="rect">
                <a:avLst/>
              </a:prstGeom>
              <a:blipFill>
                <a:blip r:embed="rId3"/>
                <a:stretch>
                  <a:fillRect l="-463" t="-204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4ADD02-C0D1-4FFA-9BD0-BC5BF5CD67DA}"/>
              </a:ext>
            </a:extLst>
          </p:cNvPr>
          <p:cNvCxnSpPr>
            <a:cxnSpLocks/>
            <a:stCxn id="8" idx="2"/>
            <a:endCxn id="75" idx="7"/>
          </p:cNvCxnSpPr>
          <p:nvPr/>
        </p:nvCxnSpPr>
        <p:spPr>
          <a:xfrm flipH="1">
            <a:off x="4224598" y="2503306"/>
            <a:ext cx="800488" cy="140358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84E4C2D-2D94-42EC-86AB-70E61D628D53}"/>
              </a:ext>
            </a:extLst>
          </p:cNvPr>
          <p:cNvCxnSpPr>
            <a:cxnSpLocks/>
          </p:cNvCxnSpPr>
          <p:nvPr/>
        </p:nvCxnSpPr>
        <p:spPr>
          <a:xfrm flipV="1">
            <a:off x="6829244" y="5798748"/>
            <a:ext cx="2036025" cy="119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B1BFD45-8F22-4929-A175-FB63F4E31926}"/>
              </a:ext>
            </a:extLst>
          </p:cNvPr>
          <p:cNvCxnSpPr>
            <a:cxnSpLocks/>
          </p:cNvCxnSpPr>
          <p:nvPr/>
        </p:nvCxnSpPr>
        <p:spPr>
          <a:xfrm flipH="1" flipV="1">
            <a:off x="6822702" y="3857787"/>
            <a:ext cx="6547" cy="19529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27AD24D-12A0-4FD7-ADA0-564E291E1B23}"/>
              </a:ext>
            </a:extLst>
          </p:cNvPr>
          <p:cNvCxnSpPr/>
          <p:nvPr/>
        </p:nvCxnSpPr>
        <p:spPr>
          <a:xfrm>
            <a:off x="8686800" y="570998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F2F60E1-71CA-4CE9-81EE-3E307F7D73DB}"/>
              </a:ext>
            </a:extLst>
          </p:cNvPr>
          <p:cNvCxnSpPr/>
          <p:nvPr/>
        </p:nvCxnSpPr>
        <p:spPr>
          <a:xfrm>
            <a:off x="7819682" y="571996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514943A-E2A2-42F3-B7B7-F3E7F061F229}"/>
              </a:ext>
            </a:extLst>
          </p:cNvPr>
          <p:cNvCxnSpPr>
            <a:cxnSpLocks/>
          </p:cNvCxnSpPr>
          <p:nvPr/>
        </p:nvCxnSpPr>
        <p:spPr>
          <a:xfrm>
            <a:off x="6585670" y="4770052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28706F42-CB98-4D17-A611-96074D6C4B38}"/>
              </a:ext>
            </a:extLst>
          </p:cNvPr>
          <p:cNvSpPr txBox="1"/>
          <p:nvPr/>
        </p:nvSpPr>
        <p:spPr>
          <a:xfrm>
            <a:off x="6257601" y="4983492"/>
            <a:ext cx="517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SSR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E50271A-FB65-4475-86DF-73F309AFAF62}"/>
              </a:ext>
            </a:extLst>
          </p:cNvPr>
          <p:cNvSpPr txBox="1"/>
          <p:nvPr/>
        </p:nvSpPr>
        <p:spPr>
          <a:xfrm>
            <a:off x="7569005" y="6043387"/>
            <a:ext cx="7037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Slope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B68AA2A-E825-4C2C-B4C0-04EE6C82889A}"/>
              </a:ext>
            </a:extLst>
          </p:cNvPr>
          <p:cNvSpPr txBox="1"/>
          <p:nvPr/>
        </p:nvSpPr>
        <p:spPr>
          <a:xfrm>
            <a:off x="6678838" y="5858147"/>
            <a:ext cx="416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CAA8E2E-33AC-4684-A668-2DC0FF89FB71}"/>
              </a:ext>
            </a:extLst>
          </p:cNvPr>
          <p:cNvSpPr txBox="1"/>
          <p:nvPr/>
        </p:nvSpPr>
        <p:spPr>
          <a:xfrm>
            <a:off x="7535338" y="5869773"/>
            <a:ext cx="416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846269A-AB74-4168-9D4B-B59FF5502B68}"/>
              </a:ext>
            </a:extLst>
          </p:cNvPr>
          <p:cNvSpPr txBox="1"/>
          <p:nvPr/>
        </p:nvSpPr>
        <p:spPr>
          <a:xfrm flipH="1">
            <a:off x="8540323" y="5875654"/>
            <a:ext cx="5181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DD9FE6E-D99F-46D1-A88F-B39FA8C8879A}"/>
              </a:ext>
            </a:extLst>
          </p:cNvPr>
          <p:cNvSpPr/>
          <p:nvPr/>
        </p:nvSpPr>
        <p:spPr>
          <a:xfrm>
            <a:off x="6984301" y="4477233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263852F-6497-44D9-9248-B35F05D23DA3}"/>
              </a:ext>
            </a:extLst>
          </p:cNvPr>
          <p:cNvSpPr/>
          <p:nvPr/>
        </p:nvSpPr>
        <p:spPr>
          <a:xfrm>
            <a:off x="7352981" y="4753561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46CCD50-05C4-43F0-96DC-33E9D849E4A0}"/>
              </a:ext>
            </a:extLst>
          </p:cNvPr>
          <p:cNvSpPr/>
          <p:nvPr/>
        </p:nvSpPr>
        <p:spPr>
          <a:xfrm>
            <a:off x="7669266" y="4954261"/>
            <a:ext cx="216024" cy="216002"/>
          </a:xfrm>
          <a:prstGeom prst="ellipse">
            <a:avLst/>
          </a:prstGeom>
          <a:solidFill>
            <a:schemeClr val="tx2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C53192D-9641-407D-A633-4CF88FC82F69}"/>
              </a:ext>
            </a:extLst>
          </p:cNvPr>
          <p:cNvSpPr/>
          <p:nvPr/>
        </p:nvSpPr>
        <p:spPr>
          <a:xfrm>
            <a:off x="8034562" y="4802549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DA17B0AB-C8FF-48F5-AFBC-B147AF0AE326}"/>
              </a:ext>
            </a:extLst>
          </p:cNvPr>
          <p:cNvSpPr/>
          <p:nvPr/>
        </p:nvSpPr>
        <p:spPr>
          <a:xfrm>
            <a:off x="8351687" y="4552424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58866E2-AC4C-4370-B45A-B23DFFC77E6F}"/>
              </a:ext>
            </a:extLst>
          </p:cNvPr>
          <p:cNvCxnSpPr>
            <a:cxnSpLocks/>
            <a:stCxn id="101" idx="1"/>
          </p:cNvCxnSpPr>
          <p:nvPr/>
        </p:nvCxnSpPr>
        <p:spPr>
          <a:xfrm>
            <a:off x="6752868" y="4266549"/>
            <a:ext cx="342829" cy="75656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64CA66F6-C27F-4F6B-9A28-0F860CD654FE}"/>
              </a:ext>
            </a:extLst>
          </p:cNvPr>
          <p:cNvSpPr/>
          <p:nvPr/>
        </p:nvSpPr>
        <p:spPr>
          <a:xfrm>
            <a:off x="6745657" y="5696816"/>
            <a:ext cx="216024" cy="21600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A6243464-9C94-4716-9C49-0BECF18437E9}"/>
              </a:ext>
            </a:extLst>
          </p:cNvPr>
          <p:cNvSpPr/>
          <p:nvPr/>
        </p:nvSpPr>
        <p:spPr>
          <a:xfrm>
            <a:off x="6721232" y="4234916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FFB9206-5A43-4DF0-B079-DAE8187959C6}"/>
                  </a:ext>
                </a:extLst>
              </p:cNvPr>
              <p:cNvSpPr txBox="1"/>
              <p:nvPr/>
            </p:nvSpPr>
            <p:spPr>
              <a:xfrm>
                <a:off x="7250749" y="3987570"/>
                <a:ext cx="1101304" cy="592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2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𝑆𝑜𝑝𝑒</m:t>
                        </m:r>
                      </m:den>
                    </m:f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𝑆𝑆𝑅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</a:rPr>
                  <a:t>= -0.8 </a:t>
                </a:r>
                <a:endParaRPr lang="en-US" sz="1200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FFB9206-5A43-4DF0-B079-DAE818795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749" y="3987570"/>
                <a:ext cx="1101304" cy="592791"/>
              </a:xfrm>
              <a:prstGeom prst="rect">
                <a:avLst/>
              </a:prstGeom>
              <a:blipFill>
                <a:blip r:embed="rId4"/>
                <a:stretch>
                  <a:fillRect t="-2062" b="-8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B65125C8-955A-4C17-AF9C-8BE05C3AB614}"/>
              </a:ext>
            </a:extLst>
          </p:cNvPr>
          <p:cNvSpPr/>
          <p:nvPr/>
        </p:nvSpPr>
        <p:spPr>
          <a:xfrm>
            <a:off x="6467707" y="3100039"/>
            <a:ext cx="902815" cy="1527717"/>
          </a:xfrm>
          <a:custGeom>
            <a:avLst/>
            <a:gdLst>
              <a:gd name="connsiteX0" fmla="*/ 0 w 902815"/>
              <a:gd name="connsiteY0" fmla="*/ 0 h 1527717"/>
              <a:gd name="connsiteX1" fmla="*/ 892098 w 902815"/>
              <a:gd name="connsiteY1" fmla="*/ 624468 h 1527717"/>
              <a:gd name="connsiteX2" fmla="*/ 412595 w 902815"/>
              <a:gd name="connsiteY2" fmla="*/ 1527717 h 1527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2815" h="1527717">
                <a:moveTo>
                  <a:pt x="0" y="0"/>
                </a:moveTo>
                <a:cubicBezTo>
                  <a:pt x="411666" y="184924"/>
                  <a:pt x="823332" y="369849"/>
                  <a:pt x="892098" y="624468"/>
                </a:cubicBezTo>
                <a:cubicBezTo>
                  <a:pt x="960864" y="879087"/>
                  <a:pt x="686729" y="1203402"/>
                  <a:pt x="412595" y="1527717"/>
                </a:cubicBezTo>
              </a:path>
            </a:pathLst>
          </a:custGeom>
          <a:noFill/>
          <a:ln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84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47.6 Calculate Step Size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24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856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47.6 Calculate Step Size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2547617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We have the Step Size by Gradient multiplied by Learning Rate (0.01):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 smtClean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𝐼𝑛𝑡𝑒𝑟𝑐𝑒𝑝𝑡𝑡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𝑆𝑢𝑚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𝑠𝑞𝑢𝑎𝑟𝑒𝑑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𝑟𝑒𝑠𝑖𝑑𝑢𝑎𝑙𝑠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(1.4– (0 + 1 x 0.5))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(1.9– (0 + 1 x 2.3)) + -2 (3.2– (0 + 1 x 2.9)) = -1.6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rgbClr val="C00000"/>
                    </a:solidFill>
                  </a:rPr>
                  <a:t>Step Size</a:t>
                </a:r>
                <a:r>
                  <a:rPr lang="en-US" sz="1600" b="1" baseline="-25000" dirty="0">
                    <a:solidFill>
                      <a:srgbClr val="C00000"/>
                    </a:solidFill>
                  </a:rPr>
                  <a:t>Intercept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= -1.6 x Learning Rate = -1.6 x 0.01 = -0.016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𝑆𝑙𝑜𝑝𝑒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𝑆𝑢𝑚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𝑠𝑞𝑢𝑎𝑟𝑒𝑑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𝑟𝑒𝑠𝑖𝑑𝑢𝑎𝑙𝑠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x 0.5 x (1.4 – (0 + 1 x 0.5))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x 2.3 x (1.9 – (0 +1 x 2.3)) + -2 x 2.9 x (3.2 – (0 + 1 x 2.9))  = -0.8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rgbClr val="C00000"/>
                    </a:solidFill>
                  </a:rPr>
                  <a:t>Step Size</a:t>
                </a:r>
                <a:r>
                  <a:rPr lang="en-US" sz="1600" b="1" baseline="-25000" dirty="0">
                    <a:solidFill>
                      <a:srgbClr val="C00000"/>
                    </a:solidFill>
                  </a:rPr>
                  <a:t>Slope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= -0.89 x Learning Rate = -8.0x 001 = -0.008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2547617"/>
              </a:xfrm>
              <a:blipFill>
                <a:blip r:embed="rId2"/>
                <a:stretch>
                  <a:fillRect t="-476" b="-119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https://www.youtube.com/watch?v=vMh0zPT0tLI&amp;list=PLblh5JKOoLUICTaGLRoHQDuF_7q2GfuJF&amp;index=48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168614" y="6356350"/>
            <a:ext cx="518186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83C40E-D8BB-40AE-B730-ADB58805024A}"/>
              </a:ext>
            </a:extLst>
          </p:cNvPr>
          <p:cNvSpPr/>
          <p:nvPr/>
        </p:nvSpPr>
        <p:spPr>
          <a:xfrm>
            <a:off x="5220072" y="2478164"/>
            <a:ext cx="613178" cy="28759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02FEDA-3F58-4FDE-8953-55B7893D603D}"/>
              </a:ext>
            </a:extLst>
          </p:cNvPr>
          <p:cNvSpPr/>
          <p:nvPr/>
        </p:nvSpPr>
        <p:spPr>
          <a:xfrm>
            <a:off x="5004048" y="3558130"/>
            <a:ext cx="613178" cy="31494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0B0B9B-4830-43E1-AE75-1AEB902CCF1C}"/>
              </a:ext>
            </a:extLst>
          </p:cNvPr>
          <p:cNvCxnSpPr>
            <a:cxnSpLocks/>
          </p:cNvCxnSpPr>
          <p:nvPr/>
        </p:nvCxnSpPr>
        <p:spPr>
          <a:xfrm flipV="1">
            <a:off x="3962160" y="6164327"/>
            <a:ext cx="2036025" cy="119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384845-E34A-45C7-98FE-A80638F4A124}"/>
              </a:ext>
            </a:extLst>
          </p:cNvPr>
          <p:cNvCxnSpPr>
            <a:cxnSpLocks/>
          </p:cNvCxnSpPr>
          <p:nvPr/>
        </p:nvCxnSpPr>
        <p:spPr>
          <a:xfrm flipH="1" flipV="1">
            <a:off x="3927260" y="4025825"/>
            <a:ext cx="34906" cy="21504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03C671-750D-466E-B3E6-0EE8F4CD37D4}"/>
              </a:ext>
            </a:extLst>
          </p:cNvPr>
          <p:cNvCxnSpPr>
            <a:cxnSpLocks/>
          </p:cNvCxnSpPr>
          <p:nvPr/>
        </p:nvCxnSpPr>
        <p:spPr>
          <a:xfrm>
            <a:off x="3699533" y="425130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FBDA736-606A-414B-816F-266C14726A56}"/>
              </a:ext>
            </a:extLst>
          </p:cNvPr>
          <p:cNvCxnSpPr/>
          <p:nvPr/>
        </p:nvCxnSpPr>
        <p:spPr>
          <a:xfrm>
            <a:off x="5423947" y="603228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011A38-86BF-4069-905A-0C4DF7DAFD63}"/>
              </a:ext>
            </a:extLst>
          </p:cNvPr>
          <p:cNvCxnSpPr/>
          <p:nvPr/>
        </p:nvCxnSpPr>
        <p:spPr>
          <a:xfrm>
            <a:off x="4593753" y="603228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07904F-30E8-4601-BABD-D941AFB3E022}"/>
              </a:ext>
            </a:extLst>
          </p:cNvPr>
          <p:cNvCxnSpPr>
            <a:cxnSpLocks/>
          </p:cNvCxnSpPr>
          <p:nvPr/>
        </p:nvCxnSpPr>
        <p:spPr>
          <a:xfrm>
            <a:off x="3718586" y="5135631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F9252FA-E281-47AA-AD47-680C33EE5B64}"/>
              </a:ext>
            </a:extLst>
          </p:cNvPr>
          <p:cNvSpPr/>
          <p:nvPr/>
        </p:nvSpPr>
        <p:spPr>
          <a:xfrm>
            <a:off x="5492873" y="4568536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85B27B1-7100-4618-8D7C-B549EBE59755}"/>
              </a:ext>
            </a:extLst>
          </p:cNvPr>
          <p:cNvSpPr/>
          <p:nvPr/>
        </p:nvSpPr>
        <p:spPr>
          <a:xfrm>
            <a:off x="4058138" y="4736830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25A728-5BBE-4E88-A02E-2E7E25D8A62B}"/>
              </a:ext>
            </a:extLst>
          </p:cNvPr>
          <p:cNvSpPr txBox="1"/>
          <p:nvPr/>
        </p:nvSpPr>
        <p:spPr>
          <a:xfrm>
            <a:off x="3390517" y="5349071"/>
            <a:ext cx="517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SSR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59CBBF-34CD-4A03-835D-2D17C46B6CD7}"/>
              </a:ext>
            </a:extLst>
          </p:cNvPr>
          <p:cNvSpPr txBox="1"/>
          <p:nvPr/>
        </p:nvSpPr>
        <p:spPr>
          <a:xfrm>
            <a:off x="3811754" y="6223726"/>
            <a:ext cx="416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22F0F2-F18C-4A91-9724-136D7CEF6382}"/>
              </a:ext>
            </a:extLst>
          </p:cNvPr>
          <p:cNvSpPr txBox="1"/>
          <p:nvPr/>
        </p:nvSpPr>
        <p:spPr>
          <a:xfrm>
            <a:off x="4576489" y="6218408"/>
            <a:ext cx="416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CC671E-0435-4846-BB86-84F88B35F2F7}"/>
              </a:ext>
            </a:extLst>
          </p:cNvPr>
          <p:cNvSpPr txBox="1"/>
          <p:nvPr/>
        </p:nvSpPr>
        <p:spPr>
          <a:xfrm flipH="1">
            <a:off x="5503094" y="6230353"/>
            <a:ext cx="365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904381A-AE07-48ED-8EA7-78E228C79003}"/>
              </a:ext>
            </a:extLst>
          </p:cNvPr>
          <p:cNvSpPr/>
          <p:nvPr/>
        </p:nvSpPr>
        <p:spPr>
          <a:xfrm>
            <a:off x="4245714" y="5011774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FECACDD-E1E7-4808-831C-8C72AEE1CF9D}"/>
              </a:ext>
            </a:extLst>
          </p:cNvPr>
          <p:cNvSpPr/>
          <p:nvPr/>
        </p:nvSpPr>
        <p:spPr>
          <a:xfrm>
            <a:off x="4496764" y="5171727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05B138F-70C4-4315-BC03-4A0F528C05F0}"/>
              </a:ext>
            </a:extLst>
          </p:cNvPr>
          <p:cNvSpPr/>
          <p:nvPr/>
        </p:nvSpPr>
        <p:spPr>
          <a:xfrm>
            <a:off x="4802182" y="531984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2554F6F-9660-4E2C-A47A-2227BE27369A}"/>
              </a:ext>
            </a:extLst>
          </p:cNvPr>
          <p:cNvSpPr/>
          <p:nvPr/>
        </p:nvSpPr>
        <p:spPr>
          <a:xfrm>
            <a:off x="5098714" y="508675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9B6790F-F27A-4C7A-AED9-1A3786289FDA}"/>
              </a:ext>
            </a:extLst>
          </p:cNvPr>
          <p:cNvSpPr/>
          <p:nvPr/>
        </p:nvSpPr>
        <p:spPr>
          <a:xfrm>
            <a:off x="5301126" y="484101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184A01F-F987-43DE-86CA-D3431CBFA4A8}"/>
              </a:ext>
            </a:extLst>
          </p:cNvPr>
          <p:cNvCxnSpPr>
            <a:cxnSpLocks/>
          </p:cNvCxnSpPr>
          <p:nvPr/>
        </p:nvCxnSpPr>
        <p:spPr>
          <a:xfrm flipV="1">
            <a:off x="3959919" y="5624384"/>
            <a:ext cx="357242" cy="1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AA5383C5-2393-47B6-B955-CF579B1B4189}"/>
              </a:ext>
            </a:extLst>
          </p:cNvPr>
          <p:cNvSpPr/>
          <p:nvPr/>
        </p:nvSpPr>
        <p:spPr>
          <a:xfrm>
            <a:off x="3878573" y="6062395"/>
            <a:ext cx="216024" cy="21600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2DC3FAC-59C4-4FD0-BDF1-EFCFC8302E2F}"/>
              </a:ext>
            </a:extLst>
          </p:cNvPr>
          <p:cNvCxnSpPr>
            <a:cxnSpLocks/>
          </p:cNvCxnSpPr>
          <p:nvPr/>
        </p:nvCxnSpPr>
        <p:spPr>
          <a:xfrm flipV="1">
            <a:off x="6634244" y="6192264"/>
            <a:ext cx="2036025" cy="119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D812103-1AD7-4629-B461-3002F90825D8}"/>
              </a:ext>
            </a:extLst>
          </p:cNvPr>
          <p:cNvCxnSpPr>
            <a:cxnSpLocks/>
          </p:cNvCxnSpPr>
          <p:nvPr/>
        </p:nvCxnSpPr>
        <p:spPr>
          <a:xfrm flipH="1" flipV="1">
            <a:off x="6627702" y="4251303"/>
            <a:ext cx="6547" cy="19529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4B28310-1851-47B2-A810-0A2747CFACFC}"/>
              </a:ext>
            </a:extLst>
          </p:cNvPr>
          <p:cNvCxnSpPr/>
          <p:nvPr/>
        </p:nvCxnSpPr>
        <p:spPr>
          <a:xfrm>
            <a:off x="8272754" y="612519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FAE2BEC-D75F-4EC2-B1EE-DCEB9BB3B636}"/>
              </a:ext>
            </a:extLst>
          </p:cNvPr>
          <p:cNvCxnSpPr/>
          <p:nvPr/>
        </p:nvCxnSpPr>
        <p:spPr>
          <a:xfrm>
            <a:off x="7431618" y="6113477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6B435F1-FEFD-440B-96FD-22468D80DCC2}"/>
              </a:ext>
            </a:extLst>
          </p:cNvPr>
          <p:cNvCxnSpPr>
            <a:cxnSpLocks/>
          </p:cNvCxnSpPr>
          <p:nvPr/>
        </p:nvCxnSpPr>
        <p:spPr>
          <a:xfrm>
            <a:off x="6390670" y="516356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C0528CC-6928-4ECB-B04F-2CE0D63DCF33}"/>
              </a:ext>
            </a:extLst>
          </p:cNvPr>
          <p:cNvSpPr txBox="1"/>
          <p:nvPr/>
        </p:nvSpPr>
        <p:spPr>
          <a:xfrm>
            <a:off x="6062601" y="5377008"/>
            <a:ext cx="517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SSR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FCD86B-C7C9-44D2-B582-1717240D76E1}"/>
              </a:ext>
            </a:extLst>
          </p:cNvPr>
          <p:cNvSpPr txBox="1"/>
          <p:nvPr/>
        </p:nvSpPr>
        <p:spPr>
          <a:xfrm>
            <a:off x="6483838" y="6251663"/>
            <a:ext cx="416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EA2D4D-4A0E-4369-A22F-9DBC7A58CB56}"/>
              </a:ext>
            </a:extLst>
          </p:cNvPr>
          <p:cNvSpPr txBox="1"/>
          <p:nvPr/>
        </p:nvSpPr>
        <p:spPr>
          <a:xfrm>
            <a:off x="7556755" y="6241020"/>
            <a:ext cx="416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E72497-425A-477C-BA1F-F5322537AC2D}"/>
              </a:ext>
            </a:extLst>
          </p:cNvPr>
          <p:cNvSpPr txBox="1"/>
          <p:nvPr/>
        </p:nvSpPr>
        <p:spPr>
          <a:xfrm flipH="1">
            <a:off x="8253365" y="6249635"/>
            <a:ext cx="401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CD1694F-B543-4132-A4E9-ADB020BFD5FD}"/>
              </a:ext>
            </a:extLst>
          </p:cNvPr>
          <p:cNvSpPr/>
          <p:nvPr/>
        </p:nvSpPr>
        <p:spPr>
          <a:xfrm>
            <a:off x="6789301" y="4870749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D859A6D-5A41-4A35-85EB-D2A0A3B0CBE1}"/>
              </a:ext>
            </a:extLst>
          </p:cNvPr>
          <p:cNvSpPr/>
          <p:nvPr/>
        </p:nvSpPr>
        <p:spPr>
          <a:xfrm>
            <a:off x="7157981" y="5147077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4BE34B8-23AC-4A78-A91E-7D29C5E95EDC}"/>
              </a:ext>
            </a:extLst>
          </p:cNvPr>
          <p:cNvSpPr/>
          <p:nvPr/>
        </p:nvSpPr>
        <p:spPr>
          <a:xfrm>
            <a:off x="7474266" y="5347777"/>
            <a:ext cx="216024" cy="216002"/>
          </a:xfrm>
          <a:prstGeom prst="ellipse">
            <a:avLst/>
          </a:prstGeom>
          <a:solidFill>
            <a:schemeClr val="tx2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4E8510B-4D58-4735-AC0A-E6ADD831FFD8}"/>
              </a:ext>
            </a:extLst>
          </p:cNvPr>
          <p:cNvSpPr/>
          <p:nvPr/>
        </p:nvSpPr>
        <p:spPr>
          <a:xfrm>
            <a:off x="7839562" y="5196065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967114B-2527-442E-A8CF-2DC2EEC03AAF}"/>
              </a:ext>
            </a:extLst>
          </p:cNvPr>
          <p:cNvSpPr/>
          <p:nvPr/>
        </p:nvSpPr>
        <p:spPr>
          <a:xfrm>
            <a:off x="8156687" y="4945940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ABA26E8-8B7B-4779-8362-9B9C316CBD13}"/>
              </a:ext>
            </a:extLst>
          </p:cNvPr>
          <p:cNvSpPr/>
          <p:nvPr/>
        </p:nvSpPr>
        <p:spPr>
          <a:xfrm>
            <a:off x="6550657" y="6090332"/>
            <a:ext cx="216024" cy="21600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63AE8FC-5149-479B-971C-1CAC3EE218D9}"/>
              </a:ext>
            </a:extLst>
          </p:cNvPr>
          <p:cNvSpPr/>
          <p:nvPr/>
        </p:nvSpPr>
        <p:spPr>
          <a:xfrm>
            <a:off x="6526232" y="4628432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109CF53-CB55-4443-A349-1059D5FA379B}"/>
              </a:ext>
            </a:extLst>
          </p:cNvPr>
          <p:cNvSpPr/>
          <p:nvPr/>
        </p:nvSpPr>
        <p:spPr>
          <a:xfrm>
            <a:off x="3810516" y="446709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87E9F500-1999-416E-8515-763EFC751C15}"/>
              </a:ext>
            </a:extLst>
          </p:cNvPr>
          <p:cNvSpPr/>
          <p:nvPr/>
        </p:nvSpPr>
        <p:spPr>
          <a:xfrm>
            <a:off x="4161024" y="2357680"/>
            <a:ext cx="1053761" cy="3261038"/>
          </a:xfrm>
          <a:custGeom>
            <a:avLst/>
            <a:gdLst>
              <a:gd name="connsiteX0" fmla="*/ 2620537 w 2620537"/>
              <a:gd name="connsiteY0" fmla="*/ 196413 h 3184940"/>
              <a:gd name="connsiteX1" fmla="*/ 1115122 w 2620537"/>
              <a:gd name="connsiteY1" fmla="*/ 319076 h 3184940"/>
              <a:gd name="connsiteX2" fmla="*/ 0 w 2620537"/>
              <a:gd name="connsiteY2" fmla="*/ 3184940 h 318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20537" h="3184940">
                <a:moveTo>
                  <a:pt x="2620537" y="196413"/>
                </a:moveTo>
                <a:cubicBezTo>
                  <a:pt x="2086207" y="8700"/>
                  <a:pt x="1551878" y="-179012"/>
                  <a:pt x="1115122" y="319076"/>
                </a:cubicBezTo>
                <a:cubicBezTo>
                  <a:pt x="678366" y="817164"/>
                  <a:pt x="339183" y="2001052"/>
                  <a:pt x="0" y="318494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5B84D6-B64F-4801-864A-D5CFE41B4360}"/>
              </a:ext>
            </a:extLst>
          </p:cNvPr>
          <p:cNvSpPr txBox="1"/>
          <p:nvPr/>
        </p:nvSpPr>
        <p:spPr>
          <a:xfrm>
            <a:off x="3920440" y="5710813"/>
            <a:ext cx="851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Size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94C30E4-B701-4A45-A105-85FA8C371150}"/>
              </a:ext>
            </a:extLst>
          </p:cNvPr>
          <p:cNvSpPr txBox="1"/>
          <p:nvPr/>
        </p:nvSpPr>
        <p:spPr>
          <a:xfrm>
            <a:off x="6580328" y="5740922"/>
            <a:ext cx="851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Size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8E25343-406B-45DB-A005-2ED33264CC56}"/>
              </a:ext>
            </a:extLst>
          </p:cNvPr>
          <p:cNvCxnSpPr>
            <a:cxnSpLocks/>
          </p:cNvCxnSpPr>
          <p:nvPr/>
        </p:nvCxnSpPr>
        <p:spPr>
          <a:xfrm flipV="1">
            <a:off x="6598414" y="5620582"/>
            <a:ext cx="357242" cy="1"/>
          </a:xfrm>
          <a:prstGeom prst="line">
            <a:avLst/>
          </a:prstGeom>
          <a:ln w="28575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BF64589B-3DD3-4DC4-9B80-5461D93760C8}"/>
              </a:ext>
            </a:extLst>
          </p:cNvPr>
          <p:cNvSpPr txBox="1"/>
          <p:nvPr/>
        </p:nvSpPr>
        <p:spPr>
          <a:xfrm>
            <a:off x="4639266" y="6362411"/>
            <a:ext cx="1031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Intercept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35EC0E3-D33B-4A4D-ADCC-71AA66EBB921}"/>
              </a:ext>
            </a:extLst>
          </p:cNvPr>
          <p:cNvSpPr txBox="1"/>
          <p:nvPr/>
        </p:nvSpPr>
        <p:spPr>
          <a:xfrm>
            <a:off x="4639266" y="6362225"/>
            <a:ext cx="1031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Intercept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9F8629-A391-45AB-AD61-F8EF56FF872F}"/>
              </a:ext>
            </a:extLst>
          </p:cNvPr>
          <p:cNvSpPr txBox="1"/>
          <p:nvPr/>
        </p:nvSpPr>
        <p:spPr>
          <a:xfrm>
            <a:off x="7458870" y="6404643"/>
            <a:ext cx="63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Slope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4F0D03B-80B5-475C-A9F5-DA88291A93AA}"/>
              </a:ext>
            </a:extLst>
          </p:cNvPr>
          <p:cNvCxnSpPr>
            <a:cxnSpLocks/>
          </p:cNvCxnSpPr>
          <p:nvPr/>
        </p:nvCxnSpPr>
        <p:spPr>
          <a:xfrm>
            <a:off x="729436" y="6230353"/>
            <a:ext cx="228805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B056450-77C1-4096-A254-09CBE29CC533}"/>
              </a:ext>
            </a:extLst>
          </p:cNvPr>
          <p:cNvCxnSpPr>
            <a:cxnSpLocks/>
          </p:cNvCxnSpPr>
          <p:nvPr/>
        </p:nvCxnSpPr>
        <p:spPr>
          <a:xfrm flipV="1">
            <a:off x="729436" y="3998083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6E22D3A-E532-48F2-BAD2-893764180449}"/>
              </a:ext>
            </a:extLst>
          </p:cNvPr>
          <p:cNvCxnSpPr/>
          <p:nvPr/>
        </p:nvCxnSpPr>
        <p:spPr>
          <a:xfrm>
            <a:off x="1362928" y="612401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405F437-4C54-42FE-87A3-E207239202C7}"/>
              </a:ext>
            </a:extLst>
          </p:cNvPr>
          <p:cNvCxnSpPr/>
          <p:nvPr/>
        </p:nvCxnSpPr>
        <p:spPr>
          <a:xfrm>
            <a:off x="2710829" y="61380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A893133-8FAE-483D-9D48-6CD0BFBCC5F7}"/>
              </a:ext>
            </a:extLst>
          </p:cNvPr>
          <p:cNvCxnSpPr/>
          <p:nvPr/>
        </p:nvCxnSpPr>
        <p:spPr>
          <a:xfrm>
            <a:off x="1979712" y="613700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DE1916B-85C0-4CCF-BE42-7B4D0ADF3F83}"/>
              </a:ext>
            </a:extLst>
          </p:cNvPr>
          <p:cNvCxnSpPr>
            <a:cxnSpLocks/>
          </p:cNvCxnSpPr>
          <p:nvPr/>
        </p:nvCxnSpPr>
        <p:spPr>
          <a:xfrm>
            <a:off x="531904" y="4425360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5C3CBC8-A7F5-452F-921C-57CD5BE37911}"/>
              </a:ext>
            </a:extLst>
          </p:cNvPr>
          <p:cNvCxnSpPr>
            <a:cxnSpLocks/>
          </p:cNvCxnSpPr>
          <p:nvPr/>
        </p:nvCxnSpPr>
        <p:spPr>
          <a:xfrm>
            <a:off x="531904" y="573493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EE9E4C9-F542-4D51-93C3-2CCB19222EA0}"/>
              </a:ext>
            </a:extLst>
          </p:cNvPr>
          <p:cNvCxnSpPr>
            <a:cxnSpLocks/>
          </p:cNvCxnSpPr>
          <p:nvPr/>
        </p:nvCxnSpPr>
        <p:spPr>
          <a:xfrm>
            <a:off x="531904" y="5001424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1F6C5EB-97ED-471D-B325-8CF90F187E34}"/>
              </a:ext>
            </a:extLst>
          </p:cNvPr>
          <p:cNvCxnSpPr>
            <a:cxnSpLocks/>
          </p:cNvCxnSpPr>
          <p:nvPr/>
        </p:nvCxnSpPr>
        <p:spPr>
          <a:xfrm flipH="1">
            <a:off x="729436" y="4156715"/>
            <a:ext cx="1981393" cy="21158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D67D35FC-1BA0-45C4-8F5E-A6CE088916D6}"/>
              </a:ext>
            </a:extLst>
          </p:cNvPr>
          <p:cNvSpPr/>
          <p:nvPr/>
        </p:nvSpPr>
        <p:spPr>
          <a:xfrm>
            <a:off x="1820686" y="5134859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3C9F904-5429-4A4A-A251-9C6FF1798288}"/>
              </a:ext>
            </a:extLst>
          </p:cNvPr>
          <p:cNvSpPr/>
          <p:nvPr/>
        </p:nvSpPr>
        <p:spPr>
          <a:xfrm>
            <a:off x="2296262" y="4131496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6493D18-CB71-44BD-BF5D-25E874055DBA}"/>
              </a:ext>
            </a:extLst>
          </p:cNvPr>
          <p:cNvSpPr/>
          <p:nvPr/>
        </p:nvSpPr>
        <p:spPr>
          <a:xfrm>
            <a:off x="1029384" y="549481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B00BA36-9F9A-416A-A673-06FF713BDCC3}"/>
              </a:ext>
            </a:extLst>
          </p:cNvPr>
          <p:cNvSpPr txBox="1"/>
          <p:nvPr/>
        </p:nvSpPr>
        <p:spPr>
          <a:xfrm>
            <a:off x="1804069" y="6411608"/>
            <a:ext cx="1008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Weight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1D913AD-9575-476B-A0B5-53300FCF3B93}"/>
              </a:ext>
            </a:extLst>
          </p:cNvPr>
          <p:cNvSpPr txBox="1"/>
          <p:nvPr/>
        </p:nvSpPr>
        <p:spPr>
          <a:xfrm>
            <a:off x="195736" y="4678513"/>
            <a:ext cx="633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Height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EAFFF17-5E05-4D7E-BCE0-71C07FDE116A}"/>
              </a:ext>
            </a:extLst>
          </p:cNvPr>
          <p:cNvCxnSpPr>
            <a:cxnSpLocks/>
          </p:cNvCxnSpPr>
          <p:nvPr/>
        </p:nvCxnSpPr>
        <p:spPr>
          <a:xfrm flipV="1">
            <a:off x="1137396" y="5618718"/>
            <a:ext cx="0" cy="2795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624448D-1FE5-406B-8E3F-9C1CD9E5E2EF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1928698" y="4948404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3217A60-FA97-4320-92D5-D49FE1A0EF2E}"/>
              </a:ext>
            </a:extLst>
          </p:cNvPr>
          <p:cNvCxnSpPr>
            <a:cxnSpLocks/>
          </p:cNvCxnSpPr>
          <p:nvPr/>
        </p:nvCxnSpPr>
        <p:spPr>
          <a:xfrm>
            <a:off x="3243430" y="3442642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2E662297-69C8-49B7-8DA2-C66718B46277}"/>
              </a:ext>
            </a:extLst>
          </p:cNvPr>
          <p:cNvSpPr txBox="1"/>
          <p:nvPr/>
        </p:nvSpPr>
        <p:spPr>
          <a:xfrm>
            <a:off x="2291356" y="6265338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5CF7399-41A7-4D8A-A8DB-6D8A45C12747}"/>
              </a:ext>
            </a:extLst>
          </p:cNvPr>
          <p:cNvSpPr txBox="1"/>
          <p:nvPr/>
        </p:nvSpPr>
        <p:spPr>
          <a:xfrm>
            <a:off x="1893194" y="6236006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37B095D-FE13-4079-95B2-7C41ACB91574}"/>
              </a:ext>
            </a:extLst>
          </p:cNvPr>
          <p:cNvSpPr txBox="1"/>
          <p:nvPr/>
        </p:nvSpPr>
        <p:spPr>
          <a:xfrm>
            <a:off x="371061" y="3991194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7D29759-9CAE-4FA1-8D96-E27ADF272F1A}"/>
              </a:ext>
            </a:extLst>
          </p:cNvPr>
          <p:cNvSpPr txBox="1"/>
          <p:nvPr/>
        </p:nvSpPr>
        <p:spPr>
          <a:xfrm>
            <a:off x="432005" y="5083947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D22709D-8BB1-4112-8CFF-C2AA5C0B5CFE}"/>
              </a:ext>
            </a:extLst>
          </p:cNvPr>
          <p:cNvSpPr txBox="1"/>
          <p:nvPr/>
        </p:nvSpPr>
        <p:spPr>
          <a:xfrm>
            <a:off x="411484" y="5342984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194D947-E32C-4759-B29A-A6B24A3AE71D}"/>
              </a:ext>
            </a:extLst>
          </p:cNvPr>
          <p:cNvSpPr txBox="1"/>
          <p:nvPr/>
        </p:nvSpPr>
        <p:spPr>
          <a:xfrm>
            <a:off x="1010556" y="6249634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0.5</a:t>
            </a:r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CA43F50D-41D3-4898-8FAF-666C3EDD40EB}"/>
              </a:ext>
            </a:extLst>
          </p:cNvPr>
          <p:cNvSpPr/>
          <p:nvPr/>
        </p:nvSpPr>
        <p:spPr>
          <a:xfrm>
            <a:off x="5274527" y="3891776"/>
            <a:ext cx="1505414" cy="1728439"/>
          </a:xfrm>
          <a:custGeom>
            <a:avLst/>
            <a:gdLst>
              <a:gd name="connsiteX0" fmla="*/ 0 w 1505414"/>
              <a:gd name="connsiteY0" fmla="*/ 0 h 1728439"/>
              <a:gd name="connsiteX1" fmla="*/ 1048214 w 1505414"/>
              <a:gd name="connsiteY1" fmla="*/ 613317 h 1728439"/>
              <a:gd name="connsiteX2" fmla="*/ 1505414 w 1505414"/>
              <a:gd name="connsiteY2" fmla="*/ 1728439 h 172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5414" h="1728439">
                <a:moveTo>
                  <a:pt x="0" y="0"/>
                </a:moveTo>
                <a:cubicBezTo>
                  <a:pt x="398656" y="162622"/>
                  <a:pt x="797312" y="325244"/>
                  <a:pt x="1048214" y="613317"/>
                </a:cubicBezTo>
                <a:cubicBezTo>
                  <a:pt x="1299116" y="901390"/>
                  <a:pt x="1402265" y="1314914"/>
                  <a:pt x="1505414" y="1728439"/>
                </a:cubicBezTo>
              </a:path>
            </a:pathLst>
          </a:custGeom>
          <a:noFill/>
          <a:ln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197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47.6 Calculate Step Size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3125414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Update the new Intercept and new Slope: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 smtClean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Intercept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(1.4– (0 + 1 x 0.5))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(1.9– (0 + 1 x 2.3)) + -2 (3.2– (0 + 1 x 2.9)) = -1.6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Step Size</a:t>
                </a:r>
                <a:r>
                  <a:rPr lang="en-US" sz="1600" baseline="-25000" dirty="0">
                    <a:solidFill>
                      <a:schemeClr val="tx1"/>
                    </a:solidFill>
                  </a:rPr>
                  <a:t>Intercept</a:t>
                </a:r>
                <a:r>
                  <a:rPr lang="en-US" sz="1600" dirty="0">
                    <a:solidFill>
                      <a:schemeClr val="tx1"/>
                    </a:solidFill>
                  </a:rPr>
                  <a:t> = -1.6 x Learning Rate = -1.6 x 0.01 = -0.016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New Intercept = 0 – Step Size = 0 – (-0.016) = 0.016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x 0.5 x (1.4 – (0 + 1 x 0.5))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x 2.3 x (1.9 – (0 +1 x 2.3)) + -2 x 2.9 x (3.2 – (0 + 1 x 2.9))  = -0.8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Step Size</a:t>
                </a:r>
                <a:r>
                  <a:rPr lang="en-US" sz="1600" baseline="-25000" dirty="0">
                    <a:solidFill>
                      <a:schemeClr val="tx1"/>
                    </a:solidFill>
                  </a:rPr>
                  <a:t>Slope</a:t>
                </a:r>
                <a:r>
                  <a:rPr lang="en-US" sz="1600" dirty="0">
                    <a:solidFill>
                      <a:schemeClr val="tx1"/>
                    </a:solidFill>
                  </a:rPr>
                  <a:t> = -0.89 x Learning Rate = -8.0x 001 = -0.008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New Slope = 1 – Step Size = 1 – (-0.008) = 1.008</a:t>
                </a: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3125414"/>
              </a:xfrm>
              <a:blipFill>
                <a:blip r:embed="rId2"/>
                <a:stretch>
                  <a:fillRect t="-389" b="-1556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https://www.youtube.com/watch?v=vMh0zPT0tLI&amp;list=PLblh5JKOoLUICTaGLRoHQDuF_7q2GfuJF&amp;index=48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83C40E-D8BB-40AE-B730-ADB58805024A}"/>
              </a:ext>
            </a:extLst>
          </p:cNvPr>
          <p:cNvSpPr/>
          <p:nvPr/>
        </p:nvSpPr>
        <p:spPr>
          <a:xfrm>
            <a:off x="4562288" y="2794257"/>
            <a:ext cx="720080" cy="28759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02FEDA-3F58-4FDE-8953-55B7893D603D}"/>
              </a:ext>
            </a:extLst>
          </p:cNvPr>
          <p:cNvSpPr/>
          <p:nvPr/>
        </p:nvSpPr>
        <p:spPr>
          <a:xfrm>
            <a:off x="4283968" y="4114773"/>
            <a:ext cx="720080" cy="3733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02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47.6 Calculate Step Size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6"/>
                <a:ext cx="8352928" cy="3421806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Then, we go back the derivative and repeat the process a lot of time with new intercept and new slope until we reach maximum number of steps or the </a:t>
                </a:r>
                <a:r>
                  <a:rPr lang="en-US" sz="1600" dirty="0">
                    <a:solidFill>
                      <a:srgbClr val="C00000"/>
                    </a:solidFill>
                  </a:rPr>
                  <a:t>step size is very small</a:t>
                </a:r>
                <a:r>
                  <a:rPr lang="en-US" sz="16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Intercept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-2 (1.4– (intercept + slope x 0.5)) 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(1.9– (intercept + slope x 2.3))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(3.2– (intercept + slope x 2.9)) </a:t>
                </a:r>
                <a:endParaRPr lang="en-US" sz="1600" baseline="300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-2 x 0.5 x (1.4 – (intercept + slope x 0.5))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x 2.3 x (1.9 – (intercept + slope x 2.3))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x 2.9 x (3.2 – (intercept + slope x 2.9))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6"/>
                <a:ext cx="8352928" cy="3421806"/>
              </a:xfrm>
              <a:blipFill>
                <a:blip r:embed="rId2"/>
                <a:stretch>
                  <a:fillRect t="-355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https://www.youtube.com/watch?v=vMh0zPT0tLI&amp;list=PLblh5JKOoLUICTaGLRoHQDuF_7q2GfuJF&amp;index=48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91449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47.7 Gradient Descent Algorithm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28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6113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47.7 Gradient Descent Algorithm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3654" y="1245986"/>
            <a:ext cx="8352928" cy="398321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Gradient Descent Algorithm: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Step 1: Take derivative of the Loss Function (Sum of the Squared Residuals) for each parameter in Loss Function. In machine learning dialect, take Gradient of the Loss Function.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Step 2: Pick random values for the parameters.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Step 3. Plug the parameter values into the derivative (Gradient)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Step 4: Calculate the step size: Step size = Slope x Leaning Rate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Step 5: Calculate the New Parameters: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New Parameter = Old Parameter - Step Size.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If the step size is very step, then stop,  else go back to Step 3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In our example, we only have very small data set.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In case, we have billions of point, we need Stochastic Gradient Descent which we randomly selected subset of the data at every step rather than the full dataset.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The </a:t>
            </a:r>
            <a:r>
              <a:rPr lang="en-US" sz="1600" b="1" dirty="0">
                <a:solidFill>
                  <a:srgbClr val="C00000"/>
                </a:solidFill>
              </a:rPr>
              <a:t>Stochastic Gradient Descent </a:t>
            </a:r>
            <a:r>
              <a:rPr lang="en-US" sz="1600" dirty="0">
                <a:solidFill>
                  <a:schemeClr val="tx1"/>
                </a:solidFill>
              </a:rPr>
              <a:t>reduces the time spent in calculating the derivatives of the </a:t>
            </a:r>
            <a:r>
              <a:rPr lang="en-US" sz="1600" b="1" dirty="0">
                <a:solidFill>
                  <a:srgbClr val="C00000"/>
                </a:solidFill>
              </a:rPr>
              <a:t>Loss Function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  <a:endParaRPr lang="en-US" sz="1600" baseline="30000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https://www.youtube.com/watch?v=sDv4f4s2SB8&amp;list=PLblh5JKOoLUICTaGLRoHQDuF_7q2GfuJF&amp;index=50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91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  <a:headEnd type="none" w="med" len="med"/>
          <a:tailEnd type="triangle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C0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3043</TotalTime>
  <Words>2513</Words>
  <Application>Microsoft Office PowerPoint</Application>
  <PresentationFormat>On-screen Show (4:3)</PresentationFormat>
  <Paragraphs>333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 Math</vt:lpstr>
      <vt:lpstr>Wingdings</vt:lpstr>
      <vt:lpstr>Office 佈景主題</vt:lpstr>
      <vt:lpstr>47 Gradient Descent</vt:lpstr>
      <vt:lpstr>47 Gradient Descent</vt:lpstr>
      <vt:lpstr>47 Gradient Descent</vt:lpstr>
      <vt:lpstr>47 Gradient Descent</vt:lpstr>
      <vt:lpstr>47 Gradient Descent</vt:lpstr>
      <vt:lpstr>47.1 Simple Dataset</vt:lpstr>
      <vt:lpstr>47.1 Simple Dataset</vt:lpstr>
      <vt:lpstr>47.1 Simple Dataset</vt:lpstr>
      <vt:lpstr>47.2 Sum of Square residual Curve</vt:lpstr>
      <vt:lpstr>47.2 Sum of Square residual Curve</vt:lpstr>
      <vt:lpstr>47.2 Sum of Square residual Curve</vt:lpstr>
      <vt:lpstr>47.3 Find Minimum Point</vt:lpstr>
      <vt:lpstr>47.3 Find Minimum Point</vt:lpstr>
      <vt:lpstr>47.4 Take Partial Derivative</vt:lpstr>
      <vt:lpstr>47.4 Take Partial Derivative</vt:lpstr>
      <vt:lpstr>47.5 Minimize Slope and Intercept</vt:lpstr>
      <vt:lpstr>47.5 Minimize Slope and Intercept</vt:lpstr>
      <vt:lpstr>47.5 Minimize Slope and Intercept</vt:lpstr>
      <vt:lpstr>47.5 Minimize Slope and Intercept</vt:lpstr>
      <vt:lpstr>47.5 Minimize Slope and Intercept</vt:lpstr>
      <vt:lpstr>47.5 Minimize Slope and Intercept</vt:lpstr>
      <vt:lpstr>47.5 Minimize Slope and Intercept</vt:lpstr>
      <vt:lpstr>47.5 Minimize Slope and Intercept</vt:lpstr>
      <vt:lpstr>47.6 Calculate Step Size</vt:lpstr>
      <vt:lpstr>47.6 Calculate Step Size</vt:lpstr>
      <vt:lpstr>47.6 Calculate Step Size</vt:lpstr>
      <vt:lpstr>47.6 Calculate Step Size</vt:lpstr>
      <vt:lpstr>47.7 Gradient Descent Algorithm</vt:lpstr>
      <vt:lpstr>47.7 Gradient Descent Algorithm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1103</cp:revision>
  <dcterms:created xsi:type="dcterms:W3CDTF">2018-09-28T16:40:41Z</dcterms:created>
  <dcterms:modified xsi:type="dcterms:W3CDTF">2021-02-07T19:09:14Z</dcterms:modified>
</cp:coreProperties>
</file>